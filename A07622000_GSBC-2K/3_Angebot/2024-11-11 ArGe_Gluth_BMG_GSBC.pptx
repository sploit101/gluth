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3"/>
  </p:notesMasterIdLst>
  <p:sldIdLst>
    <p:sldId id="2147377105" r:id="rId2"/>
    <p:sldId id="1289" r:id="rId3"/>
    <p:sldId id="2147377106" r:id="rId4"/>
    <p:sldId id="2147377108" r:id="rId5"/>
    <p:sldId id="1233" r:id="rId6"/>
    <p:sldId id="1295" r:id="rId7"/>
    <p:sldId id="1266" r:id="rId8"/>
    <p:sldId id="2147377107" r:id="rId9"/>
    <p:sldId id="1294" r:id="rId10"/>
    <p:sldId id="1301" r:id="rId11"/>
    <p:sldId id="1293" r:id="rId12"/>
    <p:sldId id="1280" r:id="rId13"/>
    <p:sldId id="1302" r:id="rId14"/>
    <p:sldId id="1282" r:id="rId15"/>
    <p:sldId id="1283" r:id="rId16"/>
    <p:sldId id="1303" r:id="rId17"/>
    <p:sldId id="1284" r:id="rId18"/>
    <p:sldId id="1285" r:id="rId19"/>
    <p:sldId id="1297" r:id="rId20"/>
    <p:sldId id="1296" r:id="rId21"/>
    <p:sldId id="1183" r:id="rId2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89A9"/>
    <a:srgbClr val="F5EA09"/>
    <a:srgbClr val="7F7A74"/>
    <a:srgbClr val="8731B6"/>
    <a:srgbClr val="047FA8"/>
    <a:srgbClr val="7919AD"/>
    <a:srgbClr val="0B90B5"/>
    <a:srgbClr val="BABAB7"/>
    <a:srgbClr val="E6E6E6"/>
    <a:srgbClr val="407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2" autoAdjust="0"/>
    <p:restoredTop sz="92597" autoAdjust="0"/>
  </p:normalViewPr>
  <p:slideViewPr>
    <p:cSldViewPr snapToGrid="0">
      <p:cViewPr varScale="1">
        <p:scale>
          <a:sx n="125" d="100"/>
          <a:sy n="125" d="100"/>
        </p:scale>
        <p:origin x="210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12.11.2024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31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13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586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658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514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603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359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2701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7018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7762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0219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199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5096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883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>
                <a:solidFill>
                  <a:srgbClr val="2C3F48"/>
                </a:solidFill>
                <a:latin typeface="+mj-lt"/>
              </a:rPr>
              <a:t>Firmenvorstellung</a:t>
            </a:r>
            <a:r>
              <a:rPr sz="1000">
                <a:solidFill>
                  <a:srgbClr val="2C3F48"/>
                </a:solidFill>
                <a:latin typeface="+mj-lt"/>
              </a:rPr>
              <a:t> |</a:t>
            </a:r>
            <a:r>
              <a:rPr sz="1000">
                <a:solidFill>
                  <a:schemeClr val="bg1"/>
                </a:solidFill>
                <a:latin typeface="+mj-lt"/>
              </a:rPr>
              <a:t> </a:t>
            </a:r>
            <a:r>
              <a:rPr lang="de-DE" sz="1000">
                <a:solidFill>
                  <a:schemeClr val="bg1"/>
                </a:solidFill>
                <a:latin typeface="+mj-lt"/>
                <a:sym typeface="Gilroy ExtraBold"/>
              </a:rPr>
              <a:t>05</a:t>
            </a:r>
            <a:r>
              <a:rPr lang="de-DE" sz="100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.11.2024</a:t>
            </a:r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>
                <a:solidFill>
                  <a:srgbClr val="2C3F48"/>
                </a:solidFill>
              </a:rPr>
              <a:t>Firmenvorstellung</a:t>
            </a:r>
            <a:r>
              <a:rPr sz="1000">
                <a:solidFill>
                  <a:srgbClr val="2C3F48"/>
                </a:solidFill>
              </a:rPr>
              <a:t> | </a:t>
            </a:r>
            <a:r>
              <a:rPr lang="de-DE" sz="1000">
                <a:solidFill>
                  <a:srgbClr val="4DB8A0"/>
                </a:solidFill>
                <a:latin typeface="Gilroy ExtraBold"/>
                <a:sym typeface="Gilroy ExtraBold"/>
              </a:rPr>
              <a:t>05</a:t>
            </a:r>
            <a:r>
              <a:rPr lang="de-DE" sz="1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.11.2024</a:t>
            </a:r>
            <a:endParaRPr sz="10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tx1"/>
              </a:solidFill>
              <a:latin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800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9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19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3.png"/><Relationship Id="rId21" Type="http://schemas.openxmlformats.org/officeDocument/2006/relationships/image" Target="../media/image46.png"/><Relationship Id="rId7" Type="http://schemas.openxmlformats.org/officeDocument/2006/relationships/image" Target="../media/image30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24" Type="http://schemas.openxmlformats.org/officeDocument/2006/relationships/image" Target="../media/image41.png"/><Relationship Id="rId5" Type="http://schemas.microsoft.com/office/2007/relationships/hdphoto" Target="../media/hdphoto1.wdp"/><Relationship Id="rId15" Type="http://schemas.openxmlformats.org/officeDocument/2006/relationships/image" Target="../media/image52.png"/><Relationship Id="rId23" Type="http://schemas.openxmlformats.org/officeDocument/2006/relationships/image" Target="../media/image58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2.png"/><Relationship Id="rId9" Type="http://schemas.openxmlformats.org/officeDocument/2006/relationships/image" Target="../media/image26.png"/><Relationship Id="rId14" Type="http://schemas.openxmlformats.org/officeDocument/2006/relationships/image" Target="../media/image51.png"/><Relationship Id="rId22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4.png"/><Relationship Id="rId18" Type="http://schemas.openxmlformats.org/officeDocument/2006/relationships/image" Target="../media/image68.png"/><Relationship Id="rId3" Type="http://schemas.openxmlformats.org/officeDocument/2006/relationships/image" Target="../media/image59.png"/><Relationship Id="rId7" Type="http://schemas.openxmlformats.org/officeDocument/2006/relationships/image" Target="../media/image33.png"/><Relationship Id="rId12" Type="http://schemas.openxmlformats.org/officeDocument/2006/relationships/image" Target="../media/image52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11" Type="http://schemas.openxmlformats.org/officeDocument/2006/relationships/image" Target="../media/image63.png"/><Relationship Id="rId5" Type="http://schemas.openxmlformats.org/officeDocument/2006/relationships/image" Target="../media/image46.png"/><Relationship Id="rId15" Type="http://schemas.openxmlformats.org/officeDocument/2006/relationships/image" Target="../media/image66.png"/><Relationship Id="rId10" Type="http://schemas.openxmlformats.org/officeDocument/2006/relationships/image" Target="../media/image62.png"/><Relationship Id="rId4" Type="http://schemas.openxmlformats.org/officeDocument/2006/relationships/image" Target="../media/image60.png"/><Relationship Id="rId9" Type="http://schemas.openxmlformats.org/officeDocument/2006/relationships/image" Target="../media/image61.png"/><Relationship Id="rId1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4.png"/><Relationship Id="rId18" Type="http://schemas.openxmlformats.org/officeDocument/2006/relationships/image" Target="../media/image68.png"/><Relationship Id="rId3" Type="http://schemas.openxmlformats.org/officeDocument/2006/relationships/image" Target="../media/image59.png"/><Relationship Id="rId21" Type="http://schemas.openxmlformats.org/officeDocument/2006/relationships/image" Target="../media/image71.png"/><Relationship Id="rId7" Type="http://schemas.openxmlformats.org/officeDocument/2006/relationships/image" Target="../media/image33.png"/><Relationship Id="rId12" Type="http://schemas.openxmlformats.org/officeDocument/2006/relationships/image" Target="../media/image52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7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11" Type="http://schemas.openxmlformats.org/officeDocument/2006/relationships/image" Target="../media/image63.png"/><Relationship Id="rId5" Type="http://schemas.openxmlformats.org/officeDocument/2006/relationships/image" Target="../media/image46.png"/><Relationship Id="rId15" Type="http://schemas.openxmlformats.org/officeDocument/2006/relationships/image" Target="../media/image66.png"/><Relationship Id="rId10" Type="http://schemas.openxmlformats.org/officeDocument/2006/relationships/image" Target="../media/image62.png"/><Relationship Id="rId19" Type="http://schemas.openxmlformats.org/officeDocument/2006/relationships/image" Target="../media/image69.png"/><Relationship Id="rId4" Type="http://schemas.openxmlformats.org/officeDocument/2006/relationships/image" Target="../media/image60.png"/><Relationship Id="rId9" Type="http://schemas.openxmlformats.org/officeDocument/2006/relationships/image" Target="../media/image61.png"/><Relationship Id="rId14" Type="http://schemas.openxmlformats.org/officeDocument/2006/relationships/image" Target="../media/image65.png"/><Relationship Id="rId22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41.png"/><Relationship Id="rId5" Type="http://schemas.openxmlformats.org/officeDocument/2006/relationships/image" Target="../media/image73.png"/><Relationship Id="rId10" Type="http://schemas.openxmlformats.org/officeDocument/2006/relationships/image" Target="../media/image61.png"/><Relationship Id="rId4" Type="http://schemas.openxmlformats.org/officeDocument/2006/relationships/image" Target="../media/image67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9.png"/><Relationship Id="rId18" Type="http://schemas.openxmlformats.org/officeDocument/2006/relationships/image" Target="../media/image41.png"/><Relationship Id="rId3" Type="http://schemas.openxmlformats.org/officeDocument/2006/relationships/image" Target="../media/image43.png"/><Relationship Id="rId7" Type="http://schemas.openxmlformats.org/officeDocument/2006/relationships/image" Target="../media/image27.png"/><Relationship Id="rId12" Type="http://schemas.openxmlformats.org/officeDocument/2006/relationships/image" Target="../media/image28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11" Type="http://schemas.openxmlformats.org/officeDocument/2006/relationships/image" Target="../media/image37.png"/><Relationship Id="rId5" Type="http://schemas.openxmlformats.org/officeDocument/2006/relationships/image" Target="../media/image73.png"/><Relationship Id="rId1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67.png"/><Relationship Id="rId9" Type="http://schemas.openxmlformats.org/officeDocument/2006/relationships/image" Target="../media/image35.png"/><Relationship Id="rId1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9.png"/><Relationship Id="rId18" Type="http://schemas.openxmlformats.org/officeDocument/2006/relationships/image" Target="../media/image41.png"/><Relationship Id="rId3" Type="http://schemas.openxmlformats.org/officeDocument/2006/relationships/image" Target="../media/image43.png"/><Relationship Id="rId7" Type="http://schemas.openxmlformats.org/officeDocument/2006/relationships/image" Target="../media/image27.png"/><Relationship Id="rId12" Type="http://schemas.openxmlformats.org/officeDocument/2006/relationships/image" Target="../media/image28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11" Type="http://schemas.openxmlformats.org/officeDocument/2006/relationships/image" Target="../media/image37.png"/><Relationship Id="rId5" Type="http://schemas.openxmlformats.org/officeDocument/2006/relationships/image" Target="../media/image73.png"/><Relationship Id="rId1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67.png"/><Relationship Id="rId9" Type="http://schemas.openxmlformats.org/officeDocument/2006/relationships/image" Target="../media/image3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3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19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240125" y="800219"/>
            <a:ext cx="3533195" cy="1114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200"/>
              <a:t>Herzlich willkommen</a:t>
            </a:r>
            <a:endParaRPr sz="3200" dirty="0"/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endParaRPr lang="de-DE" sz="3691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240125" y="3337036"/>
            <a:ext cx="1560347" cy="4871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>
                <a:solidFill>
                  <a:srgbClr val="FFFFFF"/>
                </a:solidFill>
                <a:latin typeface="Gilroy" pitchFamily="2" charset="77"/>
              </a:rPr>
              <a:t>11. November 2024</a:t>
            </a:r>
            <a:endParaRPr lang="de-DE" sz="1055" dirty="0">
              <a:solidFill>
                <a:srgbClr val="FFFFFF"/>
              </a:solidFill>
              <a:latin typeface="Gilroy SemiBold" pitchFamily="2" charset="77"/>
            </a:endParaRPr>
          </a:p>
          <a:p>
            <a:pPr algn="l">
              <a:lnSpc>
                <a:spcPts val="1582"/>
              </a:lnSpc>
            </a:pPr>
            <a:r>
              <a:rPr lang="de-DE" sz="1055">
                <a:solidFill>
                  <a:srgbClr val="FFFFFF"/>
                </a:solidFill>
                <a:latin typeface="Gilroy Light" pitchFamily="2" charset="77"/>
              </a:rPr>
              <a:t>GSBC weltweit - Paket</a:t>
            </a:r>
            <a:endParaRPr lang="de-DE" sz="1055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3" name="Wir sagen…">
            <a:extLst>
              <a:ext uri="{FF2B5EF4-FFF2-40B4-BE49-F238E27FC236}">
                <a16:creationId xmlns:a16="http://schemas.microsoft.com/office/drawing/2014/main" id="{D38B38DE-F7EB-C862-B19D-1B59BEFED047}"/>
              </a:ext>
            </a:extLst>
          </p:cNvPr>
          <p:cNvSpPr txBox="1"/>
          <p:nvPr/>
        </p:nvSpPr>
        <p:spPr>
          <a:xfrm>
            <a:off x="1278372" y="1751509"/>
            <a:ext cx="1878319" cy="361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000">
                <a:solidFill>
                  <a:srgbClr val="4DB8A0"/>
                </a:solidFill>
              </a:rPr>
              <a:t>Helmut Brummer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2AC2DC7-8DEF-3C6F-8429-E4FB1A72D091}"/>
              </a:ext>
            </a:extLst>
          </p:cNvPr>
          <p:cNvSpPr txBox="1"/>
          <p:nvPr/>
        </p:nvSpPr>
        <p:spPr>
          <a:xfrm>
            <a:off x="5441933" y="2814516"/>
            <a:ext cx="4256803" cy="15179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200" b="1">
                <a:solidFill>
                  <a:srgbClr val="FFFFFF"/>
                </a:solidFill>
                <a:latin typeface="Gilroy" pitchFamily="2" charset="77"/>
              </a:rPr>
              <a:t>Arbeitsgemeinschaft:</a:t>
            </a:r>
          </a:p>
          <a:p>
            <a:pPr algn="l">
              <a:lnSpc>
                <a:spcPts val="1582"/>
              </a:lnSpc>
            </a:pPr>
            <a:r>
              <a:rPr lang="de-DE" sz="1200">
                <a:solidFill>
                  <a:srgbClr val="FFFFFF"/>
                </a:solidFill>
                <a:latin typeface="Gilroy" pitchFamily="2" charset="77"/>
              </a:rPr>
              <a:t>Gluth - Prototyp Vollautomat Aldersbach</a:t>
            </a:r>
          </a:p>
          <a:p>
            <a:pPr algn="l">
              <a:lnSpc>
                <a:spcPts val="1582"/>
              </a:lnSpc>
            </a:pPr>
            <a:r>
              <a:rPr lang="de-DE" sz="1200">
                <a:solidFill>
                  <a:srgbClr val="FFFFFF"/>
                </a:solidFill>
                <a:latin typeface="Gilroy" pitchFamily="2" charset="77"/>
              </a:rPr>
              <a:t>BMG - Build to Print Manuell Suzhou - China</a:t>
            </a:r>
          </a:p>
          <a:p>
            <a:pPr>
              <a:lnSpc>
                <a:spcPts val="1582"/>
              </a:lnSpc>
            </a:pPr>
            <a:r>
              <a:rPr lang="de-DE" sz="1200">
                <a:solidFill>
                  <a:srgbClr val="FFFFFF"/>
                </a:solidFill>
                <a:latin typeface="Gilroy" pitchFamily="2" charset="77"/>
              </a:rPr>
              <a:t>BMG - Build to Print Manuell Acu</a:t>
            </a:r>
            <a:r>
              <a:rPr lang="de-DE" sz="1200" i="0">
                <a:solidFill>
                  <a:schemeClr val="bg1"/>
                </a:solidFill>
                <a:effectLst/>
                <a:latin typeface="Gilroy"/>
              </a:rPr>
              <a:t>ñ</a:t>
            </a:r>
            <a:r>
              <a:rPr lang="de-DE" sz="1200">
                <a:solidFill>
                  <a:srgbClr val="FFFFFF"/>
                </a:solidFill>
                <a:latin typeface="Gilroy" pitchFamily="2" charset="77"/>
              </a:rPr>
              <a:t>a - Mexiko</a:t>
            </a:r>
          </a:p>
          <a:p>
            <a:pPr algn="l">
              <a:lnSpc>
                <a:spcPts val="1582"/>
              </a:lnSpc>
            </a:pPr>
            <a:r>
              <a:rPr lang="de-DE" sz="1200">
                <a:solidFill>
                  <a:srgbClr val="FFFFFF"/>
                </a:solidFill>
                <a:latin typeface="Gilroy" pitchFamily="2" charset="77"/>
              </a:rPr>
              <a:t>üßung / Vorstellung</a:t>
            </a:r>
          </a:p>
          <a:p>
            <a:pPr algn="l">
              <a:lnSpc>
                <a:spcPts val="1582"/>
              </a:lnSpc>
            </a:pPr>
            <a:r>
              <a:rPr lang="de-DE" sz="1200">
                <a:solidFill>
                  <a:srgbClr val="FFFFFF"/>
                </a:solidFill>
                <a:latin typeface="Gilroy Light" pitchFamily="2" charset="77"/>
              </a:rPr>
              <a:t>10:05 Firmenpräsentation</a:t>
            </a:r>
          </a:p>
          <a:p>
            <a:pPr algn="l">
              <a:lnSpc>
                <a:spcPts val="1582"/>
              </a:lnSpc>
            </a:pPr>
            <a:r>
              <a:rPr lang="de-DE" sz="1200">
                <a:solidFill>
                  <a:srgbClr val="FFFFFF"/>
                </a:solidFill>
                <a:latin typeface="Gilroy Light" pitchFamily="2" charset="77"/>
              </a:rPr>
              <a:t>10:15 mögliche Anknüpfungspunkte / Marketingunterstützung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5E2E2F7-CA79-7FE2-6A86-98F697C9B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2" y="4819650"/>
            <a:ext cx="2943225" cy="857250"/>
          </a:xfrm>
          <a:prstGeom prst="rect">
            <a:avLst/>
          </a:prstGeom>
        </p:spPr>
      </p:pic>
      <p:sp>
        <p:nvSpPr>
          <p:cNvPr id="11" name="Wir sagen…">
            <a:extLst>
              <a:ext uri="{FF2B5EF4-FFF2-40B4-BE49-F238E27FC236}">
                <a16:creationId xmlns:a16="http://schemas.microsoft.com/office/drawing/2014/main" id="{B55E16AF-7EDA-EDF8-ADE6-EA4934EFEC0F}"/>
              </a:ext>
            </a:extLst>
          </p:cNvPr>
          <p:cNvSpPr txBox="1"/>
          <p:nvPr/>
        </p:nvSpPr>
        <p:spPr>
          <a:xfrm>
            <a:off x="1186994" y="4928836"/>
            <a:ext cx="3978958" cy="63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ctr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400">
                <a:solidFill>
                  <a:schemeClr val="tx1">
                    <a:lumMod val="95000"/>
                    <a:lumOff val="5000"/>
                  </a:schemeClr>
                </a:solidFill>
              </a:rPr>
              <a:t>Ihr Automatisierungspartner</a:t>
            </a:r>
          </a:p>
          <a:p>
            <a:pPr algn="ctr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1400">
                <a:solidFill>
                  <a:srgbClr val="4DB8A0"/>
                </a:solidFill>
              </a:rPr>
              <a:t>von der Produktentwicklung bis zur Serienproduktion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E12C9E8-6C2B-98D3-470A-787A80E13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952" y="1290287"/>
            <a:ext cx="30670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7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1DD6D-6B7D-4ADE-BFD9-804B91EC9E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00524" y="15234"/>
            <a:ext cx="4656790" cy="432000"/>
          </a:xfrm>
          <a:prstGeom prst="rect">
            <a:avLst/>
          </a:prstGeom>
        </p:spPr>
        <p:txBody>
          <a:bodyPr/>
          <a:lstStyle/>
          <a:p>
            <a:r>
              <a:rPr lang="de-DE" sz="1800"/>
              <a:t>Kompetenter Service vor Ort</a:t>
            </a:r>
          </a:p>
        </p:txBody>
      </p:sp>
      <p:pic>
        <p:nvPicPr>
          <p:cNvPr id="4" name="Picture 3" descr="weltkarte3">
            <a:extLst>
              <a:ext uri="{FF2B5EF4-FFF2-40B4-BE49-F238E27FC236}">
                <a16:creationId xmlns:a16="http://schemas.microsoft.com/office/drawing/2014/main" id="{368DCCC6-441F-0480-8D95-DB45F93EE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1272" y="1319360"/>
            <a:ext cx="8982144" cy="4988357"/>
          </a:xfrm>
          <a:prstGeom prst="rect">
            <a:avLst/>
          </a:prstGeom>
          <a:noFill/>
        </p:spPr>
      </p:pic>
      <p:pic>
        <p:nvPicPr>
          <p:cNvPr id="30" name="Picture 45" descr="kNORR">
            <a:extLst>
              <a:ext uri="{FF2B5EF4-FFF2-40B4-BE49-F238E27FC236}">
                <a16:creationId xmlns:a16="http://schemas.microsoft.com/office/drawing/2014/main" id="{D0CC7B2E-BE44-4D27-CE85-54CAA6923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3572" y="6360521"/>
            <a:ext cx="647700" cy="111125"/>
          </a:xfrm>
          <a:prstGeom prst="rect">
            <a:avLst/>
          </a:prstGeom>
          <a:noFill/>
        </p:spPr>
      </p:pic>
      <p:pic>
        <p:nvPicPr>
          <p:cNvPr id="39" name="Picture 40" descr="Bosch">
            <a:extLst>
              <a:ext uri="{FF2B5EF4-FFF2-40B4-BE49-F238E27FC236}">
                <a16:creationId xmlns:a16="http://schemas.microsoft.com/office/drawing/2014/main" id="{9C6C38D5-C316-3A01-99FC-1C762174D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7521" y="6416083"/>
            <a:ext cx="576263" cy="123825"/>
          </a:xfrm>
          <a:prstGeom prst="rect">
            <a:avLst/>
          </a:prstGeom>
          <a:noFill/>
        </p:spPr>
      </p:pic>
      <p:sp>
        <p:nvSpPr>
          <p:cNvPr id="51" name="Oval 5">
            <a:extLst>
              <a:ext uri="{FF2B5EF4-FFF2-40B4-BE49-F238E27FC236}">
                <a16:creationId xmlns:a16="http://schemas.microsoft.com/office/drawing/2014/main" id="{179F5896-F196-F8C4-28FA-018C4B43B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380" y="3850052"/>
            <a:ext cx="73025" cy="73025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53" name="Oval 7">
            <a:extLst>
              <a:ext uri="{FF2B5EF4-FFF2-40B4-BE49-F238E27FC236}">
                <a16:creationId xmlns:a16="http://schemas.microsoft.com/office/drawing/2014/main" id="{67AB3BFD-9086-5CD9-9B68-ADF168A9C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355" y="3691982"/>
            <a:ext cx="73025" cy="73025"/>
          </a:xfrm>
          <a:prstGeom prst="ellipse">
            <a:avLst/>
          </a:prstGeom>
          <a:solidFill>
            <a:srgbClr val="008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54" name="Oval 8">
            <a:extLst>
              <a:ext uri="{FF2B5EF4-FFF2-40B4-BE49-F238E27FC236}">
                <a16:creationId xmlns:a16="http://schemas.microsoft.com/office/drawing/2014/main" id="{EFC1A374-1F39-A542-33ED-387C0B39F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568" y="5044675"/>
            <a:ext cx="73025" cy="73025"/>
          </a:xfrm>
          <a:prstGeom prst="ellipse">
            <a:avLst/>
          </a:prstGeom>
          <a:solidFill>
            <a:srgbClr val="008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55" name="Oval 9">
            <a:extLst>
              <a:ext uri="{FF2B5EF4-FFF2-40B4-BE49-F238E27FC236}">
                <a16:creationId xmlns:a16="http://schemas.microsoft.com/office/drawing/2014/main" id="{64D75B65-351A-2DC8-C0B6-0F199CF56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344" y="3047562"/>
            <a:ext cx="73025" cy="73025"/>
          </a:xfrm>
          <a:prstGeom prst="ellipse">
            <a:avLst/>
          </a:prstGeom>
          <a:solidFill>
            <a:srgbClr val="008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67" name="Oval 21">
            <a:extLst>
              <a:ext uri="{FF2B5EF4-FFF2-40B4-BE49-F238E27FC236}">
                <a16:creationId xmlns:a16="http://schemas.microsoft.com/office/drawing/2014/main" id="{E22619BF-61C5-E1A5-7B26-EC3931BA7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132" y="3765007"/>
            <a:ext cx="73025" cy="73025"/>
          </a:xfrm>
          <a:prstGeom prst="ellipse">
            <a:avLst/>
          </a:prstGeom>
          <a:solidFill>
            <a:srgbClr val="008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69" name="Oval 8">
            <a:extLst>
              <a:ext uri="{FF2B5EF4-FFF2-40B4-BE49-F238E27FC236}">
                <a16:creationId xmlns:a16="http://schemas.microsoft.com/office/drawing/2014/main" id="{8A9D1A06-38B2-E876-7C4C-35A87109B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683" y="4899170"/>
            <a:ext cx="73025" cy="73025"/>
          </a:xfrm>
          <a:prstGeom prst="ellipse">
            <a:avLst/>
          </a:prstGeom>
          <a:solidFill>
            <a:srgbClr val="008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DA93B26F-F9D6-7F41-A22D-8828C642F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1526" y="3771039"/>
            <a:ext cx="73025" cy="73025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252BBBA7-0B54-5F10-3A0B-07D9A07CC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340" y="2967216"/>
            <a:ext cx="73025" cy="73025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7976C62C-F69E-1167-F67F-93025503B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315" y="3011450"/>
            <a:ext cx="73025" cy="73025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1537DF6-7FB3-F032-F9B1-E714FDEBC007}"/>
              </a:ext>
            </a:extLst>
          </p:cNvPr>
          <p:cNvSpPr txBox="1"/>
          <p:nvPr/>
        </p:nvSpPr>
        <p:spPr>
          <a:xfrm>
            <a:off x="3032971" y="3474711"/>
            <a:ext cx="5589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Acu</a:t>
            </a:r>
            <a:r>
              <a:rPr lang="de-DE" sz="1000" i="0">
                <a:effectLst/>
                <a:latin typeface="Gilroy"/>
              </a:rPr>
              <a:t>ñ</a:t>
            </a:r>
            <a:r>
              <a:rPr lang="de-DE" sz="1000">
                <a:latin typeface="Gilroy" pitchFamily="2" charset="77"/>
              </a:rPr>
              <a:t>a</a:t>
            </a:r>
            <a:endParaRPr lang="de-DE" sz="10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3292340-2B4A-2626-FF87-265FE3CD7894}"/>
              </a:ext>
            </a:extLst>
          </p:cNvPr>
          <p:cNvSpPr txBox="1"/>
          <p:nvPr/>
        </p:nvSpPr>
        <p:spPr>
          <a:xfrm>
            <a:off x="2744365" y="3838032"/>
            <a:ext cx="5589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Toluca</a:t>
            </a:r>
            <a:endParaRPr lang="de-DE" sz="1000">
              <a:solidFill>
                <a:srgbClr val="C0000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7AC34B-415F-441E-5231-390232673F57}"/>
              </a:ext>
            </a:extLst>
          </p:cNvPr>
          <p:cNvSpPr txBox="1"/>
          <p:nvPr/>
        </p:nvSpPr>
        <p:spPr>
          <a:xfrm>
            <a:off x="8291114" y="3567317"/>
            <a:ext cx="708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Suzhou</a:t>
            </a:r>
            <a:endParaRPr lang="de-DE" sz="10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E22E5F-143B-CBC5-EF4C-20CC10ACCCC5}"/>
              </a:ext>
            </a:extLst>
          </p:cNvPr>
          <p:cNvSpPr txBox="1"/>
          <p:nvPr/>
        </p:nvSpPr>
        <p:spPr>
          <a:xfrm>
            <a:off x="5939544" y="3084074"/>
            <a:ext cx="877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Aldersbach</a:t>
            </a:r>
            <a:endParaRPr lang="de-DE" sz="100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75F3674-5B59-5917-2A63-B40E41FA7487}"/>
              </a:ext>
            </a:extLst>
          </p:cNvPr>
          <p:cNvSpPr txBox="1"/>
          <p:nvPr/>
        </p:nvSpPr>
        <p:spPr>
          <a:xfrm>
            <a:off x="6043905" y="2881152"/>
            <a:ext cx="877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Straubing</a:t>
            </a:r>
            <a:endParaRPr lang="de-DE" sz="1000">
              <a:solidFill>
                <a:srgbClr val="C00000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37D0B1B-F34E-3788-6C56-7FD47C5FDF7E}"/>
              </a:ext>
            </a:extLst>
          </p:cNvPr>
          <p:cNvSpPr txBox="1"/>
          <p:nvPr/>
        </p:nvSpPr>
        <p:spPr>
          <a:xfrm>
            <a:off x="5316860" y="2924451"/>
            <a:ext cx="877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Struttgart</a:t>
            </a:r>
            <a:endParaRPr lang="de-DE" sz="1000">
              <a:solidFill>
                <a:srgbClr val="C00000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F2FADD3-22D4-B3E2-6585-EEBE6294D066}"/>
              </a:ext>
            </a:extLst>
          </p:cNvPr>
          <p:cNvSpPr txBox="1"/>
          <p:nvPr/>
        </p:nvSpPr>
        <p:spPr>
          <a:xfrm>
            <a:off x="8143168" y="3702675"/>
            <a:ext cx="708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Suzhou</a:t>
            </a:r>
            <a:endParaRPr lang="de-DE" sz="1000">
              <a:solidFill>
                <a:srgbClr val="C00000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5BF6F96-F225-4AA0-0443-418DD7425C0B}"/>
              </a:ext>
            </a:extLst>
          </p:cNvPr>
          <p:cNvSpPr txBox="1"/>
          <p:nvPr/>
        </p:nvSpPr>
        <p:spPr>
          <a:xfrm>
            <a:off x="1337792" y="1071476"/>
            <a:ext cx="12359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Service Locations</a:t>
            </a:r>
            <a:endParaRPr lang="de-DE" sz="1000">
              <a:solidFill>
                <a:srgbClr val="C00000"/>
              </a:solidFill>
            </a:endParaRP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69E55D8A-823C-CE3F-AB07-85C2F6789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279" y="1158073"/>
            <a:ext cx="73025" cy="73025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393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1DD6D-6B7D-4ADE-BFD9-804B91EC9E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00524" y="15234"/>
            <a:ext cx="4656790" cy="432000"/>
          </a:xfrm>
          <a:prstGeom prst="rect">
            <a:avLst/>
          </a:prstGeom>
        </p:spPr>
        <p:txBody>
          <a:bodyPr/>
          <a:lstStyle/>
          <a:p>
            <a:r>
              <a:rPr lang="de-DE" sz="1600"/>
              <a:t>Arbeitsgemeinschaft Gluth - Bosch (BMG)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BD66E9-AFB8-0F88-2AFB-16DA3063B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514" y="1167575"/>
            <a:ext cx="1293358" cy="24218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A3A3780-5A81-E7B9-A2E4-B5DE782DA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080" y="1735432"/>
            <a:ext cx="1125120" cy="2096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6F7D769-7C43-1E06-14BB-6B90765AD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969" y="1134900"/>
            <a:ext cx="982790" cy="27324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D7CFA97-9DCB-541E-7788-C465E434E46B}"/>
              </a:ext>
            </a:extLst>
          </p:cNvPr>
          <p:cNvSpPr txBox="1"/>
          <p:nvPr/>
        </p:nvSpPr>
        <p:spPr>
          <a:xfrm>
            <a:off x="3628485" y="1717147"/>
            <a:ext cx="877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Aldersbach</a:t>
            </a:r>
            <a:endParaRPr lang="de-DE" sz="10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8D77570-11BA-8E3C-E95B-99A757FD7EA2}"/>
              </a:ext>
            </a:extLst>
          </p:cNvPr>
          <p:cNvSpPr txBox="1"/>
          <p:nvPr/>
        </p:nvSpPr>
        <p:spPr>
          <a:xfrm>
            <a:off x="3429461" y="1349420"/>
            <a:ext cx="877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Straubing</a:t>
            </a:r>
            <a:endParaRPr lang="de-DE" sz="1000">
              <a:solidFill>
                <a:srgbClr val="C00000"/>
              </a:solidFill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8F01AA9-1A76-354C-BEF8-B533DFF2B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406" y="2119983"/>
            <a:ext cx="3228130" cy="205577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6A06BC89-8E6E-C03C-9EA8-8760981CF8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4089" y="2184599"/>
            <a:ext cx="2338936" cy="182707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09D1F992-A854-7A6D-1E90-EE28EB0150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121" y="2184598"/>
            <a:ext cx="2338936" cy="1827079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AB0B85B5-8733-4393-BDAE-D93480FCF95F}"/>
              </a:ext>
            </a:extLst>
          </p:cNvPr>
          <p:cNvSpPr txBox="1"/>
          <p:nvPr/>
        </p:nvSpPr>
        <p:spPr>
          <a:xfrm>
            <a:off x="7265841" y="1720625"/>
            <a:ext cx="708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Suzhou</a:t>
            </a:r>
            <a:endParaRPr lang="de-DE" sz="100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36794AD-D85C-B3B4-6CE8-29AB2D5F6C18}"/>
              </a:ext>
            </a:extLst>
          </p:cNvPr>
          <p:cNvSpPr txBox="1"/>
          <p:nvPr/>
        </p:nvSpPr>
        <p:spPr>
          <a:xfrm>
            <a:off x="7123019" y="1349419"/>
            <a:ext cx="708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Suzhou</a:t>
            </a:r>
            <a:endParaRPr lang="de-DE" sz="1000">
              <a:solidFill>
                <a:srgbClr val="C00000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9E8AC08-03B4-D8A3-CF9A-E30F3D58B055}"/>
              </a:ext>
            </a:extLst>
          </p:cNvPr>
          <p:cNvSpPr txBox="1"/>
          <p:nvPr/>
        </p:nvSpPr>
        <p:spPr>
          <a:xfrm>
            <a:off x="9821899" y="1724559"/>
            <a:ext cx="5589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Acu</a:t>
            </a:r>
            <a:r>
              <a:rPr lang="de-DE" sz="1000" i="0">
                <a:effectLst/>
                <a:latin typeface="Gilroy"/>
              </a:rPr>
              <a:t>ñ</a:t>
            </a:r>
            <a:r>
              <a:rPr lang="de-DE" sz="1000">
                <a:latin typeface="Gilroy" pitchFamily="2" charset="77"/>
              </a:rPr>
              <a:t>a</a:t>
            </a:r>
            <a:endParaRPr lang="de-DE" sz="10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ED21224-2C45-7526-9C84-B45CB7515D1A}"/>
              </a:ext>
            </a:extLst>
          </p:cNvPr>
          <p:cNvSpPr txBox="1"/>
          <p:nvPr/>
        </p:nvSpPr>
        <p:spPr>
          <a:xfrm>
            <a:off x="9547863" y="1349419"/>
            <a:ext cx="5589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Toluca</a:t>
            </a:r>
            <a:endParaRPr lang="de-DE" sz="1000">
              <a:solidFill>
                <a:srgbClr val="C00000"/>
              </a:solidFill>
            </a:endParaRP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F64BFAF6-7B87-CC7D-46DC-C6A8ABEEB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223" y="1134900"/>
            <a:ext cx="982790" cy="273242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F0DA984E-0467-6F7B-3E4C-E7275962ADAB}"/>
              </a:ext>
            </a:extLst>
          </p:cNvPr>
          <p:cNvSpPr txBox="1"/>
          <p:nvPr/>
        </p:nvSpPr>
        <p:spPr>
          <a:xfrm>
            <a:off x="2517076" y="4275348"/>
            <a:ext cx="2600789" cy="192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Gluth - Prototyp Vollautomat Aldersbach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Verkettung mit Werkstückträger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Konstruktion Automatik+Manuelle Linie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Prozessausprobe, Verbundausprobe</a:t>
            </a: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Lieferung Ende 2025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Umfang 5,2 Mio€</a:t>
            </a: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460A57A-D116-5867-3E62-88D16DA7EB0F}"/>
              </a:ext>
            </a:extLst>
          </p:cNvPr>
          <p:cNvSpPr txBox="1"/>
          <p:nvPr/>
        </p:nvSpPr>
        <p:spPr>
          <a:xfrm>
            <a:off x="5910449" y="4275348"/>
            <a:ext cx="2600789" cy="151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BMG - Build to Print Manuell Suzhou - China</a:t>
            </a: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Lieferung Q1 2026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Umfang 1,7 Mio€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B52E9CF-2B68-24FB-2C19-944D7F0DFAD2}"/>
              </a:ext>
            </a:extLst>
          </p:cNvPr>
          <p:cNvSpPr txBox="1"/>
          <p:nvPr/>
        </p:nvSpPr>
        <p:spPr>
          <a:xfrm>
            <a:off x="8396121" y="4275348"/>
            <a:ext cx="2600789" cy="171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BMG - Build to Print Manuell Acu</a:t>
            </a:r>
            <a:r>
              <a:rPr lang="de-DE" sz="1000" i="0">
                <a:effectLst/>
                <a:latin typeface="Gilroy"/>
              </a:rPr>
              <a:t>ñ</a:t>
            </a:r>
            <a:r>
              <a:rPr lang="de-DE" sz="1000">
                <a:latin typeface="Gilroy" pitchFamily="2" charset="77"/>
              </a:rPr>
              <a:t>a - Mexiko</a:t>
            </a: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Lieferung Q2 2026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Umfang 1,7 Mio€</a:t>
            </a:r>
          </a:p>
          <a:p>
            <a:pPr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1D6A8D71-25C0-41B2-D836-F217F1B2C4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0945" y="1164642"/>
            <a:ext cx="545695" cy="369553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2C01917F-3B19-B579-BF1F-94E8595ECE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1943" y="1171614"/>
            <a:ext cx="577452" cy="384968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40C13C59-6B95-ACDD-ACB8-33BBC89E23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6205" y="1173009"/>
            <a:ext cx="576778" cy="352817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22D939B8-4C93-17B2-5402-B5B73BB2BC53}"/>
              </a:ext>
            </a:extLst>
          </p:cNvPr>
          <p:cNvSpPr txBox="1"/>
          <p:nvPr/>
        </p:nvSpPr>
        <p:spPr>
          <a:xfrm>
            <a:off x="597636" y="2686206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Gesamt:</a:t>
            </a:r>
          </a:p>
          <a:p>
            <a:endParaRPr lang="de-DE"/>
          </a:p>
          <a:p>
            <a:r>
              <a:rPr lang="de-DE"/>
              <a:t>8,6 Mio€</a:t>
            </a: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81D2AC83-0710-0BFC-E0D0-98045D76A7B6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3942" y="916012"/>
            <a:ext cx="976913" cy="1236366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E3DC928A-1943-6A2E-1951-86B005100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107" y="1753718"/>
            <a:ext cx="1125120" cy="20965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A334D016-2BEA-717B-BAB4-1B1FFB2A4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779" y="1753718"/>
            <a:ext cx="1125120" cy="209650"/>
          </a:xfrm>
          <a:prstGeom prst="rect">
            <a:avLst/>
          </a:prstGeom>
        </p:spPr>
      </p:pic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A05DD886-24C4-FF93-F96E-15B51DD4C63C}"/>
              </a:ext>
            </a:extLst>
          </p:cNvPr>
          <p:cNvSpPr/>
          <p:nvPr/>
        </p:nvSpPr>
        <p:spPr>
          <a:xfrm>
            <a:off x="2121408" y="916012"/>
            <a:ext cx="3477801" cy="5075703"/>
          </a:xfrm>
          <a:prstGeom prst="roundRect">
            <a:avLst>
              <a:gd name="adj" fmla="val 3871"/>
            </a:avLst>
          </a:prstGeom>
          <a:solidFill>
            <a:srgbClr val="FFC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9EA72247-6492-C034-3F40-0936A554C87E}"/>
              </a:ext>
            </a:extLst>
          </p:cNvPr>
          <p:cNvSpPr/>
          <p:nvPr/>
        </p:nvSpPr>
        <p:spPr>
          <a:xfrm>
            <a:off x="5655049" y="916012"/>
            <a:ext cx="2659895" cy="5075703"/>
          </a:xfrm>
          <a:prstGeom prst="roundRect">
            <a:avLst>
              <a:gd name="adj" fmla="val 3871"/>
            </a:avLst>
          </a:prstGeom>
          <a:solidFill>
            <a:srgbClr val="C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5347D5BE-AA8E-C44E-76AF-226056BEE681}"/>
              </a:ext>
            </a:extLst>
          </p:cNvPr>
          <p:cNvSpPr/>
          <p:nvPr/>
        </p:nvSpPr>
        <p:spPr>
          <a:xfrm>
            <a:off x="8366567" y="916012"/>
            <a:ext cx="2659895" cy="5075703"/>
          </a:xfrm>
          <a:prstGeom prst="roundRect">
            <a:avLst>
              <a:gd name="adj" fmla="val 3871"/>
            </a:avLst>
          </a:prstGeom>
          <a:solidFill>
            <a:schemeClr val="accent6">
              <a:lumMod val="75000"/>
              <a:alpha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672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1DD6D-6B7D-4ADE-BFD9-804B91EC9E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00524" y="15234"/>
            <a:ext cx="4656790" cy="432000"/>
          </a:xfrm>
          <a:prstGeom prst="rect">
            <a:avLst/>
          </a:prstGeom>
        </p:spPr>
        <p:txBody>
          <a:bodyPr/>
          <a:lstStyle/>
          <a:p>
            <a:r>
              <a:rPr lang="de-DE" sz="1600"/>
              <a:t>Arbeitsgemeinschaft Gluth - Bosch (BMG)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BD66E9-AFB8-0F88-2AFB-16DA3063B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514" y="1167575"/>
            <a:ext cx="1293358" cy="24218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A3A3780-5A81-E7B9-A2E4-B5DE782DA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080" y="1735432"/>
            <a:ext cx="1125120" cy="2096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6F7D769-7C43-1E06-14BB-6B90765AD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969" y="1134900"/>
            <a:ext cx="982790" cy="27324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D7CFA97-9DCB-541E-7788-C465E434E46B}"/>
              </a:ext>
            </a:extLst>
          </p:cNvPr>
          <p:cNvSpPr txBox="1"/>
          <p:nvPr/>
        </p:nvSpPr>
        <p:spPr>
          <a:xfrm>
            <a:off x="3628485" y="1717147"/>
            <a:ext cx="877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Aldersbach</a:t>
            </a:r>
            <a:endParaRPr lang="de-DE" sz="10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8D77570-11BA-8E3C-E95B-99A757FD7EA2}"/>
              </a:ext>
            </a:extLst>
          </p:cNvPr>
          <p:cNvSpPr txBox="1"/>
          <p:nvPr/>
        </p:nvSpPr>
        <p:spPr>
          <a:xfrm>
            <a:off x="3429461" y="1349420"/>
            <a:ext cx="877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Straubing</a:t>
            </a:r>
            <a:endParaRPr lang="de-DE" sz="1000">
              <a:solidFill>
                <a:srgbClr val="C00000"/>
              </a:solidFill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8F01AA9-1A76-354C-BEF8-B533DFF2B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406" y="2119983"/>
            <a:ext cx="3228130" cy="205577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6A06BC89-8E6E-C03C-9EA8-8760981CF8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4089" y="2184599"/>
            <a:ext cx="2338936" cy="182707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09D1F992-A854-7A6D-1E90-EE28EB0150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121" y="2184598"/>
            <a:ext cx="2338936" cy="1827079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AB0B85B5-8733-4393-BDAE-D93480FCF95F}"/>
              </a:ext>
            </a:extLst>
          </p:cNvPr>
          <p:cNvSpPr txBox="1"/>
          <p:nvPr/>
        </p:nvSpPr>
        <p:spPr>
          <a:xfrm>
            <a:off x="7265841" y="1720625"/>
            <a:ext cx="708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Suzhou</a:t>
            </a:r>
            <a:endParaRPr lang="de-DE" sz="100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36794AD-D85C-B3B4-6CE8-29AB2D5F6C18}"/>
              </a:ext>
            </a:extLst>
          </p:cNvPr>
          <p:cNvSpPr txBox="1"/>
          <p:nvPr/>
        </p:nvSpPr>
        <p:spPr>
          <a:xfrm>
            <a:off x="7123019" y="1349419"/>
            <a:ext cx="708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Suzhou</a:t>
            </a:r>
            <a:endParaRPr lang="de-DE" sz="1000">
              <a:solidFill>
                <a:srgbClr val="C00000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9E8AC08-03B4-D8A3-CF9A-E30F3D58B055}"/>
              </a:ext>
            </a:extLst>
          </p:cNvPr>
          <p:cNvSpPr txBox="1"/>
          <p:nvPr/>
        </p:nvSpPr>
        <p:spPr>
          <a:xfrm>
            <a:off x="9821899" y="1724559"/>
            <a:ext cx="5589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latin typeface="Gilroy" pitchFamily="2" charset="77"/>
              </a:rPr>
              <a:t>Acu</a:t>
            </a:r>
            <a:r>
              <a:rPr lang="de-DE" sz="1000" i="0">
                <a:effectLst/>
                <a:latin typeface="Gilroy"/>
              </a:rPr>
              <a:t>ñ</a:t>
            </a:r>
            <a:r>
              <a:rPr lang="de-DE" sz="1000">
                <a:latin typeface="Gilroy" pitchFamily="2" charset="77"/>
              </a:rPr>
              <a:t>a</a:t>
            </a:r>
            <a:endParaRPr lang="de-DE" sz="10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ED21224-2C45-7526-9C84-B45CB7515D1A}"/>
              </a:ext>
            </a:extLst>
          </p:cNvPr>
          <p:cNvSpPr txBox="1"/>
          <p:nvPr/>
        </p:nvSpPr>
        <p:spPr>
          <a:xfrm>
            <a:off x="9547863" y="1349419"/>
            <a:ext cx="5589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>
                <a:solidFill>
                  <a:srgbClr val="C00000"/>
                </a:solidFill>
                <a:latin typeface="Gilroy" pitchFamily="2" charset="77"/>
              </a:rPr>
              <a:t>Toluca</a:t>
            </a:r>
            <a:endParaRPr lang="de-DE" sz="1000">
              <a:solidFill>
                <a:srgbClr val="C00000"/>
              </a:solidFill>
            </a:endParaRP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F64BFAF6-7B87-CC7D-46DC-C6A8ABEEB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223" y="1134900"/>
            <a:ext cx="982790" cy="273242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F0DA984E-0467-6F7B-3E4C-E7275962ADAB}"/>
              </a:ext>
            </a:extLst>
          </p:cNvPr>
          <p:cNvSpPr txBox="1"/>
          <p:nvPr/>
        </p:nvSpPr>
        <p:spPr>
          <a:xfrm>
            <a:off x="2517076" y="4275348"/>
            <a:ext cx="2600789" cy="130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Generalunternehmer Gluth 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Prototyp Vollautomat Aldersbach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Verkettung mit Werkstückträger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Konstruktion Automatik+Manuelle Linie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Prozessausprobe, Verbundausprobe</a:t>
            </a: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Lieferung Ende 2025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460A57A-D116-5867-3E62-88D16DA7EB0F}"/>
              </a:ext>
            </a:extLst>
          </p:cNvPr>
          <p:cNvSpPr txBox="1"/>
          <p:nvPr/>
        </p:nvSpPr>
        <p:spPr>
          <a:xfrm>
            <a:off x="5910449" y="4275348"/>
            <a:ext cx="2600789" cy="130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BMG - Build to Print Manuell Suzhou - China</a:t>
            </a: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Lieferung Q1 2026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B52E9CF-2B68-24FB-2C19-944D7F0DFAD2}"/>
              </a:ext>
            </a:extLst>
          </p:cNvPr>
          <p:cNvSpPr txBox="1"/>
          <p:nvPr/>
        </p:nvSpPr>
        <p:spPr>
          <a:xfrm>
            <a:off x="8396121" y="4275348"/>
            <a:ext cx="2600789" cy="130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BMG - Build to Print Manuell Acu</a:t>
            </a:r>
            <a:r>
              <a:rPr lang="de-DE" sz="1000" i="0">
                <a:effectLst/>
                <a:latin typeface="Gilroy"/>
              </a:rPr>
              <a:t>ñ</a:t>
            </a:r>
            <a:r>
              <a:rPr lang="de-DE" sz="1000">
                <a:latin typeface="Gilroy" pitchFamily="2" charset="77"/>
              </a:rPr>
              <a:t>a - Mexiko</a:t>
            </a: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endParaRPr lang="de-DE" sz="1000">
              <a:latin typeface="Gilroy" pitchFamily="2" charset="77"/>
            </a:endParaRPr>
          </a:p>
          <a:p>
            <a:pPr algn="l">
              <a:lnSpc>
                <a:spcPts val="1582"/>
              </a:lnSpc>
            </a:pPr>
            <a:r>
              <a:rPr lang="de-DE" sz="1000">
                <a:latin typeface="Gilroy" pitchFamily="2" charset="77"/>
              </a:rPr>
              <a:t>Lieferung Q2 2026</a:t>
            </a:r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1D6A8D71-25C0-41B2-D836-F217F1B2C4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0945" y="1164642"/>
            <a:ext cx="545695" cy="369553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2C01917F-3B19-B579-BF1F-94E8595ECE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1943" y="1171614"/>
            <a:ext cx="577452" cy="384968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40C13C59-6B95-ACDD-ACB8-33BBC89E23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6205" y="1173009"/>
            <a:ext cx="576778" cy="352817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81D2AC83-0710-0BFC-E0D0-98045D76A7B6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06244" y="1113648"/>
            <a:ext cx="740504" cy="93717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E3DC928A-1943-6A2E-1951-86B005100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107" y="1753718"/>
            <a:ext cx="1125120" cy="20965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A334D016-2BEA-717B-BAB4-1B1FFB2A4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779" y="1753718"/>
            <a:ext cx="1125120" cy="209650"/>
          </a:xfrm>
          <a:prstGeom prst="rect">
            <a:avLst/>
          </a:prstGeom>
        </p:spPr>
      </p:pic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A05DD886-24C4-FF93-F96E-15B51DD4C63C}"/>
              </a:ext>
            </a:extLst>
          </p:cNvPr>
          <p:cNvSpPr/>
          <p:nvPr/>
        </p:nvSpPr>
        <p:spPr>
          <a:xfrm>
            <a:off x="2121408" y="916013"/>
            <a:ext cx="3477801" cy="4665334"/>
          </a:xfrm>
          <a:prstGeom prst="roundRect">
            <a:avLst>
              <a:gd name="adj" fmla="val 3871"/>
            </a:avLst>
          </a:prstGeom>
          <a:solidFill>
            <a:srgbClr val="FFC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9EA72247-6492-C034-3F40-0936A554C87E}"/>
              </a:ext>
            </a:extLst>
          </p:cNvPr>
          <p:cNvSpPr/>
          <p:nvPr/>
        </p:nvSpPr>
        <p:spPr>
          <a:xfrm>
            <a:off x="5655049" y="916013"/>
            <a:ext cx="2659895" cy="4665334"/>
          </a:xfrm>
          <a:prstGeom prst="roundRect">
            <a:avLst>
              <a:gd name="adj" fmla="val 3871"/>
            </a:avLst>
          </a:prstGeom>
          <a:solidFill>
            <a:srgbClr val="C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5347D5BE-AA8E-C44E-76AF-226056BEE681}"/>
              </a:ext>
            </a:extLst>
          </p:cNvPr>
          <p:cNvSpPr/>
          <p:nvPr/>
        </p:nvSpPr>
        <p:spPr>
          <a:xfrm>
            <a:off x="8366567" y="916013"/>
            <a:ext cx="2659895" cy="4665334"/>
          </a:xfrm>
          <a:prstGeom prst="roundRect">
            <a:avLst>
              <a:gd name="adj" fmla="val 3871"/>
            </a:avLst>
          </a:prstGeom>
          <a:solidFill>
            <a:schemeClr val="accent6">
              <a:lumMod val="75000"/>
              <a:alpha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062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790495" y="46267"/>
            <a:ext cx="493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Projektbezeichnung LH u. Ansprechpartner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92BECE5-A43F-68AA-5A81-AE6215F0D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489" y="2024102"/>
            <a:ext cx="2708510" cy="94687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DA201F6-215B-D30F-6324-66AFA6EA1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49" y="1672140"/>
            <a:ext cx="2543102" cy="298677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74994F09-C6CA-585A-913D-48E145AA4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172" y="1570562"/>
            <a:ext cx="2592388" cy="166199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de-DE" altLang="de-DE" sz="12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Ansprechpartner bei Gluth:</a:t>
            </a:r>
          </a:p>
          <a:p>
            <a:pPr eaLnBrk="1" hangingPunct="1">
              <a:defRPr/>
            </a:pPr>
            <a:endParaRPr lang="de-DE" altLang="de-DE" sz="11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Harald Waas</a:t>
            </a:r>
            <a:b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Technischer Vertrieb</a:t>
            </a:r>
            <a:b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Tel: +49(09421) 544-918</a:t>
            </a:r>
            <a:b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Mobil: +49(0160) 9836-3373</a:t>
            </a:r>
          </a:p>
          <a:p>
            <a:pPr eaLnBrk="1" hangingPunct="1">
              <a:defRPr/>
            </a:pPr>
            <a:endParaRPr lang="de-DE" altLang="de-DE" sz="11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Mail: waas.harald@gluth.eu</a:t>
            </a:r>
            <a:br>
              <a:rPr lang="de-DE" altLang="de-DE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altLang="de-DE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8EAC3D6-F48F-9833-91B4-DC28F64E7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495" y="1570562"/>
            <a:ext cx="2592388" cy="7848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de-DE" altLang="de-DE" sz="12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Ansprechpartner bei Knorr:</a:t>
            </a:r>
          </a:p>
          <a:p>
            <a:pPr eaLnBrk="1" hangingPunct="1">
              <a:defRPr/>
            </a:pPr>
            <a:endParaRPr lang="de-DE" altLang="de-DE" sz="11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br>
              <a:rPr lang="de-DE" altLang="de-DE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altLang="de-DE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793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ED92DB-658D-3BBD-6D45-B5FCD4BF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42" y="1966738"/>
            <a:ext cx="1220464" cy="218562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F37D8AF-108A-06CB-02BB-8424CFB4A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044" y="1890549"/>
            <a:ext cx="848181" cy="2261816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F0C9DD7-B89F-D0F3-A052-5018FF932631}"/>
              </a:ext>
            </a:extLst>
          </p:cNvPr>
          <p:cNvGrpSpPr/>
          <p:nvPr/>
        </p:nvGrpSpPr>
        <p:grpSpPr>
          <a:xfrm>
            <a:off x="3474373" y="2536323"/>
            <a:ext cx="869737" cy="1555090"/>
            <a:chOff x="5214315" y="1151969"/>
            <a:chExt cx="920418" cy="1702844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DF37D87-E790-3DB1-4D75-53136D46B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4315" y="2010273"/>
              <a:ext cx="696812" cy="844540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52274E15-EC53-7E70-C1FD-785F31852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12152" y="1554032"/>
              <a:ext cx="416760" cy="515356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8976488F-7F99-E9B7-1B0C-9DB9E7D7F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2777" y="1222427"/>
              <a:ext cx="495511" cy="337103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9FC290E5-C80B-B26D-03CC-78576C9E3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68288" y="1151969"/>
              <a:ext cx="366445" cy="338555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13FC68D-734E-E3D7-6587-AF453081E669}"/>
              </a:ext>
            </a:extLst>
          </p:cNvPr>
          <p:cNvGrpSpPr/>
          <p:nvPr/>
        </p:nvGrpSpPr>
        <p:grpSpPr>
          <a:xfrm>
            <a:off x="4626409" y="2348718"/>
            <a:ext cx="1373441" cy="1743626"/>
            <a:chOff x="1424672" y="1049048"/>
            <a:chExt cx="1247482" cy="1725229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5DAFC167-DE03-73A5-560C-6969FA27B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4672" y="2061690"/>
              <a:ext cx="581191" cy="712587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A8CE9E26-7EED-BFBE-1FBF-1FAD24F40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98243" y="2235450"/>
              <a:ext cx="374160" cy="421491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18EDB552-410B-CA17-0FCB-73B4D693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01581" y="1346840"/>
              <a:ext cx="309336" cy="253146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F1834FD2-0774-2F80-B7B6-59A01F9A4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894727" y="1615531"/>
              <a:ext cx="323045" cy="253146"/>
            </a:xfrm>
            <a:prstGeom prst="rect">
              <a:avLst/>
            </a:prstGeom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FC11B960-D7E5-A3F1-CDFF-5B5BCB215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36422" y="1893966"/>
              <a:ext cx="190187" cy="249422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6EF4052-5164-8923-720A-32BC9A63DF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2014" r="61418"/>
            <a:stretch/>
          </p:blipFill>
          <p:spPr>
            <a:xfrm>
              <a:off x="1907411" y="1049048"/>
              <a:ext cx="141381" cy="230172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CB76944A-E250-FC7B-1A4F-6064B0CAA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72652" y="1474355"/>
              <a:ext cx="599502" cy="263881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7E54FC1-3847-6C89-0310-4D0D803FFF42}"/>
              </a:ext>
            </a:extLst>
          </p:cNvPr>
          <p:cNvGrpSpPr/>
          <p:nvPr/>
        </p:nvGrpSpPr>
        <p:grpSpPr>
          <a:xfrm>
            <a:off x="5691848" y="2748301"/>
            <a:ext cx="1374976" cy="1330468"/>
            <a:chOff x="4095988" y="960705"/>
            <a:chExt cx="1281823" cy="1259090"/>
          </a:xfrm>
        </p:grpSpPr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51104C9C-ABEB-A921-9EC9-BC9FB2756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5585" y="1494138"/>
              <a:ext cx="586564" cy="725657"/>
            </a:xfrm>
            <a:prstGeom prst="rect">
              <a:avLst/>
            </a:prstGeom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636BD695-4E0B-FD2A-08BE-E7A9702B1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584208" y="960705"/>
              <a:ext cx="671876" cy="434930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C0F47FCA-D2E0-6464-076C-F0D1D1018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065923" y="1267386"/>
              <a:ext cx="311888" cy="338554"/>
            </a:xfrm>
            <a:prstGeom prst="rect">
              <a:avLst/>
            </a:prstGeom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0785E9DF-A1D8-A758-306E-3849E2321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520784" y="1308339"/>
              <a:ext cx="110394" cy="313596"/>
            </a:xfrm>
            <a:prstGeom prst="rect">
              <a:avLst/>
            </a:prstGeom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78B8C398-2661-CF09-4688-320028EF9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4095988" y="1229429"/>
              <a:ext cx="504388" cy="263881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A89B3AC9-9139-3247-F87A-7154538FBB14}"/>
              </a:ext>
            </a:extLst>
          </p:cNvPr>
          <p:cNvGrpSpPr/>
          <p:nvPr/>
        </p:nvGrpSpPr>
        <p:grpSpPr>
          <a:xfrm>
            <a:off x="8643487" y="2845502"/>
            <a:ext cx="820396" cy="1544048"/>
            <a:chOff x="4753797" y="2016896"/>
            <a:chExt cx="549800" cy="1205991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CC9A66C7-01AE-87BA-95AD-C667FEAF7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783656" y="2367317"/>
              <a:ext cx="453114" cy="563884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D112E84B-0BA4-5B5E-F66E-050F15400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53797" y="2016896"/>
              <a:ext cx="549800" cy="347266"/>
            </a:xfrm>
            <a:prstGeom prst="rect">
              <a:avLst/>
            </a:prstGeom>
          </p:spPr>
        </p:pic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599F68A6-A069-C9E7-2CEA-1CC705EB2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56476" y="2975188"/>
              <a:ext cx="271265" cy="247699"/>
            </a:xfrm>
            <a:prstGeom prst="rect">
              <a:avLst/>
            </a:prstGeom>
          </p:spPr>
        </p:pic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136B0704-9920-3A91-44C6-609009F70E3A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69446" y="3241624"/>
            <a:ext cx="820396" cy="1038280"/>
          </a:xfrm>
          <a:prstGeom prst="rect">
            <a:avLst/>
          </a:prstGeom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DB2F50AB-BAE4-970E-C175-7A00320DC384}"/>
              </a:ext>
            </a:extLst>
          </p:cNvPr>
          <p:cNvSpPr txBox="1"/>
          <p:nvPr/>
        </p:nvSpPr>
        <p:spPr>
          <a:xfrm>
            <a:off x="5058952" y="46267"/>
            <a:ext cx="173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Montageschritte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DE22382-9ACA-11F7-B6C9-061462BE6620}"/>
              </a:ext>
            </a:extLst>
          </p:cNvPr>
          <p:cNvCxnSpPr>
            <a:cxnSpLocks/>
          </p:cNvCxnSpPr>
          <p:nvPr/>
        </p:nvCxnSpPr>
        <p:spPr>
          <a:xfrm>
            <a:off x="2090057" y="3661477"/>
            <a:ext cx="278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629DD8B-EBA4-D550-E5E6-F319CCAAD282}"/>
              </a:ext>
            </a:extLst>
          </p:cNvPr>
          <p:cNvCxnSpPr>
            <a:cxnSpLocks/>
          </p:cNvCxnSpPr>
          <p:nvPr/>
        </p:nvCxnSpPr>
        <p:spPr>
          <a:xfrm>
            <a:off x="3097767" y="3646403"/>
            <a:ext cx="311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A90F867-9BC7-5B93-1D7C-EE083D06CF8B}"/>
              </a:ext>
            </a:extLst>
          </p:cNvPr>
          <p:cNvCxnSpPr>
            <a:cxnSpLocks/>
          </p:cNvCxnSpPr>
          <p:nvPr/>
        </p:nvCxnSpPr>
        <p:spPr>
          <a:xfrm>
            <a:off x="4202801" y="3637217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8B8545B-6F84-6039-9E0F-07AAD6B22FBA}"/>
              </a:ext>
            </a:extLst>
          </p:cNvPr>
          <p:cNvCxnSpPr>
            <a:cxnSpLocks/>
          </p:cNvCxnSpPr>
          <p:nvPr/>
        </p:nvCxnSpPr>
        <p:spPr>
          <a:xfrm>
            <a:off x="5735321" y="3629112"/>
            <a:ext cx="250666" cy="4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F98D967A-CEFB-85C0-E477-17622530217B}"/>
              </a:ext>
            </a:extLst>
          </p:cNvPr>
          <p:cNvCxnSpPr>
            <a:cxnSpLocks/>
          </p:cNvCxnSpPr>
          <p:nvPr/>
        </p:nvCxnSpPr>
        <p:spPr>
          <a:xfrm>
            <a:off x="6936251" y="3617215"/>
            <a:ext cx="2856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4477786-2871-B868-5896-89FA350DFF7B}"/>
              </a:ext>
            </a:extLst>
          </p:cNvPr>
          <p:cNvCxnSpPr>
            <a:cxnSpLocks/>
          </p:cNvCxnSpPr>
          <p:nvPr/>
        </p:nvCxnSpPr>
        <p:spPr>
          <a:xfrm flipV="1">
            <a:off x="8318058" y="3617664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55C5BFEB-AD63-4850-06B3-1569A5CA8436}"/>
              </a:ext>
            </a:extLst>
          </p:cNvPr>
          <p:cNvSpPr/>
          <p:nvPr/>
        </p:nvSpPr>
        <p:spPr bwMode="auto">
          <a:xfrm>
            <a:off x="1268030" y="4664099"/>
            <a:ext cx="192210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57A9F5C3-B120-8CDA-AFE5-91F246B48122}"/>
              </a:ext>
            </a:extLst>
          </p:cNvPr>
          <p:cNvSpPr/>
          <p:nvPr/>
        </p:nvSpPr>
        <p:spPr bwMode="auto">
          <a:xfrm>
            <a:off x="3303037" y="4664099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30</a:t>
            </a:r>
          </a:p>
        </p:txBody>
      </p: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BEFEEB92-0EF0-7CEF-7F4F-08186F8130AD}"/>
              </a:ext>
            </a:extLst>
          </p:cNvPr>
          <p:cNvSpPr/>
          <p:nvPr/>
        </p:nvSpPr>
        <p:spPr bwMode="auto">
          <a:xfrm>
            <a:off x="4499620" y="4664099"/>
            <a:ext cx="252000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C75F1725-CEF2-AE36-C56C-BD3649CEEF74}"/>
              </a:ext>
            </a:extLst>
          </p:cNvPr>
          <p:cNvSpPr/>
          <p:nvPr/>
        </p:nvSpPr>
        <p:spPr bwMode="auto">
          <a:xfrm>
            <a:off x="7236046" y="4664099"/>
            <a:ext cx="2308952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55085F3F-2E5E-0A90-EFF5-330093B04C10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7690" y="3251241"/>
            <a:ext cx="820396" cy="103828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5FC545C-1813-78E2-83D6-F022C49A103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8245" y="3075649"/>
            <a:ext cx="829615" cy="647505"/>
          </a:xfrm>
          <a:prstGeom prst="rect">
            <a:avLst/>
          </a:prstGeom>
        </p:spPr>
      </p:pic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BFD87F90-4D14-2797-6386-6E9B7855561E}"/>
              </a:ext>
            </a:extLst>
          </p:cNvPr>
          <p:cNvSpPr/>
          <p:nvPr/>
        </p:nvSpPr>
        <p:spPr bwMode="auto">
          <a:xfrm>
            <a:off x="9688312" y="4664099"/>
            <a:ext cx="2308952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B54B36AE-311C-9A96-D132-E8FCF51BB9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83623" y="3360556"/>
            <a:ext cx="676124" cy="721949"/>
          </a:xfrm>
          <a:prstGeom prst="rect">
            <a:avLst/>
          </a:prstGeom>
        </p:spPr>
      </p:pic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D3A8173-1F6D-E178-7636-7C23C5332034}"/>
              </a:ext>
            </a:extLst>
          </p:cNvPr>
          <p:cNvCxnSpPr>
            <a:cxnSpLocks/>
          </p:cNvCxnSpPr>
          <p:nvPr/>
        </p:nvCxnSpPr>
        <p:spPr>
          <a:xfrm flipV="1">
            <a:off x="9463883" y="3614162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EC19A0D-166D-BE05-A221-D7D4CCB63DF9}"/>
              </a:ext>
            </a:extLst>
          </p:cNvPr>
          <p:cNvCxnSpPr>
            <a:cxnSpLocks/>
          </p:cNvCxnSpPr>
          <p:nvPr/>
        </p:nvCxnSpPr>
        <p:spPr>
          <a:xfrm flipV="1">
            <a:off x="10778666" y="3611109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D737C3B0-E7F0-E530-923D-E5EF3128F222}"/>
              </a:ext>
            </a:extLst>
          </p:cNvPr>
          <p:cNvSpPr/>
          <p:nvPr/>
        </p:nvSpPr>
        <p:spPr bwMode="auto">
          <a:xfrm>
            <a:off x="83643" y="4664099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A5A7F4B9-192F-AD0B-7942-5BCF44FADA43}"/>
              </a:ext>
            </a:extLst>
          </p:cNvPr>
          <p:cNvSpPr/>
          <p:nvPr/>
        </p:nvSpPr>
        <p:spPr bwMode="auto">
          <a:xfrm>
            <a:off x="1268029" y="5139739"/>
            <a:ext cx="1922107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Montage Pneumatik</a:t>
            </a: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036D2CAB-4515-1DA7-176D-6D9D03D0940E}"/>
              </a:ext>
            </a:extLst>
          </p:cNvPr>
          <p:cNvSpPr/>
          <p:nvPr/>
        </p:nvSpPr>
        <p:spPr bwMode="auto">
          <a:xfrm>
            <a:off x="77988" y="5139633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Bauteile auf WT legen</a:t>
            </a:r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3CC9FCCA-61D5-34C6-A847-97823BE70990}"/>
              </a:ext>
            </a:extLst>
          </p:cNvPr>
          <p:cNvSpPr/>
          <p:nvPr/>
        </p:nvSpPr>
        <p:spPr bwMode="auto">
          <a:xfrm>
            <a:off x="3313611" y="5138296"/>
            <a:ext cx="3706009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Montage Elektronik</a:t>
            </a:r>
          </a:p>
        </p:txBody>
      </p: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F036E91C-002F-D3DE-FB43-E408B883BD80}"/>
              </a:ext>
            </a:extLst>
          </p:cNvPr>
          <p:cNvSpPr/>
          <p:nvPr/>
        </p:nvSpPr>
        <p:spPr bwMode="auto">
          <a:xfrm>
            <a:off x="7246776" y="5134136"/>
            <a:ext cx="4750488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Prüfen, Endmontage und Beschriften</a:t>
            </a:r>
          </a:p>
        </p:txBody>
      </p:sp>
    </p:spTree>
    <p:extLst>
      <p:ext uri="{BB962C8B-B14F-4D97-AF65-F5344CB8AC3E}">
        <p14:creationId xmlns:p14="http://schemas.microsoft.com/office/powerpoint/2010/main" val="2971077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86F42B0-37D6-0FFF-09B1-D0B3C9789570}"/>
              </a:ext>
            </a:extLst>
          </p:cNvPr>
          <p:cNvSpPr/>
          <p:nvPr/>
        </p:nvSpPr>
        <p:spPr bwMode="auto">
          <a:xfrm>
            <a:off x="6918138" y="2048851"/>
            <a:ext cx="1999263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D54492F-6EBE-36CF-89E6-FC403A202D02}"/>
              </a:ext>
            </a:extLst>
          </p:cNvPr>
          <p:cNvSpPr/>
          <p:nvPr/>
        </p:nvSpPr>
        <p:spPr bwMode="auto">
          <a:xfrm>
            <a:off x="4531742" y="4216411"/>
            <a:ext cx="2581465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77ACEB0-97B5-D081-CA4E-EC12C6CF3A91}"/>
              </a:ext>
            </a:extLst>
          </p:cNvPr>
          <p:cNvSpPr/>
          <p:nvPr/>
        </p:nvSpPr>
        <p:spPr bwMode="auto">
          <a:xfrm>
            <a:off x="4956607" y="2049832"/>
            <a:ext cx="187200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03F5148-1098-81A2-6850-237CD4400BFF}"/>
              </a:ext>
            </a:extLst>
          </p:cNvPr>
          <p:cNvSpPr txBox="1"/>
          <p:nvPr/>
        </p:nvSpPr>
        <p:spPr>
          <a:xfrm>
            <a:off x="4599041" y="36576"/>
            <a:ext cx="227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LAYOUT  lt. LH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D4B8387-BD2C-3208-1688-3C44FB0E1C69}"/>
              </a:ext>
            </a:extLst>
          </p:cNvPr>
          <p:cNvSpPr/>
          <p:nvPr/>
        </p:nvSpPr>
        <p:spPr>
          <a:xfrm rot="5400000">
            <a:off x="8171593" y="3425922"/>
            <a:ext cx="2009761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419F3BE-C41E-910C-A130-B111821C909B}"/>
              </a:ext>
            </a:extLst>
          </p:cNvPr>
          <p:cNvSpPr/>
          <p:nvPr/>
        </p:nvSpPr>
        <p:spPr>
          <a:xfrm>
            <a:off x="699716" y="4226809"/>
            <a:ext cx="360000" cy="357978"/>
          </a:xfrm>
          <a:prstGeom prst="rect">
            <a:avLst/>
          </a:prstGeom>
          <a:solidFill>
            <a:schemeClr val="bg2">
              <a:lumMod val="40000"/>
              <a:lumOff val="60000"/>
              <a:alpha val="11000"/>
            </a:schemeClr>
          </a:solidFill>
          <a:ln w="3175" cmpd="sng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F5736A-8555-83CF-B75E-B7DC4A802EE8}"/>
              </a:ext>
            </a:extLst>
          </p:cNvPr>
          <p:cNvSpPr/>
          <p:nvPr/>
        </p:nvSpPr>
        <p:spPr>
          <a:xfrm>
            <a:off x="709377" y="2590147"/>
            <a:ext cx="8640000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C036A7-D96E-2A15-007C-9DE0D0C8F33F}"/>
              </a:ext>
            </a:extLst>
          </p:cNvPr>
          <p:cNvSpPr/>
          <p:nvPr/>
        </p:nvSpPr>
        <p:spPr>
          <a:xfrm rot="10800000">
            <a:off x="714086" y="4273769"/>
            <a:ext cx="8640000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D06A029-EFF7-B592-7023-C1638EA88F52}"/>
              </a:ext>
            </a:extLst>
          </p:cNvPr>
          <p:cNvSpPr/>
          <p:nvPr/>
        </p:nvSpPr>
        <p:spPr>
          <a:xfrm>
            <a:off x="705565" y="2541343"/>
            <a:ext cx="360000" cy="357978"/>
          </a:xfrm>
          <a:prstGeom prst="rect">
            <a:avLst/>
          </a:prstGeom>
          <a:solidFill>
            <a:schemeClr val="bg2">
              <a:lumMod val="40000"/>
              <a:lumOff val="60000"/>
              <a:alpha val="11000"/>
            </a:schemeClr>
          </a:solidFill>
          <a:ln w="3175" cmpd="sng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97738AB-C89C-9C8B-1327-F2CE0CE2C729}"/>
              </a:ext>
            </a:extLst>
          </p:cNvPr>
          <p:cNvCxnSpPr>
            <a:cxnSpLocks/>
          </p:cNvCxnSpPr>
          <p:nvPr/>
        </p:nvCxnSpPr>
        <p:spPr bwMode="auto">
          <a:xfrm>
            <a:off x="9176473" y="3386401"/>
            <a:ext cx="0" cy="39600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55">
            <a:extLst>
              <a:ext uri="{FF2B5EF4-FFF2-40B4-BE49-F238E27FC236}">
                <a16:creationId xmlns:a16="http://schemas.microsoft.com/office/drawing/2014/main" id="{313C0697-D6E1-D365-91FE-9A291389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56" y="2945657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2529111-528C-D2CB-5C49-C26D39284CC9}"/>
              </a:ext>
            </a:extLst>
          </p:cNvPr>
          <p:cNvSpPr/>
          <p:nvPr/>
        </p:nvSpPr>
        <p:spPr bwMode="auto">
          <a:xfrm>
            <a:off x="1135906" y="2477725"/>
            <a:ext cx="1955871" cy="42157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9F2E203-083D-B80E-F28C-6500120DC36F}"/>
              </a:ext>
            </a:extLst>
          </p:cNvPr>
          <p:cNvSpPr/>
          <p:nvPr/>
        </p:nvSpPr>
        <p:spPr bwMode="auto">
          <a:xfrm>
            <a:off x="3337347" y="2054121"/>
            <a:ext cx="154800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AE8ABD2C-5E4A-8742-431D-0CEE6412FFF1}"/>
              </a:ext>
            </a:extLst>
          </p:cNvPr>
          <p:cNvSpPr/>
          <p:nvPr/>
        </p:nvSpPr>
        <p:spPr bwMode="auto">
          <a:xfrm>
            <a:off x="1990645" y="4225241"/>
            <a:ext cx="234000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B5CBDA0-B91D-177E-5686-21734F0FCAF7}"/>
              </a:ext>
            </a:extLst>
          </p:cNvPr>
          <p:cNvSpPr/>
          <p:nvPr/>
        </p:nvSpPr>
        <p:spPr bwMode="auto">
          <a:xfrm>
            <a:off x="7353407" y="4823132"/>
            <a:ext cx="2133398" cy="701016"/>
          </a:xfrm>
          <a:prstGeom prst="roundRect">
            <a:avLst>
              <a:gd name="adj" fmla="val 14082"/>
            </a:avLst>
          </a:prstGeom>
          <a:solidFill>
            <a:srgbClr val="FFFF00">
              <a:alpha val="5000"/>
            </a:srgb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74F2B70-EE69-E517-77A3-AE68FA975BD9}"/>
              </a:ext>
            </a:extLst>
          </p:cNvPr>
          <p:cNvSpPr/>
          <p:nvPr/>
        </p:nvSpPr>
        <p:spPr>
          <a:xfrm rot="16200000">
            <a:off x="6586457" y="4873900"/>
            <a:ext cx="648000" cy="272315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1FA455F-274D-4648-BD14-8554013115AF}"/>
              </a:ext>
            </a:extLst>
          </p:cNvPr>
          <p:cNvSpPr/>
          <p:nvPr/>
        </p:nvSpPr>
        <p:spPr bwMode="auto">
          <a:xfrm>
            <a:off x="1807037" y="1281260"/>
            <a:ext cx="1284739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B2E53A4-FC08-575A-58D3-BA5DB37F8F1D}"/>
              </a:ext>
            </a:extLst>
          </p:cNvPr>
          <p:cNvSpPr/>
          <p:nvPr/>
        </p:nvSpPr>
        <p:spPr bwMode="auto">
          <a:xfrm>
            <a:off x="3344564" y="1281260"/>
            <a:ext cx="1548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E679C667-3960-F2B4-0551-FCBB0418E84E}"/>
              </a:ext>
            </a:extLst>
          </p:cNvPr>
          <p:cNvSpPr/>
          <p:nvPr/>
        </p:nvSpPr>
        <p:spPr bwMode="auto">
          <a:xfrm>
            <a:off x="7009714" y="1274191"/>
            <a:ext cx="936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AG40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C3DF13F-9357-0341-E268-F3A1429A13E1}"/>
              </a:ext>
            </a:extLst>
          </p:cNvPr>
          <p:cNvSpPr/>
          <p:nvPr/>
        </p:nvSpPr>
        <p:spPr bwMode="auto">
          <a:xfrm>
            <a:off x="7988106" y="1281260"/>
            <a:ext cx="864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73DFF9CB-F990-FD74-1CB3-95C5EB8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758178" y="2620495"/>
            <a:ext cx="358040" cy="21571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F1D0A0E-D66D-12AA-0E90-FC7B86CC2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417641" y="2624834"/>
            <a:ext cx="358040" cy="215710"/>
          </a:xfrm>
          <a:prstGeom prst="rect">
            <a:avLst/>
          </a:prstGeom>
        </p:spPr>
      </p:pic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18AEFA0-7606-8B47-27FF-14AE1674E726}"/>
              </a:ext>
            </a:extLst>
          </p:cNvPr>
          <p:cNvGrpSpPr/>
          <p:nvPr/>
        </p:nvGrpSpPr>
        <p:grpSpPr>
          <a:xfrm>
            <a:off x="1273171" y="1619391"/>
            <a:ext cx="144000" cy="1008000"/>
            <a:chOff x="1820660" y="5447651"/>
            <a:chExt cx="199066" cy="1184464"/>
          </a:xfrm>
        </p:grpSpPr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B64A6213-B0E9-15A1-14F7-424183C3E4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43F80616-B020-6A26-C396-DA0C8D2F52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F855E452-8E5C-C366-1D0C-94ED3C00E2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0C609028-D461-58D8-93F9-759B70157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B2290E8B-F091-E6EC-6D25-EF9536B6B3B3}"/>
              </a:ext>
            </a:extLst>
          </p:cNvPr>
          <p:cNvGrpSpPr/>
          <p:nvPr/>
        </p:nvGrpSpPr>
        <p:grpSpPr>
          <a:xfrm>
            <a:off x="1444419" y="1619391"/>
            <a:ext cx="144000" cy="1008000"/>
            <a:chOff x="1820660" y="5447651"/>
            <a:chExt cx="199066" cy="1184464"/>
          </a:xfrm>
        </p:grpSpPr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AAE86549-5A5B-2E3E-0ED2-CEA9E5F349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F93C4343-9ADD-D686-E533-82343EB385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579CF48F-0C4E-6BBC-A462-8B09853C1A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2F328997-919B-2237-0EA5-047E1A443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A98707A1-147D-D00A-3798-B85013B6FECF}"/>
              </a:ext>
            </a:extLst>
          </p:cNvPr>
          <p:cNvGrpSpPr/>
          <p:nvPr/>
        </p:nvGrpSpPr>
        <p:grpSpPr>
          <a:xfrm>
            <a:off x="1611584" y="1615410"/>
            <a:ext cx="144000" cy="1008000"/>
            <a:chOff x="1820660" y="5447651"/>
            <a:chExt cx="199066" cy="1184464"/>
          </a:xfrm>
        </p:grpSpPr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D44024D1-7DE2-6AB3-096F-9B3E608FB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EC71AC74-B6EC-80A2-1FD2-BF0338047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2" name="Grafik 61">
              <a:extLst>
                <a:ext uri="{FF2B5EF4-FFF2-40B4-BE49-F238E27FC236}">
                  <a16:creationId xmlns:a16="http://schemas.microsoft.com/office/drawing/2014/main" id="{4AB0AEF0-29FB-1865-3697-5131F34401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5380E692-7849-BB2F-84E3-D532F6F2AC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68D491ED-33F6-44AF-0220-1583B8C681C3}"/>
              </a:ext>
            </a:extLst>
          </p:cNvPr>
          <p:cNvGrpSpPr/>
          <p:nvPr/>
        </p:nvGrpSpPr>
        <p:grpSpPr>
          <a:xfrm>
            <a:off x="1784388" y="1619391"/>
            <a:ext cx="144000" cy="1008000"/>
            <a:chOff x="1820660" y="5447651"/>
            <a:chExt cx="199066" cy="118446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6DB81015-2463-1F56-7B90-2AB5CFDDE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1F38C9A2-D603-2E9C-74F9-13E2383033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856A3C80-9DB7-9D8C-2AB7-BD49C655FC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8" name="Grafik 67">
              <a:extLst>
                <a:ext uri="{FF2B5EF4-FFF2-40B4-BE49-F238E27FC236}">
                  <a16:creationId xmlns:a16="http://schemas.microsoft.com/office/drawing/2014/main" id="{0D7A7368-F66D-6CC0-7936-9BF78F6EF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A75CC8BA-8EDB-83E8-E4BD-294C33B12AE4}"/>
              </a:ext>
            </a:extLst>
          </p:cNvPr>
          <p:cNvGrpSpPr/>
          <p:nvPr/>
        </p:nvGrpSpPr>
        <p:grpSpPr>
          <a:xfrm>
            <a:off x="1948707" y="1619391"/>
            <a:ext cx="144000" cy="1008000"/>
            <a:chOff x="1820660" y="5447651"/>
            <a:chExt cx="199066" cy="1184464"/>
          </a:xfrm>
        </p:grpSpPr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1E9F531E-5052-21C8-DD55-CA39807F64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277F0A3C-74CA-27DA-5BDB-E48631AEF4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0CABF950-E09A-4471-7092-C8E6EB9C14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717F78BC-A991-445B-ABAA-343CBE5DE3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CE3E1906-A3FA-74B5-320E-7CAA3D4EE15C}"/>
              </a:ext>
            </a:extLst>
          </p:cNvPr>
          <p:cNvGrpSpPr/>
          <p:nvPr/>
        </p:nvGrpSpPr>
        <p:grpSpPr>
          <a:xfrm>
            <a:off x="2156772" y="1907491"/>
            <a:ext cx="108000" cy="720000"/>
            <a:chOff x="1820660" y="5447651"/>
            <a:chExt cx="199066" cy="1184464"/>
          </a:xfrm>
        </p:grpSpPr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64F64A28-5C4B-1592-5EE5-E72F4CA9B1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3B1E1E81-9EA4-7DEF-B9B3-CAD66C7D5D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7" name="Grafik 76">
              <a:extLst>
                <a:ext uri="{FF2B5EF4-FFF2-40B4-BE49-F238E27FC236}">
                  <a16:creationId xmlns:a16="http://schemas.microsoft.com/office/drawing/2014/main" id="{29C5ACE3-7BA5-09DD-61B3-340463DDFC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A2711816-6A0C-878F-D9D5-CCB3F76914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F8C83268-7E72-3149-1D5C-AFE66C76DD47}"/>
              </a:ext>
            </a:extLst>
          </p:cNvPr>
          <p:cNvGrpSpPr/>
          <p:nvPr/>
        </p:nvGrpSpPr>
        <p:grpSpPr>
          <a:xfrm>
            <a:off x="2299504" y="1907491"/>
            <a:ext cx="108000" cy="720000"/>
            <a:chOff x="1820660" y="5447651"/>
            <a:chExt cx="199066" cy="1184464"/>
          </a:xfrm>
        </p:grpSpPr>
        <p:pic>
          <p:nvPicPr>
            <p:cNvPr id="80" name="Grafik 79">
              <a:extLst>
                <a:ext uri="{FF2B5EF4-FFF2-40B4-BE49-F238E27FC236}">
                  <a16:creationId xmlns:a16="http://schemas.microsoft.com/office/drawing/2014/main" id="{575B18A0-6DBB-2F32-FC55-8A8990E31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A4882720-3316-6C44-F58F-8E0875BCEF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D696E069-D142-7FEC-E4B6-E2785C1B58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3" name="Grafik 82">
              <a:extLst>
                <a:ext uri="{FF2B5EF4-FFF2-40B4-BE49-F238E27FC236}">
                  <a16:creationId xmlns:a16="http://schemas.microsoft.com/office/drawing/2014/main" id="{920A2927-6DE8-9186-0FF8-881CECDE40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30FB475E-0C29-496B-BE95-763EDBF26403}"/>
              </a:ext>
            </a:extLst>
          </p:cNvPr>
          <p:cNvGrpSpPr/>
          <p:nvPr/>
        </p:nvGrpSpPr>
        <p:grpSpPr>
          <a:xfrm>
            <a:off x="2432357" y="1906719"/>
            <a:ext cx="108000" cy="720000"/>
            <a:chOff x="1820660" y="5447651"/>
            <a:chExt cx="199066" cy="1184464"/>
          </a:xfrm>
        </p:grpSpPr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20F3DA0C-46D5-F566-EF81-E8DCC3E524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65A7C571-9517-3582-74CD-98D4F5D00D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30C00C95-0A6A-2837-AFE2-C16ACCF6C9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C94025F-F83D-4E94-71C0-C823F46A4A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680BCBF2-520C-37BB-5D97-C878E8613201}"/>
              </a:ext>
            </a:extLst>
          </p:cNvPr>
          <p:cNvGrpSpPr/>
          <p:nvPr/>
        </p:nvGrpSpPr>
        <p:grpSpPr>
          <a:xfrm>
            <a:off x="2573334" y="1906720"/>
            <a:ext cx="108000" cy="720000"/>
            <a:chOff x="1820660" y="5447651"/>
            <a:chExt cx="199066" cy="1184464"/>
          </a:xfrm>
        </p:grpSpPr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66EDD5AC-A9D3-3F52-2279-4D246AED48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566B99BC-A7BD-1ADF-C5E5-27748E03E3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2" name="Grafik 91">
              <a:extLst>
                <a:ext uri="{FF2B5EF4-FFF2-40B4-BE49-F238E27FC236}">
                  <a16:creationId xmlns:a16="http://schemas.microsoft.com/office/drawing/2014/main" id="{1EE81E75-2F35-3CFD-058A-0BCDC7AFDE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04D5A531-5326-ACE1-CA96-63848F7C4D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02F0D468-BB61-B1DB-15F5-6A256F16F7E5}"/>
              </a:ext>
            </a:extLst>
          </p:cNvPr>
          <p:cNvGrpSpPr/>
          <p:nvPr/>
        </p:nvGrpSpPr>
        <p:grpSpPr>
          <a:xfrm>
            <a:off x="2709694" y="1907491"/>
            <a:ext cx="108000" cy="720000"/>
            <a:chOff x="1820660" y="5447651"/>
            <a:chExt cx="199066" cy="1184464"/>
          </a:xfrm>
        </p:grpSpPr>
        <p:pic>
          <p:nvPicPr>
            <p:cNvPr id="95" name="Grafik 94">
              <a:extLst>
                <a:ext uri="{FF2B5EF4-FFF2-40B4-BE49-F238E27FC236}">
                  <a16:creationId xmlns:a16="http://schemas.microsoft.com/office/drawing/2014/main" id="{82ABC64C-D18C-74FB-4D1B-D41B77222E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6" name="Grafik 95">
              <a:extLst>
                <a:ext uri="{FF2B5EF4-FFF2-40B4-BE49-F238E27FC236}">
                  <a16:creationId xmlns:a16="http://schemas.microsoft.com/office/drawing/2014/main" id="{48737B82-25BE-BC35-C188-0AD70BFFC0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5274D93E-A1A8-96D4-DC4B-75D2B1CA9C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8" name="Grafik 97">
              <a:extLst>
                <a:ext uri="{FF2B5EF4-FFF2-40B4-BE49-F238E27FC236}">
                  <a16:creationId xmlns:a16="http://schemas.microsoft.com/office/drawing/2014/main" id="{EF093412-4563-CA0D-F1FE-7B7938BAEF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6A9D5E96-7E12-B40A-210C-A3C6B198FAC0}"/>
              </a:ext>
            </a:extLst>
          </p:cNvPr>
          <p:cNvGrpSpPr/>
          <p:nvPr/>
        </p:nvGrpSpPr>
        <p:grpSpPr>
          <a:xfrm>
            <a:off x="2844450" y="1910597"/>
            <a:ext cx="108000" cy="720000"/>
            <a:chOff x="1820660" y="5447651"/>
            <a:chExt cx="199066" cy="1184464"/>
          </a:xfrm>
        </p:grpSpPr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22EDFE65-17B2-401F-9B71-E19182305F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1" name="Grafik 100">
              <a:extLst>
                <a:ext uri="{FF2B5EF4-FFF2-40B4-BE49-F238E27FC236}">
                  <a16:creationId xmlns:a16="http://schemas.microsoft.com/office/drawing/2014/main" id="{6F99B710-F265-CE96-FAC8-6BE176DDF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5EEF4681-ACF8-9EF2-2DBA-72E152B778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E0BE536C-1E11-6F30-CE1D-F5588018FC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3CC59800-3D1D-3872-527C-294B12F752A8}"/>
              </a:ext>
            </a:extLst>
          </p:cNvPr>
          <p:cNvSpPr/>
          <p:nvPr/>
        </p:nvSpPr>
        <p:spPr bwMode="auto">
          <a:xfrm>
            <a:off x="2627043" y="2963046"/>
            <a:ext cx="584377" cy="36429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Kugel/ Filter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8881F4F3-9FC9-4544-4122-91BCFD11E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687666" y="2609246"/>
            <a:ext cx="358040" cy="215710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A05F7FB-8759-50CA-37D9-FF2398A6D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176151" y="2620353"/>
            <a:ext cx="358040" cy="215710"/>
          </a:xfrm>
          <a:prstGeom prst="rect">
            <a:avLst/>
          </a:prstGeom>
        </p:spPr>
      </p:pic>
      <p:pic>
        <p:nvPicPr>
          <p:cNvPr id="107" name="Grafik 106">
            <a:extLst>
              <a:ext uri="{FF2B5EF4-FFF2-40B4-BE49-F238E27FC236}">
                <a16:creationId xmlns:a16="http://schemas.microsoft.com/office/drawing/2014/main" id="{F3CF1E57-900B-FA6D-36FB-FE0E1C673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174798" y="2617748"/>
            <a:ext cx="358040" cy="215710"/>
          </a:xfrm>
          <a:prstGeom prst="rect">
            <a:avLst/>
          </a:prstGeom>
        </p:spPr>
      </p:pic>
      <p:pic>
        <p:nvPicPr>
          <p:cNvPr id="110" name="Grafik 109">
            <a:extLst>
              <a:ext uri="{FF2B5EF4-FFF2-40B4-BE49-F238E27FC236}">
                <a16:creationId xmlns:a16="http://schemas.microsoft.com/office/drawing/2014/main" id="{240200E9-77EC-F4DA-A82C-F6012DF39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662965" y="4301006"/>
            <a:ext cx="358040" cy="215710"/>
          </a:xfrm>
          <a:prstGeom prst="rect">
            <a:avLst/>
          </a:prstGeom>
        </p:spPr>
      </p:pic>
      <p:pic>
        <p:nvPicPr>
          <p:cNvPr id="111" name="Grafik 110">
            <a:extLst>
              <a:ext uri="{FF2B5EF4-FFF2-40B4-BE49-F238E27FC236}">
                <a16:creationId xmlns:a16="http://schemas.microsoft.com/office/drawing/2014/main" id="{06254790-5E89-894B-A956-F1845A2E0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269675" y="4296944"/>
            <a:ext cx="358040" cy="215710"/>
          </a:xfrm>
          <a:prstGeom prst="rect">
            <a:avLst/>
          </a:prstGeom>
        </p:spPr>
      </p:pic>
      <p:pic>
        <p:nvPicPr>
          <p:cNvPr id="112" name="Grafik 111">
            <a:extLst>
              <a:ext uri="{FF2B5EF4-FFF2-40B4-BE49-F238E27FC236}">
                <a16:creationId xmlns:a16="http://schemas.microsoft.com/office/drawing/2014/main" id="{63ECDBDD-8EC1-865A-A3AA-FCF6C6DD4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355623" y="4298870"/>
            <a:ext cx="358040" cy="215710"/>
          </a:xfrm>
          <a:prstGeom prst="rect">
            <a:avLst/>
          </a:prstGeom>
        </p:spPr>
      </p:pic>
      <p:pic>
        <p:nvPicPr>
          <p:cNvPr id="113" name="Grafik 112">
            <a:extLst>
              <a:ext uri="{FF2B5EF4-FFF2-40B4-BE49-F238E27FC236}">
                <a16:creationId xmlns:a16="http://schemas.microsoft.com/office/drawing/2014/main" id="{2726F2A5-E862-9066-76CB-8F8975BA9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263536" y="4298870"/>
            <a:ext cx="358040" cy="215710"/>
          </a:xfrm>
          <a:prstGeom prst="rect">
            <a:avLst/>
          </a:prstGeom>
        </p:spPr>
      </p:pic>
      <p:pic>
        <p:nvPicPr>
          <p:cNvPr id="114" name="Grafik 113">
            <a:extLst>
              <a:ext uri="{FF2B5EF4-FFF2-40B4-BE49-F238E27FC236}">
                <a16:creationId xmlns:a16="http://schemas.microsoft.com/office/drawing/2014/main" id="{79550E90-2F76-7604-593F-68A5E52D3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244121" y="2647382"/>
            <a:ext cx="358040" cy="215710"/>
          </a:xfrm>
          <a:prstGeom prst="rect">
            <a:avLst/>
          </a:prstGeom>
        </p:spPr>
      </p:pic>
      <p:sp>
        <p:nvSpPr>
          <p:cNvPr id="115" name="Rechteck: abgerundete Ecken 114">
            <a:extLst>
              <a:ext uri="{FF2B5EF4-FFF2-40B4-BE49-F238E27FC236}">
                <a16:creationId xmlns:a16="http://schemas.microsoft.com/office/drawing/2014/main" id="{BD80D19F-D44C-6037-A6BF-9CC6B27FBA13}"/>
              </a:ext>
            </a:extLst>
          </p:cNvPr>
          <p:cNvSpPr/>
          <p:nvPr/>
        </p:nvSpPr>
        <p:spPr bwMode="auto">
          <a:xfrm>
            <a:off x="5866686" y="5633394"/>
            <a:ext cx="1185601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AG60</a:t>
            </a:r>
          </a:p>
        </p:txBody>
      </p: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0AB6FEB6-F1B8-D69B-A54C-E1C0E1D57B66}"/>
              </a:ext>
            </a:extLst>
          </p:cNvPr>
          <p:cNvSpPr/>
          <p:nvPr/>
        </p:nvSpPr>
        <p:spPr bwMode="auto">
          <a:xfrm>
            <a:off x="7377703" y="5652280"/>
            <a:ext cx="2133398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AG70</a:t>
            </a:r>
          </a:p>
        </p:txBody>
      </p:sp>
      <p:sp>
        <p:nvSpPr>
          <p:cNvPr id="117" name="Rechteck: abgerundete Ecken 116">
            <a:extLst>
              <a:ext uri="{FF2B5EF4-FFF2-40B4-BE49-F238E27FC236}">
                <a16:creationId xmlns:a16="http://schemas.microsoft.com/office/drawing/2014/main" id="{87A39FC2-5BED-D2D7-42BC-FAF114995E3F}"/>
              </a:ext>
            </a:extLst>
          </p:cNvPr>
          <p:cNvSpPr/>
          <p:nvPr/>
        </p:nvSpPr>
        <p:spPr bwMode="auto">
          <a:xfrm>
            <a:off x="4526273" y="5633394"/>
            <a:ext cx="1296202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AG80</a:t>
            </a:r>
          </a:p>
        </p:txBody>
      </p: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37DF28A6-7877-3299-0C25-0E6FDE900172}"/>
              </a:ext>
            </a:extLst>
          </p:cNvPr>
          <p:cNvCxnSpPr>
            <a:cxnSpLocks/>
          </p:cNvCxnSpPr>
          <p:nvPr/>
        </p:nvCxnSpPr>
        <p:spPr bwMode="auto">
          <a:xfrm>
            <a:off x="2732303" y="272547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2697C2C5-0F3F-B312-D7C7-5A4C63B5C268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5860" y="4412050"/>
            <a:ext cx="538486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hteck: abgerundete Ecken 128">
            <a:extLst>
              <a:ext uri="{FF2B5EF4-FFF2-40B4-BE49-F238E27FC236}">
                <a16:creationId xmlns:a16="http://schemas.microsoft.com/office/drawing/2014/main" id="{8C74CCB7-2BC5-E1CA-859D-B1D733B040D7}"/>
              </a:ext>
            </a:extLst>
          </p:cNvPr>
          <p:cNvSpPr/>
          <p:nvPr/>
        </p:nvSpPr>
        <p:spPr bwMode="auto">
          <a:xfrm>
            <a:off x="3610861" y="5634491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AG90</a:t>
            </a:r>
          </a:p>
        </p:txBody>
      </p:sp>
      <p:sp>
        <p:nvSpPr>
          <p:cNvPr id="130" name="Rechteck: abgerundete Ecken 129">
            <a:extLst>
              <a:ext uri="{FF2B5EF4-FFF2-40B4-BE49-F238E27FC236}">
                <a16:creationId xmlns:a16="http://schemas.microsoft.com/office/drawing/2014/main" id="{B6C16956-7416-41B3-C289-CD6DBC393AC8}"/>
              </a:ext>
            </a:extLst>
          </p:cNvPr>
          <p:cNvSpPr/>
          <p:nvPr/>
        </p:nvSpPr>
        <p:spPr bwMode="auto">
          <a:xfrm>
            <a:off x="2827945" y="5631418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AG100</a:t>
            </a:r>
          </a:p>
        </p:txBody>
      </p:sp>
      <p:sp>
        <p:nvSpPr>
          <p:cNvPr id="131" name="Rechteck: abgerundete Ecken 130">
            <a:extLst>
              <a:ext uri="{FF2B5EF4-FFF2-40B4-BE49-F238E27FC236}">
                <a16:creationId xmlns:a16="http://schemas.microsoft.com/office/drawing/2014/main" id="{06BBECF3-E299-E2EE-70B8-B8362B0E0498}"/>
              </a:ext>
            </a:extLst>
          </p:cNvPr>
          <p:cNvSpPr/>
          <p:nvPr/>
        </p:nvSpPr>
        <p:spPr bwMode="auto">
          <a:xfrm>
            <a:off x="2063141" y="5634491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pic>
        <p:nvPicPr>
          <p:cNvPr id="132" name="Grafik 131">
            <a:extLst>
              <a:ext uri="{FF2B5EF4-FFF2-40B4-BE49-F238E27FC236}">
                <a16:creationId xmlns:a16="http://schemas.microsoft.com/office/drawing/2014/main" id="{63F84594-588E-A354-72F3-5B206F51C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864404" y="4301006"/>
            <a:ext cx="358040" cy="215710"/>
          </a:xfrm>
          <a:prstGeom prst="rect">
            <a:avLst/>
          </a:prstGeom>
        </p:spPr>
      </p:pic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958EA182-DB75-B140-678C-147692B3FEF9}"/>
              </a:ext>
            </a:extLst>
          </p:cNvPr>
          <p:cNvSpPr/>
          <p:nvPr/>
        </p:nvSpPr>
        <p:spPr bwMode="auto">
          <a:xfrm>
            <a:off x="5021005" y="1271780"/>
            <a:ext cx="180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AG30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7303DAD-1A03-E984-6FF9-628B0890F582}"/>
              </a:ext>
            </a:extLst>
          </p:cNvPr>
          <p:cNvSpPr txBox="1"/>
          <p:nvPr/>
        </p:nvSpPr>
        <p:spPr>
          <a:xfrm>
            <a:off x="1881872" y="1024585"/>
            <a:ext cx="11336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Gehäuse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B6B0D5-F0C7-342A-A32F-50A723A124FC}"/>
              </a:ext>
            </a:extLst>
          </p:cNvPr>
          <p:cNvSpPr txBox="1"/>
          <p:nvPr/>
        </p:nvSpPr>
        <p:spPr>
          <a:xfrm>
            <a:off x="3293594" y="942700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Vormontage Kolben,</a:t>
            </a:r>
          </a:p>
          <a:p>
            <a:r>
              <a:rPr lang="de-DE" sz="900" dirty="0"/>
              <a:t>Montage Kolben u. Ventilteile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3191AAF-DF52-885E-FAC7-37C2575C1DB1}"/>
              </a:ext>
            </a:extLst>
          </p:cNvPr>
          <p:cNvSpPr txBox="1"/>
          <p:nvPr/>
        </p:nvSpPr>
        <p:spPr>
          <a:xfrm>
            <a:off x="5361297" y="1050517"/>
            <a:ext cx="1114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Magnete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28FB5E4-B7AB-9178-9795-2472B4314241}"/>
              </a:ext>
            </a:extLst>
          </p:cNvPr>
          <p:cNvSpPr txBox="1"/>
          <p:nvPr/>
        </p:nvSpPr>
        <p:spPr>
          <a:xfrm>
            <a:off x="6934166" y="91390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</a:t>
            </a:r>
          </a:p>
          <a:p>
            <a:r>
              <a:rPr lang="de-DE" sz="900" dirty="0"/>
              <a:t>Steckerleiste, DAE  Montage ECU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6F22721-43C2-F73B-9F0E-786F8902831E}"/>
              </a:ext>
            </a:extLst>
          </p:cNvPr>
          <p:cNvSpPr txBox="1"/>
          <p:nvPr/>
        </p:nvSpPr>
        <p:spPr>
          <a:xfrm>
            <a:off x="4436757" y="5841976"/>
            <a:ext cx="2640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Deckel und SD      Prüfen Pneumatik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6FA4505-5CE7-ACE7-6691-712BD68C2299}"/>
              </a:ext>
            </a:extLst>
          </p:cNvPr>
          <p:cNvSpPr txBox="1"/>
          <p:nvPr/>
        </p:nvSpPr>
        <p:spPr>
          <a:xfrm>
            <a:off x="8207799" y="5847365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Löten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12FC09D-DB95-78DD-B60E-36F0C83F8F4B}"/>
              </a:ext>
            </a:extLst>
          </p:cNvPr>
          <p:cNvSpPr/>
          <p:nvPr/>
        </p:nvSpPr>
        <p:spPr bwMode="auto">
          <a:xfrm>
            <a:off x="1074086" y="4224786"/>
            <a:ext cx="807786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36" name="Grafik 55">
            <a:extLst>
              <a:ext uri="{FF2B5EF4-FFF2-40B4-BE49-F238E27FC236}">
                <a16:creationId xmlns:a16="http://schemas.microsoft.com/office/drawing/2014/main" id="{47F15E48-FE39-0BB5-FF6F-BBC16F130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64966" y="3782401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069036A-8D0A-8D78-069E-59A00A4C4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739118" y="4811492"/>
            <a:ext cx="358040" cy="215710"/>
          </a:xfrm>
          <a:prstGeom prst="rect">
            <a:avLst/>
          </a:prstGeom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0C335D60-8640-163D-4540-1470FDD691E7}"/>
              </a:ext>
            </a:extLst>
          </p:cNvPr>
          <p:cNvSpPr/>
          <p:nvPr/>
        </p:nvSpPr>
        <p:spPr>
          <a:xfrm>
            <a:off x="7047065" y="5061045"/>
            <a:ext cx="549014" cy="272315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30834C91-3851-3C09-2EEA-4EAAA45B7B0D}"/>
              </a:ext>
            </a:extLst>
          </p:cNvPr>
          <p:cNvSpPr txBox="1"/>
          <p:nvPr/>
        </p:nvSpPr>
        <p:spPr>
          <a:xfrm>
            <a:off x="3619472" y="585368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Dichtheit </a:t>
            </a:r>
          </a:p>
          <a:p>
            <a:r>
              <a:rPr lang="de-DE" sz="900" dirty="0"/>
              <a:t>Elektronik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CB8E597-91E6-BE5F-7251-D155CC785CEB}"/>
              </a:ext>
            </a:extLst>
          </p:cNvPr>
          <p:cNvSpPr txBox="1"/>
          <p:nvPr/>
        </p:nvSpPr>
        <p:spPr>
          <a:xfrm>
            <a:off x="2989796" y="5853684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EoL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C291C65E-E9ED-D7ED-9D7F-B6E333FA0126}"/>
              </a:ext>
            </a:extLst>
          </p:cNvPr>
          <p:cNvSpPr txBox="1"/>
          <p:nvPr/>
        </p:nvSpPr>
        <p:spPr>
          <a:xfrm>
            <a:off x="2019656" y="583282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Laser-</a:t>
            </a:r>
          </a:p>
          <a:p>
            <a:r>
              <a:rPr lang="de-DE" sz="900" dirty="0"/>
              <a:t>beschriftung</a:t>
            </a: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9A6C2197-3281-AFDD-3133-DA660A82F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93107" y="4305090"/>
            <a:ext cx="358040" cy="21571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C886D26B-4E52-AB94-23A1-288234BF0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17288" y="2643305"/>
            <a:ext cx="358040" cy="215710"/>
          </a:xfrm>
          <a:prstGeom prst="rect">
            <a:avLst/>
          </a:prstGeom>
        </p:spPr>
      </p:pic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FFBC4124-B9BF-DE15-3E18-A0D7D5FE9141}"/>
              </a:ext>
            </a:extLst>
          </p:cNvPr>
          <p:cNvCxnSpPr>
            <a:cxnSpLocks/>
          </p:cNvCxnSpPr>
          <p:nvPr/>
        </p:nvCxnSpPr>
        <p:spPr bwMode="auto">
          <a:xfrm>
            <a:off x="6910457" y="4721832"/>
            <a:ext cx="0" cy="38115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headEnd type="stealth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1D4B4599-6EDB-FB69-0C68-02D81391E3F9}"/>
              </a:ext>
            </a:extLst>
          </p:cNvPr>
          <p:cNvSpPr txBox="1"/>
          <p:nvPr/>
        </p:nvSpPr>
        <p:spPr>
          <a:xfrm>
            <a:off x="1017549" y="465813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Rückmontage-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platz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E6A7638-EA72-4C50-058D-7DE657645E91}"/>
              </a:ext>
            </a:extLst>
          </p:cNvPr>
          <p:cNvSpPr/>
          <p:nvPr/>
        </p:nvSpPr>
        <p:spPr bwMode="auto">
          <a:xfrm>
            <a:off x="1195141" y="712733"/>
            <a:ext cx="1896635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E0007D0B-CE1B-6924-F886-CA05684F7D86}"/>
              </a:ext>
            </a:extLst>
          </p:cNvPr>
          <p:cNvSpPr/>
          <p:nvPr/>
        </p:nvSpPr>
        <p:spPr bwMode="auto">
          <a:xfrm>
            <a:off x="3337348" y="728182"/>
            <a:ext cx="154800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33347743-7762-A22E-1773-12E9E256E716}"/>
              </a:ext>
            </a:extLst>
          </p:cNvPr>
          <p:cNvSpPr/>
          <p:nvPr/>
        </p:nvSpPr>
        <p:spPr bwMode="auto">
          <a:xfrm>
            <a:off x="5017326" y="723990"/>
            <a:ext cx="1792958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30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4A64B778-0D29-1C43-A258-8B2ED533D48B}"/>
              </a:ext>
            </a:extLst>
          </p:cNvPr>
          <p:cNvSpPr/>
          <p:nvPr/>
        </p:nvSpPr>
        <p:spPr bwMode="auto">
          <a:xfrm>
            <a:off x="7020767" y="728182"/>
            <a:ext cx="183134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CC01732C-77C2-4527-56EB-875F51CFAD64}"/>
              </a:ext>
            </a:extLst>
          </p:cNvPr>
          <p:cNvSpPr/>
          <p:nvPr/>
        </p:nvSpPr>
        <p:spPr bwMode="auto">
          <a:xfrm>
            <a:off x="4532675" y="6311158"/>
            <a:ext cx="2529188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21F2F74C-3C73-11FE-78B3-74C24C437C4A}"/>
              </a:ext>
            </a:extLst>
          </p:cNvPr>
          <p:cNvSpPr/>
          <p:nvPr/>
        </p:nvSpPr>
        <p:spPr bwMode="auto">
          <a:xfrm>
            <a:off x="1123038" y="6306211"/>
            <a:ext cx="320760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78A3B3A6-E3C0-4284-36B7-D9D0E8B2A538}"/>
              </a:ext>
            </a:extLst>
          </p:cNvPr>
          <p:cNvSpPr/>
          <p:nvPr/>
        </p:nvSpPr>
        <p:spPr bwMode="auto">
          <a:xfrm>
            <a:off x="1187343" y="1279225"/>
            <a:ext cx="592117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825C0D49-C453-00E5-2CE9-520B6DABDCFA}"/>
              </a:ext>
            </a:extLst>
          </p:cNvPr>
          <p:cNvSpPr txBox="1"/>
          <p:nvPr/>
        </p:nvSpPr>
        <p:spPr>
          <a:xfrm>
            <a:off x="1173004" y="915282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</a:t>
            </a:r>
          </a:p>
          <a:p>
            <a:r>
              <a:rPr lang="de-DE" sz="900" dirty="0"/>
              <a:t>Stopfen</a:t>
            </a:r>
          </a:p>
        </p:txBody>
      </p:sp>
      <p:sp>
        <p:nvSpPr>
          <p:cNvPr id="109" name="Rechteck: abgerundete Ecken 108">
            <a:extLst>
              <a:ext uri="{FF2B5EF4-FFF2-40B4-BE49-F238E27FC236}">
                <a16:creationId xmlns:a16="http://schemas.microsoft.com/office/drawing/2014/main" id="{FCE8D529-0846-FD13-714D-566ED5B1F99D}"/>
              </a:ext>
            </a:extLst>
          </p:cNvPr>
          <p:cNvSpPr/>
          <p:nvPr/>
        </p:nvSpPr>
        <p:spPr bwMode="auto">
          <a:xfrm>
            <a:off x="1080928" y="2960453"/>
            <a:ext cx="584377" cy="36429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600" dirty="0">
                <a:solidFill>
                  <a:srgbClr val="4D4D4D"/>
                </a:solidFill>
              </a:rPr>
              <a:t>Verpacken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38E5B419-F073-CFC0-CD69-F303AD482378}"/>
              </a:ext>
            </a:extLst>
          </p:cNvPr>
          <p:cNvSpPr txBox="1"/>
          <p:nvPr/>
        </p:nvSpPr>
        <p:spPr>
          <a:xfrm>
            <a:off x="9591483" y="813435"/>
            <a:ext cx="27174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/>
              <a:t>Taktzeit: 68 Sek. Ausbaustufe 1</a:t>
            </a:r>
          </a:p>
          <a:p>
            <a:r>
              <a:rPr lang="de-DE" sz="1000" b="1" i="1" dirty="0"/>
              <a:t>Taktzeit: 34 Sek. Ausbaustufe 2</a:t>
            </a:r>
          </a:p>
          <a:p>
            <a:r>
              <a:rPr lang="de-DE" sz="1000" i="1" dirty="0"/>
              <a:t>(Zusätzliche Prüfstationen M50,M60</a:t>
            </a:r>
          </a:p>
          <a:p>
            <a:r>
              <a:rPr lang="de-DE" sz="1000" i="1" dirty="0"/>
              <a:t>und Palettierer Magnete, ECU, Drucksensor)</a:t>
            </a:r>
          </a:p>
          <a:p>
            <a:r>
              <a:rPr lang="de-DE" sz="1000" i="1" dirty="0"/>
              <a:t>Ausbaustufe 1: 1 MA</a:t>
            </a:r>
          </a:p>
          <a:p>
            <a:r>
              <a:rPr lang="de-DE" sz="1000" i="1" dirty="0"/>
              <a:t>Ausbaustufe 2: 2 MA</a:t>
            </a:r>
          </a:p>
        </p:txBody>
      </p: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3B4F04EB-3E5A-616E-2C7C-EA7A605BD750}"/>
              </a:ext>
            </a:extLst>
          </p:cNvPr>
          <p:cNvSpPr/>
          <p:nvPr/>
        </p:nvSpPr>
        <p:spPr bwMode="auto">
          <a:xfrm>
            <a:off x="4575845" y="5162672"/>
            <a:ext cx="841858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SPS + Prüfen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 50</a:t>
            </a:r>
          </a:p>
        </p:txBody>
      </p: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663E43FB-8E24-2CD1-9908-8BFDD85BC2BF}"/>
              </a:ext>
            </a:extLst>
          </p:cNvPr>
          <p:cNvSpPr/>
          <p:nvPr/>
        </p:nvSpPr>
        <p:spPr bwMode="auto">
          <a:xfrm>
            <a:off x="1944937" y="5195415"/>
            <a:ext cx="1006935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E-Schrank SPS + Prüfen EoL+ Prüfen Elektronik</a:t>
            </a:r>
          </a:p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 M 60</a:t>
            </a:r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D4FB95D0-47AF-FA02-186D-3F20CE36D32E}"/>
              </a:ext>
            </a:extLst>
          </p:cNvPr>
          <p:cNvSpPr/>
          <p:nvPr/>
        </p:nvSpPr>
        <p:spPr bwMode="auto">
          <a:xfrm>
            <a:off x="7002586" y="1555145"/>
            <a:ext cx="990180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/ SPS + </a:t>
            </a:r>
            <a:r>
              <a:rPr lang="de-DE" sz="800" dirty="0" err="1">
                <a:solidFill>
                  <a:srgbClr val="4D4D4D"/>
                </a:solidFill>
              </a:rPr>
              <a:t>Flashen</a:t>
            </a:r>
            <a:endParaRPr lang="de-DE" sz="800" dirty="0">
              <a:solidFill>
                <a:srgbClr val="4D4D4D"/>
              </a:solidFill>
            </a:endParaRP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 40</a:t>
            </a:r>
          </a:p>
        </p:txBody>
      </p:sp>
      <p:pic>
        <p:nvPicPr>
          <p:cNvPr id="125" name="Grafik 124">
            <a:extLst>
              <a:ext uri="{FF2B5EF4-FFF2-40B4-BE49-F238E27FC236}">
                <a16:creationId xmlns:a16="http://schemas.microsoft.com/office/drawing/2014/main" id="{2E7DEE7C-9DAC-73D5-F1CF-51E6A5F37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380812" y="2623094"/>
            <a:ext cx="358040" cy="215710"/>
          </a:xfrm>
          <a:prstGeom prst="rect">
            <a:avLst/>
          </a:prstGeom>
        </p:spPr>
      </p:pic>
      <p:pic>
        <p:nvPicPr>
          <p:cNvPr id="126" name="Grafik 125">
            <a:extLst>
              <a:ext uri="{FF2B5EF4-FFF2-40B4-BE49-F238E27FC236}">
                <a16:creationId xmlns:a16="http://schemas.microsoft.com/office/drawing/2014/main" id="{7163B8FC-1193-AB34-9927-2EEFF7EB2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012950" y="4293463"/>
            <a:ext cx="358040" cy="215710"/>
          </a:xfrm>
          <a:prstGeom prst="rect">
            <a:avLst/>
          </a:prstGeom>
        </p:spPr>
      </p:pic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51081C33-019B-DADE-5B76-48BA7561031D}"/>
              </a:ext>
            </a:extLst>
          </p:cNvPr>
          <p:cNvSpPr/>
          <p:nvPr/>
        </p:nvSpPr>
        <p:spPr bwMode="auto">
          <a:xfrm>
            <a:off x="3369313" y="1563936"/>
            <a:ext cx="990180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/ SPS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M10+M20+M30</a:t>
            </a:r>
          </a:p>
        </p:txBody>
      </p:sp>
      <p:sp>
        <p:nvSpPr>
          <p:cNvPr id="135" name="Pfeil: nach links und rechts 134">
            <a:extLst>
              <a:ext uri="{FF2B5EF4-FFF2-40B4-BE49-F238E27FC236}">
                <a16:creationId xmlns:a16="http://schemas.microsoft.com/office/drawing/2014/main" id="{C137C4DF-17AA-B6F8-C5B0-AA6304D58D73}"/>
              </a:ext>
            </a:extLst>
          </p:cNvPr>
          <p:cNvSpPr/>
          <p:nvPr/>
        </p:nvSpPr>
        <p:spPr>
          <a:xfrm>
            <a:off x="308705" y="3482081"/>
            <a:ext cx="1107695" cy="220073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Zugang/ Ausgang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A18B542-C38A-F765-8080-80C8612DF28C}"/>
              </a:ext>
            </a:extLst>
          </p:cNvPr>
          <p:cNvSpPr/>
          <p:nvPr/>
        </p:nvSpPr>
        <p:spPr>
          <a:xfrm rot="5400000">
            <a:off x="-124684" y="3425922"/>
            <a:ext cx="2009761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13EA4AAE-A6B6-55AB-30BC-44A92972C51C}"/>
              </a:ext>
            </a:extLst>
          </p:cNvPr>
          <p:cNvSpPr txBox="1"/>
          <p:nvPr/>
        </p:nvSpPr>
        <p:spPr>
          <a:xfrm>
            <a:off x="727782" y="2617748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Lift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F8A33474-2083-7024-6001-6CF4D9F5ADDA}"/>
              </a:ext>
            </a:extLst>
          </p:cNvPr>
          <p:cNvSpPr txBox="1"/>
          <p:nvPr/>
        </p:nvSpPr>
        <p:spPr>
          <a:xfrm>
            <a:off x="737192" y="4293596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Lift</a:t>
            </a:r>
          </a:p>
        </p:txBody>
      </p:sp>
    </p:spTree>
    <p:extLst>
      <p:ext uri="{BB962C8B-B14F-4D97-AF65-F5344CB8AC3E}">
        <p14:creationId xmlns:p14="http://schemas.microsoft.com/office/powerpoint/2010/main" val="2965854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86F42B0-37D6-0FFF-09B1-D0B3C9789570}"/>
              </a:ext>
            </a:extLst>
          </p:cNvPr>
          <p:cNvSpPr/>
          <p:nvPr/>
        </p:nvSpPr>
        <p:spPr bwMode="auto">
          <a:xfrm>
            <a:off x="6337677" y="2055503"/>
            <a:ext cx="1999263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D54492F-6EBE-36CF-89E6-FC403A202D02}"/>
              </a:ext>
            </a:extLst>
          </p:cNvPr>
          <p:cNvSpPr/>
          <p:nvPr/>
        </p:nvSpPr>
        <p:spPr bwMode="auto">
          <a:xfrm>
            <a:off x="5903343" y="4240795"/>
            <a:ext cx="162438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03F5148-1098-81A2-6850-237CD4400BFF}"/>
              </a:ext>
            </a:extLst>
          </p:cNvPr>
          <p:cNvSpPr txBox="1"/>
          <p:nvPr/>
        </p:nvSpPr>
        <p:spPr>
          <a:xfrm>
            <a:off x="4599041" y="36576"/>
            <a:ext cx="227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LAYOUT  lt. LH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pic>
        <p:nvPicPr>
          <p:cNvPr id="11" name="Grafik 55">
            <a:extLst>
              <a:ext uri="{FF2B5EF4-FFF2-40B4-BE49-F238E27FC236}">
                <a16:creationId xmlns:a16="http://schemas.microsoft.com/office/drawing/2014/main" id="{313C0697-D6E1-D365-91FE-9A291389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56" y="2970041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2529111-528C-D2CB-5C49-C26D39284CC9}"/>
              </a:ext>
            </a:extLst>
          </p:cNvPr>
          <p:cNvSpPr/>
          <p:nvPr/>
        </p:nvSpPr>
        <p:spPr bwMode="auto">
          <a:xfrm>
            <a:off x="3084576" y="2567437"/>
            <a:ext cx="1378801" cy="356241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9F2E203-083D-B80E-F28C-6500120DC36F}"/>
              </a:ext>
            </a:extLst>
          </p:cNvPr>
          <p:cNvSpPr/>
          <p:nvPr/>
        </p:nvSpPr>
        <p:spPr bwMode="auto">
          <a:xfrm>
            <a:off x="4708946" y="2078505"/>
            <a:ext cx="1474849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AE8ABD2C-5E4A-8742-431D-0CEE6412FFF1}"/>
              </a:ext>
            </a:extLst>
          </p:cNvPr>
          <p:cNvSpPr/>
          <p:nvPr/>
        </p:nvSpPr>
        <p:spPr bwMode="auto">
          <a:xfrm>
            <a:off x="3362245" y="4249625"/>
            <a:ext cx="234000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B5CBDA0-B91D-177E-5686-21734F0FCAF7}"/>
              </a:ext>
            </a:extLst>
          </p:cNvPr>
          <p:cNvSpPr/>
          <p:nvPr/>
        </p:nvSpPr>
        <p:spPr bwMode="auto">
          <a:xfrm rot="16200000">
            <a:off x="7045535" y="3839556"/>
            <a:ext cx="1881793" cy="701016"/>
          </a:xfrm>
          <a:prstGeom prst="roundRect">
            <a:avLst>
              <a:gd name="adj" fmla="val 14082"/>
            </a:avLst>
          </a:prstGeom>
          <a:solidFill>
            <a:srgbClr val="FFFF00">
              <a:alpha val="5000"/>
            </a:srgb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73DFF9CB-F990-FD74-1CB3-95C5EB8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107111" y="2673922"/>
            <a:ext cx="358040" cy="215710"/>
          </a:xfrm>
          <a:prstGeom prst="rect">
            <a:avLst/>
          </a:prstGeom>
        </p:spPr>
      </p:pic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18AEFA0-7606-8B47-27FF-14AE1674E726}"/>
              </a:ext>
            </a:extLst>
          </p:cNvPr>
          <p:cNvGrpSpPr/>
          <p:nvPr/>
        </p:nvGrpSpPr>
        <p:grpSpPr>
          <a:xfrm rot="5400000">
            <a:off x="3487274" y="1968383"/>
            <a:ext cx="144000" cy="1008000"/>
            <a:chOff x="1820660" y="5447651"/>
            <a:chExt cx="199066" cy="1184464"/>
          </a:xfrm>
        </p:grpSpPr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B64A6213-B0E9-15A1-14F7-424183C3E4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43F80616-B020-6A26-C396-DA0C8D2F52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F855E452-8E5C-C366-1D0C-94ED3C00E2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0C609028-D461-58D8-93F9-759B70157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3CC59800-3D1D-3872-527C-294B12F752A8}"/>
              </a:ext>
            </a:extLst>
          </p:cNvPr>
          <p:cNvSpPr/>
          <p:nvPr/>
        </p:nvSpPr>
        <p:spPr bwMode="auto">
          <a:xfrm>
            <a:off x="3912782" y="2987640"/>
            <a:ext cx="584377" cy="36429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Kugel/ Filter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8881F4F3-9FC9-4544-4122-91BCFD11E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535266" y="2682398"/>
            <a:ext cx="358040" cy="215710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A05F7FB-8759-50CA-37D9-FF2398A6D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595690" y="2627005"/>
            <a:ext cx="358040" cy="215710"/>
          </a:xfrm>
          <a:prstGeom prst="rect">
            <a:avLst/>
          </a:prstGeom>
        </p:spPr>
      </p:pic>
      <p:pic>
        <p:nvPicPr>
          <p:cNvPr id="107" name="Grafik 106">
            <a:extLst>
              <a:ext uri="{FF2B5EF4-FFF2-40B4-BE49-F238E27FC236}">
                <a16:creationId xmlns:a16="http://schemas.microsoft.com/office/drawing/2014/main" id="{F3CF1E57-900B-FA6D-36FB-FE0E1C673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067104" y="2632184"/>
            <a:ext cx="358040" cy="215710"/>
          </a:xfrm>
          <a:prstGeom prst="rect">
            <a:avLst/>
          </a:prstGeom>
        </p:spPr>
      </p:pic>
      <p:pic>
        <p:nvPicPr>
          <p:cNvPr id="110" name="Grafik 109">
            <a:extLst>
              <a:ext uri="{FF2B5EF4-FFF2-40B4-BE49-F238E27FC236}">
                <a16:creationId xmlns:a16="http://schemas.microsoft.com/office/drawing/2014/main" id="{240200E9-77EC-F4DA-A82C-F6012DF39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034565" y="4325390"/>
            <a:ext cx="358040" cy="215710"/>
          </a:xfrm>
          <a:prstGeom prst="rect">
            <a:avLst/>
          </a:prstGeom>
        </p:spPr>
      </p:pic>
      <p:pic>
        <p:nvPicPr>
          <p:cNvPr id="111" name="Grafik 110">
            <a:extLst>
              <a:ext uri="{FF2B5EF4-FFF2-40B4-BE49-F238E27FC236}">
                <a16:creationId xmlns:a16="http://schemas.microsoft.com/office/drawing/2014/main" id="{06254790-5E89-894B-A956-F1845A2E0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641275" y="4321328"/>
            <a:ext cx="358040" cy="215710"/>
          </a:xfrm>
          <a:prstGeom prst="rect">
            <a:avLst/>
          </a:prstGeom>
        </p:spPr>
      </p:pic>
      <p:pic>
        <p:nvPicPr>
          <p:cNvPr id="112" name="Grafik 111">
            <a:extLst>
              <a:ext uri="{FF2B5EF4-FFF2-40B4-BE49-F238E27FC236}">
                <a16:creationId xmlns:a16="http://schemas.microsoft.com/office/drawing/2014/main" id="{63ECDBDD-8EC1-865A-A3AA-FCF6C6DD4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727223" y="4323254"/>
            <a:ext cx="358040" cy="215710"/>
          </a:xfrm>
          <a:prstGeom prst="rect">
            <a:avLst/>
          </a:prstGeom>
        </p:spPr>
      </p:pic>
      <p:pic>
        <p:nvPicPr>
          <p:cNvPr id="114" name="Grafik 113">
            <a:extLst>
              <a:ext uri="{FF2B5EF4-FFF2-40B4-BE49-F238E27FC236}">
                <a16:creationId xmlns:a16="http://schemas.microsoft.com/office/drawing/2014/main" id="{79550E90-2F76-7604-593F-68A5E52D3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615721" y="2671766"/>
            <a:ext cx="358040" cy="215710"/>
          </a:xfrm>
          <a:prstGeom prst="rect">
            <a:avLst/>
          </a:prstGeom>
        </p:spPr>
      </p:pic>
      <p:pic>
        <p:nvPicPr>
          <p:cNvPr id="132" name="Grafik 131">
            <a:extLst>
              <a:ext uri="{FF2B5EF4-FFF2-40B4-BE49-F238E27FC236}">
                <a16:creationId xmlns:a16="http://schemas.microsoft.com/office/drawing/2014/main" id="{63F84594-588E-A354-72F3-5B206F51C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236004" y="4325390"/>
            <a:ext cx="358040" cy="215710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E7303DAD-1A03-E984-6FF9-628B0890F582}"/>
              </a:ext>
            </a:extLst>
          </p:cNvPr>
          <p:cNvSpPr txBox="1"/>
          <p:nvPr/>
        </p:nvSpPr>
        <p:spPr>
          <a:xfrm>
            <a:off x="2700196" y="1408842"/>
            <a:ext cx="15953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/>
              <a:t>Montage Stopfen, Gehäuse</a:t>
            </a:r>
            <a:endParaRPr lang="de-DE" sz="900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B6B0D5-F0C7-342A-A32F-50A723A124FC}"/>
              </a:ext>
            </a:extLst>
          </p:cNvPr>
          <p:cNvSpPr txBox="1"/>
          <p:nvPr/>
        </p:nvSpPr>
        <p:spPr>
          <a:xfrm>
            <a:off x="4665194" y="1332844"/>
            <a:ext cx="15568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Vormontage Kolben,</a:t>
            </a:r>
          </a:p>
          <a:p>
            <a:r>
              <a:rPr lang="de-DE" sz="900"/>
              <a:t>Montage Kolben,Ventilteile</a:t>
            </a:r>
          </a:p>
          <a:p>
            <a:r>
              <a:rPr lang="de-DE" sz="900"/>
              <a:t>Magnete</a:t>
            </a:r>
            <a:endParaRPr lang="de-DE" sz="900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28FB5E4-B7AB-9178-9795-2472B4314241}"/>
              </a:ext>
            </a:extLst>
          </p:cNvPr>
          <p:cNvSpPr txBox="1"/>
          <p:nvPr/>
        </p:nvSpPr>
        <p:spPr>
          <a:xfrm>
            <a:off x="6153878" y="1304045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</a:t>
            </a:r>
          </a:p>
          <a:p>
            <a:r>
              <a:rPr lang="de-DE" sz="900" dirty="0"/>
              <a:t>Steckerleiste, DAE  Montage ECU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6F22721-43C2-F73B-9F0E-786F8902831E}"/>
              </a:ext>
            </a:extLst>
          </p:cNvPr>
          <p:cNvSpPr txBox="1"/>
          <p:nvPr/>
        </p:nvSpPr>
        <p:spPr>
          <a:xfrm>
            <a:off x="5714286" y="5284989"/>
            <a:ext cx="23230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/>
              <a:t>Montage Deckel, SD + </a:t>
            </a:r>
            <a:r>
              <a:rPr lang="de-DE" sz="900" dirty="0"/>
              <a:t>Prüfen Pneumatik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6FA4505-5CE7-ACE7-6691-712BD68C2299}"/>
              </a:ext>
            </a:extLst>
          </p:cNvPr>
          <p:cNvSpPr txBox="1"/>
          <p:nvPr/>
        </p:nvSpPr>
        <p:spPr>
          <a:xfrm>
            <a:off x="7749829" y="393588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Löten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12FC09D-DB95-78DD-B60E-36F0C83F8F4B}"/>
              </a:ext>
            </a:extLst>
          </p:cNvPr>
          <p:cNvSpPr/>
          <p:nvPr/>
        </p:nvSpPr>
        <p:spPr bwMode="auto">
          <a:xfrm>
            <a:off x="2445686" y="4249170"/>
            <a:ext cx="807786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36" name="Grafik 55">
            <a:extLst>
              <a:ext uri="{FF2B5EF4-FFF2-40B4-BE49-F238E27FC236}">
                <a16:creationId xmlns:a16="http://schemas.microsoft.com/office/drawing/2014/main" id="{47F15E48-FE39-0BB5-FF6F-BBC16F130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636566" y="3806785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feld 46">
            <a:extLst>
              <a:ext uri="{FF2B5EF4-FFF2-40B4-BE49-F238E27FC236}">
                <a16:creationId xmlns:a16="http://schemas.microsoft.com/office/drawing/2014/main" id="{C291C65E-E9ED-D7ED-9D7F-B6E333FA0126}"/>
              </a:ext>
            </a:extLst>
          </p:cNvPr>
          <p:cNvSpPr txBox="1"/>
          <p:nvPr/>
        </p:nvSpPr>
        <p:spPr>
          <a:xfrm>
            <a:off x="2824169" y="5246163"/>
            <a:ext cx="24224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/>
              <a:t>Laserbeschriftung, EoL, Dichtheit Elektronik</a:t>
            </a:r>
            <a:endParaRPr lang="de-DE" sz="900" dirty="0"/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9A6C2197-3281-AFDD-3133-DA660A82F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664707" y="4329474"/>
            <a:ext cx="358040" cy="21571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C886D26B-4E52-AB94-23A1-288234BF0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199076" y="2673944"/>
            <a:ext cx="358040" cy="215710"/>
          </a:xfrm>
          <a:prstGeom prst="rect">
            <a:avLst/>
          </a:prstGeom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1D4B4599-6EDB-FB69-0C68-02D81391E3F9}"/>
              </a:ext>
            </a:extLst>
          </p:cNvPr>
          <p:cNvSpPr txBox="1"/>
          <p:nvPr/>
        </p:nvSpPr>
        <p:spPr>
          <a:xfrm>
            <a:off x="2389149" y="4572786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Rückmontage-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platz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E6A7638-EA72-4C50-058D-7DE657645E91}"/>
              </a:ext>
            </a:extLst>
          </p:cNvPr>
          <p:cNvSpPr/>
          <p:nvPr/>
        </p:nvSpPr>
        <p:spPr bwMode="auto">
          <a:xfrm>
            <a:off x="2566741" y="1127261"/>
            <a:ext cx="1896635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E0007D0B-CE1B-6924-F886-CA05684F7D86}"/>
              </a:ext>
            </a:extLst>
          </p:cNvPr>
          <p:cNvSpPr/>
          <p:nvPr/>
        </p:nvSpPr>
        <p:spPr bwMode="auto">
          <a:xfrm>
            <a:off x="4708948" y="1118326"/>
            <a:ext cx="1261693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4A64B778-0D29-1C43-A258-8B2ED533D48B}"/>
              </a:ext>
            </a:extLst>
          </p:cNvPr>
          <p:cNvSpPr/>
          <p:nvPr/>
        </p:nvSpPr>
        <p:spPr bwMode="auto">
          <a:xfrm>
            <a:off x="6240479" y="1118326"/>
            <a:ext cx="183134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>
                <a:solidFill>
                  <a:srgbClr val="4D4D4D"/>
                </a:solidFill>
              </a:rPr>
              <a:t>Modul 30</a:t>
            </a: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CC01732C-77C2-4527-56EB-875F51CFAD64}"/>
              </a:ext>
            </a:extLst>
          </p:cNvPr>
          <p:cNvSpPr/>
          <p:nvPr/>
        </p:nvSpPr>
        <p:spPr bwMode="auto">
          <a:xfrm>
            <a:off x="5872886" y="5558794"/>
            <a:ext cx="2529188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21F2F74C-3C73-11FE-78B3-74C24C437C4A}"/>
              </a:ext>
            </a:extLst>
          </p:cNvPr>
          <p:cNvSpPr/>
          <p:nvPr/>
        </p:nvSpPr>
        <p:spPr bwMode="auto">
          <a:xfrm>
            <a:off x="2463249" y="5553847"/>
            <a:ext cx="320760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sp>
        <p:nvSpPr>
          <p:cNvPr id="109" name="Rechteck: abgerundete Ecken 108">
            <a:extLst>
              <a:ext uri="{FF2B5EF4-FFF2-40B4-BE49-F238E27FC236}">
                <a16:creationId xmlns:a16="http://schemas.microsoft.com/office/drawing/2014/main" id="{FCE8D529-0846-FD13-714D-566ED5B1F99D}"/>
              </a:ext>
            </a:extLst>
          </p:cNvPr>
          <p:cNvSpPr/>
          <p:nvPr/>
        </p:nvSpPr>
        <p:spPr bwMode="auto">
          <a:xfrm>
            <a:off x="2470897" y="2567840"/>
            <a:ext cx="584377" cy="36429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600" dirty="0">
                <a:solidFill>
                  <a:srgbClr val="4D4D4D"/>
                </a:solidFill>
              </a:rPr>
              <a:t>Verpacken</a:t>
            </a:r>
          </a:p>
        </p:txBody>
      </p: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3B4F04EB-3E5A-616E-2C7C-EA7A605BD750}"/>
              </a:ext>
            </a:extLst>
          </p:cNvPr>
          <p:cNvSpPr/>
          <p:nvPr/>
        </p:nvSpPr>
        <p:spPr bwMode="auto">
          <a:xfrm>
            <a:off x="6023127" y="4681821"/>
            <a:ext cx="841858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SPS + Prüfen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 50</a:t>
            </a:r>
          </a:p>
        </p:txBody>
      </p: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663E43FB-8E24-2CD1-9908-8BFDD85BC2BF}"/>
              </a:ext>
            </a:extLst>
          </p:cNvPr>
          <p:cNvSpPr/>
          <p:nvPr/>
        </p:nvSpPr>
        <p:spPr bwMode="auto">
          <a:xfrm>
            <a:off x="3489854" y="4677191"/>
            <a:ext cx="1146839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SPS + Prüfen EoL+ </a:t>
            </a:r>
            <a:r>
              <a:rPr lang="de-DE" sz="800">
                <a:solidFill>
                  <a:srgbClr val="4D4D4D"/>
                </a:solidFill>
              </a:rPr>
              <a:t>Prüfen Elektronik </a:t>
            </a:r>
            <a:r>
              <a:rPr lang="de-DE" sz="800" dirty="0">
                <a:solidFill>
                  <a:srgbClr val="4D4D4D"/>
                </a:solidFill>
              </a:rPr>
              <a:t>M 60</a:t>
            </a:r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D4FB95D0-47AF-FA02-186D-3F20CE36D32E}"/>
              </a:ext>
            </a:extLst>
          </p:cNvPr>
          <p:cNvSpPr/>
          <p:nvPr/>
        </p:nvSpPr>
        <p:spPr bwMode="auto">
          <a:xfrm>
            <a:off x="7336372" y="2085454"/>
            <a:ext cx="990180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/ SPS + </a:t>
            </a:r>
            <a:r>
              <a:rPr lang="de-DE" sz="800" dirty="0" err="1">
                <a:solidFill>
                  <a:srgbClr val="4D4D4D"/>
                </a:solidFill>
              </a:rPr>
              <a:t>Flashen</a:t>
            </a:r>
            <a:endParaRPr lang="de-DE" sz="800" dirty="0">
              <a:solidFill>
                <a:srgbClr val="4D4D4D"/>
              </a:solidFill>
            </a:endParaRP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 40</a:t>
            </a:r>
          </a:p>
        </p:txBody>
      </p:sp>
      <p:pic>
        <p:nvPicPr>
          <p:cNvPr id="126" name="Grafik 125">
            <a:extLst>
              <a:ext uri="{FF2B5EF4-FFF2-40B4-BE49-F238E27FC236}">
                <a16:creationId xmlns:a16="http://schemas.microsoft.com/office/drawing/2014/main" id="{7163B8FC-1193-AB34-9927-2EEFF7EB2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384550" y="4317847"/>
            <a:ext cx="358040" cy="215710"/>
          </a:xfrm>
          <a:prstGeom prst="rect">
            <a:avLst/>
          </a:prstGeom>
        </p:spPr>
      </p:pic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51081C33-019B-DADE-5B76-48BA7561031D}"/>
              </a:ext>
            </a:extLst>
          </p:cNvPr>
          <p:cNvSpPr/>
          <p:nvPr/>
        </p:nvSpPr>
        <p:spPr bwMode="auto">
          <a:xfrm>
            <a:off x="2445686" y="1984679"/>
            <a:ext cx="990180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/ SPS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M10+M20+M30</a:t>
            </a:r>
          </a:p>
        </p:txBody>
      </p:sp>
      <p:pic>
        <p:nvPicPr>
          <p:cNvPr id="122" name="Grafik 55">
            <a:extLst>
              <a:ext uri="{FF2B5EF4-FFF2-40B4-BE49-F238E27FC236}">
                <a16:creationId xmlns:a16="http://schemas.microsoft.com/office/drawing/2014/main" id="{A07BA388-3598-77E3-D9F9-A0315C001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30" y="3003459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83E9DFBA-4EC3-C1A3-4344-3A3B89CC3B96}"/>
              </a:ext>
            </a:extLst>
          </p:cNvPr>
          <p:cNvGrpSpPr/>
          <p:nvPr/>
        </p:nvGrpSpPr>
        <p:grpSpPr>
          <a:xfrm>
            <a:off x="5951513" y="1890109"/>
            <a:ext cx="144000" cy="1008000"/>
            <a:chOff x="1820660" y="5447651"/>
            <a:chExt cx="199066" cy="1184464"/>
          </a:xfrm>
        </p:grpSpPr>
        <p:pic>
          <p:nvPicPr>
            <p:cNvPr id="138" name="Grafik 137">
              <a:extLst>
                <a:ext uri="{FF2B5EF4-FFF2-40B4-BE49-F238E27FC236}">
                  <a16:creationId xmlns:a16="http://schemas.microsoft.com/office/drawing/2014/main" id="{B50DD9B7-4D01-8FB4-C7FC-4007584FE4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39" name="Grafik 138">
              <a:extLst>
                <a:ext uri="{FF2B5EF4-FFF2-40B4-BE49-F238E27FC236}">
                  <a16:creationId xmlns:a16="http://schemas.microsoft.com/office/drawing/2014/main" id="{95C66118-533C-65F7-4A53-52B7261C39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40" name="Grafik 139">
              <a:extLst>
                <a:ext uri="{FF2B5EF4-FFF2-40B4-BE49-F238E27FC236}">
                  <a16:creationId xmlns:a16="http://schemas.microsoft.com/office/drawing/2014/main" id="{F63FBF34-A01D-C340-FC16-A8D3516F5E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41" name="Grafik 140">
              <a:extLst>
                <a:ext uri="{FF2B5EF4-FFF2-40B4-BE49-F238E27FC236}">
                  <a16:creationId xmlns:a16="http://schemas.microsoft.com/office/drawing/2014/main" id="{0B227A00-1D23-87A2-06EC-19EEFC4820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pic>
        <p:nvPicPr>
          <p:cNvPr id="142" name="Grafik 55">
            <a:extLst>
              <a:ext uri="{FF2B5EF4-FFF2-40B4-BE49-F238E27FC236}">
                <a16:creationId xmlns:a16="http://schemas.microsoft.com/office/drawing/2014/main" id="{5E35FCF4-8280-65F0-35E7-010EB3B2A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702663" y="3741136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" name="Grafik 55">
            <a:extLst>
              <a:ext uri="{FF2B5EF4-FFF2-40B4-BE49-F238E27FC236}">
                <a16:creationId xmlns:a16="http://schemas.microsoft.com/office/drawing/2014/main" id="{5105350E-5207-6E26-977A-104B9D59B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281178" y="3801821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" name="Rechteck: abgerundete Ecken 143">
            <a:extLst>
              <a:ext uri="{FF2B5EF4-FFF2-40B4-BE49-F238E27FC236}">
                <a16:creationId xmlns:a16="http://schemas.microsoft.com/office/drawing/2014/main" id="{9D27F9B5-A1CF-A8F0-30FE-7B2ED3C40FBE}"/>
              </a:ext>
            </a:extLst>
          </p:cNvPr>
          <p:cNvSpPr/>
          <p:nvPr/>
        </p:nvSpPr>
        <p:spPr bwMode="auto">
          <a:xfrm>
            <a:off x="7635004" y="2985754"/>
            <a:ext cx="701936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>
                <a:solidFill>
                  <a:srgbClr val="4D4D4D"/>
                </a:solidFill>
              </a:rPr>
              <a:t>Modul 40</a:t>
            </a:r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145" name="Grafik 55">
            <a:extLst>
              <a:ext uri="{FF2B5EF4-FFF2-40B4-BE49-F238E27FC236}">
                <a16:creationId xmlns:a16="http://schemas.microsoft.com/office/drawing/2014/main" id="{7F98DB2F-6DF6-96EF-5547-07FB9CA9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146" y="3003459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0866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747FD92-7978-C052-BF0E-555B12CDD4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3946" y="2057400"/>
            <a:ext cx="4950207" cy="3325554"/>
          </a:xfrm>
          <a:prstGeom prst="rect">
            <a:avLst/>
          </a:prstGeom>
        </p:spPr>
      </p:pic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9D6705BF-F7AC-557C-92BC-0ADBCCF8CA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573530" y="1892231"/>
            <a:ext cx="704850" cy="500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20416BF-92F9-314F-B699-7A2A728EF047}"/>
              </a:ext>
            </a:extLst>
          </p:cNvPr>
          <p:cNvSpPr txBox="1"/>
          <p:nvPr/>
        </p:nvSpPr>
        <p:spPr>
          <a:xfrm>
            <a:off x="952500" y="1615232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Manschette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2F2E617-8B12-A8B5-0928-021F3D8BD18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586990" y="1550462"/>
            <a:ext cx="312420" cy="866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35B181C8-710F-CD19-F0AE-E43A7D1523CB}"/>
              </a:ext>
            </a:extLst>
          </p:cNvPr>
          <p:cNvSpPr txBox="1"/>
          <p:nvPr/>
        </p:nvSpPr>
        <p:spPr>
          <a:xfrm>
            <a:off x="1965960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Feder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83A4195-7B31-2AA5-56C6-534A152EB96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573530" y="3794760"/>
            <a:ext cx="704850" cy="53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1D08DBE-0D2E-2E3C-F1B2-590C2EF71659}"/>
              </a:ext>
            </a:extLst>
          </p:cNvPr>
          <p:cNvSpPr txBox="1"/>
          <p:nvPr/>
        </p:nvSpPr>
        <p:spPr>
          <a:xfrm>
            <a:off x="952500" y="4326821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Halteblech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1BEFD8E-2720-E79B-BF6B-D1A5C607B275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615440" y="4764602"/>
            <a:ext cx="662940" cy="53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29E06B5-4179-1436-A3EF-347F541F0DC2}"/>
              </a:ext>
            </a:extLst>
          </p:cNvPr>
          <p:cNvSpPr txBox="1"/>
          <p:nvPr/>
        </p:nvSpPr>
        <p:spPr>
          <a:xfrm>
            <a:off x="952500" y="5296663"/>
            <a:ext cx="1325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Steckerdichtung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2E1058D-A408-47FD-34DD-5B0D6472F2B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4475770" y="5182523"/>
            <a:ext cx="104122" cy="60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F9C2C4C-4B51-15B1-8DC1-64F3329165FB}"/>
              </a:ext>
            </a:extLst>
          </p:cNvPr>
          <p:cNvSpPr txBox="1"/>
          <p:nvPr/>
        </p:nvSpPr>
        <p:spPr>
          <a:xfrm>
            <a:off x="3783353" y="5790415"/>
            <a:ext cx="1384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Kolbenbaugruppe</a:t>
            </a:r>
          </a:p>
          <a:p>
            <a:pPr algn="ctr"/>
            <a:r>
              <a:rPr lang="de-DE" sz="1200" dirty="0"/>
              <a:t>(vormontiert)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E6DF021-1F24-5A29-C64F-FF68DB78A0A0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520440" y="1923264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885AEB9-56CE-6056-1AD4-9B178B45CC87}"/>
              </a:ext>
            </a:extLst>
          </p:cNvPr>
          <p:cNvSpPr txBox="1"/>
          <p:nvPr/>
        </p:nvSpPr>
        <p:spPr>
          <a:xfrm>
            <a:off x="2964180" y="1646265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Schalldämpfer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BE34378-998B-0FC8-C8DE-F0BBC9C04578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4606166" y="1550462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840B45D-F088-B758-5EED-76C745B35B9D}"/>
              </a:ext>
            </a:extLst>
          </p:cNvPr>
          <p:cNvSpPr txBox="1"/>
          <p:nvPr/>
        </p:nvSpPr>
        <p:spPr>
          <a:xfrm>
            <a:off x="4049906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Gehäuse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2679329-E135-7249-FC3E-2A3022F31CB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5501640" y="1923264"/>
            <a:ext cx="79886" cy="1079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1D354AC-C015-9B22-3A0B-EC2D68A80B90}"/>
              </a:ext>
            </a:extLst>
          </p:cNvPr>
          <p:cNvSpPr txBox="1"/>
          <p:nvPr/>
        </p:nvSpPr>
        <p:spPr>
          <a:xfrm>
            <a:off x="4960496" y="1646265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Deckel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E74EAF1-828A-7414-5233-46A82E1B3AF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567428" y="1550462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EB9DD95-7DF5-8424-1CDB-6F20588D5BFA}"/>
              </a:ext>
            </a:extLst>
          </p:cNvPr>
          <p:cNvSpPr txBox="1"/>
          <p:nvPr/>
        </p:nvSpPr>
        <p:spPr>
          <a:xfrm>
            <a:off x="6011168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Führungshülse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1C48C48-A4D0-94D0-EF45-4F77E7B55F99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632198" y="4603820"/>
            <a:ext cx="191388" cy="1039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E41520E6-8BC7-4BBE-7B76-FD7B3AB97CA4}"/>
              </a:ext>
            </a:extLst>
          </p:cNvPr>
          <p:cNvSpPr txBox="1"/>
          <p:nvPr/>
        </p:nvSpPr>
        <p:spPr>
          <a:xfrm>
            <a:off x="6202556" y="5643755"/>
            <a:ext cx="1242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Ventilsitz </a:t>
            </a:r>
          </a:p>
          <a:p>
            <a:pPr algn="ctr"/>
            <a:r>
              <a:rPr lang="de-DE" sz="1200" dirty="0"/>
              <a:t>(mit O-Ring)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8CBEFFF-5850-CDA1-C044-976FD9E5838E}"/>
              </a:ext>
            </a:extLst>
          </p:cNvPr>
          <p:cNvSpPr txBox="1"/>
          <p:nvPr/>
        </p:nvSpPr>
        <p:spPr>
          <a:xfrm>
            <a:off x="3409195" y="78239"/>
            <a:ext cx="2103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10: 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Bestückung WT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C2BD725-51BA-77A6-F9A0-2AE11C8BFF27}"/>
              </a:ext>
            </a:extLst>
          </p:cNvPr>
          <p:cNvSpPr txBox="1"/>
          <p:nvPr/>
        </p:nvSpPr>
        <p:spPr>
          <a:xfrm>
            <a:off x="2083946" y="5777572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Zentrierstück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EF94AA6-43BC-9932-127D-58132C8A3BCD}"/>
              </a:ext>
            </a:extLst>
          </p:cNvPr>
          <p:cNvCxnSpPr>
            <a:cxnSpLocks/>
          </p:cNvCxnSpPr>
          <p:nvPr/>
        </p:nvCxnSpPr>
        <p:spPr>
          <a:xfrm flipV="1">
            <a:off x="2857500" y="5182523"/>
            <a:ext cx="350520" cy="537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37685D7-058A-57AC-F9DC-ABA66270450A}"/>
              </a:ext>
            </a:extLst>
          </p:cNvPr>
          <p:cNvSpPr txBox="1"/>
          <p:nvPr/>
        </p:nvSpPr>
        <p:spPr>
          <a:xfrm>
            <a:off x="4992955" y="6053514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Dämpferplatte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46C911B-9D54-5E59-531A-66B88BA05D06}"/>
              </a:ext>
            </a:extLst>
          </p:cNvPr>
          <p:cNvSpPr txBox="1"/>
          <p:nvPr/>
        </p:nvSpPr>
        <p:spPr>
          <a:xfrm>
            <a:off x="464860" y="2971026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Steckerleiste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6D1194B-9A08-176C-F22B-B501E349BD8A}"/>
              </a:ext>
            </a:extLst>
          </p:cNvPr>
          <p:cNvCxnSpPr>
            <a:cxnSpLocks/>
          </p:cNvCxnSpPr>
          <p:nvPr/>
        </p:nvCxnSpPr>
        <p:spPr>
          <a:xfrm flipV="1">
            <a:off x="1658141" y="3114840"/>
            <a:ext cx="736320" cy="6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BB2DD63-DAA1-0634-49C7-CEE04C1A4A3F}"/>
              </a:ext>
            </a:extLst>
          </p:cNvPr>
          <p:cNvCxnSpPr>
            <a:cxnSpLocks/>
          </p:cNvCxnSpPr>
          <p:nvPr/>
        </p:nvCxnSpPr>
        <p:spPr>
          <a:xfrm flipV="1">
            <a:off x="5531498" y="5182523"/>
            <a:ext cx="153873" cy="863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6" name="Grafik 35">
            <a:extLst>
              <a:ext uri="{FF2B5EF4-FFF2-40B4-BE49-F238E27FC236}">
                <a16:creationId xmlns:a16="http://schemas.microsoft.com/office/drawing/2014/main" id="{F61B0702-5B48-9277-B029-ACE4CCE41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4714215"/>
            <a:ext cx="480682" cy="393366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45FBF441-AE95-38AD-3861-00F874D29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17841">
            <a:off x="5443582" y="4642071"/>
            <a:ext cx="394142" cy="52321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3E921C7E-D58A-67B0-B0A9-15B6BBC21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853" y="2840179"/>
            <a:ext cx="487635" cy="549321"/>
          </a:xfrm>
          <a:prstGeom prst="rect">
            <a:avLst/>
          </a:prstGeom>
        </p:spPr>
      </p:pic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49E62A4-E000-9719-3ABC-FFE634815745}"/>
              </a:ext>
            </a:extLst>
          </p:cNvPr>
          <p:cNvCxnSpPr>
            <a:cxnSpLocks/>
          </p:cNvCxnSpPr>
          <p:nvPr/>
        </p:nvCxnSpPr>
        <p:spPr>
          <a:xfrm flipH="1">
            <a:off x="7885800" y="868684"/>
            <a:ext cx="43543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8D8F1FC4-2967-A40C-B0EA-F8F8FD4B5D1F}"/>
              </a:ext>
            </a:extLst>
          </p:cNvPr>
          <p:cNvSpPr txBox="1"/>
          <p:nvPr/>
        </p:nvSpPr>
        <p:spPr>
          <a:xfrm>
            <a:off x="8126418" y="1232088"/>
            <a:ext cx="37296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AG10 Bestücken WT </a:t>
            </a:r>
            <a:r>
              <a:rPr lang="de-DE" sz="1200" b="1" dirty="0"/>
              <a:t>:</a:t>
            </a:r>
          </a:p>
          <a:p>
            <a:endParaRPr lang="de-DE" sz="1200" b="1" dirty="0"/>
          </a:p>
          <a:p>
            <a:r>
              <a:rPr lang="de-DE" sz="1000" dirty="0"/>
              <a:t>Abmessungen WT geplant 320 x 320 </a:t>
            </a:r>
          </a:p>
          <a:p>
            <a:endParaRPr lang="de-DE" sz="1000" dirty="0"/>
          </a:p>
          <a:p>
            <a:r>
              <a:rPr lang="de-DE" sz="1000" dirty="0"/>
              <a:t>Zusätzliche Bauteile auf WT zu aktueller Montagelinie</a:t>
            </a:r>
          </a:p>
          <a:p>
            <a:endParaRPr lang="de-DE" sz="1000" dirty="0"/>
          </a:p>
          <a:p>
            <a:pPr marL="171450" indent="-171450">
              <a:buFontTx/>
              <a:buChar char="-"/>
            </a:pPr>
            <a:r>
              <a:rPr lang="de-DE" sz="1000" dirty="0"/>
              <a:t>Kolben vormontiert mit O-Ring, Stützring und Z-Dichtung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Dämpferplatte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Steckerleiste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Zentrierstück</a:t>
            </a:r>
          </a:p>
          <a:p>
            <a:endParaRPr lang="de-DE" sz="1000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BB8CE0F-E42F-AF95-C11B-3AF16081E5FF}"/>
              </a:ext>
            </a:extLst>
          </p:cNvPr>
          <p:cNvSpPr/>
          <p:nvPr/>
        </p:nvSpPr>
        <p:spPr>
          <a:xfrm>
            <a:off x="2986775" y="4553423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1F89BC37-551D-0AD5-6622-002C0B871848}"/>
              </a:ext>
            </a:extLst>
          </p:cNvPr>
          <p:cNvSpPr/>
          <p:nvPr/>
        </p:nvSpPr>
        <p:spPr>
          <a:xfrm>
            <a:off x="5279499" y="4536862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2473740-B65F-8A76-65BB-94950F663EF8}"/>
              </a:ext>
            </a:extLst>
          </p:cNvPr>
          <p:cNvSpPr/>
          <p:nvPr/>
        </p:nvSpPr>
        <p:spPr>
          <a:xfrm>
            <a:off x="2276637" y="2794285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B808ED0-EAD2-BE19-3FA3-A49A0EFC19C7}"/>
              </a:ext>
            </a:extLst>
          </p:cNvPr>
          <p:cNvSpPr/>
          <p:nvPr/>
        </p:nvSpPr>
        <p:spPr>
          <a:xfrm>
            <a:off x="4205387" y="4570265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0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747FD92-7978-C052-BF0E-555B12CDD4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3946" y="2057400"/>
            <a:ext cx="4950207" cy="3325554"/>
          </a:xfrm>
          <a:prstGeom prst="rect">
            <a:avLst/>
          </a:prstGeom>
        </p:spPr>
      </p:pic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9D6705BF-F7AC-557C-92BC-0ADBCCF8CA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573530" y="1892231"/>
            <a:ext cx="704850" cy="500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20416BF-92F9-314F-B699-7A2A728EF047}"/>
              </a:ext>
            </a:extLst>
          </p:cNvPr>
          <p:cNvSpPr txBox="1"/>
          <p:nvPr/>
        </p:nvSpPr>
        <p:spPr>
          <a:xfrm>
            <a:off x="952500" y="1615232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Manschette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2F2E617-8B12-A8B5-0928-021F3D8BD18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586990" y="1550462"/>
            <a:ext cx="312420" cy="866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35B181C8-710F-CD19-F0AE-E43A7D1523CB}"/>
              </a:ext>
            </a:extLst>
          </p:cNvPr>
          <p:cNvSpPr txBox="1"/>
          <p:nvPr/>
        </p:nvSpPr>
        <p:spPr>
          <a:xfrm>
            <a:off x="1965960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Feder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83A4195-7B31-2AA5-56C6-534A152EB96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573530" y="3794760"/>
            <a:ext cx="704850" cy="53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1D08DBE-0D2E-2E3C-F1B2-590C2EF71659}"/>
              </a:ext>
            </a:extLst>
          </p:cNvPr>
          <p:cNvSpPr txBox="1"/>
          <p:nvPr/>
        </p:nvSpPr>
        <p:spPr>
          <a:xfrm>
            <a:off x="952500" y="4326821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Halteblech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1BEFD8E-2720-E79B-BF6B-D1A5C607B275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615440" y="4764602"/>
            <a:ext cx="662940" cy="53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29E06B5-4179-1436-A3EF-347F541F0DC2}"/>
              </a:ext>
            </a:extLst>
          </p:cNvPr>
          <p:cNvSpPr txBox="1"/>
          <p:nvPr/>
        </p:nvSpPr>
        <p:spPr>
          <a:xfrm>
            <a:off x="952500" y="5296663"/>
            <a:ext cx="1325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Steckerdichtung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2E1058D-A408-47FD-34DD-5B0D6472F2B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4475770" y="5182523"/>
            <a:ext cx="104122" cy="60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F9C2C4C-4B51-15B1-8DC1-64F3329165FB}"/>
              </a:ext>
            </a:extLst>
          </p:cNvPr>
          <p:cNvSpPr txBox="1"/>
          <p:nvPr/>
        </p:nvSpPr>
        <p:spPr>
          <a:xfrm>
            <a:off x="3783353" y="5790415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Kolben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E6DF021-1F24-5A29-C64F-FF68DB78A0A0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520440" y="1923264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885AEB9-56CE-6056-1AD4-9B178B45CC87}"/>
              </a:ext>
            </a:extLst>
          </p:cNvPr>
          <p:cNvSpPr txBox="1"/>
          <p:nvPr/>
        </p:nvSpPr>
        <p:spPr>
          <a:xfrm>
            <a:off x="2964180" y="1646265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Schalldämpfer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BE34378-998B-0FC8-C8DE-F0BBC9C04578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4606166" y="1550462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840B45D-F088-B758-5EED-76C745B35B9D}"/>
              </a:ext>
            </a:extLst>
          </p:cNvPr>
          <p:cNvSpPr txBox="1"/>
          <p:nvPr/>
        </p:nvSpPr>
        <p:spPr>
          <a:xfrm>
            <a:off x="4049906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Gehäuse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2679329-E135-7249-FC3E-2A3022F31CB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5501640" y="1923264"/>
            <a:ext cx="79886" cy="1079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1D354AC-C015-9B22-3A0B-EC2D68A80B90}"/>
              </a:ext>
            </a:extLst>
          </p:cNvPr>
          <p:cNvSpPr txBox="1"/>
          <p:nvPr/>
        </p:nvSpPr>
        <p:spPr>
          <a:xfrm>
            <a:off x="4960496" y="1646265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Deckel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E74EAF1-828A-7414-5233-46A82E1B3AF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567428" y="1550462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EB9DD95-7DF5-8424-1CDB-6F20588D5BFA}"/>
              </a:ext>
            </a:extLst>
          </p:cNvPr>
          <p:cNvSpPr txBox="1"/>
          <p:nvPr/>
        </p:nvSpPr>
        <p:spPr>
          <a:xfrm>
            <a:off x="6011168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Führungshülse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1C48C48-A4D0-94D0-EF45-4F77E7B55F99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632198" y="4603820"/>
            <a:ext cx="191388" cy="1039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E41520E6-8BC7-4BBE-7B76-FD7B3AB97CA4}"/>
              </a:ext>
            </a:extLst>
          </p:cNvPr>
          <p:cNvSpPr txBox="1"/>
          <p:nvPr/>
        </p:nvSpPr>
        <p:spPr>
          <a:xfrm>
            <a:off x="6202556" y="5643755"/>
            <a:ext cx="1242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Ventilsitz </a:t>
            </a:r>
          </a:p>
          <a:p>
            <a:pPr algn="ctr"/>
            <a:r>
              <a:rPr lang="de-DE" sz="1200" dirty="0"/>
              <a:t>(mit O-Ring)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8CBEFFF-5850-CDA1-C044-976FD9E5838E}"/>
              </a:ext>
            </a:extLst>
          </p:cNvPr>
          <p:cNvSpPr txBox="1"/>
          <p:nvPr/>
        </p:nvSpPr>
        <p:spPr>
          <a:xfrm>
            <a:off x="3409195" y="78239"/>
            <a:ext cx="2103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10: 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Bestückung WT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C2BD725-51BA-77A6-F9A0-2AE11C8BFF27}"/>
              </a:ext>
            </a:extLst>
          </p:cNvPr>
          <p:cNvSpPr txBox="1"/>
          <p:nvPr/>
        </p:nvSpPr>
        <p:spPr>
          <a:xfrm>
            <a:off x="2083946" y="5777572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Zentrierstück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EF94AA6-43BC-9932-127D-58132C8A3BCD}"/>
              </a:ext>
            </a:extLst>
          </p:cNvPr>
          <p:cNvCxnSpPr>
            <a:cxnSpLocks/>
          </p:cNvCxnSpPr>
          <p:nvPr/>
        </p:nvCxnSpPr>
        <p:spPr>
          <a:xfrm flipV="1">
            <a:off x="2857500" y="5182523"/>
            <a:ext cx="350520" cy="537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37685D7-058A-57AC-F9DC-ABA66270450A}"/>
              </a:ext>
            </a:extLst>
          </p:cNvPr>
          <p:cNvSpPr txBox="1"/>
          <p:nvPr/>
        </p:nvSpPr>
        <p:spPr>
          <a:xfrm>
            <a:off x="4992955" y="6053514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Dämpferplatte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46C911B-9D54-5E59-531A-66B88BA05D06}"/>
              </a:ext>
            </a:extLst>
          </p:cNvPr>
          <p:cNvSpPr txBox="1"/>
          <p:nvPr/>
        </p:nvSpPr>
        <p:spPr>
          <a:xfrm>
            <a:off x="464860" y="2971026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Steckerleiste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6D1194B-9A08-176C-F22B-B501E349BD8A}"/>
              </a:ext>
            </a:extLst>
          </p:cNvPr>
          <p:cNvCxnSpPr>
            <a:cxnSpLocks/>
          </p:cNvCxnSpPr>
          <p:nvPr/>
        </p:nvCxnSpPr>
        <p:spPr>
          <a:xfrm flipV="1">
            <a:off x="1658141" y="3114840"/>
            <a:ext cx="736320" cy="6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BB2DD63-DAA1-0634-49C7-CEE04C1A4A3F}"/>
              </a:ext>
            </a:extLst>
          </p:cNvPr>
          <p:cNvCxnSpPr>
            <a:cxnSpLocks/>
          </p:cNvCxnSpPr>
          <p:nvPr/>
        </p:nvCxnSpPr>
        <p:spPr>
          <a:xfrm flipV="1">
            <a:off x="5531498" y="5182523"/>
            <a:ext cx="153873" cy="863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6" name="Grafik 35">
            <a:extLst>
              <a:ext uri="{FF2B5EF4-FFF2-40B4-BE49-F238E27FC236}">
                <a16:creationId xmlns:a16="http://schemas.microsoft.com/office/drawing/2014/main" id="{F61B0702-5B48-9277-B029-ACE4CCE41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4714215"/>
            <a:ext cx="480682" cy="393366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45FBF441-AE95-38AD-3861-00F874D29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17841">
            <a:off x="5443582" y="4642071"/>
            <a:ext cx="394142" cy="52321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3E921C7E-D58A-67B0-B0A9-15B6BBC21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853" y="2840179"/>
            <a:ext cx="487635" cy="549321"/>
          </a:xfrm>
          <a:prstGeom prst="rect">
            <a:avLst/>
          </a:prstGeom>
        </p:spPr>
      </p:pic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49E62A4-E000-9719-3ABC-FFE634815745}"/>
              </a:ext>
            </a:extLst>
          </p:cNvPr>
          <p:cNvCxnSpPr>
            <a:cxnSpLocks/>
          </p:cNvCxnSpPr>
          <p:nvPr/>
        </p:nvCxnSpPr>
        <p:spPr>
          <a:xfrm flipH="1">
            <a:off x="7885800" y="868684"/>
            <a:ext cx="43543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8D8F1FC4-2967-A40C-B0EA-F8F8FD4B5D1F}"/>
              </a:ext>
            </a:extLst>
          </p:cNvPr>
          <p:cNvSpPr txBox="1"/>
          <p:nvPr/>
        </p:nvSpPr>
        <p:spPr>
          <a:xfrm>
            <a:off x="8126418" y="1232088"/>
            <a:ext cx="37296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AG10 Bestücken WT </a:t>
            </a:r>
            <a:r>
              <a:rPr lang="de-DE" sz="1200" b="1" dirty="0"/>
              <a:t>:</a:t>
            </a:r>
          </a:p>
          <a:p>
            <a:endParaRPr lang="de-DE" sz="1200" b="1" dirty="0"/>
          </a:p>
          <a:p>
            <a:r>
              <a:rPr lang="de-DE" sz="1000" dirty="0"/>
              <a:t>Abmessungen WT geplant 320 x 320 </a:t>
            </a:r>
          </a:p>
          <a:p>
            <a:endParaRPr lang="de-DE" sz="1000" dirty="0"/>
          </a:p>
          <a:p>
            <a:r>
              <a:rPr lang="de-DE" sz="1000" dirty="0"/>
              <a:t>Zusätzliche Bauteile auf WT zu aktueller Montagelinie</a:t>
            </a:r>
          </a:p>
          <a:p>
            <a:endParaRPr lang="de-DE" sz="1000" dirty="0"/>
          </a:p>
          <a:p>
            <a:pPr marL="171450" indent="-171450">
              <a:buFontTx/>
              <a:buChar char="-"/>
            </a:pPr>
            <a:r>
              <a:rPr lang="de-DE" sz="1000" dirty="0"/>
              <a:t>Kolben vormontiert mit O-Ring, Stützring und Z-Dichtung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Dämpferplatte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Steckerleiste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Zentrierstück</a:t>
            </a:r>
          </a:p>
          <a:p>
            <a:endParaRPr lang="de-DE" sz="1000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BB8CE0F-E42F-AF95-C11B-3AF16081E5FF}"/>
              </a:ext>
            </a:extLst>
          </p:cNvPr>
          <p:cNvSpPr/>
          <p:nvPr/>
        </p:nvSpPr>
        <p:spPr>
          <a:xfrm>
            <a:off x="2986775" y="4553423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1F89BC37-551D-0AD5-6622-002C0B871848}"/>
              </a:ext>
            </a:extLst>
          </p:cNvPr>
          <p:cNvSpPr/>
          <p:nvPr/>
        </p:nvSpPr>
        <p:spPr>
          <a:xfrm>
            <a:off x="5279499" y="4536862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2473740-B65F-8A76-65BB-94950F663EF8}"/>
              </a:ext>
            </a:extLst>
          </p:cNvPr>
          <p:cNvSpPr/>
          <p:nvPr/>
        </p:nvSpPr>
        <p:spPr>
          <a:xfrm>
            <a:off x="2276637" y="2794285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B808ED0-EAD2-BE19-3FA3-A49A0EFC19C7}"/>
              </a:ext>
            </a:extLst>
          </p:cNvPr>
          <p:cNvSpPr/>
          <p:nvPr/>
        </p:nvSpPr>
        <p:spPr>
          <a:xfrm>
            <a:off x="4205387" y="4570265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8255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409195" y="78239"/>
            <a:ext cx="2617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10: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AG10 Montage Gehäuse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1D5793C-2D79-FE36-C496-8A146E44FEFD}"/>
              </a:ext>
            </a:extLst>
          </p:cNvPr>
          <p:cNvSpPr/>
          <p:nvPr/>
        </p:nvSpPr>
        <p:spPr bwMode="auto">
          <a:xfrm>
            <a:off x="1457550" y="3356266"/>
            <a:ext cx="5333476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548EEB7-EA50-5E44-4EDE-ED01FDD75BCE}"/>
              </a:ext>
            </a:extLst>
          </p:cNvPr>
          <p:cNvSpPr/>
          <p:nvPr/>
        </p:nvSpPr>
        <p:spPr bwMode="auto">
          <a:xfrm>
            <a:off x="2797521" y="5575705"/>
            <a:ext cx="2338082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AG10.1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FE9355C-318D-7098-7A02-A90AEDBBBBF2}"/>
              </a:ext>
            </a:extLst>
          </p:cNvPr>
          <p:cNvSpPr/>
          <p:nvPr/>
        </p:nvSpPr>
        <p:spPr>
          <a:xfrm>
            <a:off x="1175693" y="4948670"/>
            <a:ext cx="5791164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BC35DA2-19C1-C6E2-3F72-91F56C562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124289" y="4947029"/>
            <a:ext cx="558346" cy="336389"/>
          </a:xfrm>
          <a:prstGeom prst="rect">
            <a:avLst/>
          </a:prstGeom>
        </p:spPr>
      </p:pic>
      <p:pic>
        <p:nvPicPr>
          <p:cNvPr id="8" name="Grafik 55">
            <a:extLst>
              <a:ext uri="{FF2B5EF4-FFF2-40B4-BE49-F238E27FC236}">
                <a16:creationId xmlns:a16="http://schemas.microsoft.com/office/drawing/2014/main" id="{CA20D6BB-EABC-F325-FF99-241F63F0B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662" y="5845641"/>
            <a:ext cx="879034" cy="737999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441DC8F7-2E86-73A8-A216-468EA8CFC1D7}"/>
              </a:ext>
            </a:extLst>
          </p:cNvPr>
          <p:cNvGrpSpPr/>
          <p:nvPr/>
        </p:nvGrpSpPr>
        <p:grpSpPr>
          <a:xfrm>
            <a:off x="2542871" y="2609830"/>
            <a:ext cx="327706" cy="1946888"/>
            <a:chOff x="1820660" y="5447651"/>
            <a:chExt cx="199066" cy="1184464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5FA64A85-498E-63DD-DEB5-F2E427C0A9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5128171E-FD9A-4FF0-6C7E-E3073CA5A7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B3FD7CB3-8528-DD45-8A81-C741092525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44B55EB8-03CF-088C-AC39-81357672F9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D38A69E-9647-D750-E336-4E3BA3A1A189}"/>
              </a:ext>
            </a:extLst>
          </p:cNvPr>
          <p:cNvGrpSpPr/>
          <p:nvPr/>
        </p:nvGrpSpPr>
        <p:grpSpPr>
          <a:xfrm>
            <a:off x="2913487" y="2609831"/>
            <a:ext cx="327706" cy="1946888"/>
            <a:chOff x="1820660" y="5447651"/>
            <a:chExt cx="199066" cy="1184464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9F2267F4-0546-ACB7-CD74-309C8255A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EC600262-E439-9578-8F87-D21F0656E1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62394815-BD36-CB02-896A-4AE62EA36F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69664C97-8FD7-2135-F93C-C8B0B78BDF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189CAE7-2C54-0AFA-0BC7-F55B893679FF}"/>
              </a:ext>
            </a:extLst>
          </p:cNvPr>
          <p:cNvGrpSpPr/>
          <p:nvPr/>
        </p:nvGrpSpPr>
        <p:grpSpPr>
          <a:xfrm>
            <a:off x="3290811" y="2609831"/>
            <a:ext cx="327706" cy="1946888"/>
            <a:chOff x="1820660" y="5447651"/>
            <a:chExt cx="199066" cy="1184464"/>
          </a:xfrm>
        </p:grpSpPr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F9C8F505-3E4A-3113-A984-5F9FEA01A3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9E37FA56-6245-C030-211E-BC4DD0EEEE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48F4E11A-C590-F81D-333A-BA4C0E5350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3FF248C8-9A54-0B8C-9EDE-15CADC6EE5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D929463F-4B0F-E58A-4E86-9904C5B5D6C7}"/>
              </a:ext>
            </a:extLst>
          </p:cNvPr>
          <p:cNvGrpSpPr/>
          <p:nvPr/>
        </p:nvGrpSpPr>
        <p:grpSpPr>
          <a:xfrm>
            <a:off x="3665789" y="2616113"/>
            <a:ext cx="327706" cy="1946888"/>
            <a:chOff x="1820660" y="5447651"/>
            <a:chExt cx="199066" cy="1184464"/>
          </a:xfrm>
        </p:grpSpPr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0F79E7FD-4E36-253F-5AF5-F928A328DB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6CBC8211-7124-1521-EDA2-14A567F7D2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0778BA69-19BD-E939-01D6-B24C81B839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EC17459C-6556-A82A-4871-7EC27A77DA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C6C5ACCA-6B96-862D-5516-454F7F4E1F3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0800000">
            <a:off x="4327125" y="4236331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376C312F-D1FA-EF64-BD24-E83CC12DDEB6}"/>
              </a:ext>
            </a:extLst>
          </p:cNvPr>
          <p:cNvGrpSpPr/>
          <p:nvPr/>
        </p:nvGrpSpPr>
        <p:grpSpPr>
          <a:xfrm>
            <a:off x="4607284" y="3180995"/>
            <a:ext cx="232810" cy="1378275"/>
            <a:chOff x="1820660" y="5447651"/>
            <a:chExt cx="199066" cy="1184464"/>
          </a:xfrm>
        </p:grpSpPr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894D9ED4-6D75-F774-D425-6116BF687E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B6B5E8A2-4E9B-08D2-5EB1-CB39448753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85A56985-98F7-BDBF-627D-2A34B3F62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3" name="Grafik 42">
              <a:extLst>
                <a:ext uri="{FF2B5EF4-FFF2-40B4-BE49-F238E27FC236}">
                  <a16:creationId xmlns:a16="http://schemas.microsoft.com/office/drawing/2014/main" id="{8FAAC7BE-FE18-18DA-5E23-AA55D4059E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C2DA338F-1157-2C22-4F6F-63B52F2CE291}"/>
              </a:ext>
            </a:extLst>
          </p:cNvPr>
          <p:cNvGrpSpPr/>
          <p:nvPr/>
        </p:nvGrpSpPr>
        <p:grpSpPr>
          <a:xfrm>
            <a:off x="4897385" y="3180995"/>
            <a:ext cx="232810" cy="1378275"/>
            <a:chOff x="1820660" y="5447651"/>
            <a:chExt cx="199066" cy="1184464"/>
          </a:xfrm>
        </p:grpSpPr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28134A95-02AB-2DB5-E4BC-D5B7E4C5F9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180D2280-4134-B54D-CB70-F4592A6B11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73B4DF71-00F4-278F-2950-F8317C39A3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8" name="Grafik 47">
              <a:extLst>
                <a:ext uri="{FF2B5EF4-FFF2-40B4-BE49-F238E27FC236}">
                  <a16:creationId xmlns:a16="http://schemas.microsoft.com/office/drawing/2014/main" id="{714ACC57-C94B-A450-D4BF-66CADF5509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C418B9B7-E687-DFB5-3AF5-014398D65184}"/>
              </a:ext>
            </a:extLst>
          </p:cNvPr>
          <p:cNvGrpSpPr/>
          <p:nvPr/>
        </p:nvGrpSpPr>
        <p:grpSpPr>
          <a:xfrm>
            <a:off x="5170006" y="3180995"/>
            <a:ext cx="232810" cy="1378275"/>
            <a:chOff x="1820660" y="5447651"/>
            <a:chExt cx="199066" cy="1184464"/>
          </a:xfrm>
        </p:grpSpPr>
        <p:pic>
          <p:nvPicPr>
            <p:cNvPr id="50" name="Grafik 49">
              <a:extLst>
                <a:ext uri="{FF2B5EF4-FFF2-40B4-BE49-F238E27FC236}">
                  <a16:creationId xmlns:a16="http://schemas.microsoft.com/office/drawing/2014/main" id="{965E85C5-47BC-4C16-4E05-DD6660B86F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43A1D44F-5610-C9CE-C943-33DA14F8F6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FB51FBFB-7FA8-31DE-1D6E-E0081C25B5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3" name="Grafik 52">
              <a:extLst>
                <a:ext uri="{FF2B5EF4-FFF2-40B4-BE49-F238E27FC236}">
                  <a16:creationId xmlns:a16="http://schemas.microsoft.com/office/drawing/2014/main" id="{09E31CE1-46BE-DD48-7190-445F393CB4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E2B72913-5193-137D-D183-AB71569C2AE9}"/>
              </a:ext>
            </a:extLst>
          </p:cNvPr>
          <p:cNvGrpSpPr/>
          <p:nvPr/>
        </p:nvGrpSpPr>
        <p:grpSpPr>
          <a:xfrm>
            <a:off x="5447576" y="3182798"/>
            <a:ext cx="232810" cy="1378275"/>
            <a:chOff x="1820660" y="5447651"/>
            <a:chExt cx="199066" cy="1184464"/>
          </a:xfrm>
        </p:grpSpPr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11DA49F8-1F68-E050-C0BF-9DD4F7BD4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0D2B704-80C4-C6AF-7776-7723A97BB3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ACAACC81-5415-4E31-17AA-E6CCD2226A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B34453D6-7F11-49CE-AC40-C2862DE8A2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0E3CBA9A-185E-437C-B7EB-CCCABF3D5634}"/>
              </a:ext>
            </a:extLst>
          </p:cNvPr>
          <p:cNvGrpSpPr/>
          <p:nvPr/>
        </p:nvGrpSpPr>
        <p:grpSpPr>
          <a:xfrm>
            <a:off x="5733527" y="3178146"/>
            <a:ext cx="232810" cy="1378275"/>
            <a:chOff x="1820660" y="5447651"/>
            <a:chExt cx="199066" cy="1184464"/>
          </a:xfrm>
        </p:grpSpPr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15D4C78A-F913-D6E4-B077-B47B635621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ADE6A7F0-DB68-CA72-F19A-D3158543A4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2" name="Grafik 61">
              <a:extLst>
                <a:ext uri="{FF2B5EF4-FFF2-40B4-BE49-F238E27FC236}">
                  <a16:creationId xmlns:a16="http://schemas.microsoft.com/office/drawing/2014/main" id="{1DC56717-F245-A0C7-61CC-29D83DF045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8E8BDBF2-F37A-932B-1351-B063010414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pic>
        <p:nvPicPr>
          <p:cNvPr id="64" name="Grafik 63">
            <a:extLst>
              <a:ext uri="{FF2B5EF4-FFF2-40B4-BE49-F238E27FC236}">
                <a16:creationId xmlns:a16="http://schemas.microsoft.com/office/drawing/2014/main" id="{3F128612-A11D-F98F-A099-54E586C96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871630" y="4955147"/>
            <a:ext cx="558346" cy="336389"/>
          </a:xfrm>
          <a:prstGeom prst="rect">
            <a:avLst/>
          </a:prstGeom>
        </p:spPr>
      </p:pic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2D82BB3C-6849-17B0-8BD4-04A239EA339A}"/>
              </a:ext>
            </a:extLst>
          </p:cNvPr>
          <p:cNvGrpSpPr/>
          <p:nvPr/>
        </p:nvGrpSpPr>
        <p:grpSpPr>
          <a:xfrm>
            <a:off x="1961119" y="2620968"/>
            <a:ext cx="327706" cy="1946888"/>
            <a:chOff x="1820660" y="5447651"/>
            <a:chExt cx="199066" cy="1184464"/>
          </a:xfrm>
        </p:grpSpPr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78331FD7-B6EE-BEBF-0C87-A66C75AE02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C44E83F8-E0F5-7C94-C371-FB418EEF94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3331F20A-739A-0682-970E-30C859874F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4" name="Grafik 73">
              <a:extLst>
                <a:ext uri="{FF2B5EF4-FFF2-40B4-BE49-F238E27FC236}">
                  <a16:creationId xmlns:a16="http://schemas.microsoft.com/office/drawing/2014/main" id="{F2697BA4-6EEE-1986-734D-CB99A8349A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DE98E4AC-91C5-7CD4-FE3C-94129B079BD5}"/>
              </a:ext>
            </a:extLst>
          </p:cNvPr>
          <p:cNvSpPr/>
          <p:nvPr/>
        </p:nvSpPr>
        <p:spPr bwMode="auto">
          <a:xfrm>
            <a:off x="1659409" y="5576075"/>
            <a:ext cx="1008349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8A0E09F2-8760-A457-ED64-3FB3EA62AC28}"/>
              </a:ext>
            </a:extLst>
          </p:cNvPr>
          <p:cNvSpPr txBox="1"/>
          <p:nvPr/>
        </p:nvSpPr>
        <p:spPr>
          <a:xfrm rot="16200000">
            <a:off x="1656244" y="2008864"/>
            <a:ext cx="9557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Abdeckkappe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F5CBA03F-DEBD-DE83-31F1-14ED009BED1E}"/>
              </a:ext>
            </a:extLst>
          </p:cNvPr>
          <p:cNvSpPr txBox="1"/>
          <p:nvPr/>
        </p:nvSpPr>
        <p:spPr>
          <a:xfrm rot="16200000">
            <a:off x="2424578" y="2188153"/>
            <a:ext cx="580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Kolben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19CDE773-A358-06AA-B970-226DBB68408D}"/>
              </a:ext>
            </a:extLst>
          </p:cNvPr>
          <p:cNvSpPr txBox="1"/>
          <p:nvPr/>
        </p:nvSpPr>
        <p:spPr>
          <a:xfrm rot="16200000">
            <a:off x="2561032" y="1998135"/>
            <a:ext cx="10278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Führungshülse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1DCAF832-5F4C-D7FB-7A6B-AE85494B56F3}"/>
              </a:ext>
            </a:extLst>
          </p:cNvPr>
          <p:cNvSpPr txBox="1"/>
          <p:nvPr/>
        </p:nvSpPr>
        <p:spPr>
          <a:xfrm rot="16200000">
            <a:off x="3135890" y="2227322"/>
            <a:ext cx="575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Deckel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4C1B0C13-D396-717E-2FF8-840105324027}"/>
              </a:ext>
            </a:extLst>
          </p:cNvPr>
          <p:cNvSpPr txBox="1"/>
          <p:nvPr/>
        </p:nvSpPr>
        <p:spPr>
          <a:xfrm rot="16200000">
            <a:off x="3279548" y="2048918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Schalldämpfer</a:t>
            </a:r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1DFF3424-0F76-28E0-7F9D-C8DD149AF40D}"/>
              </a:ext>
            </a:extLst>
          </p:cNvPr>
          <p:cNvSpPr/>
          <p:nvPr/>
        </p:nvSpPr>
        <p:spPr bwMode="auto">
          <a:xfrm>
            <a:off x="5611147" y="5851596"/>
            <a:ext cx="1196897" cy="804647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Filter  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Kugel</a:t>
            </a:r>
          </a:p>
        </p:txBody>
      </p:sp>
      <p:pic>
        <p:nvPicPr>
          <p:cNvPr id="90" name="Grafik 89">
            <a:extLst>
              <a:ext uri="{FF2B5EF4-FFF2-40B4-BE49-F238E27FC236}">
                <a16:creationId xmlns:a16="http://schemas.microsoft.com/office/drawing/2014/main" id="{6FFA8B39-02BB-C13F-836A-6405C763112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6200000">
            <a:off x="5589311" y="5853661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92" name="Textfeld 91">
            <a:extLst>
              <a:ext uri="{FF2B5EF4-FFF2-40B4-BE49-F238E27FC236}">
                <a16:creationId xmlns:a16="http://schemas.microsoft.com/office/drawing/2014/main" id="{EBC9AE65-02CA-E322-836C-8D120B1EAA82}"/>
              </a:ext>
            </a:extLst>
          </p:cNvPr>
          <p:cNvSpPr txBox="1"/>
          <p:nvPr/>
        </p:nvSpPr>
        <p:spPr>
          <a:xfrm rot="16200000">
            <a:off x="4368306" y="2746386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Ventilsitz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E3FDF16A-8F2A-3BF6-C63D-9E7AA0AC07C1}"/>
              </a:ext>
            </a:extLst>
          </p:cNvPr>
          <p:cNvSpPr txBox="1"/>
          <p:nvPr/>
        </p:nvSpPr>
        <p:spPr>
          <a:xfrm rot="16200000">
            <a:off x="3616543" y="2691904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Steckerdichtung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9EEFCBC6-2855-21B5-56C8-ABDB6F8E399C}"/>
              </a:ext>
            </a:extLst>
          </p:cNvPr>
          <p:cNvSpPr txBox="1"/>
          <p:nvPr/>
        </p:nvSpPr>
        <p:spPr>
          <a:xfrm rot="16200000">
            <a:off x="4508646" y="2597775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Zentrierstück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B4A20013-723A-530F-C0AF-031A20B378CF}"/>
              </a:ext>
            </a:extLst>
          </p:cNvPr>
          <p:cNvSpPr txBox="1"/>
          <p:nvPr/>
        </p:nvSpPr>
        <p:spPr>
          <a:xfrm rot="16200000">
            <a:off x="4766117" y="2573944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Dämpferplatte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EC745AA7-AB98-2124-4AD0-8A4AB84D9C17}"/>
              </a:ext>
            </a:extLst>
          </p:cNvPr>
          <p:cNvSpPr txBox="1"/>
          <p:nvPr/>
        </p:nvSpPr>
        <p:spPr>
          <a:xfrm rot="16200000">
            <a:off x="5272814" y="2812312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Feder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3065983E-6D7C-3BEF-2330-6C4967944A9F}"/>
              </a:ext>
            </a:extLst>
          </p:cNvPr>
          <p:cNvSpPr txBox="1"/>
          <p:nvPr/>
        </p:nvSpPr>
        <p:spPr>
          <a:xfrm rot="16200000">
            <a:off x="5392392" y="2663797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Manschette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29FB8C01-C4F8-9168-1DB8-A92134BB6890}"/>
              </a:ext>
            </a:extLst>
          </p:cNvPr>
          <p:cNvSpPr txBox="1"/>
          <p:nvPr/>
        </p:nvSpPr>
        <p:spPr>
          <a:xfrm rot="16200000">
            <a:off x="5640927" y="2642947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Steckerleiste</a:t>
            </a:r>
          </a:p>
        </p:txBody>
      </p: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473DF3C3-7A2B-C3C0-1B53-F6192109EC74}"/>
              </a:ext>
            </a:extLst>
          </p:cNvPr>
          <p:cNvGrpSpPr/>
          <p:nvPr/>
        </p:nvGrpSpPr>
        <p:grpSpPr>
          <a:xfrm>
            <a:off x="6011487" y="3178147"/>
            <a:ext cx="232810" cy="1378275"/>
            <a:chOff x="1820660" y="5447651"/>
            <a:chExt cx="199066" cy="1184464"/>
          </a:xfrm>
        </p:grpSpPr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BA0C4CF0-99D4-2A5B-0C36-0C26528E2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1" name="Grafik 100">
              <a:extLst>
                <a:ext uri="{FF2B5EF4-FFF2-40B4-BE49-F238E27FC236}">
                  <a16:creationId xmlns:a16="http://schemas.microsoft.com/office/drawing/2014/main" id="{53D1AD75-8A6C-432C-D98D-1A364E38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62AEEAD2-426E-5A32-93F0-2B764E7637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5C445131-EFBD-1878-1BAF-18E8917962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0F705668-C404-7543-88C7-4F4F96C41DEF}"/>
              </a:ext>
            </a:extLst>
          </p:cNvPr>
          <p:cNvGrpSpPr/>
          <p:nvPr/>
        </p:nvGrpSpPr>
        <p:grpSpPr>
          <a:xfrm>
            <a:off x="6329984" y="3501085"/>
            <a:ext cx="169216" cy="1046670"/>
            <a:chOff x="1820660" y="5447651"/>
            <a:chExt cx="199066" cy="1184464"/>
          </a:xfrm>
        </p:grpSpPr>
        <p:pic>
          <p:nvPicPr>
            <p:cNvPr id="105" name="Grafik 104">
              <a:extLst>
                <a:ext uri="{FF2B5EF4-FFF2-40B4-BE49-F238E27FC236}">
                  <a16:creationId xmlns:a16="http://schemas.microsoft.com/office/drawing/2014/main" id="{519F97E8-4D2A-89D7-3FC8-8443FFF281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E8CFE92E-6505-A130-CE0F-D0E46762FF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7" name="Grafik 106">
              <a:extLst>
                <a:ext uri="{FF2B5EF4-FFF2-40B4-BE49-F238E27FC236}">
                  <a16:creationId xmlns:a16="http://schemas.microsoft.com/office/drawing/2014/main" id="{8E811598-8F03-C130-519A-90167A6231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8" name="Grafik 107">
              <a:extLst>
                <a:ext uri="{FF2B5EF4-FFF2-40B4-BE49-F238E27FC236}">
                  <a16:creationId xmlns:a16="http://schemas.microsoft.com/office/drawing/2014/main" id="{5E962FB0-F2C3-C4C5-F28B-3DDD433095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sp>
        <p:nvSpPr>
          <p:cNvPr id="109" name="Textfeld 108">
            <a:extLst>
              <a:ext uri="{FF2B5EF4-FFF2-40B4-BE49-F238E27FC236}">
                <a16:creationId xmlns:a16="http://schemas.microsoft.com/office/drawing/2014/main" id="{72C2517D-48E9-AB54-DFA8-1ACD8EE6C138}"/>
              </a:ext>
            </a:extLst>
          </p:cNvPr>
          <p:cNvSpPr txBox="1"/>
          <p:nvPr/>
        </p:nvSpPr>
        <p:spPr>
          <a:xfrm rot="16200000">
            <a:off x="6032609" y="2696175"/>
            <a:ext cx="7873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Halteblech</a:t>
            </a:r>
          </a:p>
        </p:txBody>
      </p:sp>
      <p:pic>
        <p:nvPicPr>
          <p:cNvPr id="110" name="Grafik 109">
            <a:extLst>
              <a:ext uri="{FF2B5EF4-FFF2-40B4-BE49-F238E27FC236}">
                <a16:creationId xmlns:a16="http://schemas.microsoft.com/office/drawing/2014/main" id="{3A53B477-DBE6-5420-4416-8D0328BB5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223" y="1867758"/>
            <a:ext cx="246221" cy="201495"/>
          </a:xfrm>
          <a:prstGeom prst="rect">
            <a:avLst/>
          </a:prstGeom>
        </p:spPr>
      </p:pic>
      <p:pic>
        <p:nvPicPr>
          <p:cNvPr id="111" name="Grafik 110">
            <a:extLst>
              <a:ext uri="{FF2B5EF4-FFF2-40B4-BE49-F238E27FC236}">
                <a16:creationId xmlns:a16="http://schemas.microsoft.com/office/drawing/2014/main" id="{A7EEE250-D8A2-4D8A-5600-F2F43D39AC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7006" y="1898149"/>
            <a:ext cx="247545" cy="193983"/>
          </a:xfrm>
          <a:prstGeom prst="rect">
            <a:avLst/>
          </a:prstGeom>
        </p:spPr>
      </p:pic>
      <p:pic>
        <p:nvPicPr>
          <p:cNvPr id="113" name="Grafik 112">
            <a:extLst>
              <a:ext uri="{FF2B5EF4-FFF2-40B4-BE49-F238E27FC236}">
                <a16:creationId xmlns:a16="http://schemas.microsoft.com/office/drawing/2014/main" id="{7569DB87-A31C-ADB4-3AAD-8CBA932A89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3196" y="1887656"/>
            <a:ext cx="302047" cy="205487"/>
          </a:xfrm>
          <a:prstGeom prst="rect">
            <a:avLst/>
          </a:prstGeom>
        </p:spPr>
      </p:pic>
      <p:pic>
        <p:nvPicPr>
          <p:cNvPr id="115" name="Grafik 114">
            <a:extLst>
              <a:ext uri="{FF2B5EF4-FFF2-40B4-BE49-F238E27FC236}">
                <a16:creationId xmlns:a16="http://schemas.microsoft.com/office/drawing/2014/main" id="{0EE7A14E-F7AB-86F5-4A9D-932F1AA5FA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7905" y="1137928"/>
            <a:ext cx="280779" cy="278533"/>
          </a:xfrm>
          <a:prstGeom prst="rect">
            <a:avLst/>
          </a:prstGeom>
        </p:spPr>
      </p:pic>
      <p:pic>
        <p:nvPicPr>
          <p:cNvPr id="117" name="Grafik 116">
            <a:extLst>
              <a:ext uri="{FF2B5EF4-FFF2-40B4-BE49-F238E27FC236}">
                <a16:creationId xmlns:a16="http://schemas.microsoft.com/office/drawing/2014/main" id="{E788C478-CF60-514C-FADF-1D93E2D140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84623" y="1122526"/>
            <a:ext cx="284199" cy="297266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5C259DC0-FA7C-366D-F736-3D99C0E46B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9337" y="1152788"/>
            <a:ext cx="285525" cy="440261"/>
          </a:xfrm>
          <a:prstGeom prst="rect">
            <a:avLst/>
          </a:prstGeom>
        </p:spPr>
      </p:pic>
      <p:pic>
        <p:nvPicPr>
          <p:cNvPr id="121" name="Grafik 120">
            <a:extLst>
              <a:ext uri="{FF2B5EF4-FFF2-40B4-BE49-F238E27FC236}">
                <a16:creationId xmlns:a16="http://schemas.microsoft.com/office/drawing/2014/main" id="{E7E02513-BC8D-227C-90B7-8183F52118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8969" y="1138213"/>
            <a:ext cx="276249" cy="300446"/>
          </a:xfrm>
          <a:prstGeom prst="rect">
            <a:avLst/>
          </a:prstGeom>
        </p:spPr>
      </p:pic>
      <p:pic>
        <p:nvPicPr>
          <p:cNvPr id="123" name="Grafik 122">
            <a:extLst>
              <a:ext uri="{FF2B5EF4-FFF2-40B4-BE49-F238E27FC236}">
                <a16:creationId xmlns:a16="http://schemas.microsoft.com/office/drawing/2014/main" id="{82A5820A-0192-C9DD-3994-D3C321847C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9374" y="1840057"/>
            <a:ext cx="242189" cy="252075"/>
          </a:xfrm>
          <a:prstGeom prst="rect">
            <a:avLst/>
          </a:prstGeom>
        </p:spPr>
      </p:pic>
      <p:pic>
        <p:nvPicPr>
          <p:cNvPr id="124" name="Grafik 123">
            <a:extLst>
              <a:ext uri="{FF2B5EF4-FFF2-40B4-BE49-F238E27FC236}">
                <a16:creationId xmlns:a16="http://schemas.microsoft.com/office/drawing/2014/main" id="{DDF6902C-7B43-80BE-13D6-E5D077BFCC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37391" y="1862593"/>
            <a:ext cx="217579" cy="227433"/>
          </a:xfrm>
          <a:prstGeom prst="rect">
            <a:avLst/>
          </a:prstGeom>
        </p:spPr>
      </p:pic>
      <p:pic>
        <p:nvPicPr>
          <p:cNvPr id="126" name="Grafik 125">
            <a:extLst>
              <a:ext uri="{FF2B5EF4-FFF2-40B4-BE49-F238E27FC236}">
                <a16:creationId xmlns:a16="http://schemas.microsoft.com/office/drawing/2014/main" id="{F0333388-ECA5-0322-172C-6FD69DDE74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20131" y="1862507"/>
            <a:ext cx="217121" cy="245596"/>
          </a:xfrm>
          <a:prstGeom prst="rect">
            <a:avLst/>
          </a:prstGeom>
        </p:spPr>
      </p:pic>
      <p:pic>
        <p:nvPicPr>
          <p:cNvPr id="127" name="Grafik 126">
            <a:extLst>
              <a:ext uri="{FF2B5EF4-FFF2-40B4-BE49-F238E27FC236}">
                <a16:creationId xmlns:a16="http://schemas.microsoft.com/office/drawing/2014/main" id="{A5546602-73EA-993F-F302-6D2A278D668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45672" y="1158841"/>
            <a:ext cx="242653" cy="325667"/>
          </a:xfrm>
          <a:prstGeom prst="rect">
            <a:avLst/>
          </a:prstGeom>
        </p:spPr>
      </p:pic>
      <p:pic>
        <p:nvPicPr>
          <p:cNvPr id="129" name="Grafik 128">
            <a:extLst>
              <a:ext uri="{FF2B5EF4-FFF2-40B4-BE49-F238E27FC236}">
                <a16:creationId xmlns:a16="http://schemas.microsoft.com/office/drawing/2014/main" id="{174F0F21-4C7B-7575-E5C3-DE2D846B55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55893" y="5731318"/>
            <a:ext cx="142904" cy="228646"/>
          </a:xfrm>
          <a:prstGeom prst="rect">
            <a:avLst/>
          </a:prstGeom>
        </p:spPr>
      </p:pic>
      <p:pic>
        <p:nvPicPr>
          <p:cNvPr id="130" name="Grafik 129">
            <a:extLst>
              <a:ext uri="{FF2B5EF4-FFF2-40B4-BE49-F238E27FC236}">
                <a16:creationId xmlns:a16="http://schemas.microsoft.com/office/drawing/2014/main" id="{ED349F98-72DC-6E02-D80E-71A05029778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4300" y="6319538"/>
            <a:ext cx="195004" cy="312006"/>
          </a:xfrm>
          <a:prstGeom prst="rect">
            <a:avLst/>
          </a:prstGeom>
        </p:spPr>
      </p:pic>
      <p:pic>
        <p:nvPicPr>
          <p:cNvPr id="131" name="Grafik 130">
            <a:extLst>
              <a:ext uri="{FF2B5EF4-FFF2-40B4-BE49-F238E27FC236}">
                <a16:creationId xmlns:a16="http://schemas.microsoft.com/office/drawing/2014/main" id="{7130A284-7FA9-C836-517A-1421A2FB758C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34086" y="5882275"/>
            <a:ext cx="245534" cy="237764"/>
          </a:xfrm>
          <a:prstGeom prst="rect">
            <a:avLst/>
          </a:prstGeom>
        </p:spPr>
      </p:pic>
      <p:pic>
        <p:nvPicPr>
          <p:cNvPr id="132" name="Grafik 131">
            <a:extLst>
              <a:ext uri="{FF2B5EF4-FFF2-40B4-BE49-F238E27FC236}">
                <a16:creationId xmlns:a16="http://schemas.microsoft.com/office/drawing/2014/main" id="{429FEF17-B8CD-9958-9C71-8D78659F7D1E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5405" y="6447020"/>
            <a:ext cx="128807" cy="131225"/>
          </a:xfrm>
          <a:prstGeom prst="rect">
            <a:avLst/>
          </a:prstGeom>
        </p:spPr>
      </p:pic>
      <p:pic>
        <p:nvPicPr>
          <p:cNvPr id="133" name="Grafik 132">
            <a:extLst>
              <a:ext uri="{FF2B5EF4-FFF2-40B4-BE49-F238E27FC236}">
                <a16:creationId xmlns:a16="http://schemas.microsoft.com/office/drawing/2014/main" id="{818A23E4-4B9B-8A71-5360-BA7BD9D60E7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65187" y="1844673"/>
            <a:ext cx="217121" cy="287146"/>
          </a:xfrm>
          <a:prstGeom prst="rect">
            <a:avLst/>
          </a:prstGeom>
        </p:spPr>
      </p:pic>
      <p:sp>
        <p:nvSpPr>
          <p:cNvPr id="134" name="Textfeld 133">
            <a:extLst>
              <a:ext uri="{FF2B5EF4-FFF2-40B4-BE49-F238E27FC236}">
                <a16:creationId xmlns:a16="http://schemas.microsoft.com/office/drawing/2014/main" id="{AB986162-87E6-2C90-48B9-2BB34A8E9D24}"/>
              </a:ext>
            </a:extLst>
          </p:cNvPr>
          <p:cNvSpPr txBox="1"/>
          <p:nvPr/>
        </p:nvSpPr>
        <p:spPr>
          <a:xfrm>
            <a:off x="2828425" y="4552775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600x400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10E70471-20CA-9981-6F75-6F5FA2C32AF3}"/>
              </a:ext>
            </a:extLst>
          </p:cNvPr>
          <p:cNvSpPr txBox="1"/>
          <p:nvPr/>
        </p:nvSpPr>
        <p:spPr>
          <a:xfrm>
            <a:off x="5044333" y="4539956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400x300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45FD6915-A304-716D-F1B4-6C93F0F6B9E2}"/>
              </a:ext>
            </a:extLst>
          </p:cNvPr>
          <p:cNvSpPr txBox="1"/>
          <p:nvPr/>
        </p:nvSpPr>
        <p:spPr>
          <a:xfrm>
            <a:off x="6192333" y="4544226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300x200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7D96E6DD-72E6-3067-2645-87D45671F7CB}"/>
              </a:ext>
            </a:extLst>
          </p:cNvPr>
          <p:cNvSpPr txBox="1"/>
          <p:nvPr/>
        </p:nvSpPr>
        <p:spPr>
          <a:xfrm>
            <a:off x="1831531" y="4536663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400x300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AFEF503-B447-30F0-46B6-072D62A2BF6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81986" y="1851368"/>
            <a:ext cx="271057" cy="305346"/>
          </a:xfrm>
          <a:prstGeom prst="rect">
            <a:avLst/>
          </a:prstGeom>
        </p:spPr>
      </p:pic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A58CE80F-626C-A1DC-7457-CE606A45644E}"/>
              </a:ext>
            </a:extLst>
          </p:cNvPr>
          <p:cNvSpPr/>
          <p:nvPr/>
        </p:nvSpPr>
        <p:spPr bwMode="auto">
          <a:xfrm>
            <a:off x="867453" y="5860028"/>
            <a:ext cx="910069" cy="70136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600" dirty="0">
                <a:solidFill>
                  <a:srgbClr val="4D4D4D"/>
                </a:solidFill>
              </a:rPr>
              <a:t>Verpacken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D25B8DB3-19EA-B322-6188-D22173409ED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6200000">
            <a:off x="1653013" y="5733195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F1B50117-9637-C710-2FCE-0C890BC8E53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6200000">
            <a:off x="1632053" y="6369096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1E01937D-0114-77B5-1F8C-8CCC69FBBC02}"/>
              </a:ext>
            </a:extLst>
          </p:cNvPr>
          <p:cNvSpPr txBox="1"/>
          <p:nvPr/>
        </p:nvSpPr>
        <p:spPr>
          <a:xfrm>
            <a:off x="143588" y="5789876"/>
            <a:ext cx="15087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Gewindeschutzkappe 1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0DEED7CB-FF49-A570-CBC6-25B4F39D1EB7}"/>
              </a:ext>
            </a:extLst>
          </p:cNvPr>
          <p:cNvSpPr txBox="1"/>
          <p:nvPr/>
        </p:nvSpPr>
        <p:spPr>
          <a:xfrm>
            <a:off x="82267" y="6417462"/>
            <a:ext cx="15087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Gewindeschutzkappe 2</a:t>
            </a:r>
          </a:p>
        </p:txBody>
      </p:sp>
      <p:pic>
        <p:nvPicPr>
          <p:cNvPr id="114" name="Grafik 113">
            <a:extLst>
              <a:ext uri="{FF2B5EF4-FFF2-40B4-BE49-F238E27FC236}">
                <a16:creationId xmlns:a16="http://schemas.microsoft.com/office/drawing/2014/main" id="{E8CD3AEC-8D04-856B-4D97-FDF0C658453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0800000">
            <a:off x="4055405" y="4236332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116" name="Textfeld 115">
            <a:extLst>
              <a:ext uri="{FF2B5EF4-FFF2-40B4-BE49-F238E27FC236}">
                <a16:creationId xmlns:a16="http://schemas.microsoft.com/office/drawing/2014/main" id="{D3F76F64-D947-7746-FA67-65D7EAD90285}"/>
              </a:ext>
            </a:extLst>
          </p:cNvPr>
          <p:cNvSpPr txBox="1"/>
          <p:nvPr/>
        </p:nvSpPr>
        <p:spPr>
          <a:xfrm rot="16200000">
            <a:off x="3730411" y="2589649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O-Ring für Ventilsitz</a:t>
            </a:r>
          </a:p>
        </p:txBody>
      </p:sp>
      <p:pic>
        <p:nvPicPr>
          <p:cNvPr id="118" name="Grafik 117">
            <a:extLst>
              <a:ext uri="{FF2B5EF4-FFF2-40B4-BE49-F238E27FC236}">
                <a16:creationId xmlns:a16="http://schemas.microsoft.com/office/drawing/2014/main" id="{FE05B345-E6C5-17F5-5E69-98AB85483D9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637706">
            <a:off x="4352326" y="1879520"/>
            <a:ext cx="181160" cy="216204"/>
          </a:xfrm>
          <a:prstGeom prst="rect">
            <a:avLst/>
          </a:prstGeom>
        </p:spPr>
      </p:pic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1820138A-1A0F-D1C3-8DBE-F83C660CA0EB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feld 124">
            <a:extLst>
              <a:ext uri="{FF2B5EF4-FFF2-40B4-BE49-F238E27FC236}">
                <a16:creationId xmlns:a16="http://schemas.microsoft.com/office/drawing/2014/main" id="{792AB753-88CF-48AD-8E26-B403A363D695}"/>
              </a:ext>
            </a:extLst>
          </p:cNvPr>
          <p:cNvSpPr txBox="1"/>
          <p:nvPr/>
        </p:nvSpPr>
        <p:spPr>
          <a:xfrm>
            <a:off x="7374492" y="1223796"/>
            <a:ext cx="4817507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AG10.1: Werkstückträger Bestücken</a:t>
            </a:r>
          </a:p>
          <a:p>
            <a:endParaRPr lang="de-DE" sz="1000" dirty="0"/>
          </a:p>
          <a:p>
            <a:r>
              <a:rPr lang="de-DE" sz="900" dirty="0"/>
              <a:t>- 12x Zuführung KLTs auf Rollenschienen ohne Sensorik</a:t>
            </a:r>
          </a:p>
          <a:p>
            <a:r>
              <a:rPr lang="de-DE" sz="900" dirty="0"/>
              <a:t>- 3x Rückführung  (je 1x für 600x400, 400x300, 300x200)</a:t>
            </a:r>
          </a:p>
          <a:p>
            <a:r>
              <a:rPr lang="de-DE" sz="900" dirty="0"/>
              <a:t>- O-Ringe in einzelnen KLT bereitgestellt</a:t>
            </a:r>
          </a:p>
          <a:p>
            <a:r>
              <a:rPr lang="de-DE" sz="900" dirty="0"/>
              <a:t>- Scanner Powerscan Dataman 9500 mit Halter</a:t>
            </a:r>
          </a:p>
          <a:p>
            <a:r>
              <a:rPr lang="de-DE" sz="900" dirty="0"/>
              <a:t>- Grundgestell inkl. Beleuchtung</a:t>
            </a:r>
          </a:p>
          <a:p>
            <a:r>
              <a:rPr lang="de-DE" sz="900" dirty="0"/>
              <a:t>- Stopper Vereinzelung + RFID</a:t>
            </a:r>
          </a:p>
          <a:p>
            <a:r>
              <a:rPr lang="de-DE" sz="900" dirty="0"/>
              <a:t>- Anzahl Werkstückträger in Ausbaustufe 1 ( 68 Sek.):  20 Stück</a:t>
            </a:r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AG10.2: Montage Kugel und Filter</a:t>
            </a:r>
          </a:p>
          <a:p>
            <a:endParaRPr lang="de-DE" sz="1000" dirty="0"/>
          </a:p>
          <a:p>
            <a:r>
              <a:rPr lang="de-DE" sz="900" dirty="0"/>
              <a:t>- Aufnahme Gehäuse mit Gegenhalter und Dreheinheit</a:t>
            </a:r>
          </a:p>
          <a:p>
            <a:r>
              <a:rPr lang="de-DE" sz="900" dirty="0"/>
              <a:t>- Zuführung Kugel (Schwerkraft) mit Vereinzelung</a:t>
            </a:r>
          </a:p>
          <a:p>
            <a:r>
              <a:rPr lang="de-DE" sz="900" dirty="0"/>
              <a:t>- Einpresseinheit mit Kistlerfügemodul 10kN Maxymos (Typ. 5867)</a:t>
            </a:r>
          </a:p>
          <a:p>
            <a:r>
              <a:rPr lang="de-DE" sz="900" dirty="0"/>
              <a:t>- Bosch Schrauber für Filter,  Filter werden manuell eingelegt</a:t>
            </a:r>
          </a:p>
          <a:p>
            <a:r>
              <a:rPr lang="de-DE" sz="900" dirty="0"/>
              <a:t>- Grundgestell, Schutzaubau inkl. pneum. Hubtür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AG110: Verpacken, Montieren Blindstopfen, Abdeckkappe</a:t>
            </a:r>
          </a:p>
          <a:p>
            <a:endParaRPr lang="de-DE" sz="1000" dirty="0"/>
          </a:p>
          <a:p>
            <a:r>
              <a:rPr lang="de-DE" sz="900" dirty="0"/>
              <a:t>- 2x Halter für KLT (2x Blindstopfen) ohne Sensorik</a:t>
            </a:r>
          </a:p>
          <a:p>
            <a:r>
              <a:rPr lang="de-DE" sz="900" dirty="0"/>
              <a:t>- 1x Zuführung KLT 400x300 auf Rollenschienen (Abdeckkappe) </a:t>
            </a:r>
          </a:p>
          <a:p>
            <a:r>
              <a:rPr lang="de-DE" sz="900" dirty="0"/>
              <a:t>- Kameraprüfung Blindstopfen (Keyence IV-500MA)</a:t>
            </a:r>
          </a:p>
          <a:p>
            <a:r>
              <a:rPr lang="de-DE" sz="900" dirty="0"/>
              <a:t>- Scanner Powerscan Dataman 9500 mit Halter</a:t>
            </a:r>
          </a:p>
          <a:p>
            <a:r>
              <a:rPr lang="de-DE" sz="900" dirty="0"/>
              <a:t>- Stopper Vereinzelung + RFID</a:t>
            </a:r>
          </a:p>
          <a:p>
            <a:pPr marL="171450" indent="-171450">
              <a:buFontTx/>
              <a:buChar char="-"/>
            </a:pPr>
            <a:endParaRPr lang="de-DE" sz="900" dirty="0"/>
          </a:p>
        </p:txBody>
      </p: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3C11D8D2-5F9B-F77C-5B2B-70BAE18BA25C}"/>
              </a:ext>
            </a:extLst>
          </p:cNvPr>
          <p:cNvSpPr/>
          <p:nvPr/>
        </p:nvSpPr>
        <p:spPr bwMode="auto">
          <a:xfrm>
            <a:off x="5179207" y="5572088"/>
            <a:ext cx="1676425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AG10.2</a:t>
            </a:r>
          </a:p>
        </p:txBody>
      </p:sp>
      <p:sp>
        <p:nvSpPr>
          <p:cNvPr id="140" name="Rechteck: abgerundete Ecken 139">
            <a:extLst>
              <a:ext uri="{FF2B5EF4-FFF2-40B4-BE49-F238E27FC236}">
                <a16:creationId xmlns:a16="http://schemas.microsoft.com/office/drawing/2014/main" id="{2CC02928-5B67-96BB-833D-BB18A74A37B3}"/>
              </a:ext>
            </a:extLst>
          </p:cNvPr>
          <p:cNvSpPr/>
          <p:nvPr/>
        </p:nvSpPr>
        <p:spPr bwMode="auto">
          <a:xfrm>
            <a:off x="1652333" y="555658"/>
            <a:ext cx="530977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pic>
        <p:nvPicPr>
          <p:cNvPr id="142" name="Grafik 141">
            <a:extLst>
              <a:ext uri="{FF2B5EF4-FFF2-40B4-BE49-F238E27FC236}">
                <a16:creationId xmlns:a16="http://schemas.microsoft.com/office/drawing/2014/main" id="{25B4C872-B013-A0FF-C168-B76B0A571CF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03798EC0-B810-4338-2448-3B8AFB8EC7D8}"/>
              </a:ext>
            </a:extLst>
          </p:cNvPr>
          <p:cNvGrpSpPr/>
          <p:nvPr/>
        </p:nvGrpSpPr>
        <p:grpSpPr>
          <a:xfrm>
            <a:off x="5950853" y="6399630"/>
            <a:ext cx="416746" cy="171047"/>
            <a:chOff x="7604652" y="5623248"/>
            <a:chExt cx="435954" cy="430074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B768BBE9-3DDA-F0C6-6A34-5DEE638BC1C0}"/>
                </a:ext>
              </a:extLst>
            </p:cNvPr>
            <p:cNvCxnSpPr>
              <a:cxnSpLocks/>
            </p:cNvCxnSpPr>
            <p:nvPr/>
          </p:nvCxnSpPr>
          <p:spPr>
            <a:xfrm>
              <a:off x="7608293" y="5623248"/>
              <a:ext cx="0" cy="2897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F76D3C26-CC6A-DC5A-BA0E-9C1555D927D4}"/>
                </a:ext>
              </a:extLst>
            </p:cNvPr>
            <p:cNvCxnSpPr>
              <a:cxnSpLocks/>
            </p:cNvCxnSpPr>
            <p:nvPr/>
          </p:nvCxnSpPr>
          <p:spPr>
            <a:xfrm>
              <a:off x="8040606" y="5623248"/>
              <a:ext cx="0" cy="2897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1139368F-4B5A-6D6D-EF61-B501FFA36C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0463" y="5909322"/>
              <a:ext cx="143999" cy="144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265F9126-9807-FDD8-AEB9-3E54975058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4652" y="5909322"/>
              <a:ext cx="162133" cy="144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407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1275186" y="3362141"/>
            <a:ext cx="4694892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7EE1C52B-2502-F24B-4C72-1D938E571B5F}"/>
              </a:ext>
            </a:extLst>
          </p:cNvPr>
          <p:cNvCxnSpPr>
            <a:cxnSpLocks/>
          </p:cNvCxnSpPr>
          <p:nvPr/>
        </p:nvCxnSpPr>
        <p:spPr>
          <a:xfrm>
            <a:off x="3292700" y="3362141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409195" y="78239"/>
            <a:ext cx="3424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20: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AG20 Montage Kolben und Ventilteile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E2D8C32-30A9-0BF5-FF95-A0C783401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119" y="2386369"/>
            <a:ext cx="665296" cy="9182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DD723F2-344C-84FA-B222-50C7D32F0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160019">
            <a:off x="2316290" y="1885398"/>
            <a:ext cx="364952" cy="47696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5DFE5E3-2CB3-10E4-2AB1-4648D2EAF6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926" t="1033"/>
          <a:stretch/>
        </p:blipFill>
        <p:spPr>
          <a:xfrm rot="14269315">
            <a:off x="2314729" y="1483242"/>
            <a:ext cx="277887" cy="504635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CB5714D-1D5D-55DC-DF3C-C3960B76BA64}"/>
              </a:ext>
            </a:extLst>
          </p:cNvPr>
          <p:cNvSpPr/>
          <p:nvPr/>
        </p:nvSpPr>
        <p:spPr bwMode="auto">
          <a:xfrm>
            <a:off x="1359331" y="5575705"/>
            <a:ext cx="1908490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AG20.1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1175693" y="4948670"/>
            <a:ext cx="5026758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3167799" y="5135014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413271" y="4959197"/>
            <a:ext cx="558346" cy="33638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41B81F-026F-B111-8B5F-241EA1036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124289" y="4947029"/>
            <a:ext cx="558346" cy="33638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7F8EB9A-E846-4F74-FB5C-054A89E6DE0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56634" y="1498736"/>
            <a:ext cx="504388" cy="26388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929B504-6776-3A1A-9A99-099CAED93B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637706">
            <a:off x="2302511" y="1213295"/>
            <a:ext cx="302324" cy="36080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A69EFBE0-8213-8D7A-45BE-1D769514C99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70075" y="1812718"/>
            <a:ext cx="504388" cy="2638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A6385D8-E919-C8A2-EFFD-5BBE344B963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70075" y="1994759"/>
            <a:ext cx="504388" cy="26388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6728918-12C6-CF34-9CDC-67F0FD3044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5954" y="2175612"/>
            <a:ext cx="599502" cy="2638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AB70DE83-B0FE-BA93-8A6C-85A2F2DD6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0662" y="3370371"/>
            <a:ext cx="481304" cy="72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244ADE7-07FC-9275-7EB2-A3923CD63C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637706">
            <a:off x="2235872" y="3373690"/>
            <a:ext cx="302324" cy="360807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5849B21-95BB-F9D0-B9CB-A0DA0A0B39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9376" y="2345212"/>
            <a:ext cx="672662" cy="92338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6DB8D355-04D4-4E76-41DE-2BDA200DD0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0867" y="836570"/>
            <a:ext cx="468080" cy="450858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2C6EAA11-9EA8-F25E-5202-E95AB8C749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4427625" y="1427958"/>
            <a:ext cx="414565" cy="433341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0E126717-B34F-D840-C8D2-623FBA8987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1140" y="1803300"/>
            <a:ext cx="362549" cy="312987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40492CE-B5B7-B2A1-E552-6A87906E2F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7133786" flipH="1">
            <a:off x="4536498" y="1955201"/>
            <a:ext cx="280604" cy="475468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40FA18E7-0833-EAD4-385F-1CA14420B66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82635" y="1745520"/>
            <a:ext cx="599502" cy="263881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79FD0733-ECC0-BD3E-4B71-82F8A1479C4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27526" y="830180"/>
            <a:ext cx="599502" cy="263881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26C2C7A1-D5D4-7126-B0BE-56F16C462F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9925" y="1244423"/>
            <a:ext cx="389964" cy="241814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92811DB2-161E-E18F-EDE9-AF33E4676F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461116" y="3370371"/>
            <a:ext cx="478830" cy="72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78C3FCD5-1609-FE8A-133B-98AE9A8796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90819" y="3421185"/>
            <a:ext cx="389964" cy="241814"/>
          </a:xfrm>
          <a:prstGeom prst="rect">
            <a:avLst/>
          </a:prstGeom>
        </p:spPr>
      </p:pic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C86650DC-0EBC-21CF-2B7D-EB817B5B2F46}"/>
              </a:ext>
            </a:extLst>
          </p:cNvPr>
          <p:cNvGrpSpPr/>
          <p:nvPr/>
        </p:nvGrpSpPr>
        <p:grpSpPr>
          <a:xfrm>
            <a:off x="2491657" y="4147861"/>
            <a:ext cx="360000" cy="372701"/>
            <a:chOff x="8066633" y="3860548"/>
            <a:chExt cx="360000" cy="372701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E70488EB-3EC5-459D-A09C-2813DD23FD03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02B5B265-FE1F-C434-C607-C832DB9033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EC62BCEB-8BF9-AF62-EF73-25A6E14A1DBE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D3A8EC3F-0F76-6712-8584-86E5DB70E6C3}"/>
              </a:ext>
            </a:extLst>
          </p:cNvPr>
          <p:cNvGrpSpPr/>
          <p:nvPr/>
        </p:nvGrpSpPr>
        <p:grpSpPr>
          <a:xfrm>
            <a:off x="2491657" y="4562638"/>
            <a:ext cx="360000" cy="372701"/>
            <a:chOff x="8066633" y="3860548"/>
            <a:chExt cx="360000" cy="372701"/>
          </a:xfrm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1D14805-9AFE-7700-1C84-483A3D82F4AD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E9A2F99E-3737-20DD-A03E-765E57890576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176D8AB2-3736-37E1-AA28-8894768508AD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4929E74-C7B6-40D4-8CD2-1424282D52A5}"/>
              </a:ext>
            </a:extLst>
          </p:cNvPr>
          <p:cNvGrpSpPr/>
          <p:nvPr/>
        </p:nvGrpSpPr>
        <p:grpSpPr>
          <a:xfrm>
            <a:off x="4200783" y="4055610"/>
            <a:ext cx="360000" cy="372701"/>
            <a:chOff x="8066633" y="3860548"/>
            <a:chExt cx="360000" cy="372701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04402344-2C64-23F4-1A22-0F044821EA46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567D5948-4CC5-6152-CD1C-EECA0D5BDD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519EC7FF-AFE7-522C-0249-6C45D58CC7B8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99B53F07-8971-1A5F-B26E-C6865EF66194}"/>
              </a:ext>
            </a:extLst>
          </p:cNvPr>
          <p:cNvGrpSpPr/>
          <p:nvPr/>
        </p:nvGrpSpPr>
        <p:grpSpPr>
          <a:xfrm>
            <a:off x="4200783" y="4472028"/>
            <a:ext cx="360000" cy="372701"/>
            <a:chOff x="8066633" y="3860548"/>
            <a:chExt cx="360000" cy="372701"/>
          </a:xfrm>
        </p:grpSpPr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8FE3353-3C22-F874-D98F-354BEE67A07E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13C97FAF-7720-B3A5-00A0-FD6DE0920727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C353050F-5D14-D259-5858-DACE249D3CC3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BCD45DD4-EFD3-C7FA-21B1-44612BFE6FE6}"/>
              </a:ext>
            </a:extLst>
          </p:cNvPr>
          <p:cNvGrpSpPr/>
          <p:nvPr/>
        </p:nvGrpSpPr>
        <p:grpSpPr>
          <a:xfrm>
            <a:off x="2498766" y="4950093"/>
            <a:ext cx="360000" cy="372701"/>
            <a:chOff x="8759280" y="3870585"/>
            <a:chExt cx="360000" cy="372701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7040EBC4-9E7C-B318-2A6D-00ED89520F6C}"/>
                </a:ext>
              </a:extLst>
            </p:cNvPr>
            <p:cNvSpPr/>
            <p:nvPr/>
          </p:nvSpPr>
          <p:spPr>
            <a:xfrm>
              <a:off x="8858227" y="3955131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316277BF-7308-0DB9-E298-DD8EA1CF57B7}"/>
                </a:ext>
              </a:extLst>
            </p:cNvPr>
            <p:cNvCxnSpPr>
              <a:cxnSpLocks/>
            </p:cNvCxnSpPr>
            <p:nvPr/>
          </p:nvCxnSpPr>
          <p:spPr>
            <a:xfrm>
              <a:off x="8759280" y="404097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D003158-3578-8D76-214F-4223C93343D4}"/>
                </a:ext>
              </a:extLst>
            </p:cNvPr>
            <p:cNvCxnSpPr>
              <a:cxnSpLocks/>
            </p:cNvCxnSpPr>
            <p:nvPr/>
          </p:nvCxnSpPr>
          <p:spPr>
            <a:xfrm>
              <a:off x="8948227" y="3870585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4830441" y="3735994"/>
            <a:ext cx="659689" cy="962735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190451F-9EA4-E4E5-6695-A55DDA83E73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63218" y="4025816"/>
            <a:ext cx="504388" cy="263881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3A055CD3-B150-39CD-E999-A68E5FBEDA1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64638" y="4395106"/>
            <a:ext cx="504388" cy="263881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82F9F535-4C8A-A94B-972F-ABAEE82E1DA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01484" y="4517408"/>
            <a:ext cx="504388" cy="263881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D4B1A058-E105-5505-E933-283B70B5D05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883496" y="3942258"/>
            <a:ext cx="504388" cy="263881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7F718BF2-5DE7-610E-23BC-7A6C356B549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923339" y="4324328"/>
            <a:ext cx="504388" cy="263881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F8FA8127-88C3-651A-3950-829ADE8425C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202424" y="4826900"/>
            <a:ext cx="504388" cy="263881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842D715-6527-1466-E609-566D1C794D4E}"/>
              </a:ext>
            </a:extLst>
          </p:cNvPr>
          <p:cNvSpPr/>
          <p:nvPr/>
        </p:nvSpPr>
        <p:spPr bwMode="auto">
          <a:xfrm>
            <a:off x="1384210" y="555658"/>
            <a:ext cx="5066354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41A03FB-9D18-4A71-71AD-EB5EC189B5C3}"/>
              </a:ext>
            </a:extLst>
          </p:cNvPr>
          <p:cNvSpPr/>
          <p:nvPr/>
        </p:nvSpPr>
        <p:spPr bwMode="auto">
          <a:xfrm>
            <a:off x="3326286" y="5571431"/>
            <a:ext cx="2625131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AG20.2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9352EB1-0F0A-4310-901A-EC25EA7D40ED}"/>
              </a:ext>
            </a:extLst>
          </p:cNvPr>
          <p:cNvSpPr txBox="1"/>
          <p:nvPr/>
        </p:nvSpPr>
        <p:spPr>
          <a:xfrm>
            <a:off x="7380721" y="1223796"/>
            <a:ext cx="4369641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AG20.1: Montage Kolben, Dämpferplatte</a:t>
            </a:r>
          </a:p>
          <a:p>
            <a:endParaRPr lang="de-DE" sz="1000" dirty="0"/>
          </a:p>
          <a:p>
            <a:r>
              <a:rPr lang="de-DE" sz="900" dirty="0"/>
              <a:t>- Kontrolle Bestückung Werkstückträger – Keyence IV Kamera</a:t>
            </a:r>
          </a:p>
          <a:p>
            <a:r>
              <a:rPr lang="de-DE" sz="900" dirty="0"/>
              <a:t>- Befetten Gehäuse inkl. Dreheinheit separate Steuerung für Befetten </a:t>
            </a:r>
          </a:p>
          <a:p>
            <a:r>
              <a:rPr lang="de-DE" sz="900" dirty="0"/>
              <a:t>- Handling Kolben und Dämpferplatte:  WT →  Befettung  → Montage in Gehäuse</a:t>
            </a:r>
          </a:p>
          <a:p>
            <a:r>
              <a:rPr lang="de-DE" sz="900" dirty="0"/>
              <a:t>- Befettung Kolben (1x Befettventil innen, 1x BV außen) inkl. Drehachse </a:t>
            </a:r>
          </a:p>
          <a:p>
            <a:r>
              <a:rPr lang="de-DE" sz="900" dirty="0"/>
              <a:t>- Befettung Dämpferplatte (1x Befettventil) inkl. Drehachse</a:t>
            </a:r>
          </a:p>
          <a:p>
            <a:r>
              <a:rPr lang="de-DE" sz="900" dirty="0"/>
              <a:t>- Handling Dämpferplatte  Befettung → O-Ringmontage</a:t>
            </a:r>
          </a:p>
          <a:p>
            <a:r>
              <a:rPr lang="de-DE" sz="900" dirty="0"/>
              <a:t>- O-Ringmontage inkl. Zuführtopf auf Dämpferplatte</a:t>
            </a:r>
          </a:p>
          <a:p>
            <a:r>
              <a:rPr lang="de-DE" sz="900" dirty="0"/>
              <a:t>- 2x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AG20.2: Montage Ventilsitz, Manschette, Feder, Führungshülse</a:t>
            </a:r>
          </a:p>
          <a:p>
            <a:endParaRPr lang="de-DE" sz="1000" dirty="0"/>
          </a:p>
          <a:p>
            <a:r>
              <a:rPr lang="de-DE" sz="900" dirty="0"/>
              <a:t>- Roboterhandling mit Doppelgreifer Manschette und Führungshülse </a:t>
            </a:r>
          </a:p>
          <a:p>
            <a:r>
              <a:rPr lang="de-DE" sz="900" dirty="0"/>
              <a:t>- Befetten Manschette (1x Befettventil) inkl. Drehachse</a:t>
            </a:r>
          </a:p>
          <a:p>
            <a:r>
              <a:rPr lang="de-DE" sz="900" dirty="0"/>
              <a:t>- Befetten Führungshülse (1x Befettventil) inkl. Drehachse</a:t>
            </a:r>
          </a:p>
          <a:p>
            <a:r>
              <a:rPr lang="de-DE" sz="900" dirty="0"/>
              <a:t>- Montage O-Ring auf Führungshülse inkl. Zuführtopf</a:t>
            </a:r>
          </a:p>
          <a:p>
            <a:r>
              <a:rPr lang="de-DE" sz="900" dirty="0"/>
              <a:t>- Montagehandling Führungshülse el. Achse max. 2KN</a:t>
            </a:r>
          </a:p>
          <a:p>
            <a:r>
              <a:rPr lang="de-DE" sz="900" dirty="0"/>
              <a:t>- 2x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A84421F8-7001-1FB9-6277-1F637F64D62A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fik 25">
            <a:extLst>
              <a:ext uri="{FF2B5EF4-FFF2-40B4-BE49-F238E27FC236}">
                <a16:creationId xmlns:a16="http://schemas.microsoft.com/office/drawing/2014/main" id="{1C68CAE8-E1F0-8DAC-7C61-AAA737E495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6A8E1F1-12A0-FB6B-A075-B44126901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443343" y="4958841"/>
            <a:ext cx="558346" cy="33638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1E3F3A5E-6855-62BC-96C0-7A70981C52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6532197">
            <a:off x="1446746" y="4372074"/>
            <a:ext cx="478755" cy="59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22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441638" y="3362141"/>
            <a:ext cx="5528440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7EE1C52B-2502-F24B-4C72-1D938E571B5F}"/>
              </a:ext>
            </a:extLst>
          </p:cNvPr>
          <p:cNvCxnSpPr>
            <a:cxnSpLocks/>
          </p:cNvCxnSpPr>
          <p:nvPr/>
        </p:nvCxnSpPr>
        <p:spPr>
          <a:xfrm>
            <a:off x="3292700" y="3362141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409195" y="78239"/>
            <a:ext cx="3424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20: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AG20 Montage Kolben und Ventilteile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E2D8C32-30A9-0BF5-FF95-A0C783401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119" y="2386369"/>
            <a:ext cx="665296" cy="9182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DD723F2-344C-84FA-B222-50C7D32F0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160019">
            <a:off x="2316290" y="1885398"/>
            <a:ext cx="364952" cy="47696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5DFE5E3-2CB3-10E4-2AB1-4648D2EAF6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926" t="1033"/>
          <a:stretch/>
        </p:blipFill>
        <p:spPr>
          <a:xfrm rot="14269315">
            <a:off x="2314729" y="1483242"/>
            <a:ext cx="277887" cy="504635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CB5714D-1D5D-55DC-DF3C-C3960B76BA64}"/>
              </a:ext>
            </a:extLst>
          </p:cNvPr>
          <p:cNvSpPr/>
          <p:nvPr/>
        </p:nvSpPr>
        <p:spPr bwMode="auto">
          <a:xfrm>
            <a:off x="441638" y="5575705"/>
            <a:ext cx="2826183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AG20.1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329684" y="4948670"/>
            <a:ext cx="5872767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3167799" y="5135014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413271" y="4959197"/>
            <a:ext cx="558346" cy="33638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41B81F-026F-B111-8B5F-241EA1036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124289" y="4947029"/>
            <a:ext cx="558346" cy="33638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7F8EB9A-E846-4F74-FB5C-054A89E6DE0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56634" y="1498736"/>
            <a:ext cx="504388" cy="26388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929B504-6776-3A1A-9A99-099CAED93B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637706">
            <a:off x="2302511" y="1213295"/>
            <a:ext cx="302324" cy="36080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A69EFBE0-8213-8D7A-45BE-1D769514C99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70075" y="1812718"/>
            <a:ext cx="504388" cy="2638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A6385D8-E919-C8A2-EFFD-5BBE344B963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70075" y="1994759"/>
            <a:ext cx="504388" cy="26388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6728918-12C6-CF34-9CDC-67F0FD3044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5954" y="2175612"/>
            <a:ext cx="599502" cy="2638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AB70DE83-B0FE-BA93-8A6C-85A2F2DD6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0662" y="3370371"/>
            <a:ext cx="481304" cy="72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244ADE7-07FC-9275-7EB2-A3923CD63C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637706">
            <a:off x="2828991" y="3023839"/>
            <a:ext cx="302324" cy="360807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5849B21-95BB-F9D0-B9CB-A0DA0A0B39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9376" y="2345212"/>
            <a:ext cx="672662" cy="92338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6DB8D355-04D4-4E76-41DE-2BDA200DD0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0867" y="836570"/>
            <a:ext cx="468080" cy="450858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2C6EAA11-9EA8-F25E-5202-E95AB8C749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4427625" y="1427958"/>
            <a:ext cx="414565" cy="433341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0E126717-B34F-D840-C8D2-623FBA8987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1140" y="1803300"/>
            <a:ext cx="362549" cy="312987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40492CE-B5B7-B2A1-E552-6A87906E2F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7133786" flipH="1">
            <a:off x="4536498" y="1955201"/>
            <a:ext cx="280604" cy="475468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40FA18E7-0833-EAD4-385F-1CA14420B66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82635" y="1745520"/>
            <a:ext cx="599502" cy="263881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79FD0733-ECC0-BD3E-4B71-82F8A1479C4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27526" y="830180"/>
            <a:ext cx="599502" cy="263881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26C2C7A1-D5D4-7126-B0BE-56F16C462F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9925" y="1244423"/>
            <a:ext cx="389964" cy="241814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92811DB2-161E-E18F-EDE9-AF33E4676F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461116" y="3370371"/>
            <a:ext cx="478830" cy="72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78C3FCD5-1609-FE8A-133B-98AE9A8796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7423" y="3081223"/>
            <a:ext cx="389964" cy="241814"/>
          </a:xfrm>
          <a:prstGeom prst="rect">
            <a:avLst/>
          </a:prstGeom>
        </p:spPr>
      </p:pic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C86650DC-0EBC-21CF-2B7D-EB817B5B2F46}"/>
              </a:ext>
            </a:extLst>
          </p:cNvPr>
          <p:cNvGrpSpPr/>
          <p:nvPr/>
        </p:nvGrpSpPr>
        <p:grpSpPr>
          <a:xfrm>
            <a:off x="2491657" y="4147861"/>
            <a:ext cx="360000" cy="372701"/>
            <a:chOff x="8066633" y="3860548"/>
            <a:chExt cx="360000" cy="372701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E70488EB-3EC5-459D-A09C-2813DD23FD03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02B5B265-FE1F-C434-C607-C832DB9033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EC62BCEB-8BF9-AF62-EF73-25A6E14A1DBE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D3A8EC3F-0F76-6712-8584-86E5DB70E6C3}"/>
              </a:ext>
            </a:extLst>
          </p:cNvPr>
          <p:cNvGrpSpPr/>
          <p:nvPr/>
        </p:nvGrpSpPr>
        <p:grpSpPr>
          <a:xfrm>
            <a:off x="2491657" y="4562638"/>
            <a:ext cx="360000" cy="372701"/>
            <a:chOff x="8066633" y="3860548"/>
            <a:chExt cx="360000" cy="372701"/>
          </a:xfrm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1D14805-9AFE-7700-1C84-483A3D82F4AD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E9A2F99E-3737-20DD-A03E-765E57890576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176D8AB2-3736-37E1-AA28-8894768508AD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4929E74-C7B6-40D4-8CD2-1424282D52A5}"/>
              </a:ext>
            </a:extLst>
          </p:cNvPr>
          <p:cNvGrpSpPr/>
          <p:nvPr/>
        </p:nvGrpSpPr>
        <p:grpSpPr>
          <a:xfrm>
            <a:off x="4200783" y="4055610"/>
            <a:ext cx="360000" cy="372701"/>
            <a:chOff x="8066633" y="3860548"/>
            <a:chExt cx="360000" cy="372701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04402344-2C64-23F4-1A22-0F044821EA46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567D5948-4CC5-6152-CD1C-EECA0D5BDD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519EC7FF-AFE7-522C-0249-6C45D58CC7B8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99B53F07-8971-1A5F-B26E-C6865EF66194}"/>
              </a:ext>
            </a:extLst>
          </p:cNvPr>
          <p:cNvGrpSpPr/>
          <p:nvPr/>
        </p:nvGrpSpPr>
        <p:grpSpPr>
          <a:xfrm>
            <a:off x="4200783" y="4472028"/>
            <a:ext cx="360000" cy="372701"/>
            <a:chOff x="8066633" y="3860548"/>
            <a:chExt cx="360000" cy="372701"/>
          </a:xfrm>
        </p:grpSpPr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8FE3353-3C22-F874-D98F-354BEE67A07E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13C97FAF-7720-B3A5-00A0-FD6DE0920727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C353050F-5D14-D259-5858-DACE249D3CC3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BCD45DD4-EFD3-C7FA-21B1-44612BFE6FE6}"/>
              </a:ext>
            </a:extLst>
          </p:cNvPr>
          <p:cNvGrpSpPr/>
          <p:nvPr/>
        </p:nvGrpSpPr>
        <p:grpSpPr>
          <a:xfrm>
            <a:off x="2498766" y="4950093"/>
            <a:ext cx="360000" cy="372701"/>
            <a:chOff x="8759280" y="3870585"/>
            <a:chExt cx="360000" cy="372701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7040EBC4-9E7C-B318-2A6D-00ED89520F6C}"/>
                </a:ext>
              </a:extLst>
            </p:cNvPr>
            <p:cNvSpPr/>
            <p:nvPr/>
          </p:nvSpPr>
          <p:spPr>
            <a:xfrm>
              <a:off x="8858227" y="3955131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316277BF-7308-0DB9-E298-DD8EA1CF57B7}"/>
                </a:ext>
              </a:extLst>
            </p:cNvPr>
            <p:cNvCxnSpPr>
              <a:cxnSpLocks/>
            </p:cNvCxnSpPr>
            <p:nvPr/>
          </p:nvCxnSpPr>
          <p:spPr>
            <a:xfrm>
              <a:off x="8759280" y="404097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D003158-3578-8D76-214F-4223C93343D4}"/>
                </a:ext>
              </a:extLst>
            </p:cNvPr>
            <p:cNvCxnSpPr>
              <a:cxnSpLocks/>
            </p:cNvCxnSpPr>
            <p:nvPr/>
          </p:nvCxnSpPr>
          <p:spPr>
            <a:xfrm>
              <a:off x="8948227" y="3870585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4830441" y="3735994"/>
            <a:ext cx="659689" cy="962735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190451F-9EA4-E4E5-6695-A55DDA83E73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63218" y="4025816"/>
            <a:ext cx="504388" cy="263881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3A055CD3-B150-39CD-E999-A68E5FBEDA1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64638" y="4395106"/>
            <a:ext cx="504388" cy="263881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82F9F535-4C8A-A94B-972F-ABAEE82E1DA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01484" y="4517408"/>
            <a:ext cx="504388" cy="263881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D4B1A058-E105-5505-E933-283B70B5D05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883496" y="3942258"/>
            <a:ext cx="504388" cy="263881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7F718BF2-5DE7-610E-23BC-7A6C356B549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923339" y="4324328"/>
            <a:ext cx="504388" cy="263881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F8FA8127-88C3-651A-3950-829ADE8425C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202424" y="4826900"/>
            <a:ext cx="504388" cy="263881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842D715-6527-1466-E609-566D1C794D4E}"/>
              </a:ext>
            </a:extLst>
          </p:cNvPr>
          <p:cNvSpPr/>
          <p:nvPr/>
        </p:nvSpPr>
        <p:spPr bwMode="auto">
          <a:xfrm>
            <a:off x="441638" y="555658"/>
            <a:ext cx="6008926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41A03FB-9D18-4A71-71AD-EB5EC189B5C3}"/>
              </a:ext>
            </a:extLst>
          </p:cNvPr>
          <p:cNvSpPr/>
          <p:nvPr/>
        </p:nvSpPr>
        <p:spPr bwMode="auto">
          <a:xfrm>
            <a:off x="3326286" y="5571431"/>
            <a:ext cx="2625131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AG20.2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9352EB1-0F0A-4310-901A-EC25EA7D40ED}"/>
              </a:ext>
            </a:extLst>
          </p:cNvPr>
          <p:cNvSpPr txBox="1"/>
          <p:nvPr/>
        </p:nvSpPr>
        <p:spPr>
          <a:xfrm>
            <a:off x="7380721" y="1223796"/>
            <a:ext cx="4369641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AG20.1: Vormontage Kolben, Montage Kolben, Dämpferplatte</a:t>
            </a:r>
          </a:p>
          <a:p>
            <a:endParaRPr lang="de-DE" sz="1000" dirty="0"/>
          </a:p>
          <a:p>
            <a:r>
              <a:rPr lang="de-DE" sz="900" dirty="0"/>
              <a:t>- Kontrolle Bestückung Werkstückträger – Keyence IV Kamera</a:t>
            </a:r>
          </a:p>
          <a:p>
            <a:r>
              <a:rPr lang="de-DE" sz="900" dirty="0"/>
              <a:t>- Befetten Gehäuse inkl. Dreheinheit separate Steuerung für Befetten </a:t>
            </a:r>
          </a:p>
          <a:p>
            <a:r>
              <a:rPr lang="de-DE" sz="900" dirty="0"/>
              <a:t>- Handling Kolben und Dämpferplatte:  WT →  Befettung  → Montage in Gehäuse</a:t>
            </a:r>
          </a:p>
          <a:p>
            <a:r>
              <a:rPr lang="de-DE" sz="900" dirty="0"/>
              <a:t>- Befettung Kolben (1x Befettventil innen, 1x BV außen) inkl. Drehachse </a:t>
            </a:r>
          </a:p>
          <a:p>
            <a:r>
              <a:rPr lang="de-DE" sz="900" dirty="0"/>
              <a:t>- Befettung Dämpferplatte (1x Befettventil) inkl. Drehachse</a:t>
            </a:r>
          </a:p>
          <a:p>
            <a:r>
              <a:rPr lang="de-DE" sz="900" dirty="0"/>
              <a:t>- Handling Dämpferplatte  Befettung → O-Ringmontage</a:t>
            </a:r>
          </a:p>
          <a:p>
            <a:r>
              <a:rPr lang="de-DE" sz="900" dirty="0"/>
              <a:t>- O-Ringmontage inkl. Zuführtopf auf Dämpferplatte</a:t>
            </a:r>
          </a:p>
          <a:p>
            <a:r>
              <a:rPr lang="de-DE" sz="900" dirty="0"/>
              <a:t>- 2x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AG20.2: Montage Ventilsitz, Manschette, Feder, Führungshülse</a:t>
            </a:r>
          </a:p>
          <a:p>
            <a:endParaRPr lang="de-DE" sz="1000" dirty="0"/>
          </a:p>
          <a:p>
            <a:r>
              <a:rPr lang="de-DE" sz="900" dirty="0"/>
              <a:t>- Roboterhandling mit Doppelgreifer Manschette und Führungshülse </a:t>
            </a:r>
          </a:p>
          <a:p>
            <a:r>
              <a:rPr lang="de-DE" sz="900" dirty="0"/>
              <a:t>- Befetten Manschette (1x Befettventil) inkl. Drehachse</a:t>
            </a:r>
          </a:p>
          <a:p>
            <a:r>
              <a:rPr lang="de-DE" sz="900" dirty="0"/>
              <a:t>- Befetten Führungshülse (1x Befettventil) inkl. Drehachse</a:t>
            </a:r>
          </a:p>
          <a:p>
            <a:r>
              <a:rPr lang="de-DE" sz="900" dirty="0"/>
              <a:t>- Montage O-Ring auf Führungshülse inkl. Zuführtopf</a:t>
            </a:r>
          </a:p>
          <a:p>
            <a:r>
              <a:rPr lang="de-DE" sz="900" dirty="0"/>
              <a:t>- Montagehandling Führungshülse el. Achse max. 2KN</a:t>
            </a:r>
          </a:p>
          <a:p>
            <a:r>
              <a:rPr lang="de-DE" sz="900" dirty="0"/>
              <a:t>- 2x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A84421F8-7001-1FB9-6277-1F637F64D62A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fik 25">
            <a:extLst>
              <a:ext uri="{FF2B5EF4-FFF2-40B4-BE49-F238E27FC236}">
                <a16:creationId xmlns:a16="http://schemas.microsoft.com/office/drawing/2014/main" id="{1C68CAE8-E1F0-8DAC-7C61-AAA737E495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6A8E1F1-12A0-FB6B-A075-B44126901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40654" y="4958840"/>
            <a:ext cx="558346" cy="33638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1E3F3A5E-6855-62BC-96C0-7A70981C52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6532197">
            <a:off x="532482" y="4402470"/>
            <a:ext cx="478755" cy="59251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30B34A3-23E5-9578-1656-1D5489CC65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27617" y="3415642"/>
            <a:ext cx="478830" cy="72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45ECFC7-8BC6-920A-3568-83D94DEC0F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088" y="3423403"/>
            <a:ext cx="481304" cy="72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D889251A-7302-BE5E-E14B-93D416E2EC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1508089" y="3427559"/>
            <a:ext cx="478830" cy="72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336C729F-4396-87E5-40F1-CC0D503CF280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t="9495" r="718"/>
          <a:stretch/>
        </p:blipFill>
        <p:spPr>
          <a:xfrm rot="16200000">
            <a:off x="422751" y="1657919"/>
            <a:ext cx="1529238" cy="708403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4FDA9F30-D82C-63CB-B05B-ABAD300920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1169482" y="3881994"/>
            <a:ext cx="659689" cy="962735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5801184F-A089-730C-EEF8-11B2AC0BB2F9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958" y="2883613"/>
            <a:ext cx="374489" cy="455703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24AEE545-C832-E78E-69BD-95313415010B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6541" y="3013739"/>
            <a:ext cx="241546" cy="325577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6700C0FB-A148-6FCE-AE3A-972B44724CDE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81310" y="2839613"/>
            <a:ext cx="462289" cy="6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26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1384212" y="3362141"/>
            <a:ext cx="4585866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1175693" y="4948670"/>
            <a:ext cx="5026758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4023739" y="5120684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82248" y="4942360"/>
            <a:ext cx="558346" cy="336389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56662" y="4098381"/>
            <a:ext cx="555843" cy="811185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1384211" y="5575705"/>
            <a:ext cx="4585865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AG30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BF0C74F-DE37-3702-269C-2D4194EB4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2674" y="2251446"/>
            <a:ext cx="940111" cy="1842379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EED3124-5068-9696-6CA9-0F34E1FA6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628" y="2250964"/>
            <a:ext cx="940111" cy="184237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D8F8B8E-0D9C-5BEE-7063-DDDE4D3F3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4582" y="2250963"/>
            <a:ext cx="940111" cy="1842379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C4744B5-E0E5-7B8D-03CD-5F3FA6CE55AC}"/>
              </a:ext>
            </a:extLst>
          </p:cNvPr>
          <p:cNvSpPr txBox="1"/>
          <p:nvPr/>
        </p:nvSpPr>
        <p:spPr>
          <a:xfrm>
            <a:off x="3409195" y="78239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30: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AG30 Montage Magnet 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BCC10CA-796A-7551-2A68-A2056B3FECE5}"/>
              </a:ext>
            </a:extLst>
          </p:cNvPr>
          <p:cNvGrpSpPr/>
          <p:nvPr/>
        </p:nvGrpSpPr>
        <p:grpSpPr>
          <a:xfrm>
            <a:off x="5454542" y="1208179"/>
            <a:ext cx="920418" cy="1702844"/>
            <a:chOff x="5214315" y="1151969"/>
            <a:chExt cx="920418" cy="1702844"/>
          </a:xfrm>
        </p:grpSpPr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A7C13846-027B-92DF-ADDE-E0F645999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14315" y="2010273"/>
              <a:ext cx="696812" cy="844540"/>
            </a:xfrm>
            <a:prstGeom prst="rect">
              <a:avLst/>
            </a:prstGeom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7C594885-2824-A33F-7379-DD7C904C8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12152" y="1554032"/>
              <a:ext cx="416760" cy="515356"/>
            </a:xfrm>
            <a:prstGeom prst="rect">
              <a:avLst/>
            </a:prstGeom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E8D1EC4B-1387-295D-DCC4-4C29199E5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72777" y="1222427"/>
              <a:ext cx="495511" cy="337103"/>
            </a:xfrm>
            <a:prstGeom prst="rect">
              <a:avLst/>
            </a:prstGeom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34E91B18-8BC1-88AE-3529-6712EDE31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68288" y="1151969"/>
              <a:ext cx="366445" cy="338555"/>
            </a:xfrm>
            <a:prstGeom prst="rect">
              <a:avLst/>
            </a:prstGeom>
          </p:spPr>
        </p:pic>
      </p:grpSp>
      <p:pic>
        <p:nvPicPr>
          <p:cNvPr id="44" name="Grafik 43">
            <a:extLst>
              <a:ext uri="{FF2B5EF4-FFF2-40B4-BE49-F238E27FC236}">
                <a16:creationId xmlns:a16="http://schemas.microsoft.com/office/drawing/2014/main" id="{4F796949-2590-1A45-BE5B-4D01D0CD0D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2791" y="3373342"/>
            <a:ext cx="481304" cy="72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208B7DBA-8C94-EF5A-000A-7159BFF4566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2014" r="61418"/>
          <a:stretch/>
        </p:blipFill>
        <p:spPr>
          <a:xfrm>
            <a:off x="1612062" y="3114016"/>
            <a:ext cx="141381" cy="230172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1AE34C7E-184F-9319-121B-37600EE9004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6434" b="7677"/>
          <a:stretch/>
        </p:blipFill>
        <p:spPr>
          <a:xfrm>
            <a:off x="4375655" y="2065322"/>
            <a:ext cx="251752" cy="536553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3EBF121C-9C2A-6161-C34D-4BAEF50868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6434" b="7677"/>
          <a:stretch/>
        </p:blipFill>
        <p:spPr>
          <a:xfrm>
            <a:off x="3435544" y="2081530"/>
            <a:ext cx="251752" cy="536553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4A956B7F-26AD-1138-69BB-137C527032A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6434" b="7677"/>
          <a:stretch/>
        </p:blipFill>
        <p:spPr>
          <a:xfrm>
            <a:off x="2474590" y="2090412"/>
            <a:ext cx="251752" cy="536553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6C9CD4C3-86C2-08C7-0C2A-278ED86EE300}"/>
              </a:ext>
            </a:extLst>
          </p:cNvPr>
          <p:cNvSpPr/>
          <p:nvPr/>
        </p:nvSpPr>
        <p:spPr bwMode="auto">
          <a:xfrm>
            <a:off x="1384209" y="555658"/>
            <a:ext cx="458586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30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AE14A51-4BB7-901C-BF05-FD34DF84E53B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BD46E41E-9F8A-2006-72DA-84445AB20EAA}"/>
              </a:ext>
            </a:extLst>
          </p:cNvPr>
          <p:cNvSpPr txBox="1"/>
          <p:nvPr/>
        </p:nvSpPr>
        <p:spPr>
          <a:xfrm>
            <a:off x="7380721" y="1223796"/>
            <a:ext cx="504143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AG30: Montage Magnete</a:t>
            </a:r>
          </a:p>
          <a:p>
            <a:endParaRPr lang="de-DE" sz="1000" dirty="0"/>
          </a:p>
          <a:p>
            <a:r>
              <a:rPr lang="de-DE" sz="900" dirty="0"/>
              <a:t>- Wendestation Gehäuse ( Greifen und Drehen Gehäuse)</a:t>
            </a:r>
          </a:p>
          <a:p>
            <a:r>
              <a:rPr lang="de-DE" sz="900" dirty="0"/>
              <a:t>- Zuführung Magnete 3x Palettierer inkl. DMC- Leser</a:t>
            </a:r>
          </a:p>
          <a:p>
            <a:r>
              <a:rPr lang="de-DE" sz="900" dirty="0"/>
              <a:t>- Roboterhandling inkl. 1-fach Greifer für Magnete</a:t>
            </a:r>
          </a:p>
          <a:p>
            <a:r>
              <a:rPr lang="de-DE" sz="900" dirty="0"/>
              <a:t>- Zwischenposition Magnete mit Drehorientierung der Magnete</a:t>
            </a:r>
          </a:p>
          <a:p>
            <a:r>
              <a:rPr lang="de-DE" sz="900" dirty="0"/>
              <a:t>- Montagehandling Magnete/ Halteblech  </a:t>
            </a:r>
          </a:p>
          <a:p>
            <a:r>
              <a:rPr lang="de-DE" sz="900" dirty="0"/>
              <a:t>- Bosch Schrauber 2x Schraube mit  Zuführung Weber pneu. Y-Achse mit 3 Positionen</a:t>
            </a:r>
          </a:p>
          <a:p>
            <a:r>
              <a:rPr lang="de-DE" sz="900" dirty="0"/>
              <a:t>- 2x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F0DDAF-E94E-989C-4C9F-B0B326B24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714922" y="4950835"/>
            <a:ext cx="558346" cy="33638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4B4AC17-7DF1-4165-6D11-3E912E527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1910" y="4524121"/>
            <a:ext cx="428961" cy="519903"/>
          </a:xfrm>
          <a:prstGeom prst="rect">
            <a:avLst/>
          </a:prstGeom>
        </p:spPr>
      </p:pic>
      <p:sp>
        <p:nvSpPr>
          <p:cNvPr id="14" name="Pfeil: nach links gekrümmt 13">
            <a:extLst>
              <a:ext uri="{FF2B5EF4-FFF2-40B4-BE49-F238E27FC236}">
                <a16:creationId xmlns:a16="http://schemas.microsoft.com/office/drawing/2014/main" id="{5E7B78A7-F19F-AA47-3CAC-B0F3547EC59D}"/>
              </a:ext>
            </a:extLst>
          </p:cNvPr>
          <p:cNvSpPr/>
          <p:nvPr/>
        </p:nvSpPr>
        <p:spPr>
          <a:xfrm>
            <a:off x="2292647" y="4619715"/>
            <a:ext cx="194420" cy="233362"/>
          </a:xfrm>
          <a:prstGeom prst="curved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3DE207-5B2A-A036-2367-5D3AAFB810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75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697117" y="3362141"/>
            <a:ext cx="5272961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552265" y="4948670"/>
            <a:ext cx="5650186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2618792" y="511163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62494" y="4942360"/>
            <a:ext cx="558346" cy="336389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454213" y="4109104"/>
            <a:ext cx="555843" cy="811185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877507" y="5575705"/>
            <a:ext cx="1921675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AG40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EED3124-5068-9696-6CA9-0F34E1FA6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852" y="2250964"/>
            <a:ext cx="940111" cy="184237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D8F8B8E-0D9C-5BEE-7063-DDDE4D3F3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806" y="2250963"/>
            <a:ext cx="940111" cy="1842379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C4744B5-E0E5-7B8D-03CD-5F3FA6CE55AC}"/>
              </a:ext>
            </a:extLst>
          </p:cNvPr>
          <p:cNvSpPr txBox="1"/>
          <p:nvPr/>
        </p:nvSpPr>
        <p:spPr>
          <a:xfrm>
            <a:off x="3409195" y="78239"/>
            <a:ext cx="5348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40: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AG40 Montage Steckerleiste DAE | AG50 Montage ECU, Drucksensor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7D0759-5798-8173-1CC6-9A3E981B5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591" y="3389104"/>
            <a:ext cx="481304" cy="720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497007A-BDB4-61D2-9ABC-5961E4F4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31178" y="4127353"/>
            <a:ext cx="555843" cy="8111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28D8D4-8352-01CE-C9FE-F02D8CC2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20637" y="4949912"/>
            <a:ext cx="558346" cy="33638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CDE7D6-C7ED-6E01-AB9D-A6674243A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441295" y="3363797"/>
            <a:ext cx="478830" cy="7200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C3123EC-5561-269C-073D-0230BE39461A}"/>
              </a:ext>
            </a:extLst>
          </p:cNvPr>
          <p:cNvCxnSpPr>
            <a:cxnSpLocks/>
          </p:cNvCxnSpPr>
          <p:nvPr/>
        </p:nvCxnSpPr>
        <p:spPr>
          <a:xfrm>
            <a:off x="2861526" y="3367919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EDC2C7C-5CE4-1877-8028-0E1AF0D9EEF3}"/>
              </a:ext>
            </a:extLst>
          </p:cNvPr>
          <p:cNvSpPr/>
          <p:nvPr/>
        </p:nvSpPr>
        <p:spPr bwMode="auto">
          <a:xfrm>
            <a:off x="2872760" y="5572479"/>
            <a:ext cx="1491242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AG50.1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EC5FDCD-8558-3702-CD67-8C57018EF5D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14" r="61418"/>
          <a:stretch/>
        </p:blipFill>
        <p:spPr>
          <a:xfrm>
            <a:off x="2089149" y="3080516"/>
            <a:ext cx="141381" cy="23017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7405459-44B6-335F-B9C4-BCA4622170C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14" r="61418"/>
          <a:stretch/>
        </p:blipFill>
        <p:spPr>
          <a:xfrm>
            <a:off x="3618381" y="3130313"/>
            <a:ext cx="141381" cy="23017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9AB4BE94-7C99-A9C2-2BC4-F9A5515AC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369" y="3361004"/>
            <a:ext cx="481304" cy="72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4BAC1E4-3AE3-5141-9D68-FBEF19EE75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340" y="3066418"/>
            <a:ext cx="190187" cy="249422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D1767EF4-2FBA-0987-55E0-AAAEA4365B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5923" y="2229927"/>
            <a:ext cx="671876" cy="43493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45A224C0-FF3E-682F-24C8-B929A16152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9290" y="2275779"/>
            <a:ext cx="311888" cy="33855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0CEA340-181A-92C2-51B2-A4AC2175C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938977" y="3366469"/>
            <a:ext cx="456488" cy="686405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65BF4AB-540D-11F3-97BA-5041E86F88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7364" y="3023972"/>
            <a:ext cx="110394" cy="313596"/>
          </a:xfrm>
          <a:prstGeom prst="rect">
            <a:avLst/>
          </a:prstGeom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5B8AC7A-CAF3-CA29-0549-7ED9948D1BCB}"/>
              </a:ext>
            </a:extLst>
          </p:cNvPr>
          <p:cNvGrpSpPr/>
          <p:nvPr/>
        </p:nvGrpSpPr>
        <p:grpSpPr>
          <a:xfrm>
            <a:off x="1424672" y="1049048"/>
            <a:ext cx="1247482" cy="1725229"/>
            <a:chOff x="1424672" y="1049048"/>
            <a:chExt cx="1247482" cy="1725229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D0D412A3-9CC0-DDDA-79A6-A0BB3B18A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24672" y="2061690"/>
              <a:ext cx="581191" cy="712587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B17FFA2D-6C5B-C30D-853D-8503C9DB9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98243" y="2235450"/>
              <a:ext cx="374160" cy="421491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1DA80256-E689-193B-403A-E87940636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01581" y="1346840"/>
              <a:ext cx="309336" cy="253146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CD8C4D80-43F1-F301-30FE-473751F61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94727" y="1615531"/>
              <a:ext cx="323045" cy="253146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020A3003-1623-4D7C-9605-9C310B5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6422" y="1893966"/>
              <a:ext cx="190187" cy="249422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14D08960-193F-F55B-116F-4A8FACD4F2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2014" r="61418"/>
            <a:stretch/>
          </p:blipFill>
          <p:spPr>
            <a:xfrm>
              <a:off x="1907411" y="1049048"/>
              <a:ext cx="141381" cy="230172"/>
            </a:xfrm>
            <a:prstGeom prst="rect">
              <a:avLst/>
            </a:prstGeom>
          </p:spPr>
        </p:pic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BE79C157-1E30-73FF-836D-75A62789B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72652" y="1474355"/>
              <a:ext cx="599502" cy="263881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14C3811-0FBC-D1D7-2308-7EDD1FA31FB7}"/>
              </a:ext>
            </a:extLst>
          </p:cNvPr>
          <p:cNvGrpSpPr/>
          <p:nvPr/>
        </p:nvGrpSpPr>
        <p:grpSpPr>
          <a:xfrm>
            <a:off x="4095988" y="960705"/>
            <a:ext cx="1281823" cy="1259090"/>
            <a:chOff x="4095988" y="960705"/>
            <a:chExt cx="1281823" cy="1259090"/>
          </a:xfrm>
        </p:grpSpPr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1ACF9F7E-480E-1D8B-B62D-86B1B11B6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565585" y="1494138"/>
              <a:ext cx="586564" cy="725657"/>
            </a:xfrm>
            <a:prstGeom prst="rect">
              <a:avLst/>
            </a:prstGeom>
          </p:spPr>
        </p:pic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67D6202F-9D73-7094-78A6-E1D53CCBF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84208" y="960705"/>
              <a:ext cx="671876" cy="434930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344E875D-7A3B-B8A5-7B7D-378E4D18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65923" y="1267386"/>
              <a:ext cx="311888" cy="338554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DA335F3-3182-214B-CCAF-3B3B12578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20784" y="1308339"/>
              <a:ext cx="110394" cy="313596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A3581840-4AC1-7FB7-F58F-337325483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4095988" y="1229429"/>
              <a:ext cx="504388" cy="263881"/>
            </a:xfrm>
            <a:prstGeom prst="rect">
              <a:avLst/>
            </a:prstGeom>
          </p:spPr>
        </p:pic>
      </p:grp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E57DE32-01E2-98CD-5407-250D308CEA87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Grafik 39">
            <a:extLst>
              <a:ext uri="{FF2B5EF4-FFF2-40B4-BE49-F238E27FC236}">
                <a16:creationId xmlns:a16="http://schemas.microsoft.com/office/drawing/2014/main" id="{8CDCBD2D-B332-23D6-B10A-748D21AECF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291" y="4368434"/>
            <a:ext cx="495733" cy="320906"/>
          </a:xfrm>
          <a:prstGeom prst="rect">
            <a:avLst/>
          </a:prstGeom>
        </p:spPr>
      </p:pic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BB423196-6DF1-11C7-A7A9-CC0CD99A9268}"/>
              </a:ext>
            </a:extLst>
          </p:cNvPr>
          <p:cNvSpPr/>
          <p:nvPr/>
        </p:nvSpPr>
        <p:spPr bwMode="auto">
          <a:xfrm>
            <a:off x="697115" y="555658"/>
            <a:ext cx="5272961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5648AAF-ACAE-0D04-2496-A4C153E1163A}"/>
              </a:ext>
            </a:extLst>
          </p:cNvPr>
          <p:cNvSpPr txBox="1"/>
          <p:nvPr/>
        </p:nvSpPr>
        <p:spPr>
          <a:xfrm>
            <a:off x="7380721" y="1223796"/>
            <a:ext cx="5041433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AG40: Montage Steckerleiste, DAE</a:t>
            </a:r>
          </a:p>
          <a:p>
            <a:endParaRPr lang="de-DE" sz="1000" dirty="0"/>
          </a:p>
          <a:p>
            <a:r>
              <a:rPr lang="de-DE" sz="900" dirty="0"/>
              <a:t>- Zuführung DAE (Zuführtopf)</a:t>
            </a:r>
          </a:p>
          <a:p>
            <a:r>
              <a:rPr lang="de-DE" sz="900" dirty="0"/>
              <a:t>- Montage DAE in Steckerleiste</a:t>
            </a:r>
          </a:p>
          <a:p>
            <a:r>
              <a:rPr lang="de-DE" sz="900" dirty="0"/>
              <a:t>- Roboterhandling mit Greifer für DAE, O-Ring, Stecker, Zentrierstück</a:t>
            </a:r>
          </a:p>
          <a:p>
            <a:r>
              <a:rPr lang="de-DE" sz="900" dirty="0"/>
              <a:t>- Beölstation O-Ring mit Handling (pneumatisch) -  sep. Steuerung für Rotationsbeölung</a:t>
            </a:r>
          </a:p>
          <a:p>
            <a:r>
              <a:rPr lang="de-DE" sz="900" dirty="0"/>
              <a:t>- Zentrierung Gehäuse für Montage Steckerleiste</a:t>
            </a:r>
          </a:p>
          <a:p>
            <a:r>
              <a:rPr lang="de-DE" sz="900" dirty="0"/>
              <a:t>- Zustellen Adapterstück für verpressen Stecker mit O-Ring</a:t>
            </a:r>
          </a:p>
          <a:p>
            <a:r>
              <a:rPr lang="de-DE" sz="900" dirty="0"/>
              <a:t>- 1x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AG50.1: ECU-Flashstation</a:t>
            </a:r>
          </a:p>
          <a:p>
            <a:endParaRPr lang="de-DE" sz="1000" b="1" dirty="0"/>
          </a:p>
          <a:p>
            <a:r>
              <a:rPr lang="de-DE" sz="900" dirty="0"/>
              <a:t>- 2x Flashstation mit Elektrischer Kontaktierung auf ECU</a:t>
            </a:r>
          </a:p>
          <a:p>
            <a:r>
              <a:rPr lang="de-DE" sz="900" dirty="0"/>
              <a:t>- Beckhoffkomponenten (Rechner, Kabel, etc.) nach Lastenheftvorgabe</a:t>
            </a:r>
          </a:p>
          <a:p>
            <a:r>
              <a:rPr lang="de-DE" sz="900" dirty="0"/>
              <a:t>- 1x Reserveplatz Flashstation ( Ausbau 34 Sek.)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AG50.2: Montage ECU, Drucksensor</a:t>
            </a:r>
          </a:p>
          <a:p>
            <a:endParaRPr lang="de-DE" sz="900" b="1" dirty="0"/>
          </a:p>
          <a:p>
            <a:r>
              <a:rPr lang="de-DE" sz="900" dirty="0"/>
              <a:t>- Zuführung ECU (Palettierer)</a:t>
            </a:r>
          </a:p>
          <a:p>
            <a:r>
              <a:rPr lang="de-DE" sz="900" dirty="0"/>
              <a:t>- Zuführung Drucksensor (Palettierer)</a:t>
            </a:r>
          </a:p>
          <a:p>
            <a:r>
              <a:rPr lang="de-DE" sz="900" dirty="0"/>
              <a:t>- Zuführung Druckrohr (Zuführtopf)</a:t>
            </a:r>
          </a:p>
          <a:p>
            <a:r>
              <a:rPr lang="de-DE" sz="900" dirty="0"/>
              <a:t>- Beölen Druckrohr</a:t>
            </a:r>
          </a:p>
          <a:p>
            <a:r>
              <a:rPr lang="de-DE" sz="900" dirty="0"/>
              <a:t>- Roboterhandling ECU, Drucksensor, Druckrohr</a:t>
            </a:r>
          </a:p>
          <a:p>
            <a:r>
              <a:rPr lang="de-DE" sz="900" dirty="0"/>
              <a:t>- Clinchen 4x Pins Drucksensor inkl. pneumatischen Handling</a:t>
            </a:r>
          </a:p>
          <a:p>
            <a:r>
              <a:rPr lang="de-DE" sz="900" dirty="0"/>
              <a:t>- Einpressen ECU (pneumatisch) max. 100N</a:t>
            </a:r>
          </a:p>
          <a:p>
            <a:r>
              <a:rPr lang="de-DE" sz="900" dirty="0"/>
              <a:t>- Bosch Schrauber 1x Schraube mit Zuführung Weber pneu. Y-Achse (2 Positionen)</a:t>
            </a:r>
          </a:p>
          <a:p>
            <a:r>
              <a:rPr lang="de-DE" sz="900" dirty="0"/>
              <a:t>- 1x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52EB5A6D-1B9F-B06E-2A5C-ED2A76E61174}"/>
              </a:ext>
            </a:extLst>
          </p:cNvPr>
          <p:cNvSpPr/>
          <p:nvPr/>
        </p:nvSpPr>
        <p:spPr bwMode="auto">
          <a:xfrm>
            <a:off x="4406527" y="5575705"/>
            <a:ext cx="1563539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AG50.2</a:t>
            </a: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CE4F5B8C-59BD-29F5-0B27-0112579B526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A4C44D5-5572-FD12-A018-0090BECE908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4158660" y="4380373"/>
            <a:ext cx="495733" cy="320906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04F32132-36FA-9F3E-303E-BB0FF690A6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3475" y="4371266"/>
            <a:ext cx="495733" cy="32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3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697117" y="3362141"/>
            <a:ext cx="5272961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552265" y="4948670"/>
            <a:ext cx="5650186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2618792" y="511163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62494" y="4942360"/>
            <a:ext cx="558346" cy="336389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454213" y="4109104"/>
            <a:ext cx="555843" cy="811185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877507" y="5575705"/>
            <a:ext cx="1921675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AG40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EED3124-5068-9696-6CA9-0F34E1FA6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852" y="2250964"/>
            <a:ext cx="940111" cy="184237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D8F8B8E-0D9C-5BEE-7063-DDDE4D3F3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806" y="2250963"/>
            <a:ext cx="940111" cy="1842379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C4744B5-E0E5-7B8D-03CD-5F3FA6CE55AC}"/>
              </a:ext>
            </a:extLst>
          </p:cNvPr>
          <p:cNvSpPr txBox="1"/>
          <p:nvPr/>
        </p:nvSpPr>
        <p:spPr>
          <a:xfrm>
            <a:off x="3409195" y="78239"/>
            <a:ext cx="5348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40: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AG40 Montage Steckerleiste DAE | AG50 Montage ECU, Drucksensor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7D0759-5798-8173-1CC6-9A3E981B5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591" y="3389104"/>
            <a:ext cx="481304" cy="720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497007A-BDB4-61D2-9ABC-5961E4F4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31178" y="4127353"/>
            <a:ext cx="555843" cy="8111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28D8D4-8352-01CE-C9FE-F02D8CC2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20637" y="4949912"/>
            <a:ext cx="558346" cy="33638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CDE7D6-C7ED-6E01-AB9D-A6674243A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441295" y="3363797"/>
            <a:ext cx="478830" cy="7200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C3123EC-5561-269C-073D-0230BE39461A}"/>
              </a:ext>
            </a:extLst>
          </p:cNvPr>
          <p:cNvCxnSpPr>
            <a:cxnSpLocks/>
          </p:cNvCxnSpPr>
          <p:nvPr/>
        </p:nvCxnSpPr>
        <p:spPr>
          <a:xfrm>
            <a:off x="2861526" y="3367919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EDC2C7C-5CE4-1877-8028-0E1AF0D9EEF3}"/>
              </a:ext>
            </a:extLst>
          </p:cNvPr>
          <p:cNvSpPr/>
          <p:nvPr/>
        </p:nvSpPr>
        <p:spPr bwMode="auto">
          <a:xfrm>
            <a:off x="2872760" y="5572479"/>
            <a:ext cx="1491242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AG50.1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EC5FDCD-8558-3702-CD67-8C57018EF5D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14" r="61418"/>
          <a:stretch/>
        </p:blipFill>
        <p:spPr>
          <a:xfrm>
            <a:off x="2089149" y="3080516"/>
            <a:ext cx="141381" cy="23017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7405459-44B6-335F-B9C4-BCA4622170C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14" r="61418"/>
          <a:stretch/>
        </p:blipFill>
        <p:spPr>
          <a:xfrm>
            <a:off x="3618381" y="3130313"/>
            <a:ext cx="141381" cy="23017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9AB4BE94-7C99-A9C2-2BC4-F9A5515AC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369" y="3361004"/>
            <a:ext cx="481304" cy="72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4BAC1E4-3AE3-5141-9D68-FBEF19EE75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340" y="3066418"/>
            <a:ext cx="190187" cy="249422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D1767EF4-2FBA-0987-55E0-AAAEA4365B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5923" y="2229927"/>
            <a:ext cx="671876" cy="43493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45A224C0-FF3E-682F-24C8-B929A16152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9290" y="2275779"/>
            <a:ext cx="311888" cy="33855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0CEA340-181A-92C2-51B2-A4AC2175C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938977" y="3366469"/>
            <a:ext cx="456488" cy="686405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65BF4AB-540D-11F3-97BA-5041E86F88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7364" y="3023972"/>
            <a:ext cx="110394" cy="313596"/>
          </a:xfrm>
          <a:prstGeom prst="rect">
            <a:avLst/>
          </a:prstGeom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5B8AC7A-CAF3-CA29-0549-7ED9948D1BCB}"/>
              </a:ext>
            </a:extLst>
          </p:cNvPr>
          <p:cNvGrpSpPr/>
          <p:nvPr/>
        </p:nvGrpSpPr>
        <p:grpSpPr>
          <a:xfrm>
            <a:off x="1424672" y="1049048"/>
            <a:ext cx="1247482" cy="1725229"/>
            <a:chOff x="1424672" y="1049048"/>
            <a:chExt cx="1247482" cy="1725229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D0D412A3-9CC0-DDDA-79A6-A0BB3B18A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24672" y="2061690"/>
              <a:ext cx="581191" cy="712587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B17FFA2D-6C5B-C30D-853D-8503C9DB9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98243" y="2235450"/>
              <a:ext cx="374160" cy="421491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1DA80256-E689-193B-403A-E87940636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01581" y="1346840"/>
              <a:ext cx="309336" cy="253146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CD8C4D80-43F1-F301-30FE-473751F61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94727" y="1615531"/>
              <a:ext cx="323045" cy="253146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020A3003-1623-4D7C-9605-9C310B5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6422" y="1893966"/>
              <a:ext cx="190187" cy="249422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14D08960-193F-F55B-116F-4A8FACD4F2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2014" r="61418"/>
            <a:stretch/>
          </p:blipFill>
          <p:spPr>
            <a:xfrm>
              <a:off x="1907411" y="1049048"/>
              <a:ext cx="141381" cy="230172"/>
            </a:xfrm>
            <a:prstGeom prst="rect">
              <a:avLst/>
            </a:prstGeom>
          </p:spPr>
        </p:pic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BE79C157-1E30-73FF-836D-75A62789B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72652" y="1474355"/>
              <a:ext cx="599502" cy="263881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14C3811-0FBC-D1D7-2308-7EDD1FA31FB7}"/>
              </a:ext>
            </a:extLst>
          </p:cNvPr>
          <p:cNvGrpSpPr/>
          <p:nvPr/>
        </p:nvGrpSpPr>
        <p:grpSpPr>
          <a:xfrm>
            <a:off x="4095988" y="960705"/>
            <a:ext cx="1281823" cy="1259090"/>
            <a:chOff x="4095988" y="960705"/>
            <a:chExt cx="1281823" cy="1259090"/>
          </a:xfrm>
        </p:grpSpPr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1ACF9F7E-480E-1D8B-B62D-86B1B11B6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565585" y="1494138"/>
              <a:ext cx="586564" cy="725657"/>
            </a:xfrm>
            <a:prstGeom prst="rect">
              <a:avLst/>
            </a:prstGeom>
          </p:spPr>
        </p:pic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67D6202F-9D73-7094-78A6-E1D53CCBF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84208" y="960705"/>
              <a:ext cx="671876" cy="434930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344E875D-7A3B-B8A5-7B7D-378E4D18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65923" y="1267386"/>
              <a:ext cx="311888" cy="338554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DA335F3-3182-214B-CCAF-3B3B12578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20784" y="1308339"/>
              <a:ext cx="110394" cy="313596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A3581840-4AC1-7FB7-F58F-337325483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4095988" y="1229429"/>
              <a:ext cx="504388" cy="263881"/>
            </a:xfrm>
            <a:prstGeom prst="rect">
              <a:avLst/>
            </a:prstGeom>
          </p:spPr>
        </p:pic>
      </p:grp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E57DE32-01E2-98CD-5407-250D308CEA87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BB423196-6DF1-11C7-A7A9-CC0CD99A9268}"/>
              </a:ext>
            </a:extLst>
          </p:cNvPr>
          <p:cNvSpPr/>
          <p:nvPr/>
        </p:nvSpPr>
        <p:spPr bwMode="auto">
          <a:xfrm>
            <a:off x="697115" y="555658"/>
            <a:ext cx="5272961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5648AAF-ACAE-0D04-2496-A4C153E1163A}"/>
              </a:ext>
            </a:extLst>
          </p:cNvPr>
          <p:cNvSpPr txBox="1"/>
          <p:nvPr/>
        </p:nvSpPr>
        <p:spPr>
          <a:xfrm>
            <a:off x="7380721" y="1223796"/>
            <a:ext cx="504143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AG40: Montage Steckerleiste, DAE</a:t>
            </a:r>
          </a:p>
          <a:p>
            <a:endParaRPr lang="de-DE" sz="1000" dirty="0"/>
          </a:p>
          <a:p>
            <a:r>
              <a:rPr lang="de-DE" sz="900" dirty="0"/>
              <a:t>- Zuführung DAE (Zuführtopf)</a:t>
            </a:r>
          </a:p>
          <a:p>
            <a:r>
              <a:rPr lang="de-DE" sz="900" dirty="0"/>
              <a:t>- Montage DAE in Steckerleiste</a:t>
            </a:r>
          </a:p>
          <a:p>
            <a:r>
              <a:rPr lang="de-DE" sz="900" dirty="0"/>
              <a:t>- Roboterhandling mit Greifer für DAE, O-Ring, Stecker, Zentrierstück</a:t>
            </a:r>
          </a:p>
          <a:p>
            <a:r>
              <a:rPr lang="de-DE" sz="900" dirty="0"/>
              <a:t>- Beölstation O-Ring mit Handling (pneumatisch) -  sep. Steuerung für Rotationsbeölung</a:t>
            </a:r>
          </a:p>
          <a:p>
            <a:r>
              <a:rPr lang="de-DE" sz="900" dirty="0"/>
              <a:t>- Zentrierung Gehäuse für Montage Steckerleiste</a:t>
            </a:r>
          </a:p>
          <a:p>
            <a:r>
              <a:rPr lang="de-DE" sz="900" dirty="0"/>
              <a:t>- Zustellen Adapterstück für verpressen Stecker mit O-Ring</a:t>
            </a:r>
          </a:p>
          <a:p>
            <a:r>
              <a:rPr lang="de-DE" sz="900" dirty="0"/>
              <a:t>- 1x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AG50.1: ECU-Flashstation</a:t>
            </a:r>
          </a:p>
          <a:p>
            <a:endParaRPr lang="de-DE" sz="1000" b="1" dirty="0"/>
          </a:p>
          <a:p>
            <a:r>
              <a:rPr lang="de-DE" sz="900" dirty="0"/>
              <a:t>entfällt</a:t>
            </a:r>
          </a:p>
          <a:p>
            <a:endParaRPr lang="de-DE" sz="900" dirty="0"/>
          </a:p>
          <a:p>
            <a:r>
              <a:rPr lang="de-DE" sz="1000" b="1" dirty="0"/>
              <a:t>AG50.2: Montage ECU, Drucksensor</a:t>
            </a:r>
          </a:p>
          <a:p>
            <a:endParaRPr lang="de-DE" sz="900" b="1" dirty="0"/>
          </a:p>
          <a:p>
            <a:r>
              <a:rPr lang="de-DE" sz="900" dirty="0"/>
              <a:t>- Zuführung ECU (Palettierer)</a:t>
            </a:r>
          </a:p>
          <a:p>
            <a:r>
              <a:rPr lang="de-DE" sz="900" dirty="0"/>
              <a:t>- Zuführung Drucksensor (Palettierer)</a:t>
            </a:r>
          </a:p>
          <a:p>
            <a:r>
              <a:rPr lang="de-DE" sz="900" dirty="0"/>
              <a:t>- Zuführung Druckrohr (Zuführtopf)</a:t>
            </a:r>
          </a:p>
          <a:p>
            <a:r>
              <a:rPr lang="de-DE" sz="900" dirty="0"/>
              <a:t>- Beölen Druckrohr</a:t>
            </a:r>
          </a:p>
          <a:p>
            <a:r>
              <a:rPr lang="de-DE" sz="900" dirty="0"/>
              <a:t>- Roboterhandling ECU, Drucksensor, Druckrohr</a:t>
            </a:r>
          </a:p>
          <a:p>
            <a:r>
              <a:rPr lang="de-DE" sz="900" dirty="0"/>
              <a:t>- Clinchen 4x Pins Drucksensor inkl. pneumatischen Handling</a:t>
            </a:r>
          </a:p>
          <a:p>
            <a:r>
              <a:rPr lang="de-DE" sz="900" dirty="0"/>
              <a:t>- Einpressen ECU (pneumatisch) max. 100N</a:t>
            </a:r>
          </a:p>
          <a:p>
            <a:r>
              <a:rPr lang="de-DE" sz="900" dirty="0"/>
              <a:t>- Bosch Schrauber 1x Schraube mit Zuführung Weber pneu. Y-Achse (2 Positionen)</a:t>
            </a:r>
          </a:p>
          <a:p>
            <a:r>
              <a:rPr lang="de-DE" sz="900" dirty="0"/>
              <a:t>- 1x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52EB5A6D-1B9F-B06E-2A5C-ED2A76E61174}"/>
              </a:ext>
            </a:extLst>
          </p:cNvPr>
          <p:cNvSpPr/>
          <p:nvPr/>
        </p:nvSpPr>
        <p:spPr bwMode="auto">
          <a:xfrm>
            <a:off x="4406527" y="5575705"/>
            <a:ext cx="1563539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AG50.2</a:t>
            </a: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CE4F5B8C-59BD-29F5-0B27-0112579B526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90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1249374" y="3362141"/>
            <a:ext cx="4925089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A7CFBAB-EDAE-62D7-ECF7-61EB4E23A958}"/>
              </a:ext>
            </a:extLst>
          </p:cNvPr>
          <p:cNvSpPr/>
          <p:nvPr/>
        </p:nvSpPr>
        <p:spPr>
          <a:xfrm rot="16200000">
            <a:off x="1143288" y="4403516"/>
            <a:ext cx="693349" cy="272318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951A8D6-8A7D-EB8B-9401-55213227D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262417" y="4491261"/>
            <a:ext cx="453925" cy="27347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1104522" y="4948670"/>
            <a:ext cx="5241957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3741093" y="5110554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900990" y="4942360"/>
            <a:ext cx="558346" cy="336389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1249374" y="5575705"/>
            <a:ext cx="2550461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AG60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97007A-BDB4-61D2-9ABC-5961E4F4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223899" y="4075165"/>
            <a:ext cx="555843" cy="8111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28D8D4-8352-01CE-C9FE-F02D8CC2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78424" y="4949752"/>
            <a:ext cx="558346" cy="336389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C3123EC-5561-269C-073D-0230BE39461A}"/>
              </a:ext>
            </a:extLst>
          </p:cNvPr>
          <p:cNvCxnSpPr>
            <a:cxnSpLocks/>
          </p:cNvCxnSpPr>
          <p:nvPr/>
        </p:nvCxnSpPr>
        <p:spPr>
          <a:xfrm>
            <a:off x="3844045" y="3362141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EDC2C7C-5CE4-1877-8028-0E1AF0D9EEF3}"/>
              </a:ext>
            </a:extLst>
          </p:cNvPr>
          <p:cNvSpPr/>
          <p:nvPr/>
        </p:nvSpPr>
        <p:spPr bwMode="auto">
          <a:xfrm>
            <a:off x="3882932" y="5575705"/>
            <a:ext cx="2291531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AG80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38C6CAE-A580-7A42-BDFA-A8AFFD115410}"/>
              </a:ext>
            </a:extLst>
          </p:cNvPr>
          <p:cNvSpPr txBox="1"/>
          <p:nvPr/>
        </p:nvSpPr>
        <p:spPr>
          <a:xfrm>
            <a:off x="3409195" y="78239"/>
            <a:ext cx="50401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50: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AG60 Prüfen Pneumatik, AG80 Montage Deckel Schalldämpfer 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01171BE-12BD-89DA-AEAB-23CAA59683FD}"/>
              </a:ext>
            </a:extLst>
          </p:cNvPr>
          <p:cNvSpPr/>
          <p:nvPr/>
        </p:nvSpPr>
        <p:spPr>
          <a:xfrm>
            <a:off x="1085239" y="4197683"/>
            <a:ext cx="549014" cy="272315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B9AF3BFD-9913-613A-BA94-2376C5B43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353" y="3429000"/>
            <a:ext cx="453114" cy="563884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ADAD3D8-7B23-2F43-80CF-76705706457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2715420" y="3440790"/>
            <a:ext cx="453114" cy="563884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12C0CC25-7AB2-5CF1-37F4-0A29EE772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354" y="3847709"/>
            <a:ext cx="453114" cy="563884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72E1A970-27F0-BC78-CE11-C24C611816D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4354" y="3483800"/>
            <a:ext cx="549800" cy="347266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E97FDD4D-2D41-98D8-F131-033C9F14A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342" y="4450697"/>
            <a:ext cx="271265" cy="247699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041A8E9A-E70B-B6AD-1A2F-315990A3A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159865" y="4949753"/>
            <a:ext cx="558346" cy="33638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8D49137-CCBE-9F66-20A3-CBD4E00EA9FF}"/>
              </a:ext>
            </a:extLst>
          </p:cNvPr>
          <p:cNvSpPr txBox="1"/>
          <p:nvPr/>
        </p:nvSpPr>
        <p:spPr>
          <a:xfrm>
            <a:off x="484934" y="4192999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Löten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B5BC2BD-8FEF-1174-EB57-F6338906B860}"/>
              </a:ext>
            </a:extLst>
          </p:cNvPr>
          <p:cNvCxnSpPr>
            <a:cxnSpLocks/>
          </p:cNvCxnSpPr>
          <p:nvPr/>
        </p:nvCxnSpPr>
        <p:spPr bwMode="auto">
          <a:xfrm>
            <a:off x="1490558" y="4308425"/>
            <a:ext cx="0" cy="38115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headEnd type="stealth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B96991E6-859A-ED92-D8F3-10FEE3AC1E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99B80E6-98BA-F4C4-FEE3-F31EC9DDAFDF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91FA0883-0946-DC6B-A0A6-84B353E6AAB2}"/>
              </a:ext>
            </a:extLst>
          </p:cNvPr>
          <p:cNvSpPr/>
          <p:nvPr/>
        </p:nvSpPr>
        <p:spPr bwMode="auto">
          <a:xfrm>
            <a:off x="1249374" y="555658"/>
            <a:ext cx="4925088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244A29E-1A27-5F59-87AD-6DE18EB85F8B}"/>
              </a:ext>
            </a:extLst>
          </p:cNvPr>
          <p:cNvSpPr txBox="1"/>
          <p:nvPr/>
        </p:nvSpPr>
        <p:spPr>
          <a:xfrm>
            <a:off x="7380721" y="1223796"/>
            <a:ext cx="5041433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AG60: Prüfen Pneumatik (vor Löten)</a:t>
            </a:r>
          </a:p>
          <a:p>
            <a:endParaRPr lang="de-DE" sz="1000" dirty="0"/>
          </a:p>
          <a:p>
            <a:r>
              <a:rPr lang="de-DE" sz="900" dirty="0"/>
              <a:t>- Roboterhandling zu Prüfvorrichtungen 1, 2 und Löten</a:t>
            </a:r>
          </a:p>
          <a:p>
            <a:r>
              <a:rPr lang="de-DE" sz="900" dirty="0"/>
              <a:t>- 1x Pneumatische Prüfvorrichtung </a:t>
            </a:r>
            <a:r>
              <a:rPr lang="de-DE" sz="900" dirty="0" err="1"/>
              <a:t>inkl</a:t>
            </a:r>
            <a:r>
              <a:rPr lang="de-DE" sz="900" dirty="0"/>
              <a:t> el. Kontaktierung auf ECU</a:t>
            </a:r>
          </a:p>
          <a:p>
            <a:r>
              <a:rPr lang="de-DE" sz="900" dirty="0"/>
              <a:t>- 1x Prüfaufbau nach Vorgabe Lastenheft</a:t>
            </a:r>
          </a:p>
          <a:p>
            <a:r>
              <a:rPr lang="de-DE" sz="900" dirty="0"/>
              <a:t>- 1x Hub-Index + Vereinzelung + RFID </a:t>
            </a:r>
          </a:p>
          <a:p>
            <a:r>
              <a:rPr lang="de-DE" sz="900" dirty="0"/>
              <a:t>- 1x Reserveplatz für Prüfvorrichtung ( Ausbau 34 Sek.)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AG80: Montage Deckel, Schalldämpfer</a:t>
            </a:r>
          </a:p>
          <a:p>
            <a:endParaRPr lang="de-DE" sz="1000" b="1" dirty="0"/>
          </a:p>
          <a:p>
            <a:r>
              <a:rPr lang="de-DE" sz="900" dirty="0"/>
              <a:t>- XZ-Handling Deckel ( pneumatisch)</a:t>
            </a:r>
          </a:p>
          <a:p>
            <a:r>
              <a:rPr lang="de-DE" sz="900" dirty="0"/>
              <a:t>- Verpressvorrichtung Deckel (Toxzylinder max. 5KN) inkl. Verrastprüfung durch Messtaster</a:t>
            </a:r>
          </a:p>
          <a:p>
            <a:r>
              <a:rPr lang="de-DE" sz="900" dirty="0"/>
              <a:t>- YZ-Handling Schalldämpfer ( pneumatisch)</a:t>
            </a:r>
          </a:p>
          <a:p>
            <a:r>
              <a:rPr lang="de-DE" sz="900" dirty="0"/>
              <a:t>- YZ- Handling Gehäuse ( pneumatisch)</a:t>
            </a:r>
          </a:p>
          <a:p>
            <a:r>
              <a:rPr lang="de-DE" sz="900" dirty="0"/>
              <a:t>- Dreheinheit Gehäuse mit Greifer Zentrieren Gewebe inkl. Verrastprüfung durch Sensor</a:t>
            </a:r>
          </a:p>
          <a:p>
            <a:r>
              <a:rPr lang="de-DE" sz="900" dirty="0"/>
              <a:t>- 2x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B3B8CFA-3044-6DFE-A608-4D3730F12F55}"/>
              </a:ext>
            </a:extLst>
          </p:cNvPr>
          <p:cNvSpPr/>
          <p:nvPr/>
        </p:nvSpPr>
        <p:spPr bwMode="auto">
          <a:xfrm>
            <a:off x="1788291" y="3440790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EAEF10BA-76C3-0477-207D-63C58566A870}"/>
              </a:ext>
            </a:extLst>
          </p:cNvPr>
          <p:cNvSpPr/>
          <p:nvPr/>
        </p:nvSpPr>
        <p:spPr bwMode="auto">
          <a:xfrm>
            <a:off x="2660826" y="3429000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FD4D5A7-CD5B-ABC3-B01C-38A511F823EC}"/>
              </a:ext>
            </a:extLst>
          </p:cNvPr>
          <p:cNvSpPr txBox="1"/>
          <p:nvPr/>
        </p:nvSpPr>
        <p:spPr>
          <a:xfrm>
            <a:off x="1730665" y="3991508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1</a:t>
            </a:r>
          </a:p>
          <a:p>
            <a:r>
              <a:rPr lang="de-DE" sz="800" dirty="0"/>
              <a:t>Pneumatik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3071C70-F9B6-E597-788F-6DB2D176B96D}"/>
              </a:ext>
            </a:extLst>
          </p:cNvPr>
          <p:cNvSpPr txBox="1"/>
          <p:nvPr/>
        </p:nvSpPr>
        <p:spPr>
          <a:xfrm>
            <a:off x="2624174" y="4004674"/>
            <a:ext cx="678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2</a:t>
            </a:r>
          </a:p>
          <a:p>
            <a:r>
              <a:rPr lang="de-DE" sz="800" dirty="0"/>
              <a:t>Pneumatik</a:t>
            </a:r>
          </a:p>
          <a:p>
            <a:r>
              <a:rPr lang="de-DE" sz="800" dirty="0"/>
              <a:t>34 Sek.</a:t>
            </a:r>
          </a:p>
        </p:txBody>
      </p:sp>
    </p:spTree>
    <p:extLst>
      <p:ext uri="{BB962C8B-B14F-4D97-AF65-F5344CB8AC3E}">
        <p14:creationId xmlns:p14="http://schemas.microsoft.com/office/powerpoint/2010/main" val="364361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1877634" y="3362141"/>
            <a:ext cx="4418094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267480" y="4948670"/>
            <a:ext cx="6214185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4563528" y="511163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13843" y="4951667"/>
            <a:ext cx="558346" cy="336389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1877632" y="5575705"/>
            <a:ext cx="1440000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AG90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97007A-BDB4-61D2-9ABC-5961E4F4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094028" y="4109948"/>
            <a:ext cx="555843" cy="8111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28D8D4-8352-01CE-C9FE-F02D8CC2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49376" y="4950835"/>
            <a:ext cx="558346" cy="336389"/>
          </a:xfrm>
          <a:prstGeom prst="rect">
            <a:avLst/>
          </a:prstGeom>
        </p:spPr>
      </p:pic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EDC2C7C-5CE4-1877-8028-0E1AF0D9EEF3}"/>
              </a:ext>
            </a:extLst>
          </p:cNvPr>
          <p:cNvSpPr/>
          <p:nvPr/>
        </p:nvSpPr>
        <p:spPr bwMode="auto">
          <a:xfrm>
            <a:off x="3370824" y="5575705"/>
            <a:ext cx="1440000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AG100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38C6CAE-A580-7A42-BDFA-A8AFFD115410}"/>
              </a:ext>
            </a:extLst>
          </p:cNvPr>
          <p:cNvSpPr txBox="1"/>
          <p:nvPr/>
        </p:nvSpPr>
        <p:spPr>
          <a:xfrm>
            <a:off x="3409195" y="78239"/>
            <a:ext cx="4867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60: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AG90 Prüfen Elektronik, AG100 EoL, AG110 Laserbeschriften 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EB428499-485F-5FE9-C4E6-CB325AD8819A}"/>
              </a:ext>
            </a:extLst>
          </p:cNvPr>
          <p:cNvSpPr/>
          <p:nvPr/>
        </p:nvSpPr>
        <p:spPr bwMode="auto">
          <a:xfrm>
            <a:off x="4864016" y="5574478"/>
            <a:ext cx="1431712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CF8DBBA-D7FD-974F-D4D2-99D719D3B9D9}"/>
              </a:ext>
            </a:extLst>
          </p:cNvPr>
          <p:cNvCxnSpPr>
            <a:cxnSpLocks/>
          </p:cNvCxnSpPr>
          <p:nvPr/>
        </p:nvCxnSpPr>
        <p:spPr>
          <a:xfrm>
            <a:off x="4836857" y="3363806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6EDAD2D8-2066-594D-E10A-686AA85922A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0444" y="3528318"/>
            <a:ext cx="404824" cy="51233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8EE9440-084A-4038-CD4A-63ACC4EBD44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86000" y="3528318"/>
            <a:ext cx="404824" cy="51233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38F98B3-01B9-7F05-0EE2-1D59F028A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125938" y="4943435"/>
            <a:ext cx="558346" cy="33638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F4EA9AF-1B6B-4FC5-E039-646439FE7B8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2606564" y="3528318"/>
            <a:ext cx="404824" cy="51233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F921C45-7688-9F16-2BEF-9AA32C5C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4262748" y="3540414"/>
            <a:ext cx="404824" cy="512339"/>
          </a:xfrm>
          <a:prstGeom prst="rect">
            <a:avLst/>
          </a:prstGeom>
        </p:spPr>
      </p:pic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1DFAAC4-95D3-0568-C743-D47055A72172}"/>
              </a:ext>
            </a:extLst>
          </p:cNvPr>
          <p:cNvSpPr/>
          <p:nvPr/>
        </p:nvSpPr>
        <p:spPr bwMode="auto">
          <a:xfrm>
            <a:off x="1993216" y="3477235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9D51DA3A-3C97-7641-0819-95DCB4E29FF1}"/>
              </a:ext>
            </a:extLst>
          </p:cNvPr>
          <p:cNvSpPr/>
          <p:nvPr/>
        </p:nvSpPr>
        <p:spPr bwMode="auto">
          <a:xfrm>
            <a:off x="2561607" y="3478903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CFF49D71-070E-D216-5C8C-EF0220B94313}"/>
              </a:ext>
            </a:extLst>
          </p:cNvPr>
          <p:cNvSpPr/>
          <p:nvPr/>
        </p:nvSpPr>
        <p:spPr bwMode="auto">
          <a:xfrm>
            <a:off x="3557528" y="3474574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9805B4C-A808-A95F-526E-0ACBEFDFD620}"/>
              </a:ext>
            </a:extLst>
          </p:cNvPr>
          <p:cNvSpPr/>
          <p:nvPr/>
        </p:nvSpPr>
        <p:spPr bwMode="auto">
          <a:xfrm>
            <a:off x="4214343" y="3474574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88251F3-89FE-9B43-242D-39F2D0789BB7}"/>
              </a:ext>
            </a:extLst>
          </p:cNvPr>
          <p:cNvSpPr txBox="1"/>
          <p:nvPr/>
        </p:nvSpPr>
        <p:spPr>
          <a:xfrm>
            <a:off x="3572075" y="4061749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1</a:t>
            </a:r>
          </a:p>
          <a:p>
            <a:r>
              <a:rPr lang="de-DE" sz="800" dirty="0"/>
              <a:t>EoL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D978382-8C9C-C218-1CC3-57D798DD11BE}"/>
              </a:ext>
            </a:extLst>
          </p:cNvPr>
          <p:cNvSpPr txBox="1"/>
          <p:nvPr/>
        </p:nvSpPr>
        <p:spPr>
          <a:xfrm>
            <a:off x="1930931" y="4040657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1</a:t>
            </a:r>
          </a:p>
          <a:p>
            <a:r>
              <a:rPr lang="de-DE" sz="800" dirty="0"/>
              <a:t>Elektronik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5DFACA2-DE5E-0968-99C9-D383AB9725F7}"/>
              </a:ext>
            </a:extLst>
          </p:cNvPr>
          <p:cNvSpPr txBox="1"/>
          <p:nvPr/>
        </p:nvSpPr>
        <p:spPr>
          <a:xfrm>
            <a:off x="2510107" y="4050782"/>
            <a:ext cx="678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2</a:t>
            </a:r>
          </a:p>
          <a:p>
            <a:r>
              <a:rPr lang="de-DE" sz="800" dirty="0"/>
              <a:t>Elektronik</a:t>
            </a:r>
          </a:p>
          <a:p>
            <a:r>
              <a:rPr lang="de-DE" sz="800" dirty="0"/>
              <a:t>34 Sek.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6D3F93D-E7EC-FF44-4055-84C20F94205E}"/>
              </a:ext>
            </a:extLst>
          </p:cNvPr>
          <p:cNvSpPr txBox="1"/>
          <p:nvPr/>
        </p:nvSpPr>
        <p:spPr>
          <a:xfrm>
            <a:off x="4159287" y="4077941"/>
            <a:ext cx="679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2</a:t>
            </a:r>
          </a:p>
          <a:p>
            <a:r>
              <a:rPr lang="de-DE" sz="800" dirty="0"/>
              <a:t>EoL</a:t>
            </a:r>
          </a:p>
          <a:p>
            <a:r>
              <a:rPr lang="de-DE" sz="800" dirty="0"/>
              <a:t>34 Sek.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61E7E779-AA01-B44E-F24F-88E527FFD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030" y="3814082"/>
            <a:ext cx="511839" cy="69769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6A8C7232-89F1-AF2B-29C4-47A3E848E1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6958" y="3646249"/>
            <a:ext cx="435502" cy="47791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8E75BAF-CC7A-2C40-1F83-415E4BE1D9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7541F59-DF3A-7CF0-98BA-C03CF7A245EE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1CB8EFA3-ACD8-B0F6-3F5F-00FEFA97A09F}"/>
              </a:ext>
            </a:extLst>
          </p:cNvPr>
          <p:cNvSpPr/>
          <p:nvPr/>
        </p:nvSpPr>
        <p:spPr bwMode="auto">
          <a:xfrm>
            <a:off x="367022" y="555658"/>
            <a:ext cx="580744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E34E90CC-64DB-7F8A-A675-4A43B4CF2D41}"/>
              </a:ext>
            </a:extLst>
          </p:cNvPr>
          <p:cNvSpPr/>
          <p:nvPr/>
        </p:nvSpPr>
        <p:spPr bwMode="auto">
          <a:xfrm>
            <a:off x="367022" y="3400018"/>
            <a:ext cx="1157159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BBF277A-8A71-7808-82EE-09310D1BD9AB}"/>
              </a:ext>
            </a:extLst>
          </p:cNvPr>
          <p:cNvSpPr txBox="1"/>
          <p:nvPr/>
        </p:nvSpPr>
        <p:spPr>
          <a:xfrm>
            <a:off x="403809" y="4324162"/>
            <a:ext cx="10723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Rückmontageplatz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C100AC5B-CA23-B0B9-4660-5B5836591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52237" y="4955510"/>
            <a:ext cx="558346" cy="336389"/>
          </a:xfrm>
          <a:prstGeom prst="rect">
            <a:avLst/>
          </a:prstGeom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0F3D2899-D1C9-E6E5-F790-EBC2670125EB}"/>
              </a:ext>
            </a:extLst>
          </p:cNvPr>
          <p:cNvSpPr txBox="1"/>
          <p:nvPr/>
        </p:nvSpPr>
        <p:spPr>
          <a:xfrm>
            <a:off x="7380721" y="1223796"/>
            <a:ext cx="5041433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AG90: Prüfen Elektronikraum</a:t>
            </a:r>
          </a:p>
          <a:p>
            <a:endParaRPr lang="de-DE" sz="1000" dirty="0"/>
          </a:p>
          <a:p>
            <a:r>
              <a:rPr lang="de-DE" sz="900" dirty="0"/>
              <a:t>- Roboterhandling zu Prüfvorrichtungen Elektronikraum, EoL</a:t>
            </a:r>
          </a:p>
          <a:p>
            <a:r>
              <a:rPr lang="de-DE" sz="900" dirty="0"/>
              <a:t>- 1x Prüfvorrichtung inkl. Abdichtung Stecker</a:t>
            </a:r>
          </a:p>
          <a:p>
            <a:r>
              <a:rPr lang="de-DE" sz="900" dirty="0"/>
              <a:t>- 1x Prüfaufbau nach Vorgabe Lastenheft</a:t>
            </a:r>
          </a:p>
          <a:p>
            <a:r>
              <a:rPr lang="de-DE" sz="900" dirty="0"/>
              <a:t>- 2x Hub-Index + Vereinzelung + RFID </a:t>
            </a:r>
          </a:p>
          <a:p>
            <a:r>
              <a:rPr lang="de-DE" sz="900" dirty="0"/>
              <a:t>- 1x Reserveplatz für Prüfvorrichtung ( Ausbau 34 Sek.)</a:t>
            </a:r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AG100: Prüfen EoL Pneumatik</a:t>
            </a:r>
          </a:p>
          <a:p>
            <a:endParaRPr lang="de-DE" sz="1000" b="1" dirty="0"/>
          </a:p>
          <a:p>
            <a:r>
              <a:rPr lang="de-DE" sz="900" dirty="0"/>
              <a:t>- 1x Pneumatische Prüfvorrichtung </a:t>
            </a:r>
            <a:r>
              <a:rPr lang="de-DE" sz="900" dirty="0" err="1"/>
              <a:t>inkl</a:t>
            </a:r>
            <a:r>
              <a:rPr lang="de-DE" sz="900" dirty="0"/>
              <a:t> el. Kontaktierung an Stecker</a:t>
            </a:r>
          </a:p>
          <a:p>
            <a:r>
              <a:rPr lang="de-DE" sz="900" dirty="0"/>
              <a:t>- 1x Prüfaufbau nach Vorgabe Lastenheft</a:t>
            </a:r>
          </a:p>
          <a:p>
            <a:r>
              <a:rPr lang="de-DE" sz="900" dirty="0"/>
              <a:t>- 1x Reserveplatz für Prüfvorrichtung ( Ausbau 34 Sek.)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pPr marL="171450" indent="-171450">
              <a:buFontTx/>
              <a:buChar char="-"/>
            </a:pPr>
            <a:endParaRPr lang="de-DE" sz="900" dirty="0"/>
          </a:p>
          <a:p>
            <a:r>
              <a:rPr lang="de-DE" sz="1000" b="1" dirty="0"/>
              <a:t>AG110 Laserbeschriftung: </a:t>
            </a:r>
          </a:p>
          <a:p>
            <a:endParaRPr lang="de-DE" sz="1000" b="1" dirty="0"/>
          </a:p>
          <a:p>
            <a:r>
              <a:rPr lang="de-DE" sz="900" dirty="0"/>
              <a:t>- Laserschutzkabine mit Laserschutzglas</a:t>
            </a:r>
          </a:p>
          <a:p>
            <a:r>
              <a:rPr lang="de-DE" sz="900" dirty="0"/>
              <a:t>- Handling Greifen und Drehen Gehäuse</a:t>
            </a:r>
          </a:p>
          <a:p>
            <a:r>
              <a:rPr lang="de-DE" sz="900" dirty="0"/>
              <a:t>- Laser </a:t>
            </a:r>
            <a:r>
              <a:rPr lang="de-DE" sz="900" dirty="0" err="1"/>
              <a:t>Trumark</a:t>
            </a:r>
            <a:r>
              <a:rPr lang="de-DE" sz="900" dirty="0"/>
              <a:t> 1110</a:t>
            </a:r>
          </a:p>
          <a:p>
            <a:r>
              <a:rPr lang="de-DE" sz="900" dirty="0"/>
              <a:t>- 1x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229519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8C9E82D-5917-251D-0DC2-7576A27F6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457" y="2246479"/>
            <a:ext cx="6601639" cy="31962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64CAB5B-5093-6391-E9D4-AA6A39F47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56" y="714584"/>
            <a:ext cx="4467601" cy="2818615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EC56187-8599-5077-604F-7604DF4F4DFA}"/>
              </a:ext>
            </a:extLst>
          </p:cNvPr>
          <p:cNvGrpSpPr/>
          <p:nvPr/>
        </p:nvGrpSpPr>
        <p:grpSpPr>
          <a:xfrm>
            <a:off x="558665" y="3844583"/>
            <a:ext cx="4020794" cy="2930908"/>
            <a:chOff x="558665" y="3844583"/>
            <a:chExt cx="4020794" cy="293090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41A042A-4F15-1432-3236-E0DFEFDA5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6635" y="3844583"/>
              <a:ext cx="2893803" cy="2674990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6845D932-D1D8-AEB9-AEDB-1C890E4EA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665" y="6559706"/>
              <a:ext cx="4020794" cy="215785"/>
            </a:xfrm>
            <a:prstGeom prst="rect">
              <a:avLst/>
            </a:prstGeom>
          </p:spPr>
        </p:pic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8B8A5F1D-995E-FC18-4996-65B4A5938A74}"/>
              </a:ext>
            </a:extLst>
          </p:cNvPr>
          <p:cNvSpPr txBox="1"/>
          <p:nvPr/>
        </p:nvSpPr>
        <p:spPr>
          <a:xfrm>
            <a:off x="3409195" y="78239"/>
            <a:ext cx="3720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Prüfbeschaltung: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AG60/ AG100 Prüfen Pneumatik </a:t>
            </a:r>
          </a:p>
        </p:txBody>
      </p:sp>
    </p:spTree>
    <p:extLst>
      <p:ext uri="{BB962C8B-B14F-4D97-AF65-F5344CB8AC3E}">
        <p14:creationId xmlns:p14="http://schemas.microsoft.com/office/powerpoint/2010/main" val="3523780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A56FB6A-1357-DEE5-3B36-1188FFB37751}"/>
              </a:ext>
            </a:extLst>
          </p:cNvPr>
          <p:cNvSpPr txBox="1"/>
          <p:nvPr/>
        </p:nvSpPr>
        <p:spPr>
          <a:xfrm>
            <a:off x="3409195" y="78239"/>
            <a:ext cx="319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Prüfbeschaltung: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AG90 Prüfen Elektronik,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DD325CE-6C3C-2674-B74E-9C766D288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87" y="1819239"/>
            <a:ext cx="6935920" cy="414806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120582A-C9F1-D2A0-E8C0-98033920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2" y="519503"/>
            <a:ext cx="4231066" cy="2793372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2860699-403A-06C0-8C59-495EA7318128}"/>
              </a:ext>
            </a:extLst>
          </p:cNvPr>
          <p:cNvGrpSpPr/>
          <p:nvPr/>
        </p:nvGrpSpPr>
        <p:grpSpPr>
          <a:xfrm>
            <a:off x="608962" y="3639393"/>
            <a:ext cx="3484580" cy="2963218"/>
            <a:chOff x="880031" y="3545125"/>
            <a:chExt cx="3484580" cy="2963218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87CBDCC2-7E2F-6721-9DFB-CBC12FB80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1261" y="3545125"/>
              <a:ext cx="2413510" cy="2793372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D1E6C4B3-397D-A765-21B9-D8BCE7C3E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0031" y="6338497"/>
              <a:ext cx="3484580" cy="1698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6427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567773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/>
              <a:t>Danke</a:t>
            </a:r>
            <a:endParaRPr sz="3691" dirty="0"/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>
                <a:solidFill>
                  <a:srgbClr val="4DB8A0"/>
                </a:solidFill>
              </a:rPr>
              <a:t>für die Aufmerksamkeit</a:t>
            </a:r>
            <a:endParaRPr sz="3691" dirty="0">
              <a:solidFill>
                <a:srgbClr val="4DB8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1834</Words>
  <Application>Microsoft Office PowerPoint</Application>
  <PresentationFormat>Breitbild</PresentationFormat>
  <Paragraphs>508</Paragraphs>
  <Slides>21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8" baseType="lpstr">
      <vt:lpstr>Arial</vt:lpstr>
      <vt:lpstr>Calibri</vt:lpstr>
      <vt:lpstr>Gilroy</vt:lpstr>
      <vt:lpstr>Gilroy ExtraBold</vt:lpstr>
      <vt:lpstr>Gilroy Light</vt:lpstr>
      <vt:lpstr>Gilroy SemiBold</vt:lpstr>
      <vt:lpstr>Office-Design</vt:lpstr>
      <vt:lpstr>PowerPoint-Präsentation</vt:lpstr>
      <vt:lpstr>Kompetenter Service vor Ort</vt:lpstr>
      <vt:lpstr>Arbeitsgemeinschaft Gluth - Bosch (BMG)</vt:lpstr>
      <vt:lpstr>Arbeitsgemeinschaft Gluth - Bosch (BMG)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Schnurrenberger Stefan</cp:lastModifiedBy>
  <cp:revision>376</cp:revision>
  <cp:lastPrinted>2024-11-11T14:02:42Z</cp:lastPrinted>
  <dcterms:created xsi:type="dcterms:W3CDTF">2021-03-17T11:57:24Z</dcterms:created>
  <dcterms:modified xsi:type="dcterms:W3CDTF">2024-11-12T09:17:20Z</dcterms:modified>
</cp:coreProperties>
</file>