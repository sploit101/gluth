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31"/>
  </p:notesMasterIdLst>
  <p:sldIdLst>
    <p:sldId id="256" r:id="rId2"/>
    <p:sldId id="1110" r:id="rId3"/>
    <p:sldId id="1199" r:id="rId4"/>
    <p:sldId id="1296" r:id="rId5"/>
    <p:sldId id="1295" r:id="rId6"/>
    <p:sldId id="1193" r:id="rId7"/>
    <p:sldId id="1207" r:id="rId8"/>
    <p:sldId id="1194" r:id="rId9"/>
    <p:sldId id="1301" r:id="rId10"/>
    <p:sldId id="1204" r:id="rId11"/>
    <p:sldId id="1308" r:id="rId12"/>
    <p:sldId id="1210" r:id="rId13"/>
    <p:sldId id="1219" r:id="rId14"/>
    <p:sldId id="1302" r:id="rId15"/>
    <p:sldId id="1304" r:id="rId16"/>
    <p:sldId id="1216" r:id="rId17"/>
    <p:sldId id="1310" r:id="rId18"/>
    <p:sldId id="1311" r:id="rId19"/>
    <p:sldId id="1309" r:id="rId20"/>
    <p:sldId id="1306" r:id="rId21"/>
    <p:sldId id="1293" r:id="rId22"/>
    <p:sldId id="1281" r:id="rId23"/>
    <p:sldId id="1245" r:id="rId24"/>
    <p:sldId id="1283" r:id="rId25"/>
    <p:sldId id="1284" r:id="rId26"/>
    <p:sldId id="1285" r:id="rId27"/>
    <p:sldId id="1307" r:id="rId28"/>
    <p:sldId id="1198" r:id="rId29"/>
    <p:sldId id="1183" r:id="rId30"/>
  </p:sldIdLst>
  <p:sldSz cx="12192000" cy="6858000"/>
  <p:notesSz cx="6797675" cy="9926638"/>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D2C3"/>
    <a:srgbClr val="4F81BD"/>
    <a:srgbClr val="FF6600"/>
    <a:srgbClr val="64CF95"/>
    <a:srgbClr val="009900"/>
    <a:srgbClr val="16B75F"/>
    <a:srgbClr val="FF7C80"/>
    <a:srgbClr val="CDC0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59" autoAdjust="0"/>
    <p:restoredTop sz="92597" autoAdjust="0"/>
  </p:normalViewPr>
  <p:slideViewPr>
    <p:cSldViewPr snapToGrid="0">
      <p:cViewPr>
        <p:scale>
          <a:sx n="100" d="100"/>
          <a:sy n="100" d="100"/>
        </p:scale>
        <p:origin x="4818" y="1398"/>
      </p:cViewPr>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60" d="100"/>
          <a:sy n="60" d="100"/>
        </p:scale>
        <p:origin x="3274"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CBB9D02-9FFC-4758-9EDA-EB9E451655DE}" type="datetimeFigureOut">
              <a:rPr lang="de-DE" smtClean="0"/>
              <a:t>02.07.2025</a:t>
            </a:fld>
            <a:endParaRPr lang="de-DE"/>
          </a:p>
        </p:txBody>
      </p:sp>
      <p:sp>
        <p:nvSpPr>
          <p:cNvPr id="4" name="Folienbildplatzhalt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3EED572-F9A9-4535-91E4-E5029B1F52C2}" type="slidenum">
              <a:rPr lang="de-DE" smtClean="0"/>
              <a:t>‹Nr.›</a:t>
            </a:fld>
            <a:endParaRPr lang="de-DE"/>
          </a:p>
        </p:txBody>
      </p:sp>
    </p:spTree>
    <p:extLst>
      <p:ext uri="{BB962C8B-B14F-4D97-AF65-F5344CB8AC3E}">
        <p14:creationId xmlns:p14="http://schemas.microsoft.com/office/powerpoint/2010/main" val="1941002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sz="1000"/>
          </a:p>
        </p:txBody>
      </p:sp>
      <p:sp>
        <p:nvSpPr>
          <p:cNvPr id="4" name="Foliennummernplatzhalter 3"/>
          <p:cNvSpPr>
            <a:spLocks noGrp="1"/>
          </p:cNvSpPr>
          <p:nvPr>
            <p:ph type="sldNum" sz="quarter" idx="5"/>
          </p:nvPr>
        </p:nvSpPr>
        <p:spPr/>
        <p:txBody>
          <a:bodyPr/>
          <a:lstStyle/>
          <a:p>
            <a:fld id="{F3EED572-F9A9-4535-91E4-E5029B1F52C2}" type="slidenum">
              <a:rPr lang="de-DE" smtClean="0"/>
              <a:t>1</a:t>
            </a:fld>
            <a:endParaRPr lang="de-DE"/>
          </a:p>
        </p:txBody>
      </p:sp>
    </p:spTree>
    <p:extLst>
      <p:ext uri="{BB962C8B-B14F-4D97-AF65-F5344CB8AC3E}">
        <p14:creationId xmlns:p14="http://schemas.microsoft.com/office/powerpoint/2010/main" val="3427094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F3EED572-F9A9-4535-91E4-E5029B1F52C2}" type="slidenum">
              <a:rPr lang="de-DE" smtClean="0"/>
              <a:t>2</a:t>
            </a:fld>
            <a:endParaRPr lang="de-DE"/>
          </a:p>
        </p:txBody>
      </p:sp>
    </p:spTree>
    <p:extLst>
      <p:ext uri="{BB962C8B-B14F-4D97-AF65-F5344CB8AC3E}">
        <p14:creationId xmlns:p14="http://schemas.microsoft.com/office/powerpoint/2010/main" val="1260024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F3EED572-F9A9-4535-91E4-E5029B1F52C2}" type="slidenum">
              <a:rPr lang="de-DE" smtClean="0"/>
              <a:t>3</a:t>
            </a:fld>
            <a:endParaRPr lang="de-DE"/>
          </a:p>
        </p:txBody>
      </p:sp>
    </p:spTree>
    <p:extLst>
      <p:ext uri="{BB962C8B-B14F-4D97-AF65-F5344CB8AC3E}">
        <p14:creationId xmlns:p14="http://schemas.microsoft.com/office/powerpoint/2010/main" val="110314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F3EED572-F9A9-4535-91E4-E5029B1F52C2}" type="slidenum">
              <a:rPr lang="de-DE" smtClean="0"/>
              <a:t>4</a:t>
            </a:fld>
            <a:endParaRPr lang="de-DE"/>
          </a:p>
        </p:txBody>
      </p:sp>
    </p:spTree>
    <p:extLst>
      <p:ext uri="{BB962C8B-B14F-4D97-AF65-F5344CB8AC3E}">
        <p14:creationId xmlns:p14="http://schemas.microsoft.com/office/powerpoint/2010/main" val="140482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90EEB2CB-37F8-584A-889E-895630C53A95}" type="slidenum">
              <a:rPr lang="de-DE" smtClean="0"/>
              <a:pPr/>
              <a:t>29</a:t>
            </a:fld>
            <a:endParaRPr lang="de-DE"/>
          </a:p>
        </p:txBody>
      </p:sp>
    </p:spTree>
    <p:extLst>
      <p:ext uri="{BB962C8B-B14F-4D97-AF65-F5344CB8AC3E}">
        <p14:creationId xmlns:p14="http://schemas.microsoft.com/office/powerpoint/2010/main" val="32700338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feld 9"/>
          <p:cNvSpPr txBox="1"/>
          <p:nvPr userDrawn="1"/>
        </p:nvSpPr>
        <p:spPr>
          <a:xfrm>
            <a:off x="10653604" y="367632"/>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891519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EC58B094-7CBF-54A5-9666-8866CAB58CEC}"/>
              </a:ext>
            </a:extLst>
          </p:cNvPr>
          <p:cNvPicPr>
            <a:picLocks noChangeAspect="1"/>
          </p:cNvPicPr>
          <p:nvPr userDrawn="1"/>
        </p:nvPicPr>
        <p:blipFill>
          <a:blip r:embed="rId2"/>
          <a:stretch>
            <a:fillRect/>
          </a:stretch>
        </p:blipFill>
        <p:spPr>
          <a:xfrm>
            <a:off x="15240" y="0"/>
            <a:ext cx="12161520" cy="6858000"/>
          </a:xfrm>
          <a:prstGeom prst="rect">
            <a:avLst/>
          </a:prstGeom>
        </p:spPr>
      </p:pic>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sp>
        <p:nvSpPr>
          <p:cNvPr id="10" name="01">
            <a:extLst>
              <a:ext uri="{FF2B5EF4-FFF2-40B4-BE49-F238E27FC236}">
                <a16:creationId xmlns:a16="http://schemas.microsoft.com/office/drawing/2014/main" id="{2F39248C-D8A6-F031-8798-D29183DFB5FF}"/>
              </a:ext>
            </a:extLst>
          </p:cNvPr>
          <p:cNvSpPr/>
          <p:nvPr userDrawn="1"/>
        </p:nvSpPr>
        <p:spPr>
          <a:xfrm>
            <a:off x="10695822" y="-2557"/>
            <a:ext cx="288000" cy="360000"/>
          </a:xfrm>
          <a:prstGeom prst="rect">
            <a:avLst/>
          </a:prstGeom>
          <a:solidFill>
            <a:srgbClr val="4DB8A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6789" tIns="26789" rIns="26789" bIns="26789" anchor="ctr"/>
          <a:lstStyle>
            <a:lvl1pPr defTabSz="584200">
              <a:defRPr sz="1200">
                <a:solidFill>
                  <a:srgbClr val="FFFFFF"/>
                </a:solidFill>
                <a:latin typeface="Gilroy Light"/>
                <a:ea typeface="Gilroy Light"/>
                <a:cs typeface="Gilroy Light"/>
                <a:sym typeface="Gilroy Light"/>
              </a:defRPr>
            </a:lvl1pPr>
          </a:lstStyle>
          <a:p>
            <a:pPr algn="ctr"/>
            <a:endParaRPr sz="800"/>
          </a:p>
        </p:txBody>
      </p:sp>
      <p:sp>
        <p:nvSpPr>
          <p:cNvPr id="4" name="01">
            <a:extLst>
              <a:ext uri="{FF2B5EF4-FFF2-40B4-BE49-F238E27FC236}">
                <a16:creationId xmlns:a16="http://schemas.microsoft.com/office/drawing/2014/main" id="{E9EA7661-F82F-9971-5416-981AA6F8B8B4}"/>
              </a:ext>
            </a:extLst>
          </p:cNvPr>
          <p:cNvSpPr>
            <a:spLocks noChangeAspect="1"/>
          </p:cNvSpPr>
          <p:nvPr userDrawn="1"/>
        </p:nvSpPr>
        <p:spPr>
          <a:xfrm>
            <a:off x="10701770" y="0"/>
            <a:ext cx="273668" cy="360000"/>
          </a:xfrm>
          <a:prstGeom prst="rect">
            <a:avLst/>
          </a:prstGeom>
          <a:solidFill>
            <a:srgbClr val="2C3F48"/>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lstStyle>
            <a:lvl1pPr defTabSz="584200">
              <a:defRPr sz="1200">
                <a:solidFill>
                  <a:srgbClr val="FFFFFF"/>
                </a:solidFill>
                <a:latin typeface="Gilroy Light"/>
                <a:ea typeface="Gilroy Light"/>
                <a:cs typeface="Gilroy Light"/>
                <a:sym typeface="Gilroy Light"/>
              </a:defRPr>
            </a:lvl1pPr>
          </a:lstStyle>
          <a:p>
            <a:endParaRPr sz="633" dirty="0"/>
          </a:p>
        </p:txBody>
      </p:sp>
      <p:sp>
        <p:nvSpPr>
          <p:cNvPr id="11" name="Textfeld 10">
            <a:extLst>
              <a:ext uri="{FF2B5EF4-FFF2-40B4-BE49-F238E27FC236}">
                <a16:creationId xmlns:a16="http://schemas.microsoft.com/office/drawing/2014/main" id="{1FE58063-0C68-1D89-C8D4-695FEC8E4558}"/>
              </a:ext>
            </a:extLst>
          </p:cNvPr>
          <p:cNvSpPr txBox="1"/>
          <p:nvPr userDrawn="1"/>
        </p:nvSpPr>
        <p:spPr>
          <a:xfrm>
            <a:off x="10709502" y="54332"/>
            <a:ext cx="731520" cy="246221"/>
          </a:xfrm>
          <a:prstGeom prst="rect">
            <a:avLst/>
          </a:prstGeom>
          <a:noFill/>
        </p:spPr>
        <p:txBody>
          <a:bodyPr wrap="square" rtlCol="0">
            <a:spAutoFit/>
          </a:bodyPr>
          <a:lstStyle/>
          <a:p>
            <a:fld id="{A92209CA-EFDE-4AB8-9222-590C7472CDAB}" type="slidenum">
              <a:rPr lang="de-DE" sz="1000" smtClean="0">
                <a:solidFill>
                  <a:schemeClr val="bg1"/>
                </a:solidFill>
                <a:latin typeface="Gilroy ExtraBold"/>
              </a:rPr>
              <a:t>‹Nr.›</a:t>
            </a:fld>
            <a:endParaRPr lang="de-DE" sz="1000">
              <a:solidFill>
                <a:schemeClr val="bg1"/>
              </a:solidFill>
              <a:latin typeface="Gilroy ExtraBold"/>
            </a:endParaRPr>
          </a:p>
        </p:txBody>
      </p:sp>
      <p:sp>
        <p:nvSpPr>
          <p:cNvPr id="2" name="Projektbezeichnung | Titel">
            <a:extLst>
              <a:ext uri="{FF2B5EF4-FFF2-40B4-BE49-F238E27FC236}">
                <a16:creationId xmlns:a16="http://schemas.microsoft.com/office/drawing/2014/main" id="{7EB79AE8-0D8C-C49B-AFA0-2C9B5F4077EF}"/>
              </a:ext>
            </a:extLst>
          </p:cNvPr>
          <p:cNvSpPr txBox="1"/>
          <p:nvPr userDrawn="1"/>
        </p:nvSpPr>
        <p:spPr>
          <a:xfrm>
            <a:off x="549566" y="161538"/>
            <a:ext cx="3209523" cy="2079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spAutoFit/>
          </a:bodyPr>
          <a:lstStyle/>
          <a:p>
            <a:pPr algn="l">
              <a:defRPr sz="1500">
                <a:solidFill>
                  <a:srgbClr val="FFFFFF"/>
                </a:solidFill>
                <a:latin typeface="Gilroy Light"/>
                <a:ea typeface="Gilroy Light"/>
                <a:cs typeface="Gilroy Light"/>
                <a:sym typeface="Gilroy Light"/>
              </a:defRPr>
            </a:pPr>
            <a:r>
              <a:rPr lang="de-DE" sz="1000" dirty="0">
                <a:solidFill>
                  <a:srgbClr val="2C3F48"/>
                </a:solidFill>
                <a:latin typeface="Gilroy ExtraBold"/>
                <a:ea typeface="Gilroy ExtraBold"/>
                <a:cs typeface="Gilroy ExtraBold"/>
                <a:sym typeface="Gilroy ExtraBold"/>
              </a:rPr>
              <a:t>A07616000_A</a:t>
            </a:r>
            <a:endParaRPr sz="1000" dirty="0">
              <a:solidFill>
                <a:schemeClr val="bg1"/>
              </a:solidFill>
              <a:latin typeface="Gilroy ExtraBold"/>
              <a:ea typeface="Gilroy ExtraBold"/>
              <a:cs typeface="Gilroy ExtraBold"/>
              <a:sym typeface="Gilroy ExtraBold"/>
            </a:endParaRPr>
          </a:p>
        </p:txBody>
      </p:sp>
    </p:spTree>
    <p:extLst>
      <p:ext uri="{BB962C8B-B14F-4D97-AF65-F5344CB8AC3E}">
        <p14:creationId xmlns:p14="http://schemas.microsoft.com/office/powerpoint/2010/main" val="2954211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Folie">
    <p:bg>
      <p:bgPr>
        <a:solidFill>
          <a:schemeClr val="bg1"/>
        </a:solidFill>
        <a:effectLst/>
      </p:bgPr>
    </p:bg>
    <p:spTree>
      <p:nvGrpSpPr>
        <p:cNvPr id="1" name=""/>
        <p:cNvGrpSpPr/>
        <p:nvPr/>
      </p:nvGrpSpPr>
      <p:grpSpPr>
        <a:xfrm>
          <a:off x="0" y="0"/>
          <a:ext cx="0" cy="0"/>
          <a:chOff x="0" y="0"/>
          <a:chExt cx="0" cy="0"/>
        </a:xfrm>
      </p:grpSpPr>
      <p:pic>
        <p:nvPicPr>
          <p:cNvPr id="12" name="gluth-dots_turkis-hell.png" descr="gluth-dots_turkis-hell.png">
            <a:extLst>
              <a:ext uri="{FF2B5EF4-FFF2-40B4-BE49-F238E27FC236}">
                <a16:creationId xmlns:a16="http://schemas.microsoft.com/office/drawing/2014/main" id="{BD59312F-90B1-9FC7-468F-6B81B8C0A16B}"/>
              </a:ext>
            </a:extLst>
          </p:cNvPr>
          <p:cNvPicPr>
            <a:picLocks noChangeAspect="1"/>
          </p:cNvPicPr>
          <p:nvPr userDrawn="1"/>
        </p:nvPicPr>
        <p:blipFill rotWithShape="1">
          <a:blip r:embed="rId2"/>
          <a:srcRect t="54367" r="16055"/>
          <a:stretch/>
        </p:blipFill>
        <p:spPr>
          <a:xfrm>
            <a:off x="9430344" y="-2558"/>
            <a:ext cx="2761656" cy="1501267"/>
          </a:xfrm>
          <a:prstGeom prst="rect">
            <a:avLst/>
          </a:prstGeom>
          <a:ln w="12700">
            <a:miter lim="400000"/>
          </a:ln>
        </p:spPr>
      </p:pic>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pic>
        <p:nvPicPr>
          <p:cNvPr id="6" name="gluth-logo_RZ_rgb.png" descr="gluth-logo_RZ_rgb.png">
            <a:extLst>
              <a:ext uri="{FF2B5EF4-FFF2-40B4-BE49-F238E27FC236}">
                <a16:creationId xmlns:a16="http://schemas.microsoft.com/office/drawing/2014/main" id="{09991ADD-9B75-7CDB-BE00-7F86E7AA4B00}"/>
              </a:ext>
            </a:extLst>
          </p:cNvPr>
          <p:cNvPicPr>
            <a:picLocks noChangeAspect="1"/>
          </p:cNvPicPr>
          <p:nvPr userDrawn="1"/>
        </p:nvPicPr>
        <p:blipFill>
          <a:blip r:embed="rId3"/>
          <a:stretch>
            <a:fillRect/>
          </a:stretch>
        </p:blipFill>
        <p:spPr>
          <a:xfrm>
            <a:off x="10114208" y="6169583"/>
            <a:ext cx="1853667" cy="555054"/>
          </a:xfrm>
          <a:prstGeom prst="rect">
            <a:avLst/>
          </a:prstGeom>
          <a:ln w="12700">
            <a:miter lim="400000"/>
          </a:ln>
        </p:spPr>
      </p:pic>
      <p:sp>
        <p:nvSpPr>
          <p:cNvPr id="7" name="Projektbezeichnung | Titel">
            <a:extLst>
              <a:ext uri="{FF2B5EF4-FFF2-40B4-BE49-F238E27FC236}">
                <a16:creationId xmlns:a16="http://schemas.microsoft.com/office/drawing/2014/main" id="{6FBCAB55-7A36-744A-313E-F701D83C3678}"/>
              </a:ext>
            </a:extLst>
          </p:cNvPr>
          <p:cNvSpPr txBox="1"/>
          <p:nvPr userDrawn="1"/>
        </p:nvSpPr>
        <p:spPr>
          <a:xfrm>
            <a:off x="549566" y="161538"/>
            <a:ext cx="3209523" cy="2079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nchor="ctr">
            <a:spAutoFit/>
          </a:bodyPr>
          <a:lstStyle/>
          <a:p>
            <a:pPr algn="l">
              <a:defRPr sz="1500">
                <a:solidFill>
                  <a:srgbClr val="FFFFFF"/>
                </a:solidFill>
                <a:latin typeface="Gilroy Light"/>
                <a:ea typeface="Gilroy Light"/>
                <a:cs typeface="Gilroy Light"/>
                <a:sym typeface="Gilroy Light"/>
              </a:defRPr>
            </a:pPr>
            <a:r>
              <a:rPr lang="de-DE" sz="1000" dirty="0">
                <a:solidFill>
                  <a:srgbClr val="2C3F48"/>
                </a:solidFill>
              </a:rPr>
              <a:t>A07616000_B</a:t>
            </a:r>
            <a:r>
              <a:rPr sz="1000" dirty="0">
                <a:solidFill>
                  <a:srgbClr val="2C3F48"/>
                </a:solidFill>
              </a:rPr>
              <a:t> | </a:t>
            </a:r>
            <a:fld id="{3C0A5C85-D6AC-4518-BE8C-D4372821F754}" type="datetime1">
              <a:rPr lang="de-DE" sz="1000" smtClean="0">
                <a:solidFill>
                  <a:srgbClr val="4DB8A0"/>
                </a:solidFill>
                <a:latin typeface="Gilroy ExtraBold"/>
                <a:ea typeface="Gilroy ExtraBold"/>
                <a:cs typeface="Gilroy ExtraBold"/>
                <a:sym typeface="Gilroy ExtraBold"/>
              </a:rPr>
              <a:t>02.07.2025</a:t>
            </a:fld>
            <a:endParaRPr sz="1000" dirty="0">
              <a:solidFill>
                <a:srgbClr val="4DB8A0"/>
              </a:solidFill>
              <a:latin typeface="Gilroy ExtraBold"/>
              <a:ea typeface="Gilroy ExtraBold"/>
              <a:cs typeface="Gilroy ExtraBold"/>
              <a:sym typeface="Gilroy ExtraBold"/>
            </a:endParaRPr>
          </a:p>
        </p:txBody>
      </p:sp>
      <p:sp>
        <p:nvSpPr>
          <p:cNvPr id="10" name="01">
            <a:extLst>
              <a:ext uri="{FF2B5EF4-FFF2-40B4-BE49-F238E27FC236}">
                <a16:creationId xmlns:a16="http://schemas.microsoft.com/office/drawing/2014/main" id="{2F39248C-D8A6-F031-8798-D29183DFB5FF}"/>
              </a:ext>
            </a:extLst>
          </p:cNvPr>
          <p:cNvSpPr/>
          <p:nvPr userDrawn="1"/>
        </p:nvSpPr>
        <p:spPr>
          <a:xfrm>
            <a:off x="10695822" y="-2557"/>
            <a:ext cx="288000" cy="360000"/>
          </a:xfrm>
          <a:prstGeom prst="rect">
            <a:avLst/>
          </a:prstGeom>
          <a:solidFill>
            <a:srgbClr val="4DB8A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lstStyle>
            <a:lvl1pPr defTabSz="584200">
              <a:defRPr sz="1200">
                <a:solidFill>
                  <a:srgbClr val="FFFFFF"/>
                </a:solidFill>
                <a:latin typeface="Gilroy Light"/>
                <a:ea typeface="Gilroy Light"/>
                <a:cs typeface="Gilroy Light"/>
                <a:sym typeface="Gilroy Light"/>
              </a:defRPr>
            </a:lvl1pPr>
          </a:lstStyle>
          <a:p>
            <a:pPr algn="ctr"/>
            <a:endParaRPr sz="800"/>
          </a:p>
        </p:txBody>
      </p:sp>
      <p:sp>
        <p:nvSpPr>
          <p:cNvPr id="11" name="Textfeld 10">
            <a:extLst>
              <a:ext uri="{FF2B5EF4-FFF2-40B4-BE49-F238E27FC236}">
                <a16:creationId xmlns:a16="http://schemas.microsoft.com/office/drawing/2014/main" id="{1FE58063-0C68-1D89-C8D4-695FEC8E4558}"/>
              </a:ext>
            </a:extLst>
          </p:cNvPr>
          <p:cNvSpPr txBox="1"/>
          <p:nvPr userDrawn="1"/>
        </p:nvSpPr>
        <p:spPr>
          <a:xfrm>
            <a:off x="10709502" y="54332"/>
            <a:ext cx="731520" cy="246221"/>
          </a:xfrm>
          <a:prstGeom prst="rect">
            <a:avLst/>
          </a:prstGeom>
          <a:noFill/>
        </p:spPr>
        <p:txBody>
          <a:bodyPr wrap="square" rtlCol="0">
            <a:spAutoFit/>
          </a:bodyPr>
          <a:lstStyle/>
          <a:p>
            <a:fld id="{A92209CA-EFDE-4AB8-9222-590C7472CDAB}" type="slidenum">
              <a:rPr lang="de-DE" sz="1000" smtClean="0">
                <a:solidFill>
                  <a:schemeClr val="tx1"/>
                </a:solidFill>
                <a:latin typeface="Gilroy ExtraBold"/>
              </a:rPr>
              <a:t>‹Nr.›</a:t>
            </a:fld>
            <a:endParaRPr lang="de-DE" sz="1000">
              <a:solidFill>
                <a:schemeClr val="tx1"/>
              </a:solidFill>
              <a:latin typeface="Gilroy ExtraBold"/>
            </a:endParaRPr>
          </a:p>
        </p:txBody>
      </p:sp>
      <p:sp>
        <p:nvSpPr>
          <p:cNvPr id="2" name="Titel 1">
            <a:extLst>
              <a:ext uri="{FF2B5EF4-FFF2-40B4-BE49-F238E27FC236}">
                <a16:creationId xmlns:a16="http://schemas.microsoft.com/office/drawing/2014/main" id="{BB7EDDE7-1837-9DEF-31C0-853111381097}"/>
              </a:ext>
            </a:extLst>
          </p:cNvPr>
          <p:cNvSpPr>
            <a:spLocks noGrp="1"/>
          </p:cNvSpPr>
          <p:nvPr>
            <p:ph type="title" hasCustomPrompt="1"/>
          </p:nvPr>
        </p:nvSpPr>
        <p:spPr>
          <a:xfrm>
            <a:off x="3500524" y="161538"/>
            <a:ext cx="4656790" cy="265716"/>
          </a:xfrm>
          <a:prstGeom prst="rect">
            <a:avLst/>
          </a:prstGeom>
        </p:spPr>
        <p:txBody>
          <a:bodyPr anchor="t"/>
          <a:lstStyle>
            <a:lvl1pPr algn="ctr">
              <a:defRPr lang="de-DE" sz="1000" kern="1200" dirty="0">
                <a:solidFill>
                  <a:srgbClr val="2C3F48"/>
                </a:solidFill>
                <a:latin typeface="Gilroy Light"/>
                <a:ea typeface="Gilroy Light"/>
                <a:cs typeface="Gilroy Light"/>
              </a:defRPr>
            </a:lvl1pPr>
          </a:lstStyle>
          <a:p>
            <a:r>
              <a:rPr lang="de-DE" dirty="0"/>
              <a:t>Folientitel</a:t>
            </a:r>
          </a:p>
        </p:txBody>
      </p:sp>
    </p:spTree>
    <p:extLst>
      <p:ext uri="{BB962C8B-B14F-4D97-AF65-F5344CB8AC3E}">
        <p14:creationId xmlns:p14="http://schemas.microsoft.com/office/powerpoint/2010/main" val="1181577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nke">
    <p:bg>
      <p:bgPr>
        <a:solidFill>
          <a:schemeClr val="bg1"/>
        </a:solidFill>
        <a:effectLst/>
      </p:bgPr>
    </p:bg>
    <p:spTree>
      <p:nvGrpSpPr>
        <p:cNvPr id="1" name=""/>
        <p:cNvGrpSpPr/>
        <p:nvPr/>
      </p:nvGrpSpPr>
      <p:grpSpPr>
        <a:xfrm>
          <a:off x="0" y="0"/>
          <a:ext cx="0" cy="0"/>
          <a:chOff x="0" y="0"/>
          <a:chExt cx="0" cy="0"/>
        </a:xfrm>
      </p:grpSpPr>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pic>
        <p:nvPicPr>
          <p:cNvPr id="3" name="Grafik 2">
            <a:extLst>
              <a:ext uri="{FF2B5EF4-FFF2-40B4-BE49-F238E27FC236}">
                <a16:creationId xmlns:a16="http://schemas.microsoft.com/office/drawing/2014/main" id="{9CF6A121-117E-2360-103B-99EDB01E807A}"/>
              </a:ext>
            </a:extLst>
          </p:cNvPr>
          <p:cNvPicPr>
            <a:picLocks noChangeAspect="1"/>
          </p:cNvPicPr>
          <p:nvPr userDrawn="1"/>
        </p:nvPicPr>
        <p:blipFill>
          <a:blip r:embed="rId2"/>
          <a:stretch>
            <a:fillRect/>
          </a:stretch>
        </p:blipFill>
        <p:spPr>
          <a:xfrm>
            <a:off x="0" y="18994"/>
            <a:ext cx="12192000" cy="6820012"/>
          </a:xfrm>
          <a:prstGeom prst="rect">
            <a:avLst/>
          </a:prstGeom>
        </p:spPr>
      </p:pic>
    </p:spTree>
    <p:extLst>
      <p:ext uri="{BB962C8B-B14F-4D97-AF65-F5344CB8AC3E}">
        <p14:creationId xmlns:p14="http://schemas.microsoft.com/office/powerpoint/2010/main" val="19754858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Folie">
    <p:bg>
      <p:bgPr>
        <a:solidFill>
          <a:schemeClr val="bg1"/>
        </a:solidFill>
        <a:effectLst/>
      </p:bgPr>
    </p:bg>
    <p:spTree>
      <p:nvGrpSpPr>
        <p:cNvPr id="1" name=""/>
        <p:cNvGrpSpPr/>
        <p:nvPr/>
      </p:nvGrpSpPr>
      <p:grpSpPr>
        <a:xfrm>
          <a:off x="0" y="0"/>
          <a:ext cx="0" cy="0"/>
          <a:chOff x="0" y="0"/>
          <a:chExt cx="0" cy="0"/>
        </a:xfrm>
      </p:grpSpPr>
      <p:pic>
        <p:nvPicPr>
          <p:cNvPr id="12" name="gluth-dots_turkis-hell.png" descr="gluth-dots_turkis-hell.png">
            <a:extLst>
              <a:ext uri="{FF2B5EF4-FFF2-40B4-BE49-F238E27FC236}">
                <a16:creationId xmlns:a16="http://schemas.microsoft.com/office/drawing/2014/main" id="{BD59312F-90B1-9FC7-468F-6B81B8C0A16B}"/>
              </a:ext>
            </a:extLst>
          </p:cNvPr>
          <p:cNvPicPr>
            <a:picLocks noChangeAspect="1"/>
          </p:cNvPicPr>
          <p:nvPr userDrawn="1"/>
        </p:nvPicPr>
        <p:blipFill rotWithShape="1">
          <a:blip r:embed="rId2"/>
          <a:srcRect t="54367" r="16055"/>
          <a:stretch/>
        </p:blipFill>
        <p:spPr>
          <a:xfrm>
            <a:off x="9430344" y="-2557"/>
            <a:ext cx="2761656" cy="1501267"/>
          </a:xfrm>
          <a:prstGeom prst="rect">
            <a:avLst/>
          </a:prstGeom>
          <a:ln w="12700">
            <a:miter lim="400000"/>
          </a:ln>
        </p:spPr>
      </p:pic>
      <p:sp>
        <p:nvSpPr>
          <p:cNvPr id="8" name="Datumsplatzhalter 7">
            <a:extLst>
              <a:ext uri="{FF2B5EF4-FFF2-40B4-BE49-F238E27FC236}">
                <a16:creationId xmlns:a16="http://schemas.microsoft.com/office/drawing/2014/main" id="{9DDD4D97-141A-4645-B9D8-3B092E6DE87B}"/>
              </a:ext>
            </a:extLst>
          </p:cNvPr>
          <p:cNvSpPr>
            <a:spLocks noGrp="1"/>
          </p:cNvSpPr>
          <p:nvPr>
            <p:ph type="dt" sz="half" idx="10"/>
          </p:nvPr>
        </p:nvSpPr>
        <p:spPr/>
        <p:txBody>
          <a:bodyPr/>
          <a:lstStyle/>
          <a:p>
            <a:r>
              <a:rPr lang="de-DE"/>
              <a:t> </a:t>
            </a:r>
          </a:p>
        </p:txBody>
      </p:sp>
      <p:pic>
        <p:nvPicPr>
          <p:cNvPr id="6" name="gluth-logo_RZ_rgb.png" descr="gluth-logo_RZ_rgb.png">
            <a:extLst>
              <a:ext uri="{FF2B5EF4-FFF2-40B4-BE49-F238E27FC236}">
                <a16:creationId xmlns:a16="http://schemas.microsoft.com/office/drawing/2014/main" id="{09991ADD-9B75-7CDB-BE00-7F86E7AA4B00}"/>
              </a:ext>
            </a:extLst>
          </p:cNvPr>
          <p:cNvPicPr>
            <a:picLocks noChangeAspect="1"/>
          </p:cNvPicPr>
          <p:nvPr userDrawn="1"/>
        </p:nvPicPr>
        <p:blipFill>
          <a:blip r:embed="rId3"/>
          <a:stretch>
            <a:fillRect/>
          </a:stretch>
        </p:blipFill>
        <p:spPr>
          <a:xfrm>
            <a:off x="10114208" y="6169583"/>
            <a:ext cx="1853667" cy="555054"/>
          </a:xfrm>
          <a:prstGeom prst="rect">
            <a:avLst/>
          </a:prstGeom>
          <a:ln w="12700">
            <a:miter lim="400000"/>
          </a:ln>
        </p:spPr>
      </p:pic>
      <p:sp>
        <p:nvSpPr>
          <p:cNvPr id="7" name="Projektbezeichnung | Titel">
            <a:extLst>
              <a:ext uri="{FF2B5EF4-FFF2-40B4-BE49-F238E27FC236}">
                <a16:creationId xmlns:a16="http://schemas.microsoft.com/office/drawing/2014/main" id="{6FBCAB55-7A36-744A-313E-F701D83C3678}"/>
              </a:ext>
            </a:extLst>
          </p:cNvPr>
          <p:cNvSpPr txBox="1"/>
          <p:nvPr userDrawn="1"/>
        </p:nvSpPr>
        <p:spPr>
          <a:xfrm>
            <a:off x="549566" y="161538"/>
            <a:ext cx="3209523" cy="2079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nchor="ctr">
            <a:spAutoFit/>
          </a:bodyPr>
          <a:lstStyle/>
          <a:p>
            <a:pPr algn="l">
              <a:defRPr sz="1500">
                <a:solidFill>
                  <a:srgbClr val="FFFFFF"/>
                </a:solidFill>
                <a:latin typeface="Gilroy Light"/>
                <a:ea typeface="Gilroy Light"/>
                <a:cs typeface="Gilroy Light"/>
                <a:sym typeface="Gilroy Light"/>
              </a:defRPr>
            </a:pPr>
            <a:r>
              <a:rPr lang="de-DE" sz="1000" dirty="0">
                <a:solidFill>
                  <a:srgbClr val="2C3F48"/>
                </a:solidFill>
                <a:latin typeface="+mj-lt"/>
              </a:rPr>
              <a:t>A07643000_B – Angebot </a:t>
            </a:r>
            <a:r>
              <a:rPr sz="1000" dirty="0">
                <a:solidFill>
                  <a:srgbClr val="2C3F48"/>
                </a:solidFill>
                <a:latin typeface="+mj-lt"/>
              </a:rPr>
              <a:t>| </a:t>
            </a:r>
            <a:r>
              <a:rPr lang="de-DE" sz="1000" dirty="0">
                <a:solidFill>
                  <a:srgbClr val="4DB8A0"/>
                </a:solidFill>
                <a:latin typeface="+mj-lt"/>
                <a:sym typeface="Gilroy ExtraBold"/>
              </a:rPr>
              <a:t>08.04.2025</a:t>
            </a:r>
            <a:endParaRPr sz="1000" dirty="0">
              <a:solidFill>
                <a:srgbClr val="4DB8A0"/>
              </a:solidFill>
              <a:latin typeface="+mj-lt"/>
              <a:ea typeface="Gilroy ExtraBold"/>
              <a:cs typeface="Gilroy ExtraBold"/>
              <a:sym typeface="Gilroy ExtraBold"/>
            </a:endParaRPr>
          </a:p>
        </p:txBody>
      </p:sp>
      <p:sp>
        <p:nvSpPr>
          <p:cNvPr id="4" name="Textfeld 3">
            <a:extLst>
              <a:ext uri="{FF2B5EF4-FFF2-40B4-BE49-F238E27FC236}">
                <a16:creationId xmlns:a16="http://schemas.microsoft.com/office/drawing/2014/main" id="{11647A44-1BE1-D8C4-64E2-48910E5FC2F7}"/>
              </a:ext>
            </a:extLst>
          </p:cNvPr>
          <p:cNvSpPr txBox="1"/>
          <p:nvPr userDrawn="1"/>
        </p:nvSpPr>
        <p:spPr>
          <a:xfrm>
            <a:off x="10710154" y="-2557"/>
            <a:ext cx="273668" cy="344128"/>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lIns="18000" tIns="18000" rIns="18000" bIns="18000" rtlCol="0" anchor="ctr" anchorCtr="0">
            <a:spAutoFit/>
          </a:bodyPr>
          <a:lstStyle/>
          <a:p>
            <a:pPr algn="ctr"/>
            <a:fld id="{A92209CA-EFDE-4AB8-9222-590C7472CDAB}" type="slidenum">
              <a:rPr lang="de-DE" sz="1000" smtClean="0">
                <a:solidFill>
                  <a:schemeClr val="bg1"/>
                </a:solidFill>
                <a:latin typeface="+mj-lt"/>
              </a:rPr>
              <a:pPr algn="ctr"/>
              <a:t>‹Nr.›</a:t>
            </a:fld>
            <a:endParaRPr lang="de-DE" sz="1000" dirty="0">
              <a:solidFill>
                <a:schemeClr val="bg1"/>
              </a:solidFill>
              <a:latin typeface="+mj-lt"/>
            </a:endParaRPr>
          </a:p>
        </p:txBody>
      </p:sp>
    </p:spTree>
    <p:extLst>
      <p:ext uri="{BB962C8B-B14F-4D97-AF65-F5344CB8AC3E}">
        <p14:creationId xmlns:p14="http://schemas.microsoft.com/office/powerpoint/2010/main" val="6820631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548960"/>
      </p:ext>
    </p:extLst>
  </p:cSld>
  <p:clrMap bg1="lt1" tx1="dk1" bg2="lt2" tx2="dk2" accent1="accent1" accent2="accent2" accent3="accent3" accent4="accent4" accent5="accent5" accent6="accent6" hlink="hlink" folHlink="folHlink"/>
  <p:sldLayoutIdLst>
    <p:sldLayoutId id="2147483654" r:id="rId1"/>
    <p:sldLayoutId id="2147483657" r:id="rId2"/>
    <p:sldLayoutId id="2147483656" r:id="rId3"/>
    <p:sldLayoutId id="2147483658" r:id="rId4"/>
    <p:sldLayoutId id="2147483659"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 Id="rId9" Type="http://schemas.microsoft.com/office/2007/relationships/hdphoto" Target="../media/hdphoto2.wdp"/></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rzlich Willkommen…">
            <a:extLst>
              <a:ext uri="{FF2B5EF4-FFF2-40B4-BE49-F238E27FC236}">
                <a16:creationId xmlns:a16="http://schemas.microsoft.com/office/drawing/2014/main" id="{31991B22-ADE8-1F96-4A16-CC0F3362E09B}"/>
              </a:ext>
            </a:extLst>
          </p:cNvPr>
          <p:cNvSpPr txBox="1"/>
          <p:nvPr/>
        </p:nvSpPr>
        <p:spPr>
          <a:xfrm>
            <a:off x="569950" y="749685"/>
            <a:ext cx="6875456" cy="9158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6789" tIns="26789" rIns="26789" bIns="26789" anchor="ctr">
            <a:spAutoFit/>
          </a:bodyPr>
          <a:lstStyle/>
          <a:p>
            <a:pPr algn="l">
              <a:defRPr sz="7000">
                <a:solidFill>
                  <a:srgbClr val="FFFFFF"/>
                </a:solidFill>
                <a:latin typeface="Gilroy ExtraBold"/>
                <a:ea typeface="Gilroy ExtraBold"/>
                <a:cs typeface="Gilroy ExtraBold"/>
                <a:sym typeface="Gilroy ExtraBold"/>
              </a:defRPr>
            </a:pPr>
            <a:r>
              <a:rPr lang="de-DE" sz="2800" dirty="0" err="1"/>
              <a:t>Our</a:t>
            </a:r>
            <a:r>
              <a:rPr lang="de-DE" sz="2800" dirty="0"/>
              <a:t> </a:t>
            </a:r>
            <a:r>
              <a:rPr lang="de-DE" sz="2800" dirty="0" err="1"/>
              <a:t>price</a:t>
            </a:r>
            <a:r>
              <a:rPr lang="de-DE" sz="2800" dirty="0"/>
              <a:t> </a:t>
            </a:r>
            <a:r>
              <a:rPr lang="de-DE" sz="2800" dirty="0" err="1"/>
              <a:t>offer</a:t>
            </a:r>
            <a:r>
              <a:rPr lang="de-DE" sz="2800" dirty="0"/>
              <a:t>: </a:t>
            </a:r>
            <a:r>
              <a:rPr lang="de-DE" sz="2000" dirty="0"/>
              <a:t>A07616000_B</a:t>
            </a:r>
          </a:p>
          <a:p>
            <a:pPr algn="l">
              <a:defRPr sz="7000">
                <a:solidFill>
                  <a:srgbClr val="FFFFFF"/>
                </a:solidFill>
                <a:latin typeface="Gilroy ExtraBold"/>
                <a:ea typeface="Gilroy ExtraBold"/>
                <a:cs typeface="Gilroy ExtraBold"/>
                <a:sym typeface="Gilroy ExtraBold"/>
              </a:defRPr>
            </a:pPr>
            <a:r>
              <a:rPr lang="de-DE" sz="2800" b="1" dirty="0" err="1">
                <a:solidFill>
                  <a:srgbClr val="8ED2C3"/>
                </a:solidFill>
                <a:latin typeface="Calibri" panose="020F0502020204030204" pitchFamily="34" charset="0"/>
              </a:rPr>
              <a:t>Automatic</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production</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line</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for</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wire</a:t>
            </a:r>
            <a:r>
              <a:rPr lang="de-DE" sz="2800" b="1" dirty="0">
                <a:solidFill>
                  <a:srgbClr val="8ED2C3"/>
                </a:solidFill>
                <a:latin typeface="Calibri" panose="020F0502020204030204" pitchFamily="34" charset="0"/>
              </a:rPr>
              <a:t> </a:t>
            </a:r>
            <a:r>
              <a:rPr lang="de-DE" sz="2800" b="1" dirty="0" err="1">
                <a:solidFill>
                  <a:srgbClr val="8ED2C3"/>
                </a:solidFill>
                <a:latin typeface="Calibri" panose="020F0502020204030204" pitchFamily="34" charset="0"/>
              </a:rPr>
              <a:t>processing</a:t>
            </a:r>
            <a:endParaRPr sz="2800" b="1" dirty="0">
              <a:solidFill>
                <a:srgbClr val="8ED2C3"/>
              </a:solidFill>
              <a:latin typeface="Calibri" panose="020F0502020204030204" pitchFamily="34" charset="0"/>
            </a:endParaRPr>
          </a:p>
        </p:txBody>
      </p:sp>
      <p:pic>
        <p:nvPicPr>
          <p:cNvPr id="4" name="Grafik 3">
            <a:extLst>
              <a:ext uri="{FF2B5EF4-FFF2-40B4-BE49-F238E27FC236}">
                <a16:creationId xmlns:a16="http://schemas.microsoft.com/office/drawing/2014/main" id="{8EDE69DE-B997-DB3A-3B0C-1CA79381F7BE}"/>
              </a:ext>
            </a:extLst>
          </p:cNvPr>
          <p:cNvPicPr>
            <a:picLocks noChangeAspect="1"/>
          </p:cNvPicPr>
          <p:nvPr/>
        </p:nvPicPr>
        <p:blipFill>
          <a:blip r:embed="rId3"/>
          <a:stretch>
            <a:fillRect/>
          </a:stretch>
        </p:blipFill>
        <p:spPr>
          <a:xfrm>
            <a:off x="5575821" y="4702275"/>
            <a:ext cx="2027414" cy="859264"/>
          </a:xfrm>
          <a:prstGeom prst="rect">
            <a:avLst/>
          </a:prstGeom>
        </p:spPr>
      </p:pic>
      <p:sp>
        <p:nvSpPr>
          <p:cNvPr id="3" name="Textfeld 2">
            <a:extLst>
              <a:ext uri="{FF2B5EF4-FFF2-40B4-BE49-F238E27FC236}">
                <a16:creationId xmlns:a16="http://schemas.microsoft.com/office/drawing/2014/main" id="{2E2CE726-E39A-5B62-2050-009A0C486E8B}"/>
              </a:ext>
            </a:extLst>
          </p:cNvPr>
          <p:cNvSpPr txBox="1"/>
          <p:nvPr/>
        </p:nvSpPr>
        <p:spPr>
          <a:xfrm>
            <a:off x="519150" y="2978234"/>
            <a:ext cx="2062219"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055" b="1" dirty="0">
                <a:solidFill>
                  <a:srgbClr val="FFFFFF"/>
                </a:solidFill>
                <a:latin typeface="Gilroy Light" pitchFamily="2" charset="77"/>
              </a:rPr>
              <a:t>Florian Schötz</a:t>
            </a:r>
          </a:p>
          <a:p>
            <a:pPr algn="l">
              <a:lnSpc>
                <a:spcPts val="1582"/>
              </a:lnSpc>
            </a:pPr>
            <a:r>
              <a:rPr lang="de-DE" sz="1055" dirty="0">
                <a:solidFill>
                  <a:srgbClr val="FFFFFF"/>
                </a:solidFill>
                <a:latin typeface="Gilroy Light" pitchFamily="2" charset="77"/>
              </a:rPr>
              <a:t>Technical </a:t>
            </a:r>
            <a:r>
              <a:rPr lang="de-DE" sz="1055" dirty="0" err="1">
                <a:solidFill>
                  <a:srgbClr val="FFFFFF"/>
                </a:solidFill>
                <a:latin typeface="Gilroy Light" pitchFamily="2" charset="77"/>
              </a:rPr>
              <a:t>sales</a:t>
            </a:r>
            <a:br>
              <a:rPr lang="de-DE" sz="1055" dirty="0">
                <a:solidFill>
                  <a:srgbClr val="FFFFFF"/>
                </a:solidFill>
                <a:latin typeface="Gilroy Light" pitchFamily="2" charset="77"/>
              </a:rPr>
            </a:br>
            <a:r>
              <a:rPr lang="de-DE" sz="1055" dirty="0">
                <a:solidFill>
                  <a:srgbClr val="FFFFFF"/>
                </a:solidFill>
                <a:latin typeface="Gilroy Light" pitchFamily="2" charset="77"/>
              </a:rPr>
              <a:t>E-Mail: schoetz.florian@gluth.eu </a:t>
            </a:r>
          </a:p>
          <a:p>
            <a:pPr algn="l">
              <a:lnSpc>
                <a:spcPts val="1582"/>
              </a:lnSpc>
            </a:pPr>
            <a:r>
              <a:rPr lang="de-DE" sz="1055" dirty="0">
                <a:solidFill>
                  <a:srgbClr val="FFFFFF"/>
                </a:solidFill>
                <a:latin typeface="Gilroy Light" pitchFamily="2" charset="77"/>
              </a:rPr>
              <a:t>Tel      : +49 9421 / 544-965</a:t>
            </a:r>
          </a:p>
          <a:p>
            <a:pPr algn="l">
              <a:lnSpc>
                <a:spcPts val="1582"/>
              </a:lnSpc>
            </a:pPr>
            <a:r>
              <a:rPr lang="de-DE" sz="1055" dirty="0">
                <a:solidFill>
                  <a:srgbClr val="FFFFFF"/>
                </a:solidFill>
                <a:latin typeface="Gilroy Light" pitchFamily="2" charset="77"/>
              </a:rPr>
              <a:t>Mobil : +49 151 / 20832983  	</a:t>
            </a:r>
          </a:p>
        </p:txBody>
      </p:sp>
      <p:sp>
        <p:nvSpPr>
          <p:cNvPr id="6" name="Textfeld 5">
            <a:extLst>
              <a:ext uri="{FF2B5EF4-FFF2-40B4-BE49-F238E27FC236}">
                <a16:creationId xmlns:a16="http://schemas.microsoft.com/office/drawing/2014/main" id="{8780E428-333A-7D4B-0846-7661E8B7BE24}"/>
              </a:ext>
            </a:extLst>
          </p:cNvPr>
          <p:cNvSpPr txBox="1"/>
          <p:nvPr/>
        </p:nvSpPr>
        <p:spPr>
          <a:xfrm>
            <a:off x="500987" y="2615256"/>
            <a:ext cx="3203859" cy="2975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400" b="1" dirty="0">
                <a:solidFill>
                  <a:srgbClr val="FFFFFF"/>
                </a:solidFill>
                <a:latin typeface="Gilroy Light" pitchFamily="2" charset="77"/>
              </a:rPr>
              <a:t>Contact person Gluth:</a:t>
            </a:r>
            <a:endParaRPr lang="de-DE" sz="1400" dirty="0">
              <a:solidFill>
                <a:srgbClr val="FFFFFF"/>
              </a:solidFill>
              <a:latin typeface="Gilroy Light" pitchFamily="2" charset="77"/>
            </a:endParaRPr>
          </a:p>
        </p:txBody>
      </p:sp>
      <p:sp>
        <p:nvSpPr>
          <p:cNvPr id="7" name="Textfeld 6">
            <a:extLst>
              <a:ext uri="{FF2B5EF4-FFF2-40B4-BE49-F238E27FC236}">
                <a16:creationId xmlns:a16="http://schemas.microsoft.com/office/drawing/2014/main" id="{F579452B-B259-2EBE-EFFE-65181C573B7B}"/>
              </a:ext>
            </a:extLst>
          </p:cNvPr>
          <p:cNvSpPr txBox="1"/>
          <p:nvPr/>
        </p:nvSpPr>
        <p:spPr>
          <a:xfrm>
            <a:off x="5020256" y="2621606"/>
            <a:ext cx="3203859" cy="2975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400" b="1" dirty="0">
                <a:solidFill>
                  <a:srgbClr val="FFFFFF"/>
                </a:solidFill>
                <a:latin typeface="Gilroy Light" pitchFamily="2" charset="77"/>
              </a:rPr>
              <a:t>Contact person Dräxlmaier:</a:t>
            </a:r>
            <a:endParaRPr lang="de-DE" sz="1400" dirty="0">
              <a:solidFill>
                <a:srgbClr val="FFFFFF"/>
              </a:solidFill>
              <a:latin typeface="Gilroy Light" pitchFamily="2" charset="77"/>
            </a:endParaRPr>
          </a:p>
        </p:txBody>
      </p:sp>
      <p:sp>
        <p:nvSpPr>
          <p:cNvPr id="8" name="Textfeld 7">
            <a:extLst>
              <a:ext uri="{FF2B5EF4-FFF2-40B4-BE49-F238E27FC236}">
                <a16:creationId xmlns:a16="http://schemas.microsoft.com/office/drawing/2014/main" id="{2B288582-564D-D396-BA47-547C5A2271D6}"/>
              </a:ext>
            </a:extLst>
          </p:cNvPr>
          <p:cNvSpPr txBox="1"/>
          <p:nvPr/>
        </p:nvSpPr>
        <p:spPr>
          <a:xfrm>
            <a:off x="5039054" y="2986605"/>
            <a:ext cx="2652171"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de-DE"/>
            </a:defPPr>
            <a:lvl1pPr>
              <a:lnSpc>
                <a:spcPts val="1582"/>
              </a:lnSpc>
              <a:defRPr sz="1055">
                <a:solidFill>
                  <a:srgbClr val="FFFFFF"/>
                </a:solidFill>
                <a:latin typeface="Gilroy Light" pitchFamily="2" charset="77"/>
                <a:cs typeface="Arial" panose="020B0604020202020204" pitchFamily="34" charset="0"/>
              </a:defRPr>
            </a:lvl1pPr>
            <a:lvl2pPr marL="742950" indent="-285750">
              <a:defRPr>
                <a:latin typeface="Arial" panose="020B0604020202020204" pitchFamily="34" charset="0"/>
                <a:cs typeface="Arial" panose="020B0604020202020204" pitchFamily="34" charset="0"/>
              </a:defRPr>
            </a:lvl2pPr>
            <a:lvl3pPr marL="1143000" indent="-228600">
              <a:defRPr>
                <a:latin typeface="Arial" panose="020B0604020202020204" pitchFamily="34" charset="0"/>
                <a:cs typeface="Arial" panose="020B0604020202020204" pitchFamily="34" charset="0"/>
              </a:defRPr>
            </a:lvl3pPr>
            <a:lvl4pPr marL="1600200" indent="-228600">
              <a:defRPr>
                <a:latin typeface="Arial" panose="020B0604020202020204" pitchFamily="34" charset="0"/>
                <a:cs typeface="Arial" panose="020B0604020202020204" pitchFamily="34" charset="0"/>
              </a:defRPr>
            </a:lvl4pPr>
            <a:lvl5pPr marL="2057400" indent="-228600">
              <a:defRPr>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cs typeface="Arial" panose="020B0604020202020204" pitchFamily="34" charset="0"/>
              </a:defRPr>
            </a:lvl9pPr>
          </a:lstStyle>
          <a:p>
            <a:r>
              <a:rPr lang="de-DE" dirty="0"/>
              <a:t>Thomas </a:t>
            </a:r>
            <a:r>
              <a:rPr lang="de-DE" dirty="0" err="1"/>
              <a:t>Eglseder</a:t>
            </a:r>
            <a:endParaRPr lang="de-DE" dirty="0"/>
          </a:p>
          <a:p>
            <a:r>
              <a:rPr lang="de-DE" dirty="0" err="1"/>
              <a:t>Purchase</a:t>
            </a:r>
            <a:endParaRPr lang="de-DE" dirty="0"/>
          </a:p>
          <a:p>
            <a:r>
              <a:rPr lang="de-DE" dirty="0"/>
              <a:t>E-Mail:  Thomas.eglseder2@draexlmaier.com </a:t>
            </a:r>
            <a:br>
              <a:rPr lang="de-DE" dirty="0"/>
            </a:br>
            <a:r>
              <a:rPr lang="de-DE" dirty="0"/>
              <a:t>Tel      : +49 8741 / 47 3574</a:t>
            </a:r>
          </a:p>
          <a:p>
            <a:r>
              <a:rPr lang="de-DE" dirty="0"/>
              <a:t>Mobil : +49 152 / 2800 4115	</a:t>
            </a:r>
          </a:p>
        </p:txBody>
      </p:sp>
      <p:sp>
        <p:nvSpPr>
          <p:cNvPr id="9" name="Rechteck 8">
            <a:extLst>
              <a:ext uri="{FF2B5EF4-FFF2-40B4-BE49-F238E27FC236}">
                <a16:creationId xmlns:a16="http://schemas.microsoft.com/office/drawing/2014/main" id="{42FD4F6A-34E6-C771-E9F0-56937E415118}"/>
              </a:ext>
            </a:extLst>
          </p:cNvPr>
          <p:cNvSpPr>
            <a:spLocks noChangeArrowheads="1"/>
          </p:cNvSpPr>
          <p:nvPr/>
        </p:nvSpPr>
        <p:spPr bwMode="auto">
          <a:xfrm>
            <a:off x="2596948" y="2976959"/>
            <a:ext cx="2592388"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1582"/>
              </a:lnSpc>
            </a:pPr>
            <a:r>
              <a:rPr lang="de-DE" altLang="de-DE" sz="1055" dirty="0">
                <a:solidFill>
                  <a:srgbClr val="FFFFFF"/>
                </a:solidFill>
                <a:latin typeface="Gilroy Light" pitchFamily="2" charset="77"/>
              </a:rPr>
              <a:t>Radlbeck Ulrich</a:t>
            </a:r>
            <a:br>
              <a:rPr lang="de-DE" altLang="de-DE" sz="1055" dirty="0">
                <a:solidFill>
                  <a:srgbClr val="FFFFFF"/>
                </a:solidFill>
                <a:latin typeface="Gilroy Light" pitchFamily="2" charset="77"/>
              </a:rPr>
            </a:br>
            <a:r>
              <a:rPr lang="de-DE" altLang="de-DE" sz="1055" dirty="0">
                <a:solidFill>
                  <a:srgbClr val="FFFFFF"/>
                </a:solidFill>
                <a:latin typeface="Gilroy Light" pitchFamily="2" charset="77"/>
              </a:rPr>
              <a:t>Technical </a:t>
            </a:r>
            <a:r>
              <a:rPr lang="de-DE" altLang="de-DE" sz="1055" dirty="0" err="1">
                <a:solidFill>
                  <a:srgbClr val="FFFFFF"/>
                </a:solidFill>
                <a:latin typeface="Gilroy Light" pitchFamily="2" charset="77"/>
              </a:rPr>
              <a:t>sales</a:t>
            </a:r>
            <a:br>
              <a:rPr lang="de-DE" altLang="de-DE" sz="1055" dirty="0">
                <a:solidFill>
                  <a:srgbClr val="FFFFFF"/>
                </a:solidFill>
                <a:latin typeface="Gilroy Light" pitchFamily="2" charset="77"/>
              </a:rPr>
            </a:br>
            <a:r>
              <a:rPr lang="de-DE" altLang="de-DE" sz="1055" dirty="0">
                <a:solidFill>
                  <a:srgbClr val="FFFFFF"/>
                </a:solidFill>
                <a:latin typeface="Gilroy Light" pitchFamily="2" charset="77"/>
              </a:rPr>
              <a:t>E-Mail: radlbeck.ulrich@gluth.eu</a:t>
            </a:r>
          </a:p>
          <a:p>
            <a:pPr>
              <a:lnSpc>
                <a:spcPts val="1582"/>
              </a:lnSpc>
            </a:pPr>
            <a:r>
              <a:rPr lang="de-DE" altLang="de-DE" sz="1055" dirty="0">
                <a:solidFill>
                  <a:srgbClr val="FFFFFF"/>
                </a:solidFill>
                <a:latin typeface="Gilroy Light" pitchFamily="2" charset="77"/>
              </a:rPr>
              <a:t>Tel:      +49 9421 / 544-56</a:t>
            </a:r>
            <a:br>
              <a:rPr lang="de-DE" altLang="de-DE" sz="1055" dirty="0">
                <a:solidFill>
                  <a:srgbClr val="FFFFFF"/>
                </a:solidFill>
                <a:latin typeface="Gilroy Light" pitchFamily="2" charset="77"/>
              </a:rPr>
            </a:br>
            <a:r>
              <a:rPr lang="de-DE" altLang="de-DE" sz="1055" dirty="0">
                <a:solidFill>
                  <a:srgbClr val="FFFFFF"/>
                </a:solidFill>
                <a:latin typeface="Gilroy Light" pitchFamily="2" charset="77"/>
              </a:rPr>
              <a:t>Mobil: +49 </a:t>
            </a:r>
            <a:r>
              <a:rPr lang="de-DE" sz="1055" dirty="0">
                <a:solidFill>
                  <a:srgbClr val="FFFFFF"/>
                </a:solidFill>
                <a:latin typeface="Gilroy Light" pitchFamily="2" charset="77"/>
              </a:rPr>
              <a:t>171 / 9493494</a:t>
            </a:r>
            <a:endParaRPr lang="de-DE" altLang="de-DE" sz="1055" dirty="0">
              <a:solidFill>
                <a:srgbClr val="FFFFFF"/>
              </a:solidFill>
              <a:latin typeface="Gilroy Light" pitchFamily="2" charset="77"/>
            </a:endParaRPr>
          </a:p>
        </p:txBody>
      </p:sp>
      <p:sp>
        <p:nvSpPr>
          <p:cNvPr id="10" name="Textfeld 9">
            <a:extLst>
              <a:ext uri="{FF2B5EF4-FFF2-40B4-BE49-F238E27FC236}">
                <a16:creationId xmlns:a16="http://schemas.microsoft.com/office/drawing/2014/main" id="{0B9274EE-5C3C-97D7-AB08-63C957E66085}"/>
              </a:ext>
            </a:extLst>
          </p:cNvPr>
          <p:cNvSpPr txBox="1"/>
          <p:nvPr/>
        </p:nvSpPr>
        <p:spPr>
          <a:xfrm>
            <a:off x="504919" y="1709802"/>
            <a:ext cx="5747769" cy="5027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ts val="1582"/>
              </a:lnSpc>
            </a:pPr>
            <a:r>
              <a:rPr lang="de-DE" sz="1400" b="1" dirty="0">
                <a:solidFill>
                  <a:srgbClr val="FFFFFF"/>
                </a:solidFill>
                <a:latin typeface="+mj-lt"/>
              </a:rPr>
              <a:t>02.07.2025</a:t>
            </a:r>
            <a:endParaRPr lang="de-DE" sz="1400" dirty="0">
              <a:solidFill>
                <a:srgbClr val="FFFFFF"/>
              </a:solidFill>
              <a:latin typeface="+mj-lt"/>
            </a:endParaRPr>
          </a:p>
          <a:p>
            <a:pPr algn="l">
              <a:lnSpc>
                <a:spcPts val="1582"/>
              </a:lnSpc>
            </a:pPr>
            <a:r>
              <a:rPr lang="de-DE" sz="1400" dirty="0">
                <a:solidFill>
                  <a:srgbClr val="FFFFFF"/>
                </a:solidFill>
                <a:latin typeface="+mj-lt"/>
              </a:rPr>
              <a:t>Lisa Dräxlmaier / Satu Mare</a:t>
            </a:r>
          </a:p>
        </p:txBody>
      </p:sp>
      <p:sp>
        <p:nvSpPr>
          <p:cNvPr id="11" name="Textfeld 10">
            <a:extLst>
              <a:ext uri="{FF2B5EF4-FFF2-40B4-BE49-F238E27FC236}">
                <a16:creationId xmlns:a16="http://schemas.microsoft.com/office/drawing/2014/main" id="{A0BAF098-62C9-7526-5792-71D834C6AB29}"/>
              </a:ext>
            </a:extLst>
          </p:cNvPr>
          <p:cNvSpPr txBox="1"/>
          <p:nvPr/>
        </p:nvSpPr>
        <p:spPr>
          <a:xfrm>
            <a:off x="7691225" y="2998010"/>
            <a:ext cx="2798975" cy="1102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de-DE"/>
            </a:defPPr>
            <a:lvl1pPr>
              <a:lnSpc>
                <a:spcPts val="1582"/>
              </a:lnSpc>
              <a:defRPr sz="1055">
                <a:solidFill>
                  <a:srgbClr val="FFFFFF"/>
                </a:solidFill>
                <a:latin typeface="Gilroy Light" pitchFamily="2" charset="77"/>
                <a:cs typeface="Arial" panose="020B0604020202020204" pitchFamily="34" charset="0"/>
              </a:defRPr>
            </a:lvl1pPr>
            <a:lvl2pPr marL="742950" indent="-285750">
              <a:defRPr>
                <a:latin typeface="Arial" panose="020B0604020202020204" pitchFamily="34" charset="0"/>
                <a:cs typeface="Arial" panose="020B0604020202020204" pitchFamily="34" charset="0"/>
              </a:defRPr>
            </a:lvl2pPr>
            <a:lvl3pPr marL="1143000" indent="-228600">
              <a:defRPr>
                <a:latin typeface="Arial" panose="020B0604020202020204" pitchFamily="34" charset="0"/>
                <a:cs typeface="Arial" panose="020B0604020202020204" pitchFamily="34" charset="0"/>
              </a:defRPr>
            </a:lvl3pPr>
            <a:lvl4pPr marL="1600200" indent="-228600">
              <a:defRPr>
                <a:latin typeface="Arial" panose="020B0604020202020204" pitchFamily="34" charset="0"/>
                <a:cs typeface="Arial" panose="020B0604020202020204" pitchFamily="34" charset="0"/>
              </a:defRPr>
            </a:lvl4pPr>
            <a:lvl5pPr marL="2057400" indent="-228600">
              <a:defRPr>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cs typeface="Arial" panose="020B0604020202020204" pitchFamily="34" charset="0"/>
              </a:defRPr>
            </a:lvl9pPr>
          </a:lstStyle>
          <a:p>
            <a:r>
              <a:rPr lang="de-DE" dirty="0"/>
              <a:t>Juhasz </a:t>
            </a:r>
            <a:r>
              <a:rPr lang="de-DE" dirty="0" err="1"/>
              <a:t>Levente</a:t>
            </a:r>
            <a:endParaRPr lang="de-DE" dirty="0"/>
          </a:p>
          <a:p>
            <a:r>
              <a:rPr lang="de-DE" dirty="0"/>
              <a:t>Engineering</a:t>
            </a:r>
          </a:p>
          <a:p>
            <a:r>
              <a:rPr lang="de-DE" dirty="0"/>
              <a:t>E-Mail: Levente-istvan.juhasz@draexlmaier.com </a:t>
            </a:r>
          </a:p>
          <a:p>
            <a:r>
              <a:rPr lang="de-DE" dirty="0"/>
              <a:t>Tel      : +40 723 / 100 146</a:t>
            </a:r>
          </a:p>
          <a:p>
            <a:r>
              <a:rPr lang="de-DE" dirty="0"/>
              <a:t>Mobil : </a:t>
            </a:r>
          </a:p>
        </p:txBody>
      </p:sp>
    </p:spTree>
    <p:extLst>
      <p:ext uri="{BB962C8B-B14F-4D97-AF65-F5344CB8AC3E}">
        <p14:creationId xmlns:p14="http://schemas.microsoft.com/office/powerpoint/2010/main" val="2703321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s ist eine Folie…">
            <a:extLst>
              <a:ext uri="{FF2B5EF4-FFF2-40B4-BE49-F238E27FC236}">
                <a16:creationId xmlns:a16="http://schemas.microsoft.com/office/drawing/2014/main" id="{18640E34-30E8-A217-0FA4-5EE22F045C96}"/>
              </a:ext>
            </a:extLst>
          </p:cNvPr>
          <p:cNvSpPr txBox="1"/>
          <p:nvPr/>
        </p:nvSpPr>
        <p:spPr>
          <a:xfrm>
            <a:off x="1952837" y="955127"/>
            <a:ext cx="5430006" cy="48259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nchor="t">
            <a:spAutoFit/>
          </a:bodyPr>
          <a:lstStyle/>
          <a:p>
            <a:pPr algn="l">
              <a:defRPr sz="7000">
                <a:solidFill>
                  <a:srgbClr val="FFFFFF"/>
                </a:solidFill>
                <a:latin typeface="Gilroy ExtraBold"/>
                <a:ea typeface="Gilroy ExtraBold"/>
                <a:cs typeface="Gilroy ExtraBold"/>
                <a:sym typeface="Gilroy ExtraBold"/>
              </a:defRPr>
            </a:pPr>
            <a:r>
              <a:rPr lang="de-DE" sz="3691" dirty="0">
                <a:latin typeface="Calibri" panose="020F0502020204030204" pitchFamily="34" charset="0"/>
                <a:ea typeface="Calibri" panose="020F0502020204030204" pitchFamily="34" charset="0"/>
                <a:cs typeface="Calibri" panose="020F0502020204030204" pitchFamily="34" charset="0"/>
              </a:rPr>
              <a:t>Table </a:t>
            </a:r>
            <a:r>
              <a:rPr lang="de-DE" sz="3691" dirty="0" err="1">
                <a:latin typeface="Calibri" panose="020F0502020204030204" pitchFamily="34" charset="0"/>
                <a:ea typeface="Calibri" panose="020F0502020204030204" pitchFamily="34" charset="0"/>
                <a:cs typeface="Calibri" panose="020F0502020204030204" pitchFamily="34" charset="0"/>
              </a:rPr>
              <a:t>of</a:t>
            </a:r>
            <a:r>
              <a:rPr lang="de-DE" sz="3691" dirty="0">
                <a:latin typeface="Calibri" panose="020F0502020204030204" pitchFamily="34" charset="0"/>
                <a:ea typeface="Calibri" panose="020F0502020204030204" pitchFamily="34" charset="0"/>
                <a:cs typeface="Calibri" panose="020F0502020204030204" pitchFamily="34" charset="0"/>
              </a:rPr>
              <a:t> </a:t>
            </a:r>
            <a:r>
              <a:rPr lang="de-DE" sz="3691" dirty="0" err="1">
                <a:latin typeface="Calibri" panose="020F0502020204030204" pitchFamily="34" charset="0"/>
                <a:ea typeface="Calibri" panose="020F0502020204030204" pitchFamily="34" charset="0"/>
                <a:cs typeface="Calibri" panose="020F0502020204030204" pitchFamily="34" charset="0"/>
              </a:rPr>
              <a:t>contents</a:t>
            </a:r>
            <a:endParaRPr lang="de-DE" sz="3691" dirty="0">
              <a:latin typeface="Calibri" panose="020F0502020204030204" pitchFamily="34" charset="0"/>
              <a:ea typeface="Calibri" panose="020F0502020204030204" pitchFamily="34" charset="0"/>
              <a:cs typeface="Calibri" panose="020F0502020204030204" pitchFamily="34" charset="0"/>
            </a:endParaRPr>
          </a:p>
          <a:p>
            <a:pPr algn="l">
              <a:defRPr sz="7000">
                <a:solidFill>
                  <a:srgbClr val="FFFFFF"/>
                </a:solidFill>
                <a:latin typeface="Gilroy ExtraBold"/>
                <a:ea typeface="Gilroy ExtraBold"/>
                <a:cs typeface="Gilroy ExtraBold"/>
                <a:sym typeface="Gilroy ExtraBold"/>
              </a:defRPr>
            </a:pPr>
            <a:endParaRPr lang="de-DE" sz="28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Basics </a:t>
            </a: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offer</a:t>
            </a:r>
            <a:endPar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Task </a:t>
            </a: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description</a:t>
            </a:r>
            <a:endPar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Concept / Layout</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Overview</a:t>
            </a: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 </a:t>
            </a: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Processes</a:t>
            </a:r>
            <a:endPar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Control System</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Performance </a:t>
            </a: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criteria</a:t>
            </a:r>
            <a:endPar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Scope</a:t>
            </a: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 </a:t>
            </a: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of</a:t>
            </a: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 </a:t>
            </a: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delivery</a:t>
            </a:r>
            <a:endPar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Supplies</a:t>
            </a: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 Dräxlmaier</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err="1">
                <a:solidFill>
                  <a:srgbClr val="2C3F48"/>
                </a:solidFill>
                <a:latin typeface="Calibri" panose="020F0502020204030204" pitchFamily="34" charset="0"/>
                <a:ea typeface="Calibri" panose="020F0502020204030204" pitchFamily="34" charset="0"/>
                <a:cs typeface="Calibri" panose="020F0502020204030204" pitchFamily="34" charset="0"/>
              </a:rPr>
              <a:t>Miscellaneous</a:t>
            </a:r>
            <a:endPar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endParaRPr>
          </a:p>
          <a:p>
            <a:pPr marL="457200" indent="-457200">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Project Schedule</a:t>
            </a:r>
          </a:p>
          <a:p>
            <a:pPr marL="457200" indent="-457200" algn="l">
              <a:lnSpc>
                <a:spcPct val="150000"/>
              </a:lnSpc>
              <a:buFont typeface="+mj-lt"/>
              <a:buAutoNum type="arabicPeriod"/>
              <a:defRPr sz="7000">
                <a:solidFill>
                  <a:srgbClr val="FFFFFF"/>
                </a:solidFill>
                <a:latin typeface="Gilroy ExtraBold"/>
                <a:ea typeface="Gilroy ExtraBold"/>
                <a:cs typeface="Gilroy ExtraBold"/>
                <a:sym typeface="Gilroy ExtraBold"/>
              </a:defRPr>
            </a:pPr>
            <a:r>
              <a:rPr lang="de-DE" sz="1500" dirty="0">
                <a:solidFill>
                  <a:srgbClr val="2C3F48"/>
                </a:solidFill>
                <a:latin typeface="Calibri" panose="020F0502020204030204" pitchFamily="34" charset="0"/>
                <a:ea typeface="Calibri" panose="020F0502020204030204" pitchFamily="34" charset="0"/>
                <a:cs typeface="Calibri" panose="020F0502020204030204" pitchFamily="34" charset="0"/>
              </a:rPr>
              <a:t>Project Prices</a:t>
            </a:r>
          </a:p>
        </p:txBody>
      </p:sp>
    </p:spTree>
    <p:extLst>
      <p:ext uri="{BB962C8B-B14F-4D97-AF65-F5344CB8AC3E}">
        <p14:creationId xmlns:p14="http://schemas.microsoft.com/office/powerpoint/2010/main" val="2669796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80009168-3F6D-52F3-D8FA-D4C4AE222D38}"/>
              </a:ext>
            </a:extLst>
          </p:cNvPr>
          <p:cNvSpPr>
            <a:spLocks noGrp="1"/>
          </p:cNvSpPr>
          <p:nvPr>
            <p:ph type="title"/>
          </p:nvPr>
        </p:nvSpPr>
        <p:spPr>
          <a:xfrm>
            <a:off x="3500524" y="161538"/>
            <a:ext cx="4656790" cy="265716"/>
          </a:xfrm>
        </p:spPr>
        <p:txBody>
          <a:bodyPr/>
          <a:lstStyle/>
          <a:p>
            <a:r>
              <a:rPr lang="de-DE" sz="2000" b="1" dirty="0"/>
              <a:t>Basics</a:t>
            </a:r>
          </a:p>
        </p:txBody>
      </p:sp>
      <p:pic>
        <p:nvPicPr>
          <p:cNvPr id="6" name="Grafik 5">
            <a:extLst>
              <a:ext uri="{FF2B5EF4-FFF2-40B4-BE49-F238E27FC236}">
                <a16:creationId xmlns:a16="http://schemas.microsoft.com/office/drawing/2014/main" id="{84AC4C9F-1E10-78BF-F902-58730806BAEB}"/>
              </a:ext>
            </a:extLst>
          </p:cNvPr>
          <p:cNvPicPr>
            <a:picLocks noChangeAspect="1"/>
          </p:cNvPicPr>
          <p:nvPr/>
        </p:nvPicPr>
        <p:blipFill>
          <a:blip r:embed="rId3"/>
          <a:stretch>
            <a:fillRect/>
          </a:stretch>
        </p:blipFill>
        <p:spPr>
          <a:xfrm>
            <a:off x="1591687" y="1342282"/>
            <a:ext cx="2594103" cy="3621227"/>
          </a:xfrm>
          <a:prstGeom prst="rect">
            <a:avLst/>
          </a:prstGeom>
          <a:ln>
            <a:solidFill>
              <a:schemeClr val="tx1"/>
            </a:solidFill>
          </a:ln>
        </p:spPr>
      </p:pic>
      <p:pic>
        <p:nvPicPr>
          <p:cNvPr id="5" name="Grafik 4">
            <a:extLst>
              <a:ext uri="{FF2B5EF4-FFF2-40B4-BE49-F238E27FC236}">
                <a16:creationId xmlns:a16="http://schemas.microsoft.com/office/drawing/2014/main" id="{6C5BB740-2E06-54DE-EFD6-6735B0A183CD}"/>
              </a:ext>
            </a:extLst>
          </p:cNvPr>
          <p:cNvPicPr>
            <a:picLocks noChangeAspect="1"/>
          </p:cNvPicPr>
          <p:nvPr/>
        </p:nvPicPr>
        <p:blipFill>
          <a:blip r:embed="rId4"/>
          <a:stretch>
            <a:fillRect/>
          </a:stretch>
        </p:blipFill>
        <p:spPr>
          <a:xfrm>
            <a:off x="6987457" y="1270092"/>
            <a:ext cx="2956835" cy="3092324"/>
          </a:xfrm>
          <a:prstGeom prst="rect">
            <a:avLst/>
          </a:prstGeom>
        </p:spPr>
      </p:pic>
      <p:sp>
        <p:nvSpPr>
          <p:cNvPr id="7" name="Textfeld 6">
            <a:extLst>
              <a:ext uri="{FF2B5EF4-FFF2-40B4-BE49-F238E27FC236}">
                <a16:creationId xmlns:a16="http://schemas.microsoft.com/office/drawing/2014/main" id="{4E949705-AC33-16A5-407D-D2C490030319}"/>
              </a:ext>
            </a:extLst>
          </p:cNvPr>
          <p:cNvSpPr txBox="1"/>
          <p:nvPr/>
        </p:nvSpPr>
        <p:spPr>
          <a:xfrm>
            <a:off x="1784715" y="700102"/>
            <a:ext cx="2382704" cy="369332"/>
          </a:xfrm>
          <a:prstGeom prst="rect">
            <a:avLst/>
          </a:prstGeom>
          <a:noFill/>
        </p:spPr>
        <p:txBody>
          <a:bodyPr wrap="none" rtlCol="0">
            <a:spAutoFit/>
          </a:bodyPr>
          <a:lstStyle/>
          <a:p>
            <a:r>
              <a:rPr lang="de-DE" u="sng" dirty="0" err="1">
                <a:latin typeface="Calibri" panose="020F0502020204030204" pitchFamily="34" charset="0"/>
                <a:ea typeface="Calibri" panose="020F0502020204030204" pitchFamily="34" charset="0"/>
                <a:cs typeface="Calibri" panose="020F0502020204030204" pitchFamily="34" charset="0"/>
              </a:rPr>
              <a:t>Specifications</a:t>
            </a:r>
            <a:r>
              <a:rPr lang="de-DE" u="sng" dirty="0">
                <a:latin typeface="Calibri" panose="020F0502020204030204" pitchFamily="34" charset="0"/>
                <a:ea typeface="Calibri" panose="020F0502020204030204" pitchFamily="34" charset="0"/>
                <a:cs typeface="Calibri" panose="020F0502020204030204" pitchFamily="34" charset="0"/>
              </a:rPr>
              <a:t> </a:t>
            </a:r>
            <a:r>
              <a:rPr lang="de-DE" u="sng" dirty="0" err="1">
                <a:latin typeface="Calibri" panose="020F0502020204030204" pitchFamily="34" charset="0"/>
                <a:ea typeface="Calibri" panose="020F0502020204030204" pitchFamily="34" charset="0"/>
                <a:cs typeface="Calibri" panose="020F0502020204030204" pitchFamily="34" charset="0"/>
              </a:rPr>
              <a:t>received</a:t>
            </a:r>
            <a:r>
              <a:rPr lang="de-DE" u="sng" dirty="0">
                <a:latin typeface="Calibri" panose="020F0502020204030204" pitchFamily="34" charset="0"/>
                <a:ea typeface="Calibri" panose="020F0502020204030204" pitchFamily="34" charset="0"/>
                <a:cs typeface="Calibri" panose="020F0502020204030204" pitchFamily="34" charset="0"/>
              </a:rPr>
              <a:t>:</a:t>
            </a:r>
          </a:p>
        </p:txBody>
      </p:sp>
      <p:sp>
        <p:nvSpPr>
          <p:cNvPr id="9" name="Textfeld 8">
            <a:extLst>
              <a:ext uri="{FF2B5EF4-FFF2-40B4-BE49-F238E27FC236}">
                <a16:creationId xmlns:a16="http://schemas.microsoft.com/office/drawing/2014/main" id="{334D6B64-A599-46C3-5FEC-A9BCFE79AF52}"/>
              </a:ext>
            </a:extLst>
          </p:cNvPr>
          <p:cNvSpPr txBox="1"/>
          <p:nvPr/>
        </p:nvSpPr>
        <p:spPr>
          <a:xfrm>
            <a:off x="6987458" y="700102"/>
            <a:ext cx="2746970" cy="369332"/>
          </a:xfrm>
          <a:prstGeom prst="rect">
            <a:avLst/>
          </a:prstGeom>
          <a:noFill/>
        </p:spPr>
        <p:txBody>
          <a:bodyPr wrap="none" rtlCol="0">
            <a:spAutoFit/>
          </a:bodyPr>
          <a:lstStyle/>
          <a:p>
            <a:r>
              <a:rPr lang="de-DE" u="sng" dirty="0">
                <a:latin typeface="Calibri" panose="020F0502020204030204" pitchFamily="34" charset="0"/>
                <a:ea typeface="Calibri" panose="020F0502020204030204" pitchFamily="34" charset="0"/>
                <a:cs typeface="Calibri" panose="020F0502020204030204" pitchFamily="34" charset="0"/>
              </a:rPr>
              <a:t>Order </a:t>
            </a:r>
            <a:r>
              <a:rPr lang="de-DE" u="sng" dirty="0" err="1">
                <a:latin typeface="Calibri" panose="020F0502020204030204" pitchFamily="34" charset="0"/>
                <a:ea typeface="Calibri" panose="020F0502020204030204" pitchFamily="34" charset="0"/>
                <a:cs typeface="Calibri" panose="020F0502020204030204" pitchFamily="34" charset="0"/>
              </a:rPr>
              <a:t>documents</a:t>
            </a:r>
            <a:r>
              <a:rPr lang="de-DE" u="sng" dirty="0">
                <a:latin typeface="Calibri" panose="020F0502020204030204" pitchFamily="34" charset="0"/>
                <a:ea typeface="Calibri" panose="020F0502020204030204" pitchFamily="34" charset="0"/>
                <a:cs typeface="Calibri" panose="020F0502020204030204" pitchFamily="34" charset="0"/>
              </a:rPr>
              <a:t> </a:t>
            </a:r>
            <a:r>
              <a:rPr lang="de-DE" u="sng" dirty="0" err="1">
                <a:latin typeface="Calibri" panose="020F0502020204030204" pitchFamily="34" charset="0"/>
                <a:ea typeface="Calibri" panose="020F0502020204030204" pitchFamily="34" charset="0"/>
                <a:cs typeface="Calibri" panose="020F0502020204030204" pitchFamily="34" charset="0"/>
              </a:rPr>
              <a:t>received</a:t>
            </a:r>
            <a:r>
              <a:rPr lang="de-DE" u="sng" dirty="0">
                <a:latin typeface="Calibri" panose="020F0502020204030204" pitchFamily="34" charset="0"/>
                <a:ea typeface="Calibri" panose="020F0502020204030204" pitchFamily="34" charset="0"/>
                <a:cs typeface="Calibri" panose="020F0502020204030204" pitchFamily="34" charset="0"/>
              </a:rPr>
              <a:t>:</a:t>
            </a:r>
          </a:p>
        </p:txBody>
      </p:sp>
      <p:sp>
        <p:nvSpPr>
          <p:cNvPr id="11" name="Textfeld 10">
            <a:extLst>
              <a:ext uri="{FF2B5EF4-FFF2-40B4-BE49-F238E27FC236}">
                <a16:creationId xmlns:a16="http://schemas.microsoft.com/office/drawing/2014/main" id="{002E93DF-7FEC-35CD-ACC2-60B5D327D683}"/>
              </a:ext>
            </a:extLst>
          </p:cNvPr>
          <p:cNvSpPr txBox="1"/>
          <p:nvPr/>
        </p:nvSpPr>
        <p:spPr>
          <a:xfrm>
            <a:off x="0" y="5704690"/>
            <a:ext cx="10041149" cy="954107"/>
          </a:xfrm>
          <a:prstGeom prst="rect">
            <a:avLst/>
          </a:prstGeom>
          <a:noFill/>
        </p:spPr>
        <p:txBody>
          <a:bodyPr wrap="square">
            <a:spAutoFit/>
          </a:bodyPr>
          <a:lstStyle/>
          <a:p>
            <a:pPr marL="450215">
              <a:spcAft>
                <a:spcPts val="0"/>
              </a:spcAft>
            </a:pPr>
            <a:r>
              <a:rPr lang="en-US" sz="14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At the time of preparing the quotation, we had no further data on your products! </a:t>
            </a:r>
          </a:p>
          <a:p>
            <a:pPr marL="450215">
              <a:spcAft>
                <a:spcPts val="0"/>
              </a:spcAft>
            </a:pPr>
            <a:endParaRPr lang="en-US" sz="14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450215">
              <a:spcAft>
                <a:spcPts val="0"/>
              </a:spcAft>
            </a:pPr>
            <a:r>
              <a:rPr lang="en-US" sz="14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Should significant changes or additions to the current range of types arise in the course of the project, we reserve the right to offer these at a later date, with possible effects on price and delivery time, after consultation with you.</a:t>
            </a:r>
            <a:endParaRPr lang="de-DE" sz="14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14" name="Grafik 13">
            <a:extLst>
              <a:ext uri="{FF2B5EF4-FFF2-40B4-BE49-F238E27FC236}">
                <a16:creationId xmlns:a16="http://schemas.microsoft.com/office/drawing/2014/main" id="{54F8A11B-5B18-0A34-68E4-60CC31C1674B}"/>
              </a:ext>
            </a:extLst>
          </p:cNvPr>
          <p:cNvPicPr>
            <a:picLocks noChangeAspect="1"/>
          </p:cNvPicPr>
          <p:nvPr/>
        </p:nvPicPr>
        <p:blipFill>
          <a:blip r:embed="rId5"/>
          <a:stretch>
            <a:fillRect/>
          </a:stretch>
        </p:blipFill>
        <p:spPr>
          <a:xfrm>
            <a:off x="7056521" y="4307543"/>
            <a:ext cx="3062037" cy="649769"/>
          </a:xfrm>
          <a:prstGeom prst="rect">
            <a:avLst/>
          </a:prstGeom>
        </p:spPr>
      </p:pic>
    </p:spTree>
    <p:extLst>
      <p:ext uri="{BB962C8B-B14F-4D97-AF65-F5344CB8AC3E}">
        <p14:creationId xmlns:p14="http://schemas.microsoft.com/office/powerpoint/2010/main" val="818267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80009168-3F6D-52F3-D8FA-D4C4AE222D38}"/>
              </a:ext>
            </a:extLst>
          </p:cNvPr>
          <p:cNvSpPr>
            <a:spLocks noGrp="1"/>
          </p:cNvSpPr>
          <p:nvPr>
            <p:ph type="title"/>
          </p:nvPr>
        </p:nvSpPr>
        <p:spPr>
          <a:xfrm>
            <a:off x="3500524" y="161538"/>
            <a:ext cx="4656790" cy="265716"/>
          </a:xfrm>
        </p:spPr>
        <p:txBody>
          <a:bodyPr/>
          <a:lstStyle/>
          <a:p>
            <a:r>
              <a:rPr lang="de-DE" sz="2000" b="1" dirty="0"/>
              <a:t>Basics</a:t>
            </a:r>
          </a:p>
        </p:txBody>
      </p:sp>
      <p:pic>
        <p:nvPicPr>
          <p:cNvPr id="8" name="Grafik 7">
            <a:extLst>
              <a:ext uri="{FF2B5EF4-FFF2-40B4-BE49-F238E27FC236}">
                <a16:creationId xmlns:a16="http://schemas.microsoft.com/office/drawing/2014/main" id="{7FF60227-D80A-9B1F-43AE-E2E9558579F1}"/>
              </a:ext>
            </a:extLst>
          </p:cNvPr>
          <p:cNvPicPr>
            <a:picLocks noChangeAspect="1"/>
          </p:cNvPicPr>
          <p:nvPr/>
        </p:nvPicPr>
        <p:blipFill>
          <a:blip r:embed="rId3"/>
          <a:stretch>
            <a:fillRect/>
          </a:stretch>
        </p:blipFill>
        <p:spPr>
          <a:xfrm>
            <a:off x="1076827" y="1143146"/>
            <a:ext cx="3493168" cy="2530098"/>
          </a:xfrm>
          <a:prstGeom prst="rect">
            <a:avLst/>
          </a:prstGeom>
        </p:spPr>
      </p:pic>
      <p:pic>
        <p:nvPicPr>
          <p:cNvPr id="10" name="Grafik 9">
            <a:extLst>
              <a:ext uri="{FF2B5EF4-FFF2-40B4-BE49-F238E27FC236}">
                <a16:creationId xmlns:a16="http://schemas.microsoft.com/office/drawing/2014/main" id="{9275E285-8896-1DDF-96A8-88A2E4677563}"/>
              </a:ext>
            </a:extLst>
          </p:cNvPr>
          <p:cNvPicPr>
            <a:picLocks noChangeAspect="1"/>
          </p:cNvPicPr>
          <p:nvPr/>
        </p:nvPicPr>
        <p:blipFill>
          <a:blip r:embed="rId4"/>
          <a:stretch>
            <a:fillRect/>
          </a:stretch>
        </p:blipFill>
        <p:spPr>
          <a:xfrm>
            <a:off x="1094875" y="3765628"/>
            <a:ext cx="3425685" cy="2229235"/>
          </a:xfrm>
          <a:prstGeom prst="rect">
            <a:avLst/>
          </a:prstGeom>
        </p:spPr>
      </p:pic>
      <p:pic>
        <p:nvPicPr>
          <p:cNvPr id="12" name="Grafik 11">
            <a:extLst>
              <a:ext uri="{FF2B5EF4-FFF2-40B4-BE49-F238E27FC236}">
                <a16:creationId xmlns:a16="http://schemas.microsoft.com/office/drawing/2014/main" id="{04E36EB6-A9DE-8585-FA40-174E1D586AF6}"/>
              </a:ext>
            </a:extLst>
          </p:cNvPr>
          <p:cNvPicPr>
            <a:picLocks noChangeAspect="1"/>
          </p:cNvPicPr>
          <p:nvPr/>
        </p:nvPicPr>
        <p:blipFill>
          <a:blip r:embed="rId5"/>
          <a:stretch>
            <a:fillRect/>
          </a:stretch>
        </p:blipFill>
        <p:spPr>
          <a:xfrm>
            <a:off x="5689823" y="1272075"/>
            <a:ext cx="3425686" cy="2098800"/>
          </a:xfrm>
          <a:prstGeom prst="rect">
            <a:avLst/>
          </a:prstGeom>
        </p:spPr>
      </p:pic>
      <p:pic>
        <p:nvPicPr>
          <p:cNvPr id="3" name="Grafik 2">
            <a:extLst>
              <a:ext uri="{FF2B5EF4-FFF2-40B4-BE49-F238E27FC236}">
                <a16:creationId xmlns:a16="http://schemas.microsoft.com/office/drawing/2014/main" id="{18DC2DB8-A0CF-A969-CAE4-118078B87A03}"/>
              </a:ext>
            </a:extLst>
          </p:cNvPr>
          <p:cNvPicPr>
            <a:picLocks noChangeAspect="1"/>
          </p:cNvPicPr>
          <p:nvPr/>
        </p:nvPicPr>
        <p:blipFill>
          <a:blip r:embed="rId6"/>
          <a:stretch>
            <a:fillRect/>
          </a:stretch>
        </p:blipFill>
        <p:spPr>
          <a:xfrm>
            <a:off x="5753324" y="3765628"/>
            <a:ext cx="3362185" cy="2233490"/>
          </a:xfrm>
          <a:prstGeom prst="rect">
            <a:avLst/>
          </a:prstGeom>
        </p:spPr>
      </p:pic>
    </p:spTree>
    <p:extLst>
      <p:ext uri="{BB962C8B-B14F-4D97-AF65-F5344CB8AC3E}">
        <p14:creationId xmlns:p14="http://schemas.microsoft.com/office/powerpoint/2010/main" val="1898511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A54D4164-9EA2-16F0-3F32-93FEC1E01874}"/>
              </a:ext>
            </a:extLst>
          </p:cNvPr>
          <p:cNvSpPr txBox="1">
            <a:spLocks/>
          </p:cNvSpPr>
          <p:nvPr/>
        </p:nvSpPr>
        <p:spPr>
          <a:xfrm>
            <a:off x="2663687" y="121782"/>
            <a:ext cx="6909683" cy="284849"/>
          </a:xfrm>
          <a:prstGeom prst="rect">
            <a:avLst/>
          </a:prstGeom>
        </p:spPr>
        <p:txBody>
          <a:bodyPr anchor="t"/>
          <a:lstStyle>
            <a:lvl1pPr algn="ctr" defTabSz="457200">
              <a:spcBef>
                <a:spcPct val="0"/>
              </a:spcBef>
              <a:buNone/>
              <a:defRPr lang="de-DE" sz="2000" b="1" dirty="0">
                <a:solidFill>
                  <a:srgbClr val="2C3F48"/>
                </a:solidFill>
                <a:latin typeface="Gilroy Light"/>
                <a:ea typeface="Gilroy Light"/>
                <a:cs typeface="Gilroy Light"/>
              </a:defRPr>
            </a:lvl1pPr>
          </a:lstStyle>
          <a:p>
            <a:r>
              <a:rPr lang="de-DE" dirty="0"/>
              <a:t>Change </a:t>
            </a:r>
            <a:r>
              <a:rPr lang="de-DE" dirty="0" err="1"/>
              <a:t>history</a:t>
            </a:r>
            <a:r>
              <a:rPr lang="de-DE" dirty="0"/>
              <a:t> </a:t>
            </a:r>
            <a:r>
              <a:rPr lang="de-DE" dirty="0" err="1"/>
              <a:t>offer</a:t>
            </a:r>
            <a:endParaRPr lang="de-DE" dirty="0"/>
          </a:p>
        </p:txBody>
      </p:sp>
      <p:graphicFrame>
        <p:nvGraphicFramePr>
          <p:cNvPr id="4" name="Tabelle 3">
            <a:extLst>
              <a:ext uri="{FF2B5EF4-FFF2-40B4-BE49-F238E27FC236}">
                <a16:creationId xmlns:a16="http://schemas.microsoft.com/office/drawing/2014/main" id="{03902439-F16A-30A6-1406-D72AC6B383E3}"/>
              </a:ext>
            </a:extLst>
          </p:cNvPr>
          <p:cNvGraphicFramePr>
            <a:graphicFrameLocks noGrp="1"/>
          </p:cNvGraphicFramePr>
          <p:nvPr>
            <p:extLst>
              <p:ext uri="{D42A27DB-BD31-4B8C-83A1-F6EECF244321}">
                <p14:modId xmlns:p14="http://schemas.microsoft.com/office/powerpoint/2010/main" val="1753024058"/>
              </p:ext>
            </p:extLst>
          </p:nvPr>
        </p:nvGraphicFramePr>
        <p:xfrm>
          <a:off x="454660" y="1397846"/>
          <a:ext cx="10533380" cy="3654214"/>
        </p:xfrm>
        <a:graphic>
          <a:graphicData uri="http://schemas.openxmlformats.org/drawingml/2006/table">
            <a:tbl>
              <a:tblPr firstRow="1" bandRow="1">
                <a:tableStyleId>{5C22544A-7EE6-4342-B048-85BDC9FD1C3A}</a:tableStyleId>
              </a:tblPr>
              <a:tblGrid>
                <a:gridCol w="2212340">
                  <a:extLst>
                    <a:ext uri="{9D8B030D-6E8A-4147-A177-3AD203B41FA5}">
                      <a16:colId xmlns:a16="http://schemas.microsoft.com/office/drawing/2014/main" val="3069929143"/>
                    </a:ext>
                  </a:extLst>
                </a:gridCol>
                <a:gridCol w="1310640">
                  <a:extLst>
                    <a:ext uri="{9D8B030D-6E8A-4147-A177-3AD203B41FA5}">
                      <a16:colId xmlns:a16="http://schemas.microsoft.com/office/drawing/2014/main" val="2746303903"/>
                    </a:ext>
                  </a:extLst>
                </a:gridCol>
                <a:gridCol w="1699260">
                  <a:extLst>
                    <a:ext uri="{9D8B030D-6E8A-4147-A177-3AD203B41FA5}">
                      <a16:colId xmlns:a16="http://schemas.microsoft.com/office/drawing/2014/main" val="619236726"/>
                    </a:ext>
                  </a:extLst>
                </a:gridCol>
                <a:gridCol w="3084786">
                  <a:extLst>
                    <a:ext uri="{9D8B030D-6E8A-4147-A177-3AD203B41FA5}">
                      <a16:colId xmlns:a16="http://schemas.microsoft.com/office/drawing/2014/main" val="3602500323"/>
                    </a:ext>
                  </a:extLst>
                </a:gridCol>
                <a:gridCol w="2226354">
                  <a:extLst>
                    <a:ext uri="{9D8B030D-6E8A-4147-A177-3AD203B41FA5}">
                      <a16:colId xmlns:a16="http://schemas.microsoft.com/office/drawing/2014/main" val="3762242738"/>
                    </a:ext>
                  </a:extLst>
                </a:gridCol>
              </a:tblGrid>
              <a:tr h="370840">
                <a:tc gridSpan="5">
                  <a:txBody>
                    <a:bodyPr/>
                    <a:lstStyle/>
                    <a:p>
                      <a:r>
                        <a:rPr lang="de-DE" sz="2000" dirty="0"/>
                        <a:t>Change </a:t>
                      </a:r>
                      <a:r>
                        <a:rPr lang="de-DE" sz="2000" dirty="0" err="1"/>
                        <a:t>history</a:t>
                      </a:r>
                      <a:r>
                        <a:rPr lang="de-DE" sz="2000" dirty="0"/>
                        <a:t> </a:t>
                      </a:r>
                      <a:r>
                        <a:rPr lang="de-DE" sz="2000" dirty="0" err="1"/>
                        <a:t>offer</a:t>
                      </a:r>
                      <a:r>
                        <a:rPr lang="de-DE" sz="2000" dirty="0"/>
                        <a:t>:</a:t>
                      </a:r>
                    </a:p>
                    <a:p>
                      <a:endParaRPr lang="de-DE" sz="2000" b="1" kern="1200" dirty="0">
                        <a:solidFill>
                          <a:schemeClr val="lt1"/>
                        </a:solidFill>
                        <a:latin typeface="+mn-lt"/>
                        <a:ea typeface="+mn-ea"/>
                        <a:cs typeface="+mn-cs"/>
                      </a:endParaRPr>
                    </a:p>
                  </a:txBody>
                  <a:tcPr>
                    <a:solidFill>
                      <a:srgbClr val="8ED2C3"/>
                    </a:solidFill>
                  </a:tcPr>
                </a:tc>
                <a:tc hMerge="1">
                  <a:txBody>
                    <a:bodyPr/>
                    <a:lstStyle/>
                    <a:p>
                      <a:endParaRPr lang="de-DE" sz="1600" dirty="0"/>
                    </a:p>
                  </a:txBody>
                  <a:tcPr/>
                </a:tc>
                <a:tc hMerge="1">
                  <a:txBody>
                    <a:bodyPr/>
                    <a:lstStyle/>
                    <a:p>
                      <a:endParaRPr lang="de-DE" sz="1600" dirty="0"/>
                    </a:p>
                  </a:txBody>
                  <a:tcPr/>
                </a:tc>
                <a:tc hMerge="1">
                  <a:txBody>
                    <a:bodyPr/>
                    <a:lstStyle/>
                    <a:p>
                      <a:endParaRPr lang="de-DE" sz="1600" dirty="0"/>
                    </a:p>
                  </a:txBody>
                  <a:tcPr/>
                </a:tc>
                <a:tc hMerge="1">
                  <a:txBody>
                    <a:bodyPr/>
                    <a:lstStyle/>
                    <a:p>
                      <a:endParaRPr lang="de-DE" sz="1600" dirty="0"/>
                    </a:p>
                  </a:txBody>
                  <a:tcPr/>
                </a:tc>
                <a:extLst>
                  <a:ext uri="{0D108BD9-81ED-4DB2-BD59-A6C34878D82A}">
                    <a16:rowId xmlns:a16="http://schemas.microsoft.com/office/drawing/2014/main" val="2002067292"/>
                  </a:ext>
                </a:extLst>
              </a:tr>
              <a:tr h="545254">
                <a:tc>
                  <a:txBody>
                    <a:bodyPr/>
                    <a:lstStyle/>
                    <a:p>
                      <a:r>
                        <a:rPr lang="de-DE" sz="1600" dirty="0">
                          <a:solidFill>
                            <a:schemeClr val="bg2">
                              <a:lumMod val="50000"/>
                            </a:schemeClr>
                          </a:solidFill>
                        </a:rPr>
                        <a:t>Angebotsversion</a:t>
                      </a:r>
                    </a:p>
                  </a:txBody>
                  <a:tcPr/>
                </a:tc>
                <a:tc>
                  <a:txBody>
                    <a:bodyPr/>
                    <a:lstStyle/>
                    <a:p>
                      <a:r>
                        <a:rPr lang="de-DE" sz="1600" dirty="0">
                          <a:solidFill>
                            <a:schemeClr val="bg2">
                              <a:lumMod val="50000"/>
                            </a:schemeClr>
                          </a:solidFill>
                        </a:rPr>
                        <a:t>Datum</a:t>
                      </a:r>
                    </a:p>
                  </a:txBody>
                  <a:tcPr/>
                </a:tc>
                <a:tc>
                  <a:txBody>
                    <a:bodyPr/>
                    <a:lstStyle/>
                    <a:p>
                      <a:r>
                        <a:rPr lang="de-DE" sz="1600" dirty="0">
                          <a:solidFill>
                            <a:schemeClr val="bg2">
                              <a:lumMod val="50000"/>
                            </a:schemeClr>
                          </a:solidFill>
                        </a:rPr>
                        <a:t>Verantwortlicher</a:t>
                      </a:r>
                    </a:p>
                  </a:txBody>
                  <a:tcPr/>
                </a:tc>
                <a:tc>
                  <a:txBody>
                    <a:bodyPr/>
                    <a:lstStyle/>
                    <a:p>
                      <a:r>
                        <a:rPr lang="de-DE" sz="1600" dirty="0">
                          <a:solidFill>
                            <a:schemeClr val="bg2">
                              <a:lumMod val="50000"/>
                            </a:schemeClr>
                          </a:solidFill>
                        </a:rPr>
                        <a:t>Änderungen</a:t>
                      </a:r>
                    </a:p>
                  </a:txBody>
                  <a:tcPr/>
                </a:tc>
                <a:tc>
                  <a:txBody>
                    <a:bodyPr/>
                    <a:lstStyle/>
                    <a:p>
                      <a:r>
                        <a:rPr lang="de-DE" sz="1600" dirty="0">
                          <a:solidFill>
                            <a:schemeClr val="bg2">
                              <a:lumMod val="50000"/>
                            </a:schemeClr>
                          </a:solidFill>
                        </a:rPr>
                        <a:t>Bemerkungen</a:t>
                      </a:r>
                    </a:p>
                  </a:txBody>
                  <a:tcPr/>
                </a:tc>
                <a:extLst>
                  <a:ext uri="{0D108BD9-81ED-4DB2-BD59-A6C34878D82A}">
                    <a16:rowId xmlns:a16="http://schemas.microsoft.com/office/drawing/2014/main" val="1944943572"/>
                  </a:ext>
                </a:extLst>
              </a:tr>
              <a:tr h="370840">
                <a:tc>
                  <a:txBody>
                    <a:bodyPr/>
                    <a:lstStyle/>
                    <a:p>
                      <a:r>
                        <a:rPr lang="de-DE" sz="1400" dirty="0"/>
                        <a:t>A07616000</a:t>
                      </a:r>
                    </a:p>
                    <a:p>
                      <a:endParaRPr lang="de-DE" sz="1400" dirty="0"/>
                    </a:p>
                  </a:txBody>
                  <a:tcPr/>
                </a:tc>
                <a:tc>
                  <a:txBody>
                    <a:bodyPr/>
                    <a:lstStyle/>
                    <a:p>
                      <a:r>
                        <a:rPr lang="de-DE" sz="1400" dirty="0"/>
                        <a:t>08.10.2024</a:t>
                      </a:r>
                    </a:p>
                  </a:txBody>
                  <a:tcPr/>
                </a:tc>
                <a:tc>
                  <a:txBody>
                    <a:bodyPr/>
                    <a:lstStyle/>
                    <a:p>
                      <a:r>
                        <a:rPr lang="de-DE" sz="1400" dirty="0"/>
                        <a:t>Rudolf Schano</a:t>
                      </a:r>
                    </a:p>
                  </a:txBody>
                  <a:tcPr/>
                </a:tc>
                <a:tc>
                  <a:txBody>
                    <a:bodyPr/>
                    <a:lstStyle/>
                    <a:p>
                      <a:endParaRPr lang="de-DE" sz="1400" dirty="0"/>
                    </a:p>
                  </a:txBody>
                  <a:tcPr/>
                </a:tc>
                <a:tc>
                  <a:txBody>
                    <a:bodyPr/>
                    <a:lstStyle/>
                    <a:p>
                      <a:r>
                        <a:rPr lang="de-DE" sz="1400" dirty="0"/>
                        <a:t>Budget </a:t>
                      </a:r>
                      <a:r>
                        <a:rPr lang="de-DE" sz="1400" dirty="0" err="1"/>
                        <a:t>price</a:t>
                      </a:r>
                      <a:r>
                        <a:rPr lang="de-DE" sz="1400" dirty="0"/>
                        <a:t> </a:t>
                      </a:r>
                      <a:r>
                        <a:rPr lang="de-DE" sz="1400" dirty="0" err="1"/>
                        <a:t>offer</a:t>
                      </a:r>
                      <a:endParaRPr lang="de-DE" sz="1400" dirty="0"/>
                    </a:p>
                  </a:txBody>
                  <a:tcPr/>
                </a:tc>
                <a:extLst>
                  <a:ext uri="{0D108BD9-81ED-4DB2-BD59-A6C34878D82A}">
                    <a16:rowId xmlns:a16="http://schemas.microsoft.com/office/drawing/2014/main" val="1903390602"/>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sz="1400" dirty="0"/>
                        <a:t>A07616000_A</a:t>
                      </a:r>
                    </a:p>
                    <a:p>
                      <a:endParaRPr lang="de-DE" sz="1400" dirty="0"/>
                    </a:p>
                  </a:txBody>
                  <a:tcPr/>
                </a:tc>
                <a:tc>
                  <a:txBody>
                    <a:bodyPr/>
                    <a:lstStyle/>
                    <a:p>
                      <a:r>
                        <a:rPr lang="de-DE" sz="1400" dirty="0"/>
                        <a:t>17.06.2025</a:t>
                      </a:r>
                    </a:p>
                  </a:txBody>
                  <a:tcPr/>
                </a:tc>
                <a:tc>
                  <a:txBody>
                    <a:bodyPr/>
                    <a:lstStyle/>
                    <a:p>
                      <a:r>
                        <a:rPr lang="de-DE" sz="1400" dirty="0"/>
                        <a:t>Florian Schötz</a:t>
                      </a:r>
                    </a:p>
                  </a:txBody>
                  <a:tcPr/>
                </a:tc>
                <a:tc>
                  <a:txBody>
                    <a:bodyPr/>
                    <a:lstStyle/>
                    <a:p>
                      <a:r>
                        <a:rPr lang="de-DE" sz="1400" dirty="0"/>
                        <a:t>Adjustments </a:t>
                      </a:r>
                      <a:r>
                        <a:rPr lang="de-DE" sz="1400" dirty="0" err="1"/>
                        <a:t>to</a:t>
                      </a:r>
                      <a:r>
                        <a:rPr lang="de-DE" sz="1400" dirty="0"/>
                        <a:t> </a:t>
                      </a:r>
                      <a:r>
                        <a:rPr lang="de-DE" sz="1400" dirty="0" err="1"/>
                        <a:t>specification</a:t>
                      </a:r>
                      <a:r>
                        <a:rPr lang="de-DE" sz="1400" dirty="0"/>
                        <a:t> V1.02</a:t>
                      </a:r>
                    </a:p>
                  </a:txBody>
                  <a:tcPr/>
                </a:tc>
                <a:tc>
                  <a:txBody>
                    <a:bodyPr/>
                    <a:lstStyle/>
                    <a:p>
                      <a:endParaRPr lang="de-DE" sz="1400" dirty="0">
                        <a:solidFill>
                          <a:srgbClr val="0070C0"/>
                        </a:solidFill>
                      </a:endParaRPr>
                    </a:p>
                  </a:txBody>
                  <a:tcPr/>
                </a:tc>
                <a:extLst>
                  <a:ext uri="{0D108BD9-81ED-4DB2-BD59-A6C34878D82A}">
                    <a16:rowId xmlns:a16="http://schemas.microsoft.com/office/drawing/2014/main" val="667611805"/>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sz="1400" dirty="0"/>
                        <a:t>A07616000_B</a:t>
                      </a:r>
                    </a:p>
                  </a:txBody>
                  <a:tcPr/>
                </a:tc>
                <a:tc>
                  <a:txBody>
                    <a:bodyPr/>
                    <a:lstStyle/>
                    <a:p>
                      <a:r>
                        <a:rPr lang="de-DE" sz="1400" dirty="0"/>
                        <a:t>01.07.2025</a:t>
                      </a:r>
                    </a:p>
                  </a:txBody>
                  <a:tcPr/>
                </a:tc>
                <a:tc>
                  <a:txBody>
                    <a:bodyPr/>
                    <a:lstStyle/>
                    <a:p>
                      <a:r>
                        <a:rPr lang="de-DE" sz="1400" dirty="0"/>
                        <a:t>Ulrich Radlbeck</a:t>
                      </a:r>
                    </a:p>
                  </a:txBody>
                  <a:tcPr/>
                </a:tc>
                <a:tc>
                  <a:txBody>
                    <a:bodyPr/>
                    <a:lstStyle/>
                    <a:p>
                      <a:pPr marL="285750" indent="-285750">
                        <a:buFontTx/>
                        <a:buChar char="-"/>
                      </a:pPr>
                      <a:r>
                        <a:rPr lang="de-DE" sz="1400" dirty="0"/>
                        <a:t>Output with </a:t>
                      </a:r>
                      <a:r>
                        <a:rPr lang="de-DE" sz="1400" dirty="0" err="1"/>
                        <a:t>boxis</a:t>
                      </a:r>
                      <a:r>
                        <a:rPr lang="de-DE" sz="1400" dirty="0"/>
                        <a:t> </a:t>
                      </a:r>
                      <a:r>
                        <a:rPr lang="de-DE" sz="1400" dirty="0" err="1"/>
                        <a:t>added</a:t>
                      </a:r>
                      <a:r>
                        <a:rPr lang="de-DE" sz="1400" dirty="0"/>
                        <a:t>,</a:t>
                      </a:r>
                    </a:p>
                    <a:p>
                      <a:pPr marL="285750" indent="-285750">
                        <a:buFontTx/>
                        <a:buChar char="-"/>
                      </a:pPr>
                      <a:r>
                        <a:rPr lang="de-DE" sz="1400" dirty="0"/>
                        <a:t>Description </a:t>
                      </a:r>
                      <a:r>
                        <a:rPr lang="de-DE" sz="1400" dirty="0" err="1"/>
                        <a:t>for</a:t>
                      </a:r>
                      <a:r>
                        <a:rPr lang="de-DE" sz="1400" dirty="0"/>
                        <a:t> </a:t>
                      </a:r>
                      <a:r>
                        <a:rPr lang="de-DE" sz="1400" dirty="0" err="1"/>
                        <a:t>shrink</a:t>
                      </a:r>
                      <a:r>
                        <a:rPr lang="de-DE" sz="1400" dirty="0"/>
                        <a:t> </a:t>
                      </a:r>
                      <a:r>
                        <a:rPr lang="de-DE" sz="1400" dirty="0" err="1"/>
                        <a:t>sleeve</a:t>
                      </a:r>
                      <a:r>
                        <a:rPr lang="de-DE" sz="1400" dirty="0"/>
                        <a:t> and </a:t>
                      </a:r>
                      <a:r>
                        <a:rPr lang="de-DE" sz="1400" dirty="0" err="1"/>
                        <a:t>labeling</a:t>
                      </a:r>
                      <a:r>
                        <a:rPr lang="de-DE" sz="1400" dirty="0"/>
                        <a:t> </a:t>
                      </a:r>
                      <a:r>
                        <a:rPr lang="de-DE" sz="1400" dirty="0" err="1"/>
                        <a:t>added</a:t>
                      </a:r>
                      <a:endParaRPr lang="de-DE" sz="1400" dirty="0"/>
                    </a:p>
                    <a:p>
                      <a:pPr marL="285750" indent="-285750">
                        <a:buFontTx/>
                        <a:buChar char="-"/>
                      </a:pPr>
                      <a:r>
                        <a:rPr lang="de-DE" sz="1400" dirty="0"/>
                        <a:t>Layout </a:t>
                      </a:r>
                      <a:r>
                        <a:rPr lang="de-DE" sz="1400" dirty="0" err="1"/>
                        <a:t>updated</a:t>
                      </a:r>
                      <a:endParaRPr lang="de-DE" sz="1400" dirty="0"/>
                    </a:p>
                    <a:p>
                      <a:pPr marL="285750" indent="-285750">
                        <a:buFontTx/>
                        <a:buChar char="-"/>
                      </a:pPr>
                      <a:r>
                        <a:rPr lang="de-DE" sz="1400" dirty="0"/>
                        <a:t>Payment </a:t>
                      </a:r>
                      <a:r>
                        <a:rPr lang="de-DE" sz="1400" dirty="0" err="1"/>
                        <a:t>terms</a:t>
                      </a:r>
                      <a:r>
                        <a:rPr lang="de-DE" sz="1400" dirty="0"/>
                        <a:t> and </a:t>
                      </a:r>
                      <a:r>
                        <a:rPr lang="de-DE" sz="1400" dirty="0" err="1"/>
                        <a:t>price</a:t>
                      </a:r>
                      <a:r>
                        <a:rPr lang="de-DE" sz="1400" dirty="0"/>
                        <a:t> </a:t>
                      </a:r>
                      <a:r>
                        <a:rPr lang="de-DE" sz="1400" dirty="0" err="1"/>
                        <a:t>updated</a:t>
                      </a:r>
                      <a:endParaRPr lang="de-DE" sz="1400" dirty="0"/>
                    </a:p>
                    <a:p>
                      <a:endParaRPr lang="de-DE" sz="1400" dirty="0"/>
                    </a:p>
                  </a:txBody>
                  <a:tcPr/>
                </a:tc>
                <a:tc>
                  <a:txBody>
                    <a:bodyPr/>
                    <a:lstStyle/>
                    <a:p>
                      <a:endParaRPr lang="de-DE" sz="1400" dirty="0">
                        <a:solidFill>
                          <a:srgbClr val="7030A0"/>
                        </a:solidFill>
                      </a:endParaRPr>
                    </a:p>
                  </a:txBody>
                  <a:tcPr/>
                </a:tc>
                <a:extLst>
                  <a:ext uri="{0D108BD9-81ED-4DB2-BD59-A6C34878D82A}">
                    <a16:rowId xmlns:a16="http://schemas.microsoft.com/office/drawing/2014/main" val="100035901"/>
                  </a:ext>
                </a:extLst>
              </a:tr>
            </a:tbl>
          </a:graphicData>
        </a:graphic>
      </p:graphicFrame>
    </p:spTree>
    <p:extLst>
      <p:ext uri="{BB962C8B-B14F-4D97-AF65-F5344CB8AC3E}">
        <p14:creationId xmlns:p14="http://schemas.microsoft.com/office/powerpoint/2010/main" val="3167565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68CBAC-E2D3-4553-7EFE-46E9E90F1DD5}"/>
              </a:ext>
            </a:extLst>
          </p:cNvPr>
          <p:cNvSpPr>
            <a:spLocks noGrp="1"/>
          </p:cNvSpPr>
          <p:nvPr>
            <p:ph type="title"/>
          </p:nvPr>
        </p:nvSpPr>
        <p:spPr/>
        <p:txBody>
          <a:bodyPr/>
          <a:lstStyle/>
          <a:p>
            <a:r>
              <a:rPr lang="de-DE" sz="1600" b="1" dirty="0"/>
              <a:t>Task </a:t>
            </a:r>
            <a:r>
              <a:rPr lang="de-DE" sz="1600" b="1" dirty="0" err="1"/>
              <a:t>description</a:t>
            </a:r>
            <a:endParaRPr lang="de-DE" sz="1600" b="1" dirty="0"/>
          </a:p>
        </p:txBody>
      </p:sp>
      <p:pic>
        <p:nvPicPr>
          <p:cNvPr id="4" name="Grafik 3">
            <a:extLst>
              <a:ext uri="{FF2B5EF4-FFF2-40B4-BE49-F238E27FC236}">
                <a16:creationId xmlns:a16="http://schemas.microsoft.com/office/drawing/2014/main" id="{ADB7975F-6210-C333-7239-147641C31D29}"/>
              </a:ext>
            </a:extLst>
          </p:cNvPr>
          <p:cNvPicPr>
            <a:picLocks noChangeAspect="1"/>
          </p:cNvPicPr>
          <p:nvPr/>
        </p:nvPicPr>
        <p:blipFill>
          <a:blip r:embed="rId2"/>
          <a:stretch>
            <a:fillRect/>
          </a:stretch>
        </p:blipFill>
        <p:spPr>
          <a:xfrm>
            <a:off x="6096001" y="3975576"/>
            <a:ext cx="4146100" cy="2012474"/>
          </a:xfrm>
          <a:prstGeom prst="rect">
            <a:avLst/>
          </a:prstGeom>
        </p:spPr>
      </p:pic>
      <p:pic>
        <p:nvPicPr>
          <p:cNvPr id="6" name="Grafik 5">
            <a:extLst>
              <a:ext uri="{FF2B5EF4-FFF2-40B4-BE49-F238E27FC236}">
                <a16:creationId xmlns:a16="http://schemas.microsoft.com/office/drawing/2014/main" id="{D1C196DB-AFA2-C053-AEE9-8D37975DF868}"/>
              </a:ext>
            </a:extLst>
          </p:cNvPr>
          <p:cNvPicPr>
            <a:picLocks noChangeAspect="1"/>
          </p:cNvPicPr>
          <p:nvPr/>
        </p:nvPicPr>
        <p:blipFill>
          <a:blip r:embed="rId3"/>
          <a:stretch>
            <a:fillRect/>
          </a:stretch>
        </p:blipFill>
        <p:spPr>
          <a:xfrm>
            <a:off x="533400" y="1055774"/>
            <a:ext cx="4782843" cy="2152852"/>
          </a:xfrm>
          <a:prstGeom prst="rect">
            <a:avLst/>
          </a:prstGeom>
        </p:spPr>
      </p:pic>
      <p:pic>
        <p:nvPicPr>
          <p:cNvPr id="5" name="Grafik 4">
            <a:extLst>
              <a:ext uri="{FF2B5EF4-FFF2-40B4-BE49-F238E27FC236}">
                <a16:creationId xmlns:a16="http://schemas.microsoft.com/office/drawing/2014/main" id="{6102427E-A1B8-12C0-094B-9F56A3E819A6}"/>
              </a:ext>
            </a:extLst>
          </p:cNvPr>
          <p:cNvPicPr>
            <a:picLocks noChangeAspect="1"/>
          </p:cNvPicPr>
          <p:nvPr/>
        </p:nvPicPr>
        <p:blipFill>
          <a:blip r:embed="rId4"/>
          <a:stretch>
            <a:fillRect/>
          </a:stretch>
        </p:blipFill>
        <p:spPr>
          <a:xfrm>
            <a:off x="6103771" y="973225"/>
            <a:ext cx="4107085" cy="2862322"/>
          </a:xfrm>
          <a:prstGeom prst="rect">
            <a:avLst/>
          </a:prstGeom>
        </p:spPr>
      </p:pic>
    </p:spTree>
    <p:extLst>
      <p:ext uri="{BB962C8B-B14F-4D97-AF65-F5344CB8AC3E}">
        <p14:creationId xmlns:p14="http://schemas.microsoft.com/office/powerpoint/2010/main" val="1148910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ADD63B7D-DFAB-6F14-F817-89C9BFBA1D36}"/>
              </a:ext>
            </a:extLst>
          </p:cNvPr>
          <p:cNvPicPr>
            <a:picLocks noChangeAspect="1"/>
          </p:cNvPicPr>
          <p:nvPr/>
        </p:nvPicPr>
        <p:blipFill>
          <a:blip r:embed="rId2"/>
          <a:stretch>
            <a:fillRect/>
          </a:stretch>
        </p:blipFill>
        <p:spPr>
          <a:xfrm>
            <a:off x="1425744" y="895570"/>
            <a:ext cx="3892216" cy="1596177"/>
          </a:xfrm>
          <a:prstGeom prst="rect">
            <a:avLst/>
          </a:prstGeom>
        </p:spPr>
      </p:pic>
      <p:pic>
        <p:nvPicPr>
          <p:cNvPr id="7" name="Grafik 6">
            <a:extLst>
              <a:ext uri="{FF2B5EF4-FFF2-40B4-BE49-F238E27FC236}">
                <a16:creationId xmlns:a16="http://schemas.microsoft.com/office/drawing/2014/main" id="{7EBF4D46-57B8-1CC1-E89F-65921EA69E0E}"/>
              </a:ext>
            </a:extLst>
          </p:cNvPr>
          <p:cNvPicPr>
            <a:picLocks noChangeAspect="1"/>
          </p:cNvPicPr>
          <p:nvPr/>
        </p:nvPicPr>
        <p:blipFill>
          <a:blip r:embed="rId3"/>
          <a:srcRect b="55413"/>
          <a:stretch/>
        </p:blipFill>
        <p:spPr>
          <a:xfrm>
            <a:off x="1473993" y="2473701"/>
            <a:ext cx="3837950" cy="2543467"/>
          </a:xfrm>
          <a:prstGeom prst="rect">
            <a:avLst/>
          </a:prstGeom>
        </p:spPr>
      </p:pic>
      <p:pic>
        <p:nvPicPr>
          <p:cNvPr id="9" name="Grafik 8">
            <a:extLst>
              <a:ext uri="{FF2B5EF4-FFF2-40B4-BE49-F238E27FC236}">
                <a16:creationId xmlns:a16="http://schemas.microsoft.com/office/drawing/2014/main" id="{7ED41CFF-4D89-E207-4E9F-40A7C7857784}"/>
              </a:ext>
            </a:extLst>
          </p:cNvPr>
          <p:cNvPicPr>
            <a:picLocks noChangeAspect="1"/>
          </p:cNvPicPr>
          <p:nvPr/>
        </p:nvPicPr>
        <p:blipFill>
          <a:blip r:embed="rId3"/>
          <a:srcRect t="44354" b="-9726"/>
          <a:stretch/>
        </p:blipFill>
        <p:spPr>
          <a:xfrm>
            <a:off x="5721746" y="1088857"/>
            <a:ext cx="3591033" cy="3489158"/>
          </a:xfrm>
          <a:prstGeom prst="rect">
            <a:avLst/>
          </a:prstGeom>
        </p:spPr>
      </p:pic>
      <p:pic>
        <p:nvPicPr>
          <p:cNvPr id="13" name="Grafik 12">
            <a:extLst>
              <a:ext uri="{FF2B5EF4-FFF2-40B4-BE49-F238E27FC236}">
                <a16:creationId xmlns:a16="http://schemas.microsoft.com/office/drawing/2014/main" id="{29B3EADC-9885-B49D-B935-FEE623F617B7}"/>
              </a:ext>
            </a:extLst>
          </p:cNvPr>
          <p:cNvPicPr>
            <a:picLocks noChangeAspect="1"/>
          </p:cNvPicPr>
          <p:nvPr/>
        </p:nvPicPr>
        <p:blipFill>
          <a:blip r:embed="rId4"/>
          <a:stretch>
            <a:fillRect/>
          </a:stretch>
        </p:blipFill>
        <p:spPr>
          <a:xfrm>
            <a:off x="5721746" y="4079603"/>
            <a:ext cx="3609082" cy="2426529"/>
          </a:xfrm>
          <a:prstGeom prst="rect">
            <a:avLst/>
          </a:prstGeom>
        </p:spPr>
      </p:pic>
      <p:sp>
        <p:nvSpPr>
          <p:cNvPr id="5" name="Titel 1">
            <a:extLst>
              <a:ext uri="{FF2B5EF4-FFF2-40B4-BE49-F238E27FC236}">
                <a16:creationId xmlns:a16="http://schemas.microsoft.com/office/drawing/2014/main" id="{CC0E9866-799D-BCEA-7AAC-07ABCC771E17}"/>
              </a:ext>
            </a:extLst>
          </p:cNvPr>
          <p:cNvSpPr txBox="1">
            <a:spLocks/>
          </p:cNvSpPr>
          <p:nvPr/>
        </p:nvSpPr>
        <p:spPr>
          <a:xfrm>
            <a:off x="3652924" y="313938"/>
            <a:ext cx="4656790"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de-DE" sz="1600" b="1"/>
              <a:t>Task description</a:t>
            </a:r>
          </a:p>
        </p:txBody>
      </p:sp>
    </p:spTree>
    <p:extLst>
      <p:ext uri="{BB962C8B-B14F-4D97-AF65-F5344CB8AC3E}">
        <p14:creationId xmlns:p14="http://schemas.microsoft.com/office/powerpoint/2010/main" val="2001995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5CFC03A4-CB0C-4849-3823-5E752128DA54}"/>
              </a:ext>
            </a:extLst>
          </p:cNvPr>
          <p:cNvPicPr>
            <a:picLocks noChangeAspect="1"/>
          </p:cNvPicPr>
          <p:nvPr/>
        </p:nvPicPr>
        <p:blipFill>
          <a:blip r:embed="rId2"/>
          <a:stretch>
            <a:fillRect/>
          </a:stretch>
        </p:blipFill>
        <p:spPr>
          <a:xfrm>
            <a:off x="735681" y="1042082"/>
            <a:ext cx="4461961" cy="5064929"/>
          </a:xfrm>
          <a:prstGeom prst="rect">
            <a:avLst/>
          </a:prstGeom>
        </p:spPr>
      </p:pic>
      <p:sp>
        <p:nvSpPr>
          <p:cNvPr id="5" name="Textfeld 4">
            <a:extLst>
              <a:ext uri="{FF2B5EF4-FFF2-40B4-BE49-F238E27FC236}">
                <a16:creationId xmlns:a16="http://schemas.microsoft.com/office/drawing/2014/main" id="{1B41A1EE-A886-DB5A-4A79-DFF52784531A}"/>
              </a:ext>
            </a:extLst>
          </p:cNvPr>
          <p:cNvSpPr txBox="1"/>
          <p:nvPr/>
        </p:nvSpPr>
        <p:spPr>
          <a:xfrm>
            <a:off x="5828919" y="1533646"/>
            <a:ext cx="5855724" cy="2862322"/>
          </a:xfrm>
          <a:prstGeom prst="rect">
            <a:avLst/>
          </a:prstGeom>
          <a:noFill/>
        </p:spPr>
        <p:txBody>
          <a:bodyPr wrap="square" rtlCol="0">
            <a:spAutoFit/>
          </a:bodyPr>
          <a:lstStyle/>
          <a:p>
            <a:r>
              <a:rPr lang="de-DE" dirty="0"/>
              <a:t>Different </a:t>
            </a:r>
            <a:r>
              <a:rPr lang="de-DE" dirty="0" err="1"/>
              <a:t>Orientations</a:t>
            </a:r>
            <a:r>
              <a:rPr lang="de-DE" dirty="0"/>
              <a:t> Crimp 1 and Crimp 2</a:t>
            </a:r>
          </a:p>
          <a:p>
            <a:endParaRPr lang="de-DE" dirty="0"/>
          </a:p>
          <a:p>
            <a:r>
              <a:rPr lang="de-DE" dirty="0"/>
              <a:t>Different </a:t>
            </a:r>
            <a:r>
              <a:rPr lang="de-DE" dirty="0" err="1"/>
              <a:t>Types</a:t>
            </a:r>
            <a:r>
              <a:rPr lang="de-DE" dirty="0"/>
              <a:t> Crimp 1 and Crimp 2</a:t>
            </a:r>
          </a:p>
          <a:p>
            <a:endParaRPr lang="de-DE" dirty="0"/>
          </a:p>
          <a:p>
            <a:pPr marL="285750" indent="-285750">
              <a:buFont typeface="Wingdings" panose="05000000000000000000" pitchFamily="2" charset="2"/>
              <a:buChar char="è"/>
            </a:pPr>
            <a:r>
              <a:rPr lang="de-DE" dirty="0"/>
              <a:t>Different </a:t>
            </a:r>
            <a:r>
              <a:rPr lang="de-DE" dirty="0" err="1"/>
              <a:t>Crimping</a:t>
            </a:r>
            <a:r>
              <a:rPr lang="de-DE" dirty="0"/>
              <a:t> Tools </a:t>
            </a:r>
          </a:p>
          <a:p>
            <a:pPr marL="285750" indent="-285750">
              <a:buFont typeface="Wingdings" panose="05000000000000000000" pitchFamily="2" charset="2"/>
              <a:buChar char="è"/>
            </a:pPr>
            <a:r>
              <a:rPr lang="de-DE" dirty="0" err="1"/>
              <a:t>Two</a:t>
            </a:r>
            <a:r>
              <a:rPr lang="de-DE" dirty="0"/>
              <a:t> </a:t>
            </a:r>
            <a:r>
              <a:rPr lang="de-DE" dirty="0" err="1"/>
              <a:t>crimping</a:t>
            </a:r>
            <a:r>
              <a:rPr lang="de-DE" dirty="0"/>
              <a:t> </a:t>
            </a:r>
            <a:r>
              <a:rPr lang="de-DE" dirty="0" err="1"/>
              <a:t>stations</a:t>
            </a:r>
            <a:endParaRPr lang="de-DE" dirty="0"/>
          </a:p>
          <a:p>
            <a:endParaRPr lang="de-DE" dirty="0"/>
          </a:p>
          <a:p>
            <a:r>
              <a:rPr lang="de-DE" dirty="0"/>
              <a:t>16mm² </a:t>
            </a:r>
            <a:r>
              <a:rPr lang="de-DE" dirty="0">
                <a:sym typeface="Wingdings" panose="05000000000000000000" pitchFamily="2" charset="2"/>
              </a:rPr>
              <a:t> 6 Seconds </a:t>
            </a:r>
            <a:r>
              <a:rPr lang="de-DE" dirty="0" err="1">
                <a:sym typeface="Wingdings" panose="05000000000000000000" pitchFamily="2" charset="2"/>
              </a:rPr>
              <a:t>target</a:t>
            </a:r>
            <a:endParaRPr lang="de-DE" dirty="0">
              <a:sym typeface="Wingdings" panose="05000000000000000000" pitchFamily="2" charset="2"/>
            </a:endParaRPr>
          </a:p>
          <a:p>
            <a:r>
              <a:rPr lang="de-DE" dirty="0" err="1">
                <a:sym typeface="Wingdings" panose="05000000000000000000" pitchFamily="2" charset="2"/>
              </a:rPr>
              <a:t>Longer</a:t>
            </a:r>
            <a:r>
              <a:rPr lang="de-DE" dirty="0">
                <a:sym typeface="Wingdings" panose="05000000000000000000" pitchFamily="2" charset="2"/>
              </a:rPr>
              <a:t> Time </a:t>
            </a:r>
            <a:r>
              <a:rPr lang="de-DE" dirty="0" err="1">
                <a:sym typeface="Wingdings" panose="05000000000000000000" pitchFamily="2" charset="2"/>
              </a:rPr>
              <a:t>for</a:t>
            </a:r>
            <a:r>
              <a:rPr lang="de-DE" dirty="0">
                <a:sym typeface="Wingdings" panose="05000000000000000000" pitchFamily="2" charset="2"/>
              </a:rPr>
              <a:t> </a:t>
            </a:r>
            <a:r>
              <a:rPr lang="de-DE" dirty="0" err="1">
                <a:sym typeface="Wingdings" panose="05000000000000000000" pitchFamily="2" charset="2"/>
              </a:rPr>
              <a:t>bigger</a:t>
            </a:r>
            <a:r>
              <a:rPr lang="de-DE" dirty="0">
                <a:sym typeface="Wingdings" panose="05000000000000000000" pitchFamily="2" charset="2"/>
              </a:rPr>
              <a:t> </a:t>
            </a:r>
            <a:r>
              <a:rPr lang="de-DE" dirty="0" err="1">
                <a:sym typeface="Wingdings" panose="05000000000000000000" pitchFamily="2" charset="2"/>
              </a:rPr>
              <a:t>cross</a:t>
            </a:r>
            <a:r>
              <a:rPr lang="de-DE" dirty="0">
                <a:sym typeface="Wingdings" panose="05000000000000000000" pitchFamily="2" charset="2"/>
              </a:rPr>
              <a:t> </a:t>
            </a:r>
            <a:r>
              <a:rPr lang="de-DE" dirty="0" err="1">
                <a:sym typeface="Wingdings" panose="05000000000000000000" pitchFamily="2" charset="2"/>
              </a:rPr>
              <a:t>sections</a:t>
            </a:r>
            <a:r>
              <a:rPr lang="de-DE" dirty="0">
                <a:sym typeface="Wingdings" panose="05000000000000000000" pitchFamily="2" charset="2"/>
              </a:rPr>
              <a:t>!</a:t>
            </a:r>
          </a:p>
          <a:p>
            <a:endParaRPr lang="de-DE" dirty="0"/>
          </a:p>
        </p:txBody>
      </p:sp>
      <p:sp>
        <p:nvSpPr>
          <p:cNvPr id="6" name="Titel 1">
            <a:extLst>
              <a:ext uri="{FF2B5EF4-FFF2-40B4-BE49-F238E27FC236}">
                <a16:creationId xmlns:a16="http://schemas.microsoft.com/office/drawing/2014/main" id="{E828B8A7-468C-F0BD-C9A8-9E556B391C80}"/>
              </a:ext>
            </a:extLst>
          </p:cNvPr>
          <p:cNvSpPr txBox="1">
            <a:spLocks/>
          </p:cNvSpPr>
          <p:nvPr/>
        </p:nvSpPr>
        <p:spPr>
          <a:xfrm>
            <a:off x="3652924" y="313938"/>
            <a:ext cx="4656790"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de-DE" sz="1600" b="1"/>
              <a:t>Task description</a:t>
            </a:r>
          </a:p>
        </p:txBody>
      </p:sp>
    </p:spTree>
    <p:extLst>
      <p:ext uri="{BB962C8B-B14F-4D97-AF65-F5344CB8AC3E}">
        <p14:creationId xmlns:p14="http://schemas.microsoft.com/office/powerpoint/2010/main" val="38384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Rechteck 632">
            <a:extLst>
              <a:ext uri="{FF2B5EF4-FFF2-40B4-BE49-F238E27FC236}">
                <a16:creationId xmlns:a16="http://schemas.microsoft.com/office/drawing/2014/main" id="{01C08366-70E0-2F31-7EB8-DE773BF0B1DE}"/>
              </a:ext>
            </a:extLst>
          </p:cNvPr>
          <p:cNvSpPr/>
          <p:nvPr/>
        </p:nvSpPr>
        <p:spPr>
          <a:xfrm>
            <a:off x="8786080" y="2677491"/>
            <a:ext cx="282366" cy="124983"/>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38" name="Verbinder: gekrümmt 237">
            <a:extLst>
              <a:ext uri="{FF2B5EF4-FFF2-40B4-BE49-F238E27FC236}">
                <a16:creationId xmlns:a16="http://schemas.microsoft.com/office/drawing/2014/main" id="{BC7BEA59-2F11-62DC-6BFF-7B211717EC32}"/>
              </a:ext>
            </a:extLst>
          </p:cNvPr>
          <p:cNvCxnSpPr>
            <a:cxnSpLocks/>
            <a:endCxn id="237" idx="0"/>
          </p:cNvCxnSpPr>
          <p:nvPr/>
        </p:nvCxnSpPr>
        <p:spPr>
          <a:xfrm rot="5400000">
            <a:off x="5348364" y="3068755"/>
            <a:ext cx="1024539" cy="921189"/>
          </a:xfrm>
          <a:prstGeom prst="curvedConnector3">
            <a:avLst>
              <a:gd name="adj1" fmla="val 78510"/>
            </a:avLst>
          </a:prstGeom>
          <a:ln/>
        </p:spPr>
        <p:style>
          <a:lnRef idx="3">
            <a:schemeClr val="dk1"/>
          </a:lnRef>
          <a:fillRef idx="0">
            <a:schemeClr val="dk1"/>
          </a:fillRef>
          <a:effectRef idx="2">
            <a:schemeClr val="dk1"/>
          </a:effectRef>
          <a:fontRef idx="minor">
            <a:schemeClr val="tx1"/>
          </a:fontRef>
        </p:style>
      </p:cxnSp>
      <p:sp>
        <p:nvSpPr>
          <p:cNvPr id="120" name="Rechteck 119">
            <a:extLst>
              <a:ext uri="{FF2B5EF4-FFF2-40B4-BE49-F238E27FC236}">
                <a16:creationId xmlns:a16="http://schemas.microsoft.com/office/drawing/2014/main" id="{B38364BA-B878-38A4-5D7D-1C74AD4F112C}"/>
              </a:ext>
            </a:extLst>
          </p:cNvPr>
          <p:cNvSpPr/>
          <p:nvPr/>
        </p:nvSpPr>
        <p:spPr>
          <a:xfrm rot="5400000">
            <a:off x="5318525" y="3565446"/>
            <a:ext cx="1507805" cy="505307"/>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0" name="Gruppieren 19">
            <a:extLst>
              <a:ext uri="{FF2B5EF4-FFF2-40B4-BE49-F238E27FC236}">
                <a16:creationId xmlns:a16="http://schemas.microsoft.com/office/drawing/2014/main" id="{ACFE0D5F-CE55-03B2-F731-CDA0707147EE}"/>
              </a:ext>
            </a:extLst>
          </p:cNvPr>
          <p:cNvGrpSpPr/>
          <p:nvPr/>
        </p:nvGrpSpPr>
        <p:grpSpPr>
          <a:xfrm rot="10800000">
            <a:off x="7845336" y="2609346"/>
            <a:ext cx="69580" cy="193454"/>
            <a:chOff x="2849757" y="2999802"/>
            <a:chExt cx="69580" cy="193454"/>
          </a:xfrm>
        </p:grpSpPr>
        <p:sp>
          <p:nvSpPr>
            <p:cNvPr id="27" name="Rechteck 26">
              <a:extLst>
                <a:ext uri="{FF2B5EF4-FFF2-40B4-BE49-F238E27FC236}">
                  <a16:creationId xmlns:a16="http://schemas.microsoft.com/office/drawing/2014/main" id="{583FB0EC-AC27-6401-BF1A-BE88E8F196D7}"/>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36" name="Gerade Verbindung mit Pfeil 35">
              <a:extLst>
                <a:ext uri="{FF2B5EF4-FFF2-40B4-BE49-F238E27FC236}">
                  <a16:creationId xmlns:a16="http://schemas.microsoft.com/office/drawing/2014/main" id="{8548AD3D-AAC7-8D95-A99A-172026412AA5}"/>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8" name="Gruppieren 7">
            <a:extLst>
              <a:ext uri="{FF2B5EF4-FFF2-40B4-BE49-F238E27FC236}">
                <a16:creationId xmlns:a16="http://schemas.microsoft.com/office/drawing/2014/main" id="{91EB62AD-6A9B-8E12-6B1E-14E83BA5CF07}"/>
              </a:ext>
            </a:extLst>
          </p:cNvPr>
          <p:cNvGrpSpPr/>
          <p:nvPr/>
        </p:nvGrpSpPr>
        <p:grpSpPr>
          <a:xfrm>
            <a:off x="4474445" y="2996250"/>
            <a:ext cx="69580" cy="193454"/>
            <a:chOff x="2849757" y="2999802"/>
            <a:chExt cx="69580" cy="193454"/>
          </a:xfrm>
        </p:grpSpPr>
        <p:sp>
          <p:nvSpPr>
            <p:cNvPr id="17" name="Rechteck 16">
              <a:extLst>
                <a:ext uri="{FF2B5EF4-FFF2-40B4-BE49-F238E27FC236}">
                  <a16:creationId xmlns:a16="http://schemas.microsoft.com/office/drawing/2014/main" id="{F9488ED4-77DD-3B16-ABBF-379404C8457E}"/>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18" name="Gerade Verbindung mit Pfeil 17">
              <a:extLst>
                <a:ext uri="{FF2B5EF4-FFF2-40B4-BE49-F238E27FC236}">
                  <a16:creationId xmlns:a16="http://schemas.microsoft.com/office/drawing/2014/main" id="{C538A8FF-19C7-F1A8-B658-BE522A8D0EDE}"/>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cxnSp>
        <p:nvCxnSpPr>
          <p:cNvPr id="461" name="Verbinder: gekrümmt 460">
            <a:extLst>
              <a:ext uri="{FF2B5EF4-FFF2-40B4-BE49-F238E27FC236}">
                <a16:creationId xmlns:a16="http://schemas.microsoft.com/office/drawing/2014/main" id="{EE5F864C-5000-50A7-1D5F-78EA74544B6B}"/>
              </a:ext>
            </a:extLst>
          </p:cNvPr>
          <p:cNvCxnSpPr>
            <a:cxnSpLocks/>
            <a:stCxn id="460" idx="0"/>
          </p:cNvCxnSpPr>
          <p:nvPr/>
        </p:nvCxnSpPr>
        <p:spPr>
          <a:xfrm rot="16200000" flipV="1">
            <a:off x="4012862" y="3397204"/>
            <a:ext cx="1245982" cy="42238"/>
          </a:xfrm>
          <a:prstGeom prst="curvedConnector3">
            <a:avLst>
              <a:gd name="adj1" fmla="val 50000"/>
            </a:avLst>
          </a:prstGeom>
          <a:ln/>
        </p:spPr>
        <p:style>
          <a:lnRef idx="3">
            <a:schemeClr val="dk1"/>
          </a:lnRef>
          <a:fillRef idx="0">
            <a:schemeClr val="dk1"/>
          </a:fillRef>
          <a:effectRef idx="2">
            <a:schemeClr val="dk1"/>
          </a:effectRef>
          <a:fontRef idx="minor">
            <a:schemeClr val="tx1"/>
          </a:fontRef>
        </p:style>
      </p:cxnSp>
      <p:sp>
        <p:nvSpPr>
          <p:cNvPr id="459" name="Rechteck 458">
            <a:extLst>
              <a:ext uri="{FF2B5EF4-FFF2-40B4-BE49-F238E27FC236}">
                <a16:creationId xmlns:a16="http://schemas.microsoft.com/office/drawing/2014/main" id="{D56016DB-7E6B-D9F1-3910-F0EB645996BC}"/>
              </a:ext>
            </a:extLst>
          </p:cNvPr>
          <p:cNvSpPr/>
          <p:nvPr/>
        </p:nvSpPr>
        <p:spPr>
          <a:xfrm rot="5400000">
            <a:off x="4665593" y="2430989"/>
            <a:ext cx="427242" cy="25669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449" name="Gruppieren 448">
            <a:extLst>
              <a:ext uri="{FF2B5EF4-FFF2-40B4-BE49-F238E27FC236}">
                <a16:creationId xmlns:a16="http://schemas.microsoft.com/office/drawing/2014/main" id="{FEE0D7B8-7537-8DED-1928-4893477DDE15}"/>
              </a:ext>
            </a:extLst>
          </p:cNvPr>
          <p:cNvGrpSpPr/>
          <p:nvPr/>
        </p:nvGrpSpPr>
        <p:grpSpPr>
          <a:xfrm rot="10800000">
            <a:off x="7506445" y="2608161"/>
            <a:ext cx="69580" cy="193454"/>
            <a:chOff x="2849757" y="2999802"/>
            <a:chExt cx="69580" cy="193454"/>
          </a:xfrm>
        </p:grpSpPr>
        <p:sp>
          <p:nvSpPr>
            <p:cNvPr id="450" name="Rechteck 449">
              <a:extLst>
                <a:ext uri="{FF2B5EF4-FFF2-40B4-BE49-F238E27FC236}">
                  <a16:creationId xmlns:a16="http://schemas.microsoft.com/office/drawing/2014/main" id="{005739C7-7F74-7829-DAF1-1666F81B13FD}"/>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51" name="Gerade Verbindung mit Pfeil 450">
              <a:extLst>
                <a:ext uri="{FF2B5EF4-FFF2-40B4-BE49-F238E27FC236}">
                  <a16:creationId xmlns:a16="http://schemas.microsoft.com/office/drawing/2014/main" id="{15B2EECA-64B2-9193-BA70-3AB15E1A2F8A}"/>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43" name="Gruppieren 442">
            <a:extLst>
              <a:ext uri="{FF2B5EF4-FFF2-40B4-BE49-F238E27FC236}">
                <a16:creationId xmlns:a16="http://schemas.microsoft.com/office/drawing/2014/main" id="{8DCFAD51-652D-34FA-96C0-4F151F44461C}"/>
              </a:ext>
            </a:extLst>
          </p:cNvPr>
          <p:cNvGrpSpPr/>
          <p:nvPr/>
        </p:nvGrpSpPr>
        <p:grpSpPr>
          <a:xfrm rot="10800000">
            <a:off x="6207306" y="2609785"/>
            <a:ext cx="69580" cy="193454"/>
            <a:chOff x="2849757" y="2999802"/>
            <a:chExt cx="69580" cy="193454"/>
          </a:xfrm>
        </p:grpSpPr>
        <p:sp>
          <p:nvSpPr>
            <p:cNvPr id="444" name="Rechteck 443">
              <a:extLst>
                <a:ext uri="{FF2B5EF4-FFF2-40B4-BE49-F238E27FC236}">
                  <a16:creationId xmlns:a16="http://schemas.microsoft.com/office/drawing/2014/main" id="{FF747A45-0BFA-0A16-D62E-F70D98595F1B}"/>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45" name="Gerade Verbindung mit Pfeil 444">
              <a:extLst>
                <a:ext uri="{FF2B5EF4-FFF2-40B4-BE49-F238E27FC236}">
                  <a16:creationId xmlns:a16="http://schemas.microsoft.com/office/drawing/2014/main" id="{27E54FC0-AE8A-2F82-C204-38A04B0FBB8D}"/>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35" name="Gruppieren 434">
            <a:extLst>
              <a:ext uri="{FF2B5EF4-FFF2-40B4-BE49-F238E27FC236}">
                <a16:creationId xmlns:a16="http://schemas.microsoft.com/office/drawing/2014/main" id="{9F52DBC8-0273-2A18-8576-B8A996B7A106}"/>
              </a:ext>
            </a:extLst>
          </p:cNvPr>
          <p:cNvGrpSpPr/>
          <p:nvPr/>
        </p:nvGrpSpPr>
        <p:grpSpPr>
          <a:xfrm>
            <a:off x="4158547" y="2993789"/>
            <a:ext cx="69580" cy="193454"/>
            <a:chOff x="2849757" y="2999802"/>
            <a:chExt cx="69580" cy="193454"/>
          </a:xfrm>
        </p:grpSpPr>
        <p:sp>
          <p:nvSpPr>
            <p:cNvPr id="436" name="Rechteck 435">
              <a:extLst>
                <a:ext uri="{FF2B5EF4-FFF2-40B4-BE49-F238E27FC236}">
                  <a16:creationId xmlns:a16="http://schemas.microsoft.com/office/drawing/2014/main" id="{9BA7E1A2-4B34-531E-F75D-E2413EAB2F5A}"/>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37" name="Gerade Verbindung mit Pfeil 436">
              <a:extLst>
                <a:ext uri="{FF2B5EF4-FFF2-40B4-BE49-F238E27FC236}">
                  <a16:creationId xmlns:a16="http://schemas.microsoft.com/office/drawing/2014/main" id="{43DCC557-25D4-CBE2-CF45-0396F6CBE2BC}"/>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23" name="Ellipse 422">
            <a:extLst>
              <a:ext uri="{FF2B5EF4-FFF2-40B4-BE49-F238E27FC236}">
                <a16:creationId xmlns:a16="http://schemas.microsoft.com/office/drawing/2014/main" id="{5BF27D1F-6628-8AAA-CEAB-3EA3D6986126}"/>
              </a:ext>
            </a:extLst>
          </p:cNvPr>
          <p:cNvSpPr/>
          <p:nvPr/>
        </p:nvSpPr>
        <p:spPr>
          <a:xfrm>
            <a:off x="2548264" y="299855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57" name="Rechteck 56">
            <a:extLst>
              <a:ext uri="{FF2B5EF4-FFF2-40B4-BE49-F238E27FC236}">
                <a16:creationId xmlns:a16="http://schemas.microsoft.com/office/drawing/2014/main" id="{D88FA469-4905-4CE8-826B-317175BFEEBA}"/>
              </a:ext>
            </a:extLst>
          </p:cNvPr>
          <p:cNvSpPr/>
          <p:nvPr/>
        </p:nvSpPr>
        <p:spPr>
          <a:xfrm>
            <a:off x="738883" y="4768562"/>
            <a:ext cx="1440000" cy="1876078"/>
          </a:xfrm>
          <a:prstGeom prst="rect">
            <a:avLst/>
          </a:prstGeom>
          <a:solidFill>
            <a:schemeClr val="bg1">
              <a:lumMod val="85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8" name="Rechteck 227">
            <a:extLst>
              <a:ext uri="{FF2B5EF4-FFF2-40B4-BE49-F238E27FC236}">
                <a16:creationId xmlns:a16="http://schemas.microsoft.com/office/drawing/2014/main" id="{AF3910DC-0D2F-3CCF-C4B7-7B7B2188DB45}"/>
              </a:ext>
            </a:extLst>
          </p:cNvPr>
          <p:cNvSpPr/>
          <p:nvPr/>
        </p:nvSpPr>
        <p:spPr>
          <a:xfrm rot="5400000">
            <a:off x="8584376" y="3508232"/>
            <a:ext cx="1397740" cy="61186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252" name="Rechteck 251">
            <a:extLst>
              <a:ext uri="{FF2B5EF4-FFF2-40B4-BE49-F238E27FC236}">
                <a16:creationId xmlns:a16="http://schemas.microsoft.com/office/drawing/2014/main" id="{759DC640-E30D-139A-32FB-1B5FC731EF8F}"/>
              </a:ext>
            </a:extLst>
          </p:cNvPr>
          <p:cNvSpPr/>
          <p:nvPr/>
        </p:nvSpPr>
        <p:spPr>
          <a:xfrm rot="5400000">
            <a:off x="8005434" y="3121006"/>
            <a:ext cx="427242" cy="25669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6" name="Rechteck 175">
            <a:extLst>
              <a:ext uri="{FF2B5EF4-FFF2-40B4-BE49-F238E27FC236}">
                <a16:creationId xmlns:a16="http://schemas.microsoft.com/office/drawing/2014/main" id="{B62A2A78-989D-41C7-0BAE-3FCC7BA74364}"/>
              </a:ext>
            </a:extLst>
          </p:cNvPr>
          <p:cNvSpPr/>
          <p:nvPr/>
        </p:nvSpPr>
        <p:spPr>
          <a:xfrm rot="5400000">
            <a:off x="5345189" y="3121407"/>
            <a:ext cx="427241" cy="31060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8" name="Rechteck 37">
            <a:extLst>
              <a:ext uri="{FF2B5EF4-FFF2-40B4-BE49-F238E27FC236}">
                <a16:creationId xmlns:a16="http://schemas.microsoft.com/office/drawing/2014/main" id="{11AD31DD-704D-78FE-109A-3DF08A18C6B3}"/>
              </a:ext>
            </a:extLst>
          </p:cNvPr>
          <p:cNvSpPr/>
          <p:nvPr/>
        </p:nvSpPr>
        <p:spPr>
          <a:xfrm rot="5400000">
            <a:off x="4616175" y="1748896"/>
            <a:ext cx="1416563" cy="628773"/>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3" name="Rechteck 62">
            <a:extLst>
              <a:ext uri="{FF2B5EF4-FFF2-40B4-BE49-F238E27FC236}">
                <a16:creationId xmlns:a16="http://schemas.microsoft.com/office/drawing/2014/main" id="{90D35D68-041B-04B2-8389-3F1AE8A56C1F}"/>
              </a:ext>
            </a:extLst>
          </p:cNvPr>
          <p:cNvSpPr/>
          <p:nvPr/>
        </p:nvSpPr>
        <p:spPr>
          <a:xfrm rot="5400000">
            <a:off x="4624342" y="1933802"/>
            <a:ext cx="1218415" cy="379203"/>
          </a:xfrm>
          <a:prstGeom prst="rect">
            <a:avLst/>
          </a:prstGeom>
          <a:solidFill>
            <a:schemeClr val="bg1">
              <a:lumMod val="6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49" name="Rechteck 148">
            <a:extLst>
              <a:ext uri="{FF2B5EF4-FFF2-40B4-BE49-F238E27FC236}">
                <a16:creationId xmlns:a16="http://schemas.microsoft.com/office/drawing/2014/main" id="{96ED78E7-BB42-51B5-1465-DD4487E13C40}"/>
              </a:ext>
            </a:extLst>
          </p:cNvPr>
          <p:cNvSpPr/>
          <p:nvPr/>
        </p:nvSpPr>
        <p:spPr>
          <a:xfrm>
            <a:off x="2128508" y="2819901"/>
            <a:ext cx="7043290" cy="162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sp>
        <p:nvSpPr>
          <p:cNvPr id="109" name="Rechteck 108">
            <a:extLst>
              <a:ext uri="{FF2B5EF4-FFF2-40B4-BE49-F238E27FC236}">
                <a16:creationId xmlns:a16="http://schemas.microsoft.com/office/drawing/2014/main" id="{D6BE3DC5-2F9C-3597-3B5D-75EAB6AD6AA2}"/>
              </a:ext>
            </a:extLst>
          </p:cNvPr>
          <p:cNvSpPr/>
          <p:nvPr/>
        </p:nvSpPr>
        <p:spPr>
          <a:xfrm rot="5400000">
            <a:off x="1467130" y="4082492"/>
            <a:ext cx="2389952" cy="494458"/>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6E9A83A0-11B2-7FB8-5140-7F38FB85F34B}"/>
              </a:ext>
            </a:extLst>
          </p:cNvPr>
          <p:cNvSpPr/>
          <p:nvPr/>
        </p:nvSpPr>
        <p:spPr>
          <a:xfrm rot="16200000">
            <a:off x="2302406" y="4933321"/>
            <a:ext cx="800775" cy="327274"/>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de-DE" sz="1100" dirty="0" err="1"/>
              <a:t>Cuting</a:t>
            </a:r>
            <a:endParaRPr lang="de-DE" sz="1100" dirty="0"/>
          </a:p>
        </p:txBody>
      </p:sp>
      <p:cxnSp>
        <p:nvCxnSpPr>
          <p:cNvPr id="22" name="Gerader Verbinder 21">
            <a:extLst>
              <a:ext uri="{FF2B5EF4-FFF2-40B4-BE49-F238E27FC236}">
                <a16:creationId xmlns:a16="http://schemas.microsoft.com/office/drawing/2014/main" id="{074141EE-041C-6888-7573-D41952B95829}"/>
              </a:ext>
            </a:extLst>
          </p:cNvPr>
          <p:cNvCxnSpPr>
            <a:cxnSpLocks/>
          </p:cNvCxnSpPr>
          <p:nvPr/>
        </p:nvCxnSpPr>
        <p:spPr>
          <a:xfrm flipV="1">
            <a:off x="2583226" y="5479822"/>
            <a:ext cx="0" cy="800328"/>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sp>
        <p:nvSpPr>
          <p:cNvPr id="54" name="Zylinder 53">
            <a:extLst>
              <a:ext uri="{FF2B5EF4-FFF2-40B4-BE49-F238E27FC236}">
                <a16:creationId xmlns:a16="http://schemas.microsoft.com/office/drawing/2014/main" id="{E2EB6F2D-00D9-D8CB-B3C9-73FF6DADAC42}"/>
              </a:ext>
            </a:extLst>
          </p:cNvPr>
          <p:cNvSpPr/>
          <p:nvPr/>
        </p:nvSpPr>
        <p:spPr>
          <a:xfrm>
            <a:off x="976585" y="5274144"/>
            <a:ext cx="953245" cy="1104312"/>
          </a:xfrm>
          <a:prstGeom prst="can">
            <a:avLst>
              <a:gd name="adj" fmla="val 9961"/>
            </a:avLst>
          </a:prstGeom>
          <a:solidFill>
            <a:srgbClr val="FF9966"/>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7" name="Gruppieren 76">
            <a:extLst>
              <a:ext uri="{FF2B5EF4-FFF2-40B4-BE49-F238E27FC236}">
                <a16:creationId xmlns:a16="http://schemas.microsoft.com/office/drawing/2014/main" id="{8238203A-4650-9AAB-ACB9-FE6310B2159C}"/>
              </a:ext>
            </a:extLst>
          </p:cNvPr>
          <p:cNvGrpSpPr/>
          <p:nvPr/>
        </p:nvGrpSpPr>
        <p:grpSpPr>
          <a:xfrm>
            <a:off x="2522923" y="2796091"/>
            <a:ext cx="75705" cy="277927"/>
            <a:chOff x="3476670" y="3647733"/>
            <a:chExt cx="75705" cy="277927"/>
          </a:xfrm>
        </p:grpSpPr>
        <p:sp>
          <p:nvSpPr>
            <p:cNvPr id="4" name="Rechteck 3">
              <a:extLst>
                <a:ext uri="{FF2B5EF4-FFF2-40B4-BE49-F238E27FC236}">
                  <a16:creationId xmlns:a16="http://schemas.microsoft.com/office/drawing/2014/main" id="{2B5C822E-7479-CEFE-DB0C-191246EB95DF}"/>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62" name="Verbinder: gekrümmt 61">
              <a:extLst>
                <a:ext uri="{FF2B5EF4-FFF2-40B4-BE49-F238E27FC236}">
                  <a16:creationId xmlns:a16="http://schemas.microsoft.com/office/drawing/2014/main" id="{C03C96CB-BFF3-4FB1-4C39-550F98985908}"/>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73" name="Rechteck 72">
            <a:extLst>
              <a:ext uri="{FF2B5EF4-FFF2-40B4-BE49-F238E27FC236}">
                <a16:creationId xmlns:a16="http://schemas.microsoft.com/office/drawing/2014/main" id="{6E3495E2-4F5E-64AD-719A-D351370371C6}"/>
              </a:ext>
            </a:extLst>
          </p:cNvPr>
          <p:cNvSpPr/>
          <p:nvPr/>
        </p:nvSpPr>
        <p:spPr>
          <a:xfrm rot="10800000" flipH="1">
            <a:off x="2568564" y="3227183"/>
            <a:ext cx="25029" cy="128585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grpSp>
        <p:nvGrpSpPr>
          <p:cNvPr id="81" name="Gruppieren 80">
            <a:extLst>
              <a:ext uri="{FF2B5EF4-FFF2-40B4-BE49-F238E27FC236}">
                <a16:creationId xmlns:a16="http://schemas.microsoft.com/office/drawing/2014/main" id="{E58F645D-9B46-481B-3807-1CF991C3F52B}"/>
              </a:ext>
            </a:extLst>
          </p:cNvPr>
          <p:cNvGrpSpPr/>
          <p:nvPr/>
        </p:nvGrpSpPr>
        <p:grpSpPr>
          <a:xfrm>
            <a:off x="2803425" y="2811273"/>
            <a:ext cx="75705" cy="277927"/>
            <a:chOff x="3476670" y="3647733"/>
            <a:chExt cx="75705" cy="277927"/>
          </a:xfrm>
        </p:grpSpPr>
        <p:sp>
          <p:nvSpPr>
            <p:cNvPr id="82" name="Rechteck 81">
              <a:extLst>
                <a:ext uri="{FF2B5EF4-FFF2-40B4-BE49-F238E27FC236}">
                  <a16:creationId xmlns:a16="http://schemas.microsoft.com/office/drawing/2014/main" id="{AB022BFC-6A4A-9B92-08A6-EF4D4594245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3" name="Verbinder: gekrümmt 82">
              <a:extLst>
                <a:ext uri="{FF2B5EF4-FFF2-40B4-BE49-F238E27FC236}">
                  <a16:creationId xmlns:a16="http://schemas.microsoft.com/office/drawing/2014/main" id="{E7704BA5-4314-4EF6-1A32-E3CE2891EB8E}"/>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4" name="Gruppieren 83">
            <a:extLst>
              <a:ext uri="{FF2B5EF4-FFF2-40B4-BE49-F238E27FC236}">
                <a16:creationId xmlns:a16="http://schemas.microsoft.com/office/drawing/2014/main" id="{FE4E41C9-636D-234F-8F01-F6D9CBEA3B1F}"/>
              </a:ext>
            </a:extLst>
          </p:cNvPr>
          <p:cNvGrpSpPr/>
          <p:nvPr/>
        </p:nvGrpSpPr>
        <p:grpSpPr>
          <a:xfrm>
            <a:off x="3123821" y="2806402"/>
            <a:ext cx="75705" cy="277927"/>
            <a:chOff x="3476670" y="3647733"/>
            <a:chExt cx="75705" cy="277927"/>
          </a:xfrm>
        </p:grpSpPr>
        <p:sp>
          <p:nvSpPr>
            <p:cNvPr id="85" name="Rechteck 84">
              <a:extLst>
                <a:ext uri="{FF2B5EF4-FFF2-40B4-BE49-F238E27FC236}">
                  <a16:creationId xmlns:a16="http://schemas.microsoft.com/office/drawing/2014/main" id="{287C2BA7-B453-CFD1-D5DF-7A33A7AF50E4}"/>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6" name="Verbinder: gekrümmt 85">
              <a:extLst>
                <a:ext uri="{FF2B5EF4-FFF2-40B4-BE49-F238E27FC236}">
                  <a16:creationId xmlns:a16="http://schemas.microsoft.com/office/drawing/2014/main" id="{21603F25-B21F-8390-A794-6F6846A5304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87" name="Gruppieren 86">
            <a:extLst>
              <a:ext uri="{FF2B5EF4-FFF2-40B4-BE49-F238E27FC236}">
                <a16:creationId xmlns:a16="http://schemas.microsoft.com/office/drawing/2014/main" id="{FFAEDE89-A8EE-8864-D0AF-DB580CBB7328}"/>
              </a:ext>
            </a:extLst>
          </p:cNvPr>
          <p:cNvGrpSpPr/>
          <p:nvPr/>
        </p:nvGrpSpPr>
        <p:grpSpPr>
          <a:xfrm>
            <a:off x="3458151" y="2744492"/>
            <a:ext cx="75705" cy="277927"/>
            <a:chOff x="3476670" y="3647733"/>
            <a:chExt cx="75705" cy="277927"/>
          </a:xfrm>
        </p:grpSpPr>
        <p:sp>
          <p:nvSpPr>
            <p:cNvPr id="88" name="Rechteck 87">
              <a:extLst>
                <a:ext uri="{FF2B5EF4-FFF2-40B4-BE49-F238E27FC236}">
                  <a16:creationId xmlns:a16="http://schemas.microsoft.com/office/drawing/2014/main" id="{D9CE541E-5E87-951F-C986-30A4F2AD2A0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9" name="Verbinder: gekrümmt 88">
              <a:extLst>
                <a:ext uri="{FF2B5EF4-FFF2-40B4-BE49-F238E27FC236}">
                  <a16:creationId xmlns:a16="http://schemas.microsoft.com/office/drawing/2014/main" id="{775CE08C-AC64-509E-EE33-5410DE45858B}"/>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0" name="Gruppieren 89">
            <a:extLst>
              <a:ext uri="{FF2B5EF4-FFF2-40B4-BE49-F238E27FC236}">
                <a16:creationId xmlns:a16="http://schemas.microsoft.com/office/drawing/2014/main" id="{19925675-B7F3-852C-6300-91727BAB5A08}"/>
              </a:ext>
            </a:extLst>
          </p:cNvPr>
          <p:cNvGrpSpPr/>
          <p:nvPr/>
        </p:nvGrpSpPr>
        <p:grpSpPr>
          <a:xfrm>
            <a:off x="3792626" y="2806403"/>
            <a:ext cx="75705" cy="277927"/>
            <a:chOff x="3476670" y="3647733"/>
            <a:chExt cx="75705" cy="277927"/>
          </a:xfrm>
        </p:grpSpPr>
        <p:sp>
          <p:nvSpPr>
            <p:cNvPr id="91" name="Rechteck 90">
              <a:extLst>
                <a:ext uri="{FF2B5EF4-FFF2-40B4-BE49-F238E27FC236}">
                  <a16:creationId xmlns:a16="http://schemas.microsoft.com/office/drawing/2014/main" id="{407A5480-0719-B44F-F948-558EE11D050B}"/>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2" name="Verbinder: gekrümmt 91">
              <a:extLst>
                <a:ext uri="{FF2B5EF4-FFF2-40B4-BE49-F238E27FC236}">
                  <a16:creationId xmlns:a16="http://schemas.microsoft.com/office/drawing/2014/main" id="{83164723-05E8-EF79-E1B4-557DF15028FB}"/>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3" name="Gruppieren 92">
            <a:extLst>
              <a:ext uri="{FF2B5EF4-FFF2-40B4-BE49-F238E27FC236}">
                <a16:creationId xmlns:a16="http://schemas.microsoft.com/office/drawing/2014/main" id="{FA33E9D9-053F-A0EA-2C67-3E409B728B07}"/>
              </a:ext>
            </a:extLst>
          </p:cNvPr>
          <p:cNvGrpSpPr/>
          <p:nvPr/>
        </p:nvGrpSpPr>
        <p:grpSpPr>
          <a:xfrm>
            <a:off x="4126884" y="2808958"/>
            <a:ext cx="75705" cy="277927"/>
            <a:chOff x="3476670" y="3647733"/>
            <a:chExt cx="75705" cy="277927"/>
          </a:xfrm>
        </p:grpSpPr>
        <p:sp>
          <p:nvSpPr>
            <p:cNvPr id="94" name="Rechteck 93">
              <a:extLst>
                <a:ext uri="{FF2B5EF4-FFF2-40B4-BE49-F238E27FC236}">
                  <a16:creationId xmlns:a16="http://schemas.microsoft.com/office/drawing/2014/main" id="{81060DFB-E3C7-C362-81F2-1D1F056C6703}"/>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5" name="Verbinder: gekrümmt 94">
              <a:extLst>
                <a:ext uri="{FF2B5EF4-FFF2-40B4-BE49-F238E27FC236}">
                  <a16:creationId xmlns:a16="http://schemas.microsoft.com/office/drawing/2014/main" id="{1FBB9258-637E-2420-9B55-11C069C7E7E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96" name="Gruppieren 95">
            <a:extLst>
              <a:ext uri="{FF2B5EF4-FFF2-40B4-BE49-F238E27FC236}">
                <a16:creationId xmlns:a16="http://schemas.microsoft.com/office/drawing/2014/main" id="{FB359BEE-4999-D354-544F-1C3A4E49B9FB}"/>
              </a:ext>
            </a:extLst>
          </p:cNvPr>
          <p:cNvGrpSpPr/>
          <p:nvPr/>
        </p:nvGrpSpPr>
        <p:grpSpPr>
          <a:xfrm>
            <a:off x="4455067" y="2806403"/>
            <a:ext cx="75705" cy="277927"/>
            <a:chOff x="3476670" y="3647733"/>
            <a:chExt cx="75705" cy="277927"/>
          </a:xfrm>
        </p:grpSpPr>
        <p:sp>
          <p:nvSpPr>
            <p:cNvPr id="97" name="Rechteck 96">
              <a:extLst>
                <a:ext uri="{FF2B5EF4-FFF2-40B4-BE49-F238E27FC236}">
                  <a16:creationId xmlns:a16="http://schemas.microsoft.com/office/drawing/2014/main" id="{F4070B80-E2B9-B6A3-E425-DE173946F27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98" name="Verbinder: gekrümmt 97">
              <a:extLst>
                <a:ext uri="{FF2B5EF4-FFF2-40B4-BE49-F238E27FC236}">
                  <a16:creationId xmlns:a16="http://schemas.microsoft.com/office/drawing/2014/main" id="{B5B0E973-DB24-DEE3-8B06-2A2037DAE95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5" name="Gruppieren 104">
            <a:extLst>
              <a:ext uri="{FF2B5EF4-FFF2-40B4-BE49-F238E27FC236}">
                <a16:creationId xmlns:a16="http://schemas.microsoft.com/office/drawing/2014/main" id="{F3A2BB2D-208D-F1D6-F4B3-51DD92AEA4AD}"/>
              </a:ext>
            </a:extLst>
          </p:cNvPr>
          <p:cNvGrpSpPr/>
          <p:nvPr/>
        </p:nvGrpSpPr>
        <p:grpSpPr>
          <a:xfrm rot="10800000">
            <a:off x="6878536" y="2768267"/>
            <a:ext cx="75705" cy="277927"/>
            <a:chOff x="3476670" y="3647733"/>
            <a:chExt cx="75705" cy="277927"/>
          </a:xfrm>
        </p:grpSpPr>
        <p:sp>
          <p:nvSpPr>
            <p:cNvPr id="106" name="Rechteck 105">
              <a:extLst>
                <a:ext uri="{FF2B5EF4-FFF2-40B4-BE49-F238E27FC236}">
                  <a16:creationId xmlns:a16="http://schemas.microsoft.com/office/drawing/2014/main" id="{5181A6FC-EC0D-BC75-4759-C6F2D17E5EC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7" name="Verbinder: gekrümmt 106">
              <a:extLst>
                <a:ext uri="{FF2B5EF4-FFF2-40B4-BE49-F238E27FC236}">
                  <a16:creationId xmlns:a16="http://schemas.microsoft.com/office/drawing/2014/main" id="{8EC2ED03-122C-C069-0894-F375B80A2A0C}"/>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6" name="Gruppieren 5">
            <a:extLst>
              <a:ext uri="{FF2B5EF4-FFF2-40B4-BE49-F238E27FC236}">
                <a16:creationId xmlns:a16="http://schemas.microsoft.com/office/drawing/2014/main" id="{4F45DF49-5A88-7C59-7AC6-85F2F8DEF968}"/>
              </a:ext>
            </a:extLst>
          </p:cNvPr>
          <p:cNvGrpSpPr/>
          <p:nvPr/>
        </p:nvGrpSpPr>
        <p:grpSpPr>
          <a:xfrm>
            <a:off x="5831054" y="2727877"/>
            <a:ext cx="84270" cy="848225"/>
            <a:chOff x="2875162" y="1889677"/>
            <a:chExt cx="84270" cy="848225"/>
          </a:xfrm>
        </p:grpSpPr>
        <p:sp>
          <p:nvSpPr>
            <p:cNvPr id="434" name="Ellipse 433">
              <a:extLst>
                <a:ext uri="{FF2B5EF4-FFF2-40B4-BE49-F238E27FC236}">
                  <a16:creationId xmlns:a16="http://schemas.microsoft.com/office/drawing/2014/main" id="{DD74DF63-9DFC-378C-AB35-9BC15F46C3E9}"/>
                </a:ext>
              </a:extLst>
            </p:cNvPr>
            <p:cNvSpPr/>
            <p:nvPr/>
          </p:nvSpPr>
          <p:spPr>
            <a:xfrm>
              <a:off x="2875162" y="1889677"/>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123" name="Rechteck 122">
              <a:extLst>
                <a:ext uri="{FF2B5EF4-FFF2-40B4-BE49-F238E27FC236}">
                  <a16:creationId xmlns:a16="http://schemas.microsoft.com/office/drawing/2014/main" id="{7FF9CB88-7098-6BDB-FE52-C227A076CBBA}"/>
                </a:ext>
              </a:extLst>
            </p:cNvPr>
            <p:cNvSpPr/>
            <p:nvPr/>
          </p:nvSpPr>
          <p:spPr>
            <a:xfrm>
              <a:off x="2878925" y="2233917"/>
              <a:ext cx="80507" cy="50398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17" name="Flussdiagramm: Datenträger mit direktem Zugriff 116">
              <a:extLst>
                <a:ext uri="{FF2B5EF4-FFF2-40B4-BE49-F238E27FC236}">
                  <a16:creationId xmlns:a16="http://schemas.microsoft.com/office/drawing/2014/main" id="{CC1A8905-7DDE-34E0-DE3A-E62514BB59E9}"/>
                </a:ext>
              </a:extLst>
            </p:cNvPr>
            <p:cNvSpPr/>
            <p:nvPr/>
          </p:nvSpPr>
          <p:spPr>
            <a:xfrm rot="5400000">
              <a:off x="2871522" y="2322121"/>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8" name="Flussdiagramm: Datenträger mit direktem Zugriff 117">
              <a:extLst>
                <a:ext uri="{FF2B5EF4-FFF2-40B4-BE49-F238E27FC236}">
                  <a16:creationId xmlns:a16="http://schemas.microsoft.com/office/drawing/2014/main" id="{0530DD74-AFFA-547F-813F-6736FD5E629B}"/>
                </a:ext>
              </a:extLst>
            </p:cNvPr>
            <p:cNvSpPr/>
            <p:nvPr/>
          </p:nvSpPr>
          <p:spPr>
            <a:xfrm rot="5400000">
              <a:off x="2871522" y="249916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9" name="Flussdiagramm: Datenträger mit direktem Zugriff 118">
              <a:extLst>
                <a:ext uri="{FF2B5EF4-FFF2-40B4-BE49-F238E27FC236}">
                  <a16:creationId xmlns:a16="http://schemas.microsoft.com/office/drawing/2014/main" id="{94FF3375-600C-7594-2005-8B2390FD854D}"/>
                </a:ext>
              </a:extLst>
            </p:cNvPr>
            <p:cNvSpPr/>
            <p:nvPr/>
          </p:nvSpPr>
          <p:spPr>
            <a:xfrm rot="5400000">
              <a:off x="2871522" y="265805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128" name="Rechteck 127">
            <a:extLst>
              <a:ext uri="{FF2B5EF4-FFF2-40B4-BE49-F238E27FC236}">
                <a16:creationId xmlns:a16="http://schemas.microsoft.com/office/drawing/2014/main" id="{0074B172-7F57-FC56-61A8-D63928DF8B6B}"/>
              </a:ext>
            </a:extLst>
          </p:cNvPr>
          <p:cNvSpPr/>
          <p:nvPr/>
        </p:nvSpPr>
        <p:spPr>
          <a:xfrm rot="5400000">
            <a:off x="2656937" y="2380882"/>
            <a:ext cx="427241" cy="33571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9" name="Rechteck 128">
            <a:extLst>
              <a:ext uri="{FF2B5EF4-FFF2-40B4-BE49-F238E27FC236}">
                <a16:creationId xmlns:a16="http://schemas.microsoft.com/office/drawing/2014/main" id="{D8D48A40-7452-2EA9-C8A3-8E58F553731F}"/>
              </a:ext>
            </a:extLst>
          </p:cNvPr>
          <p:cNvSpPr/>
          <p:nvPr/>
        </p:nvSpPr>
        <p:spPr>
          <a:xfrm>
            <a:off x="2826906" y="2457626"/>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0" name="Rechteck 139">
            <a:extLst>
              <a:ext uri="{FF2B5EF4-FFF2-40B4-BE49-F238E27FC236}">
                <a16:creationId xmlns:a16="http://schemas.microsoft.com/office/drawing/2014/main" id="{8970BA40-5B09-2D00-7E2B-498A08499127}"/>
              </a:ext>
            </a:extLst>
          </p:cNvPr>
          <p:cNvSpPr/>
          <p:nvPr/>
        </p:nvSpPr>
        <p:spPr>
          <a:xfrm rot="5400000">
            <a:off x="3983179" y="2373247"/>
            <a:ext cx="427241" cy="344336"/>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5" name="Rechteck 34">
            <a:extLst>
              <a:ext uri="{FF2B5EF4-FFF2-40B4-BE49-F238E27FC236}">
                <a16:creationId xmlns:a16="http://schemas.microsoft.com/office/drawing/2014/main" id="{47D615C6-99F0-6641-35A9-154009DB2AF7}"/>
              </a:ext>
            </a:extLst>
          </p:cNvPr>
          <p:cNvSpPr/>
          <p:nvPr/>
        </p:nvSpPr>
        <p:spPr>
          <a:xfrm>
            <a:off x="5085618" y="2998551"/>
            <a:ext cx="282366" cy="124983"/>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60" name="Gerade Verbindung mit Pfeil 59">
            <a:extLst>
              <a:ext uri="{FF2B5EF4-FFF2-40B4-BE49-F238E27FC236}">
                <a16:creationId xmlns:a16="http://schemas.microsoft.com/office/drawing/2014/main" id="{9EC228B3-6E1E-F539-0ADA-BC14EBDB2D0E}"/>
              </a:ext>
            </a:extLst>
          </p:cNvPr>
          <p:cNvCxnSpPr>
            <a:cxnSpLocks/>
          </p:cNvCxnSpPr>
          <p:nvPr/>
        </p:nvCxnSpPr>
        <p:spPr>
          <a:xfrm flipV="1">
            <a:off x="5271764" y="2627059"/>
            <a:ext cx="0" cy="259119"/>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64" name="Ellipse 63">
            <a:extLst>
              <a:ext uri="{FF2B5EF4-FFF2-40B4-BE49-F238E27FC236}">
                <a16:creationId xmlns:a16="http://schemas.microsoft.com/office/drawing/2014/main" id="{8BCE9345-76DD-0F3B-9676-F5916744A5A7}"/>
              </a:ext>
            </a:extLst>
          </p:cNvPr>
          <p:cNvSpPr/>
          <p:nvPr/>
        </p:nvSpPr>
        <p:spPr>
          <a:xfrm>
            <a:off x="5045759" y="2649605"/>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5" name="Ellipse 64">
            <a:extLst>
              <a:ext uri="{FF2B5EF4-FFF2-40B4-BE49-F238E27FC236}">
                <a16:creationId xmlns:a16="http://schemas.microsoft.com/office/drawing/2014/main" id="{6BC83000-F42D-9452-D2B3-FFF2149958F7}"/>
              </a:ext>
            </a:extLst>
          </p:cNvPr>
          <p:cNvSpPr/>
          <p:nvPr/>
        </p:nvSpPr>
        <p:spPr>
          <a:xfrm>
            <a:off x="5353712" y="2651976"/>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6" name="Ellipse 65">
            <a:extLst>
              <a:ext uri="{FF2B5EF4-FFF2-40B4-BE49-F238E27FC236}">
                <a16:creationId xmlns:a16="http://schemas.microsoft.com/office/drawing/2014/main" id="{4346640D-7307-9C41-51CE-11BD01903A9A}"/>
              </a:ext>
            </a:extLst>
          </p:cNvPr>
          <p:cNvSpPr/>
          <p:nvPr/>
        </p:nvSpPr>
        <p:spPr>
          <a:xfrm>
            <a:off x="5045759" y="152143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7" name="Ellipse 66">
            <a:extLst>
              <a:ext uri="{FF2B5EF4-FFF2-40B4-BE49-F238E27FC236}">
                <a16:creationId xmlns:a16="http://schemas.microsoft.com/office/drawing/2014/main" id="{886F249B-83B7-45D2-96D7-F4E9ED745511}"/>
              </a:ext>
            </a:extLst>
          </p:cNvPr>
          <p:cNvSpPr/>
          <p:nvPr/>
        </p:nvSpPr>
        <p:spPr>
          <a:xfrm>
            <a:off x="5351152" y="1521437"/>
            <a:ext cx="72000" cy="72000"/>
          </a:xfrm>
          <a:prstGeom prst="ellipse">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0" name="Gruppieren 69">
            <a:extLst>
              <a:ext uri="{FF2B5EF4-FFF2-40B4-BE49-F238E27FC236}">
                <a16:creationId xmlns:a16="http://schemas.microsoft.com/office/drawing/2014/main" id="{C409B2DA-8935-3276-48D6-806416A390EA}"/>
              </a:ext>
            </a:extLst>
          </p:cNvPr>
          <p:cNvGrpSpPr/>
          <p:nvPr/>
        </p:nvGrpSpPr>
        <p:grpSpPr>
          <a:xfrm rot="10800000">
            <a:off x="7208069" y="2717462"/>
            <a:ext cx="75705" cy="277927"/>
            <a:chOff x="3476670" y="3647733"/>
            <a:chExt cx="75705" cy="277927"/>
          </a:xfrm>
        </p:grpSpPr>
        <p:sp>
          <p:nvSpPr>
            <p:cNvPr id="99" name="Rechteck 98">
              <a:extLst>
                <a:ext uri="{FF2B5EF4-FFF2-40B4-BE49-F238E27FC236}">
                  <a16:creationId xmlns:a16="http://schemas.microsoft.com/office/drawing/2014/main" id="{FCC5F1CB-1508-D960-0DE1-E562D8A8005E}"/>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00" name="Verbinder: gekrümmt 99">
              <a:extLst>
                <a:ext uri="{FF2B5EF4-FFF2-40B4-BE49-F238E27FC236}">
                  <a16:creationId xmlns:a16="http://schemas.microsoft.com/office/drawing/2014/main" id="{0C0D5965-B7DE-0678-B894-2C20B2604DE0}"/>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04" name="Gruppieren 103">
            <a:extLst>
              <a:ext uri="{FF2B5EF4-FFF2-40B4-BE49-F238E27FC236}">
                <a16:creationId xmlns:a16="http://schemas.microsoft.com/office/drawing/2014/main" id="{9581B6CC-063A-A7D0-1D5B-C7360B85D436}"/>
              </a:ext>
            </a:extLst>
          </p:cNvPr>
          <p:cNvGrpSpPr/>
          <p:nvPr/>
        </p:nvGrpSpPr>
        <p:grpSpPr>
          <a:xfrm rot="10800000">
            <a:off x="6231630" y="2720064"/>
            <a:ext cx="75705" cy="277927"/>
            <a:chOff x="3476670" y="3647733"/>
            <a:chExt cx="75705" cy="277927"/>
          </a:xfrm>
        </p:grpSpPr>
        <p:sp>
          <p:nvSpPr>
            <p:cNvPr id="108" name="Rechteck 107">
              <a:extLst>
                <a:ext uri="{FF2B5EF4-FFF2-40B4-BE49-F238E27FC236}">
                  <a16:creationId xmlns:a16="http://schemas.microsoft.com/office/drawing/2014/main" id="{C6EB60B8-B299-1FC5-3D45-18F9AC276B09}"/>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10" name="Verbinder: gekrümmt 109">
              <a:extLst>
                <a:ext uri="{FF2B5EF4-FFF2-40B4-BE49-F238E27FC236}">
                  <a16:creationId xmlns:a16="http://schemas.microsoft.com/office/drawing/2014/main" id="{D7C9376C-4D55-9BAE-8459-AACC75BDD855}"/>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124" name="Gruppieren 123">
            <a:extLst>
              <a:ext uri="{FF2B5EF4-FFF2-40B4-BE49-F238E27FC236}">
                <a16:creationId xmlns:a16="http://schemas.microsoft.com/office/drawing/2014/main" id="{25E2CCE8-5CC3-2A07-C863-E2D248CEDB7B}"/>
              </a:ext>
            </a:extLst>
          </p:cNvPr>
          <p:cNvGrpSpPr/>
          <p:nvPr/>
        </p:nvGrpSpPr>
        <p:grpSpPr>
          <a:xfrm rot="10800000">
            <a:off x="6557324" y="2720064"/>
            <a:ext cx="75705" cy="277927"/>
            <a:chOff x="3476670" y="3647733"/>
            <a:chExt cx="75705" cy="277927"/>
          </a:xfrm>
        </p:grpSpPr>
        <p:sp>
          <p:nvSpPr>
            <p:cNvPr id="131" name="Rechteck 130">
              <a:extLst>
                <a:ext uri="{FF2B5EF4-FFF2-40B4-BE49-F238E27FC236}">
                  <a16:creationId xmlns:a16="http://schemas.microsoft.com/office/drawing/2014/main" id="{9001CD8F-24AD-C4F6-8C90-6CFC8E1BF960}"/>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132" name="Verbinder: gekrümmt 131">
              <a:extLst>
                <a:ext uri="{FF2B5EF4-FFF2-40B4-BE49-F238E27FC236}">
                  <a16:creationId xmlns:a16="http://schemas.microsoft.com/office/drawing/2014/main" id="{481C7FD7-B614-1AD9-7292-40F5B037DC9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35" name="Rechteck 134">
            <a:extLst>
              <a:ext uri="{FF2B5EF4-FFF2-40B4-BE49-F238E27FC236}">
                <a16:creationId xmlns:a16="http://schemas.microsoft.com/office/drawing/2014/main" id="{AAD6C9FC-A776-D253-45DA-D7B16BC38273}"/>
              </a:ext>
            </a:extLst>
          </p:cNvPr>
          <p:cNvSpPr/>
          <p:nvPr/>
        </p:nvSpPr>
        <p:spPr>
          <a:xfrm rot="5400000">
            <a:off x="2841564" y="1593195"/>
            <a:ext cx="1404036" cy="93285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38" name="Grafik 137">
            <a:extLst>
              <a:ext uri="{FF2B5EF4-FFF2-40B4-BE49-F238E27FC236}">
                <a16:creationId xmlns:a16="http://schemas.microsoft.com/office/drawing/2014/main" id="{B63B5135-1ED5-0B08-7B06-B82601F83DA5}"/>
              </a:ext>
            </a:extLst>
          </p:cNvPr>
          <p:cNvPicPr>
            <a:picLocks noChangeAspect="1"/>
          </p:cNvPicPr>
          <p:nvPr/>
        </p:nvPicPr>
        <p:blipFill>
          <a:blip r:embed="rId2">
            <a:clrChange>
              <a:clrFrom>
                <a:srgbClr val="FFFFFF"/>
              </a:clrFrom>
              <a:clrTo>
                <a:srgbClr val="FFFFFF">
                  <a:alpha val="0"/>
                </a:srgbClr>
              </a:clrTo>
            </a:clrChange>
            <a:biLevel thresh="50000"/>
          </a:blip>
          <a:stretch>
            <a:fillRect/>
          </a:stretch>
        </p:blipFill>
        <p:spPr>
          <a:xfrm>
            <a:off x="3481936" y="2317689"/>
            <a:ext cx="92019" cy="392999"/>
          </a:xfrm>
          <a:prstGeom prst="rect">
            <a:avLst/>
          </a:prstGeom>
        </p:spPr>
      </p:pic>
      <p:pic>
        <p:nvPicPr>
          <p:cNvPr id="148" name="Grafik 147">
            <a:extLst>
              <a:ext uri="{FF2B5EF4-FFF2-40B4-BE49-F238E27FC236}">
                <a16:creationId xmlns:a16="http://schemas.microsoft.com/office/drawing/2014/main" id="{A8BE2E55-5C0E-DBFA-12DA-CD28254F796B}"/>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067362" y="839807"/>
            <a:ext cx="979170" cy="1335382"/>
          </a:xfrm>
          <a:prstGeom prst="rect">
            <a:avLst/>
          </a:prstGeom>
        </p:spPr>
      </p:pic>
      <p:sp>
        <p:nvSpPr>
          <p:cNvPr id="23" name="Ellipse 22">
            <a:extLst>
              <a:ext uri="{FF2B5EF4-FFF2-40B4-BE49-F238E27FC236}">
                <a16:creationId xmlns:a16="http://schemas.microsoft.com/office/drawing/2014/main" id="{AF549F94-17ED-4B95-7F55-0A44F7DF9E4B}"/>
              </a:ext>
            </a:extLst>
          </p:cNvPr>
          <p:cNvSpPr/>
          <p:nvPr/>
        </p:nvSpPr>
        <p:spPr>
          <a:xfrm>
            <a:off x="3251454" y="2232784"/>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24" name="Ellipse 23">
            <a:extLst>
              <a:ext uri="{FF2B5EF4-FFF2-40B4-BE49-F238E27FC236}">
                <a16:creationId xmlns:a16="http://schemas.microsoft.com/office/drawing/2014/main" id="{DE78E592-31C4-C6F6-E869-50CFA15B471E}"/>
              </a:ext>
            </a:extLst>
          </p:cNvPr>
          <p:cNvSpPr/>
          <p:nvPr/>
        </p:nvSpPr>
        <p:spPr>
          <a:xfrm>
            <a:off x="3229430" y="2678478"/>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5" name="Ellipse 24">
            <a:extLst>
              <a:ext uri="{FF2B5EF4-FFF2-40B4-BE49-F238E27FC236}">
                <a16:creationId xmlns:a16="http://schemas.microsoft.com/office/drawing/2014/main" id="{8CB1619A-B5EC-5F52-2B98-A7D6DAED02DA}"/>
              </a:ext>
            </a:extLst>
          </p:cNvPr>
          <p:cNvSpPr/>
          <p:nvPr/>
        </p:nvSpPr>
        <p:spPr>
          <a:xfrm>
            <a:off x="3744580" y="2677491"/>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39" name="Grafik 38">
            <a:extLst>
              <a:ext uri="{FF2B5EF4-FFF2-40B4-BE49-F238E27FC236}">
                <a16:creationId xmlns:a16="http://schemas.microsoft.com/office/drawing/2014/main" id="{37D4AE4C-A45D-1940-8FBF-7D26ADFA9EAF}"/>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383576" y="1486320"/>
            <a:ext cx="90077" cy="28388"/>
          </a:xfrm>
          <a:prstGeom prst="rect">
            <a:avLst/>
          </a:prstGeom>
        </p:spPr>
      </p:pic>
      <p:pic>
        <p:nvPicPr>
          <p:cNvPr id="40" name="Grafik 39">
            <a:extLst>
              <a:ext uri="{FF2B5EF4-FFF2-40B4-BE49-F238E27FC236}">
                <a16:creationId xmlns:a16="http://schemas.microsoft.com/office/drawing/2014/main" id="{0F4C8609-07D8-7519-3A3F-346F919B6CB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4958048">
            <a:off x="3535976" y="1638720"/>
            <a:ext cx="90077" cy="28388"/>
          </a:xfrm>
          <a:prstGeom prst="rect">
            <a:avLst/>
          </a:prstGeom>
        </p:spPr>
      </p:pic>
      <p:pic>
        <p:nvPicPr>
          <p:cNvPr id="41" name="Grafik 40">
            <a:extLst>
              <a:ext uri="{FF2B5EF4-FFF2-40B4-BE49-F238E27FC236}">
                <a16:creationId xmlns:a16="http://schemas.microsoft.com/office/drawing/2014/main" id="{AF01A61B-4F88-174A-1560-80CD83EA29E1}"/>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3468350" y="1499796"/>
            <a:ext cx="90077" cy="28388"/>
          </a:xfrm>
          <a:prstGeom prst="rect">
            <a:avLst/>
          </a:prstGeom>
        </p:spPr>
      </p:pic>
      <p:pic>
        <p:nvPicPr>
          <p:cNvPr id="42" name="Grafik 41">
            <a:extLst>
              <a:ext uri="{FF2B5EF4-FFF2-40B4-BE49-F238E27FC236}">
                <a16:creationId xmlns:a16="http://schemas.microsoft.com/office/drawing/2014/main" id="{EA7EE023-588F-A357-596A-853D3874C7AA}"/>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367119" y="1736793"/>
            <a:ext cx="90077" cy="28388"/>
          </a:xfrm>
          <a:prstGeom prst="rect">
            <a:avLst/>
          </a:prstGeom>
        </p:spPr>
      </p:pic>
      <p:pic>
        <p:nvPicPr>
          <p:cNvPr id="43" name="Grafik 42">
            <a:extLst>
              <a:ext uri="{FF2B5EF4-FFF2-40B4-BE49-F238E27FC236}">
                <a16:creationId xmlns:a16="http://schemas.microsoft.com/office/drawing/2014/main" id="{B655D0CF-B044-1CDA-1B6C-7EDBE39AC0C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8479124">
            <a:off x="3433788" y="1720781"/>
            <a:ext cx="90077" cy="28388"/>
          </a:xfrm>
          <a:prstGeom prst="rect">
            <a:avLst/>
          </a:prstGeom>
        </p:spPr>
      </p:pic>
      <p:pic>
        <p:nvPicPr>
          <p:cNvPr id="44" name="Grafik 43">
            <a:extLst>
              <a:ext uri="{FF2B5EF4-FFF2-40B4-BE49-F238E27FC236}">
                <a16:creationId xmlns:a16="http://schemas.microsoft.com/office/drawing/2014/main" id="{3BE3780B-E568-9FD4-D536-ADD0BE01A888}"/>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6517400">
            <a:off x="3427785" y="1604247"/>
            <a:ext cx="90077" cy="28388"/>
          </a:xfrm>
          <a:prstGeom prst="rect">
            <a:avLst/>
          </a:prstGeom>
        </p:spPr>
      </p:pic>
      <p:pic>
        <p:nvPicPr>
          <p:cNvPr id="45" name="Grafik 44">
            <a:extLst>
              <a:ext uri="{FF2B5EF4-FFF2-40B4-BE49-F238E27FC236}">
                <a16:creationId xmlns:a16="http://schemas.microsoft.com/office/drawing/2014/main" id="{2B6EACD5-237E-6262-4E32-AF3EE49E614F}"/>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3372421">
            <a:off x="3510581" y="1766726"/>
            <a:ext cx="90077" cy="28388"/>
          </a:xfrm>
          <a:prstGeom prst="rect">
            <a:avLst/>
          </a:prstGeom>
        </p:spPr>
      </p:pic>
      <p:sp>
        <p:nvSpPr>
          <p:cNvPr id="47" name="Rechteck 46">
            <a:extLst>
              <a:ext uri="{FF2B5EF4-FFF2-40B4-BE49-F238E27FC236}">
                <a16:creationId xmlns:a16="http://schemas.microsoft.com/office/drawing/2014/main" id="{221C6338-8940-EF3F-64A2-BC58E3B8499B}"/>
              </a:ext>
            </a:extLst>
          </p:cNvPr>
          <p:cNvSpPr/>
          <p:nvPr/>
        </p:nvSpPr>
        <p:spPr>
          <a:xfrm>
            <a:off x="3481643" y="227851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48" name="Rechteck 47">
            <a:extLst>
              <a:ext uri="{FF2B5EF4-FFF2-40B4-BE49-F238E27FC236}">
                <a16:creationId xmlns:a16="http://schemas.microsoft.com/office/drawing/2014/main" id="{350C901B-432D-847E-C6B9-8F817263F6E8}"/>
              </a:ext>
            </a:extLst>
          </p:cNvPr>
          <p:cNvSpPr/>
          <p:nvPr/>
        </p:nvSpPr>
        <p:spPr>
          <a:xfrm>
            <a:off x="3450746" y="2150923"/>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46" name="Grafik 45">
            <a:extLst>
              <a:ext uri="{FF2B5EF4-FFF2-40B4-BE49-F238E27FC236}">
                <a16:creationId xmlns:a16="http://schemas.microsoft.com/office/drawing/2014/main" id="{46F1231C-C20C-9BCC-BE3D-A9BF051D7B27}"/>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3479718" y="2252543"/>
            <a:ext cx="90077" cy="28388"/>
          </a:xfrm>
          <a:prstGeom prst="rect">
            <a:avLst/>
          </a:prstGeom>
        </p:spPr>
      </p:pic>
      <p:sp>
        <p:nvSpPr>
          <p:cNvPr id="52" name="Bogen 51">
            <a:extLst>
              <a:ext uri="{FF2B5EF4-FFF2-40B4-BE49-F238E27FC236}">
                <a16:creationId xmlns:a16="http://schemas.microsoft.com/office/drawing/2014/main" id="{E0301303-1792-68A2-F840-D540278BCA0B}"/>
              </a:ext>
            </a:extLst>
          </p:cNvPr>
          <p:cNvSpPr/>
          <p:nvPr/>
        </p:nvSpPr>
        <p:spPr>
          <a:xfrm rot="2415078">
            <a:off x="3486017" y="2381779"/>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133" name="Rechteck 132">
            <a:extLst>
              <a:ext uri="{FF2B5EF4-FFF2-40B4-BE49-F238E27FC236}">
                <a16:creationId xmlns:a16="http://schemas.microsoft.com/office/drawing/2014/main" id="{9DD90AD8-0DDC-4986-05F1-1D9464E783BB}"/>
              </a:ext>
            </a:extLst>
          </p:cNvPr>
          <p:cNvSpPr/>
          <p:nvPr/>
        </p:nvSpPr>
        <p:spPr>
          <a:xfrm rot="5400000">
            <a:off x="3458195" y="2407029"/>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34" name="Rechteck 133">
            <a:extLst>
              <a:ext uri="{FF2B5EF4-FFF2-40B4-BE49-F238E27FC236}">
                <a16:creationId xmlns:a16="http://schemas.microsoft.com/office/drawing/2014/main" id="{4906A5FA-D49A-CE1E-325F-8582FEE65451}"/>
              </a:ext>
            </a:extLst>
          </p:cNvPr>
          <p:cNvSpPr/>
          <p:nvPr/>
        </p:nvSpPr>
        <p:spPr>
          <a:xfrm rot="10800000">
            <a:off x="3476434" y="269616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137" name="Grafik 136">
            <a:extLst>
              <a:ext uri="{FF2B5EF4-FFF2-40B4-BE49-F238E27FC236}">
                <a16:creationId xmlns:a16="http://schemas.microsoft.com/office/drawing/2014/main" id="{9F00691A-FC5A-7DA5-DC16-18E3CF763A67}"/>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3479260" y="2736875"/>
            <a:ext cx="90077" cy="28388"/>
          </a:xfrm>
          <a:prstGeom prst="rect">
            <a:avLst/>
          </a:prstGeom>
        </p:spPr>
      </p:pic>
      <p:pic>
        <p:nvPicPr>
          <p:cNvPr id="153" name="Grafik 152">
            <a:extLst>
              <a:ext uri="{FF2B5EF4-FFF2-40B4-BE49-F238E27FC236}">
                <a16:creationId xmlns:a16="http://schemas.microsoft.com/office/drawing/2014/main" id="{C9B5DD36-6EC5-A04C-CF72-8A9C9BE9EE92}"/>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3314409" y="550500"/>
            <a:ext cx="357431" cy="449580"/>
          </a:xfrm>
          <a:prstGeom prst="rect">
            <a:avLst/>
          </a:prstGeom>
        </p:spPr>
      </p:pic>
      <p:pic>
        <p:nvPicPr>
          <p:cNvPr id="155" name="Grafik 154">
            <a:extLst>
              <a:ext uri="{FF2B5EF4-FFF2-40B4-BE49-F238E27FC236}">
                <a16:creationId xmlns:a16="http://schemas.microsoft.com/office/drawing/2014/main" id="{596F564D-491E-AA7A-FC99-880334351AE2}"/>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3816526" y="2787421"/>
            <a:ext cx="90077" cy="28388"/>
          </a:xfrm>
          <a:prstGeom prst="rect">
            <a:avLst/>
          </a:prstGeom>
        </p:spPr>
      </p:pic>
      <p:pic>
        <p:nvPicPr>
          <p:cNvPr id="156" name="Grafik 155">
            <a:extLst>
              <a:ext uri="{FF2B5EF4-FFF2-40B4-BE49-F238E27FC236}">
                <a16:creationId xmlns:a16="http://schemas.microsoft.com/office/drawing/2014/main" id="{39810939-682A-2083-86A0-88206C44F786}"/>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150018" y="2781323"/>
            <a:ext cx="90077" cy="28388"/>
          </a:xfrm>
          <a:prstGeom prst="rect">
            <a:avLst/>
          </a:prstGeom>
        </p:spPr>
      </p:pic>
      <p:pic>
        <p:nvPicPr>
          <p:cNvPr id="157" name="Grafik 156">
            <a:extLst>
              <a:ext uri="{FF2B5EF4-FFF2-40B4-BE49-F238E27FC236}">
                <a16:creationId xmlns:a16="http://schemas.microsoft.com/office/drawing/2014/main" id="{A6E4D99C-7F59-B07C-5F9F-C700F578C7EC}"/>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476052" y="2792484"/>
            <a:ext cx="90077" cy="28388"/>
          </a:xfrm>
          <a:prstGeom prst="rect">
            <a:avLst/>
          </a:prstGeom>
        </p:spPr>
      </p:pic>
      <p:sp>
        <p:nvSpPr>
          <p:cNvPr id="174" name="Rechteck 173">
            <a:extLst>
              <a:ext uri="{FF2B5EF4-FFF2-40B4-BE49-F238E27FC236}">
                <a16:creationId xmlns:a16="http://schemas.microsoft.com/office/drawing/2014/main" id="{B042EA01-62CC-0E37-E9D1-C59B04561965}"/>
              </a:ext>
            </a:extLst>
          </p:cNvPr>
          <p:cNvSpPr/>
          <p:nvPr/>
        </p:nvSpPr>
        <p:spPr>
          <a:xfrm>
            <a:off x="4119123" y="2571320"/>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5" name="Rechteck 174">
            <a:extLst>
              <a:ext uri="{FF2B5EF4-FFF2-40B4-BE49-F238E27FC236}">
                <a16:creationId xmlns:a16="http://schemas.microsoft.com/office/drawing/2014/main" id="{C076B540-B1AB-EC29-FF5C-41CB9C0A96A8}"/>
              </a:ext>
            </a:extLst>
          </p:cNvPr>
          <p:cNvSpPr/>
          <p:nvPr/>
        </p:nvSpPr>
        <p:spPr>
          <a:xfrm rot="5400000">
            <a:off x="5401130" y="3095008"/>
            <a:ext cx="310603" cy="113087"/>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7" name="Rechteck 176">
            <a:extLst>
              <a:ext uri="{FF2B5EF4-FFF2-40B4-BE49-F238E27FC236}">
                <a16:creationId xmlns:a16="http://schemas.microsoft.com/office/drawing/2014/main" id="{3A7F1CBA-F49D-E294-EB59-5BD570392CB7}"/>
              </a:ext>
            </a:extLst>
          </p:cNvPr>
          <p:cNvSpPr/>
          <p:nvPr/>
        </p:nvSpPr>
        <p:spPr>
          <a:xfrm>
            <a:off x="5514849" y="2950536"/>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78" name="Rechteck 177">
            <a:extLst>
              <a:ext uri="{FF2B5EF4-FFF2-40B4-BE49-F238E27FC236}">
                <a16:creationId xmlns:a16="http://schemas.microsoft.com/office/drawing/2014/main" id="{15008FD5-21D4-AC01-DB5F-2F8D384F783C}"/>
              </a:ext>
            </a:extLst>
          </p:cNvPr>
          <p:cNvSpPr/>
          <p:nvPr/>
        </p:nvSpPr>
        <p:spPr>
          <a:xfrm>
            <a:off x="5571998" y="2952915"/>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9" name="Pfeil: nach links gekrümmt 48">
            <a:extLst>
              <a:ext uri="{FF2B5EF4-FFF2-40B4-BE49-F238E27FC236}">
                <a16:creationId xmlns:a16="http://schemas.microsoft.com/office/drawing/2014/main" id="{99703C28-9E86-F98C-9D9E-7CA074B0465D}"/>
              </a:ext>
            </a:extLst>
          </p:cNvPr>
          <p:cNvSpPr/>
          <p:nvPr/>
        </p:nvSpPr>
        <p:spPr>
          <a:xfrm flipV="1">
            <a:off x="5507412" y="2855078"/>
            <a:ext cx="131431" cy="81018"/>
          </a:xfrm>
          <a:prstGeom prst="curvedLeftArrow">
            <a:avLst>
              <a:gd name="adj1" fmla="val 2609"/>
              <a:gd name="adj2" fmla="val 26023"/>
              <a:gd name="adj3" fmla="val 33341"/>
            </a:avLst>
          </a:prstGeom>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solidFill>
                <a:schemeClr val="tx1"/>
              </a:solidFill>
            </a:endParaRPr>
          </a:p>
        </p:txBody>
      </p:sp>
      <p:sp>
        <p:nvSpPr>
          <p:cNvPr id="183" name="Rechteck 182">
            <a:extLst>
              <a:ext uri="{FF2B5EF4-FFF2-40B4-BE49-F238E27FC236}">
                <a16:creationId xmlns:a16="http://schemas.microsoft.com/office/drawing/2014/main" id="{3824930F-A0AE-ED6E-3E91-E6B2A2995AAA}"/>
              </a:ext>
            </a:extLst>
          </p:cNvPr>
          <p:cNvSpPr/>
          <p:nvPr/>
        </p:nvSpPr>
        <p:spPr>
          <a:xfrm rot="16200000">
            <a:off x="6221458" y="3268244"/>
            <a:ext cx="1404036" cy="93486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84" name="Grafik 183">
            <a:extLst>
              <a:ext uri="{FF2B5EF4-FFF2-40B4-BE49-F238E27FC236}">
                <a16:creationId xmlns:a16="http://schemas.microsoft.com/office/drawing/2014/main" id="{DA3F21FF-F1D0-AEF7-F3A1-715E8B855352}"/>
              </a:ext>
            </a:extLst>
          </p:cNvPr>
          <p:cNvPicPr>
            <a:picLocks noChangeAspect="1"/>
          </p:cNvPicPr>
          <p:nvPr/>
        </p:nvPicPr>
        <p:blipFill>
          <a:blip r:embed="rId2">
            <a:clrChange>
              <a:clrFrom>
                <a:srgbClr val="FFFFFF"/>
              </a:clrFrom>
              <a:clrTo>
                <a:srgbClr val="FFFFFF">
                  <a:alpha val="0"/>
                </a:srgbClr>
              </a:clrTo>
            </a:clrChange>
            <a:biLevel thresh="50000"/>
          </a:blip>
          <a:stretch>
            <a:fillRect/>
          </a:stretch>
        </p:blipFill>
        <p:spPr>
          <a:xfrm rot="10800000">
            <a:off x="6836962" y="3084607"/>
            <a:ext cx="92019" cy="392999"/>
          </a:xfrm>
          <a:prstGeom prst="rect">
            <a:avLst/>
          </a:prstGeom>
        </p:spPr>
      </p:pic>
      <p:pic>
        <p:nvPicPr>
          <p:cNvPr id="185" name="Grafik 184">
            <a:extLst>
              <a:ext uri="{FF2B5EF4-FFF2-40B4-BE49-F238E27FC236}">
                <a16:creationId xmlns:a16="http://schemas.microsoft.com/office/drawing/2014/main" id="{3AF96B92-E592-E6B3-53F5-58F67AC91AF9}"/>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saturation sat="0"/>
                    </a14:imgEffect>
                  </a14:imgLayer>
                </a14:imgProps>
              </a:ext>
            </a:extLst>
          </a:blip>
          <a:stretch>
            <a:fillRect/>
          </a:stretch>
        </p:blipFill>
        <p:spPr>
          <a:xfrm rot="10800000">
            <a:off x="6421529" y="3620106"/>
            <a:ext cx="979170" cy="1335382"/>
          </a:xfrm>
          <a:prstGeom prst="rect">
            <a:avLst/>
          </a:prstGeom>
        </p:spPr>
      </p:pic>
      <p:sp>
        <p:nvSpPr>
          <p:cNvPr id="186" name="Ellipse 185">
            <a:extLst>
              <a:ext uri="{FF2B5EF4-FFF2-40B4-BE49-F238E27FC236}">
                <a16:creationId xmlns:a16="http://schemas.microsoft.com/office/drawing/2014/main" id="{DA769E3F-EE81-B18D-8F36-790D85A71F2A}"/>
              </a:ext>
            </a:extLst>
          </p:cNvPr>
          <p:cNvSpPr/>
          <p:nvPr/>
        </p:nvSpPr>
        <p:spPr>
          <a:xfrm rot="10800000">
            <a:off x="6619463" y="3022511"/>
            <a:ext cx="540000" cy="540000"/>
          </a:xfrm>
          <a:prstGeom prst="ellipse">
            <a:avLst/>
          </a:prstGeom>
          <a:noFill/>
          <a:ln w="317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187" name="Ellipse 186">
            <a:extLst>
              <a:ext uri="{FF2B5EF4-FFF2-40B4-BE49-F238E27FC236}">
                <a16:creationId xmlns:a16="http://schemas.microsoft.com/office/drawing/2014/main" id="{B26DAF5E-5D7B-CBAA-0961-A607F98CCCC0}"/>
              </a:ext>
            </a:extLst>
          </p:cNvPr>
          <p:cNvSpPr/>
          <p:nvPr/>
        </p:nvSpPr>
        <p:spPr>
          <a:xfrm rot="10800000">
            <a:off x="7109493" y="3044817"/>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8" name="Ellipse 187">
            <a:extLst>
              <a:ext uri="{FF2B5EF4-FFF2-40B4-BE49-F238E27FC236}">
                <a16:creationId xmlns:a16="http://schemas.microsoft.com/office/drawing/2014/main" id="{9C8153EF-1105-2FB9-1396-C8D956E768DF}"/>
              </a:ext>
            </a:extLst>
          </p:cNvPr>
          <p:cNvSpPr/>
          <p:nvPr/>
        </p:nvSpPr>
        <p:spPr>
          <a:xfrm rot="10800000">
            <a:off x="6594343" y="3045804"/>
            <a:ext cx="72000" cy="72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89" name="Grafik 188">
            <a:extLst>
              <a:ext uri="{FF2B5EF4-FFF2-40B4-BE49-F238E27FC236}">
                <a16:creationId xmlns:a16="http://schemas.microsoft.com/office/drawing/2014/main" id="{4079A98D-4935-4ACA-D99D-9BC0D4238CD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6994408" y="4280587"/>
            <a:ext cx="90077" cy="28388"/>
          </a:xfrm>
          <a:prstGeom prst="rect">
            <a:avLst/>
          </a:prstGeom>
        </p:spPr>
      </p:pic>
      <p:pic>
        <p:nvPicPr>
          <p:cNvPr id="190" name="Grafik 189">
            <a:extLst>
              <a:ext uri="{FF2B5EF4-FFF2-40B4-BE49-F238E27FC236}">
                <a16:creationId xmlns:a16="http://schemas.microsoft.com/office/drawing/2014/main" id="{65333E51-5BF0-E9B3-2826-E984CC69EBEC}"/>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5758048">
            <a:off x="6842008" y="4128187"/>
            <a:ext cx="90077" cy="28388"/>
          </a:xfrm>
          <a:prstGeom prst="rect">
            <a:avLst/>
          </a:prstGeom>
        </p:spPr>
      </p:pic>
      <p:pic>
        <p:nvPicPr>
          <p:cNvPr id="191" name="Grafik 190">
            <a:extLst>
              <a:ext uri="{FF2B5EF4-FFF2-40B4-BE49-F238E27FC236}">
                <a16:creationId xmlns:a16="http://schemas.microsoft.com/office/drawing/2014/main" id="{690D4B3F-F8F6-0C42-FF0A-57C96BA6AD1C}"/>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6909634" y="4267111"/>
            <a:ext cx="90077" cy="28388"/>
          </a:xfrm>
          <a:prstGeom prst="rect">
            <a:avLst/>
          </a:prstGeom>
        </p:spPr>
      </p:pic>
      <p:pic>
        <p:nvPicPr>
          <p:cNvPr id="192" name="Grafik 191">
            <a:extLst>
              <a:ext uri="{FF2B5EF4-FFF2-40B4-BE49-F238E27FC236}">
                <a16:creationId xmlns:a16="http://schemas.microsoft.com/office/drawing/2014/main" id="{09617F63-3C39-CBA0-42E7-CF5B32B9E1B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7010865" y="4030114"/>
            <a:ext cx="90077" cy="28388"/>
          </a:xfrm>
          <a:prstGeom prst="rect">
            <a:avLst/>
          </a:prstGeom>
        </p:spPr>
      </p:pic>
      <p:pic>
        <p:nvPicPr>
          <p:cNvPr id="193" name="Grafik 192">
            <a:extLst>
              <a:ext uri="{FF2B5EF4-FFF2-40B4-BE49-F238E27FC236}">
                <a16:creationId xmlns:a16="http://schemas.microsoft.com/office/drawing/2014/main" id="{421A4DE6-DF8F-68B4-6EFC-6DD6D0BE1E9A}"/>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7679124">
            <a:off x="6944196" y="4046126"/>
            <a:ext cx="90077" cy="28388"/>
          </a:xfrm>
          <a:prstGeom prst="rect">
            <a:avLst/>
          </a:prstGeom>
        </p:spPr>
      </p:pic>
      <p:pic>
        <p:nvPicPr>
          <p:cNvPr id="194" name="Grafik 193">
            <a:extLst>
              <a:ext uri="{FF2B5EF4-FFF2-40B4-BE49-F238E27FC236}">
                <a16:creationId xmlns:a16="http://schemas.microsoft.com/office/drawing/2014/main" id="{D380CBFB-854F-3C47-295C-75B3B6083689}"/>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17317400">
            <a:off x="6950199" y="4162660"/>
            <a:ext cx="90077" cy="28388"/>
          </a:xfrm>
          <a:prstGeom prst="rect">
            <a:avLst/>
          </a:prstGeom>
        </p:spPr>
      </p:pic>
      <p:pic>
        <p:nvPicPr>
          <p:cNvPr id="195" name="Grafik 194">
            <a:extLst>
              <a:ext uri="{FF2B5EF4-FFF2-40B4-BE49-F238E27FC236}">
                <a16:creationId xmlns:a16="http://schemas.microsoft.com/office/drawing/2014/main" id="{2B9C1228-F4C9-CDE4-F32B-985FE20C5003}"/>
              </a:ext>
            </a:extLst>
          </p:cNvPr>
          <p:cNvPicPr>
            <a:picLocks noChangeAspect="1"/>
          </p:cNvPicPr>
          <p:nvPr/>
        </p:nvPicPr>
        <p:blipFill>
          <a:blip r:embed="rId5">
            <a:clrChange>
              <a:clrFrom>
                <a:srgbClr val="FFFFFF"/>
              </a:clrFrom>
              <a:clrTo>
                <a:srgbClr val="FFFFFF">
                  <a:alpha val="0"/>
                </a:srgbClr>
              </a:clrTo>
            </a:clrChange>
            <a:duotone>
              <a:schemeClr val="bg2">
                <a:shade val="45000"/>
                <a:satMod val="135000"/>
              </a:schemeClr>
              <a:prstClr val="white"/>
            </a:duotone>
          </a:blip>
          <a:srcRect t="15959"/>
          <a:stretch/>
        </p:blipFill>
        <p:spPr>
          <a:xfrm rot="2572421">
            <a:off x="6867403" y="4000181"/>
            <a:ext cx="90077" cy="28388"/>
          </a:xfrm>
          <a:prstGeom prst="rect">
            <a:avLst/>
          </a:prstGeom>
        </p:spPr>
      </p:pic>
      <p:sp>
        <p:nvSpPr>
          <p:cNvPr id="196" name="Rechteck 195">
            <a:extLst>
              <a:ext uri="{FF2B5EF4-FFF2-40B4-BE49-F238E27FC236}">
                <a16:creationId xmlns:a16="http://schemas.microsoft.com/office/drawing/2014/main" id="{022E64A6-99E2-1EF8-C851-5F68A4AFF6CC}"/>
              </a:ext>
            </a:extLst>
          </p:cNvPr>
          <p:cNvSpPr/>
          <p:nvPr/>
        </p:nvSpPr>
        <p:spPr>
          <a:xfrm rot="10800000">
            <a:off x="6836669" y="3479000"/>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sp>
        <p:nvSpPr>
          <p:cNvPr id="197" name="Rechteck 196">
            <a:extLst>
              <a:ext uri="{FF2B5EF4-FFF2-40B4-BE49-F238E27FC236}">
                <a16:creationId xmlns:a16="http://schemas.microsoft.com/office/drawing/2014/main" id="{682835AF-0542-A5CA-95C2-E82D0223D6F3}"/>
              </a:ext>
            </a:extLst>
          </p:cNvPr>
          <p:cNvSpPr/>
          <p:nvPr/>
        </p:nvSpPr>
        <p:spPr>
          <a:xfrm rot="10800000">
            <a:off x="6802814" y="3531285"/>
            <a:ext cx="157357" cy="113087"/>
          </a:xfrm>
          <a:prstGeom prst="rect">
            <a:avLst/>
          </a:prstGeom>
          <a:solidFill>
            <a:schemeClr val="bg1">
              <a:lumMod val="50000"/>
            </a:schemeClr>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pic>
        <p:nvPicPr>
          <p:cNvPr id="198" name="Grafik 197">
            <a:extLst>
              <a:ext uri="{FF2B5EF4-FFF2-40B4-BE49-F238E27FC236}">
                <a16:creationId xmlns:a16="http://schemas.microsoft.com/office/drawing/2014/main" id="{9FA7252C-D303-539D-531D-5F6C60458C0A}"/>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5400000">
            <a:off x="6841122" y="3514364"/>
            <a:ext cx="90077" cy="28388"/>
          </a:xfrm>
          <a:prstGeom prst="rect">
            <a:avLst/>
          </a:prstGeom>
        </p:spPr>
      </p:pic>
      <p:sp>
        <p:nvSpPr>
          <p:cNvPr id="199" name="Bogen 198">
            <a:extLst>
              <a:ext uri="{FF2B5EF4-FFF2-40B4-BE49-F238E27FC236}">
                <a16:creationId xmlns:a16="http://schemas.microsoft.com/office/drawing/2014/main" id="{95562F5C-B54F-17D5-7754-A300805CB146}"/>
              </a:ext>
            </a:extLst>
          </p:cNvPr>
          <p:cNvSpPr/>
          <p:nvPr/>
        </p:nvSpPr>
        <p:spPr>
          <a:xfrm rot="13215078">
            <a:off x="6688831" y="3190391"/>
            <a:ext cx="236069" cy="223125"/>
          </a:xfrm>
          <a:prstGeom prst="arc">
            <a:avLst>
              <a:gd name="adj1" fmla="val 15333772"/>
              <a:gd name="adj2" fmla="val 1684241"/>
            </a:avLst>
          </a:prstGeom>
          <a:ln w="3175">
            <a:solidFill>
              <a:schemeClr val="tx1"/>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200" name="Rechteck 199">
            <a:extLst>
              <a:ext uri="{FF2B5EF4-FFF2-40B4-BE49-F238E27FC236}">
                <a16:creationId xmlns:a16="http://schemas.microsoft.com/office/drawing/2014/main" id="{64D039EE-C6E8-A0AB-6B4B-BEEF327DAF77}"/>
              </a:ext>
            </a:extLst>
          </p:cNvPr>
          <p:cNvSpPr/>
          <p:nvPr/>
        </p:nvSpPr>
        <p:spPr>
          <a:xfrm rot="16200000">
            <a:off x="6812943" y="2775242"/>
            <a:ext cx="139779" cy="603503"/>
          </a:xfrm>
          <a:prstGeom prst="rect">
            <a:avLst/>
          </a:prstGeom>
          <a:solidFill>
            <a:schemeClr val="bg1">
              <a:lumMod val="50000"/>
              <a:alpha val="27000"/>
            </a:schemeClr>
          </a:solidFill>
          <a:ln w="6350"/>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1" name="Rechteck 200">
            <a:extLst>
              <a:ext uri="{FF2B5EF4-FFF2-40B4-BE49-F238E27FC236}">
                <a16:creationId xmlns:a16="http://schemas.microsoft.com/office/drawing/2014/main" id="{2442186D-CE47-8CF6-58D9-C0CB0C8B08E0}"/>
              </a:ext>
            </a:extLst>
          </p:cNvPr>
          <p:cNvSpPr/>
          <p:nvPr/>
        </p:nvSpPr>
        <p:spPr>
          <a:xfrm>
            <a:off x="6839497" y="3061345"/>
            <a:ext cx="92605" cy="37785"/>
          </a:xfrm>
          <a:prstGeom prst="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de-DE"/>
          </a:p>
        </p:txBody>
      </p:sp>
      <p:pic>
        <p:nvPicPr>
          <p:cNvPr id="202" name="Grafik 201">
            <a:extLst>
              <a:ext uri="{FF2B5EF4-FFF2-40B4-BE49-F238E27FC236}">
                <a16:creationId xmlns:a16="http://schemas.microsoft.com/office/drawing/2014/main" id="{5D165D18-9B03-AD69-6D02-2E48D132D21C}"/>
              </a:ext>
            </a:extLst>
          </p:cNvPr>
          <p:cNvPicPr>
            <a:picLocks noChangeAspect="1"/>
          </p:cNvPicPr>
          <p:nvPr/>
        </p:nvPicPr>
        <p:blipFill>
          <a:blip r:embed="rId5">
            <a:clrChange>
              <a:clrFrom>
                <a:srgbClr val="FFFFFF"/>
              </a:clrFrom>
              <a:clrTo>
                <a:srgbClr val="FFFFFF">
                  <a:alpha val="0"/>
                </a:srgbClr>
              </a:clrTo>
            </a:clrChange>
            <a:duotone>
              <a:prstClr val="black"/>
              <a:schemeClr val="tx2">
                <a:tint val="45000"/>
                <a:satMod val="400000"/>
              </a:schemeClr>
            </a:duotone>
          </a:blip>
          <a:srcRect t="15959"/>
          <a:stretch/>
        </p:blipFill>
        <p:spPr>
          <a:xfrm rot="16200000">
            <a:off x="6841569" y="3084795"/>
            <a:ext cx="90077" cy="28388"/>
          </a:xfrm>
          <a:prstGeom prst="rect">
            <a:avLst/>
          </a:prstGeom>
        </p:spPr>
      </p:pic>
      <p:pic>
        <p:nvPicPr>
          <p:cNvPr id="203" name="Grafik 202">
            <a:extLst>
              <a:ext uri="{FF2B5EF4-FFF2-40B4-BE49-F238E27FC236}">
                <a16:creationId xmlns:a16="http://schemas.microsoft.com/office/drawing/2014/main" id="{02CDB01D-36F5-3D62-4E2D-79BEBA85DDD8}"/>
              </a:ext>
            </a:extLst>
          </p:cNvPr>
          <p:cNvPicPr>
            <a:picLocks noChangeAspect="1"/>
          </p:cNvPicPr>
          <p:nvPr/>
        </p:nvPicPr>
        <p:blipFill>
          <a:blip r:embed="rId6">
            <a:clrChange>
              <a:clrFrom>
                <a:srgbClr val="FFFFFF"/>
              </a:clrFrom>
              <a:clrTo>
                <a:srgbClr val="FFFFFF">
                  <a:alpha val="0"/>
                </a:srgbClr>
              </a:clrTo>
            </a:clrChange>
          </a:blip>
          <a:stretch>
            <a:fillRect/>
          </a:stretch>
        </p:blipFill>
        <p:spPr>
          <a:xfrm rot="10800000">
            <a:off x="6796221" y="4795215"/>
            <a:ext cx="357431" cy="449580"/>
          </a:xfrm>
          <a:prstGeom prst="rect">
            <a:avLst/>
          </a:prstGeom>
        </p:spPr>
      </p:pic>
      <p:sp>
        <p:nvSpPr>
          <p:cNvPr id="205" name="Rechteck 204">
            <a:extLst>
              <a:ext uri="{FF2B5EF4-FFF2-40B4-BE49-F238E27FC236}">
                <a16:creationId xmlns:a16="http://schemas.microsoft.com/office/drawing/2014/main" id="{B9192635-ECA2-11FF-7790-C87D7A98A8FD}"/>
              </a:ext>
            </a:extLst>
          </p:cNvPr>
          <p:cNvSpPr/>
          <p:nvPr/>
        </p:nvSpPr>
        <p:spPr>
          <a:xfrm rot="5400000">
            <a:off x="7320447" y="3107118"/>
            <a:ext cx="427241" cy="282367"/>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6" name="Rechteck 205">
            <a:extLst>
              <a:ext uri="{FF2B5EF4-FFF2-40B4-BE49-F238E27FC236}">
                <a16:creationId xmlns:a16="http://schemas.microsoft.com/office/drawing/2014/main" id="{24762C63-926B-B63F-636A-1B9E7FFAEA28}"/>
              </a:ext>
            </a:extLst>
          </p:cNvPr>
          <p:cNvSpPr/>
          <p:nvPr/>
        </p:nvSpPr>
        <p:spPr>
          <a:xfrm>
            <a:off x="7474218" y="2938199"/>
            <a:ext cx="141242"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7" name="Rechteck 206">
            <a:extLst>
              <a:ext uri="{FF2B5EF4-FFF2-40B4-BE49-F238E27FC236}">
                <a16:creationId xmlns:a16="http://schemas.microsoft.com/office/drawing/2014/main" id="{4CF97A18-134E-822D-39E8-9AF120158FF7}"/>
              </a:ext>
            </a:extLst>
          </p:cNvPr>
          <p:cNvSpPr/>
          <p:nvPr/>
        </p:nvSpPr>
        <p:spPr>
          <a:xfrm rot="5400000">
            <a:off x="6010730" y="3147573"/>
            <a:ext cx="399621" cy="229082"/>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08" name="Rechteck 207">
            <a:extLst>
              <a:ext uri="{FF2B5EF4-FFF2-40B4-BE49-F238E27FC236}">
                <a16:creationId xmlns:a16="http://schemas.microsoft.com/office/drawing/2014/main" id="{7735A3A5-6C18-CE57-3393-49BB2A4A5CAE}"/>
              </a:ext>
            </a:extLst>
          </p:cNvPr>
          <p:cNvSpPr/>
          <p:nvPr/>
        </p:nvSpPr>
        <p:spPr>
          <a:xfrm>
            <a:off x="6197649" y="3019450"/>
            <a:ext cx="80507" cy="337706"/>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9" name="Rechteck 208">
            <a:extLst>
              <a:ext uri="{FF2B5EF4-FFF2-40B4-BE49-F238E27FC236}">
                <a16:creationId xmlns:a16="http://schemas.microsoft.com/office/drawing/2014/main" id="{1BC46769-951F-4204-1417-E95F5C95F01C}"/>
              </a:ext>
            </a:extLst>
          </p:cNvPr>
          <p:cNvSpPr/>
          <p:nvPr/>
        </p:nvSpPr>
        <p:spPr>
          <a:xfrm>
            <a:off x="6198902" y="297195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0" name="Rechteck 209">
            <a:extLst>
              <a:ext uri="{FF2B5EF4-FFF2-40B4-BE49-F238E27FC236}">
                <a16:creationId xmlns:a16="http://schemas.microsoft.com/office/drawing/2014/main" id="{131602D7-8BCD-7E2B-A04F-F523897D8FB6}"/>
              </a:ext>
            </a:extLst>
          </p:cNvPr>
          <p:cNvSpPr/>
          <p:nvPr/>
        </p:nvSpPr>
        <p:spPr>
          <a:xfrm>
            <a:off x="6256051" y="297433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1" name="Rechteck 210">
            <a:extLst>
              <a:ext uri="{FF2B5EF4-FFF2-40B4-BE49-F238E27FC236}">
                <a16:creationId xmlns:a16="http://schemas.microsoft.com/office/drawing/2014/main" id="{520BFCE1-781A-6382-DEE2-FB2ED23FC664}"/>
              </a:ext>
            </a:extLst>
          </p:cNvPr>
          <p:cNvSpPr/>
          <p:nvPr/>
        </p:nvSpPr>
        <p:spPr>
          <a:xfrm>
            <a:off x="2825456" y="2802618"/>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12" name="Rechteck 211">
            <a:extLst>
              <a:ext uri="{FF2B5EF4-FFF2-40B4-BE49-F238E27FC236}">
                <a16:creationId xmlns:a16="http://schemas.microsoft.com/office/drawing/2014/main" id="{41B32C4C-70E9-D534-6937-CCF8BD0DAD6D}"/>
              </a:ext>
            </a:extLst>
          </p:cNvPr>
          <p:cNvSpPr/>
          <p:nvPr/>
        </p:nvSpPr>
        <p:spPr>
          <a:xfrm>
            <a:off x="2882605" y="2804997"/>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13" name="Gruppieren 212">
            <a:extLst>
              <a:ext uri="{FF2B5EF4-FFF2-40B4-BE49-F238E27FC236}">
                <a16:creationId xmlns:a16="http://schemas.microsoft.com/office/drawing/2014/main" id="{97352789-E528-5003-2A1B-0DC3AE4726C5}"/>
              </a:ext>
            </a:extLst>
          </p:cNvPr>
          <p:cNvGrpSpPr/>
          <p:nvPr/>
        </p:nvGrpSpPr>
        <p:grpSpPr>
          <a:xfrm rot="10800000">
            <a:off x="7533955" y="2720064"/>
            <a:ext cx="75705" cy="277927"/>
            <a:chOff x="3476670" y="3647733"/>
            <a:chExt cx="75705" cy="277927"/>
          </a:xfrm>
        </p:grpSpPr>
        <p:sp>
          <p:nvSpPr>
            <p:cNvPr id="214" name="Rechteck 213">
              <a:extLst>
                <a:ext uri="{FF2B5EF4-FFF2-40B4-BE49-F238E27FC236}">
                  <a16:creationId xmlns:a16="http://schemas.microsoft.com/office/drawing/2014/main" id="{402DA68D-B22A-D3BF-AC51-1F9AE8312A2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15" name="Verbinder: gekrümmt 214">
              <a:extLst>
                <a:ext uri="{FF2B5EF4-FFF2-40B4-BE49-F238E27FC236}">
                  <a16:creationId xmlns:a16="http://schemas.microsoft.com/office/drawing/2014/main" id="{D5922C76-5713-8E09-9C87-3CAAC3DE8437}"/>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24" name="Grafik 223">
            <a:extLst>
              <a:ext uri="{FF2B5EF4-FFF2-40B4-BE49-F238E27FC236}">
                <a16:creationId xmlns:a16="http://schemas.microsoft.com/office/drawing/2014/main" id="{38E25979-746A-00C3-8BB4-BCC84972EC66}"/>
              </a:ext>
            </a:extLst>
          </p:cNvPr>
          <p:cNvPicPr>
            <a:picLocks noChangeAspect="1"/>
          </p:cNvPicPr>
          <p:nvPr/>
        </p:nvPicPr>
        <p:blipFill rotWithShape="1">
          <a:blip r:embed="rId7"/>
          <a:srcRect l="12368" t="11098" r="5271"/>
          <a:stretch/>
        </p:blipFill>
        <p:spPr>
          <a:xfrm>
            <a:off x="4915807" y="2656991"/>
            <a:ext cx="85407" cy="102912"/>
          </a:xfrm>
          <a:prstGeom prst="rect">
            <a:avLst/>
          </a:prstGeom>
        </p:spPr>
      </p:pic>
      <p:pic>
        <p:nvPicPr>
          <p:cNvPr id="226" name="Grafik 225">
            <a:extLst>
              <a:ext uri="{FF2B5EF4-FFF2-40B4-BE49-F238E27FC236}">
                <a16:creationId xmlns:a16="http://schemas.microsoft.com/office/drawing/2014/main" id="{D377938A-E1E8-D34F-B886-56D9F0EA0466}"/>
              </a:ext>
            </a:extLst>
          </p:cNvPr>
          <p:cNvPicPr>
            <a:picLocks noChangeAspect="1"/>
          </p:cNvPicPr>
          <p:nvPr/>
        </p:nvPicPr>
        <p:blipFill rotWithShape="1">
          <a:blip r:embed="rId7"/>
          <a:srcRect l="12368" t="11098" r="5271"/>
          <a:stretch/>
        </p:blipFill>
        <p:spPr>
          <a:xfrm flipH="1">
            <a:off x="4756257" y="2653742"/>
            <a:ext cx="90381" cy="107501"/>
          </a:xfrm>
          <a:prstGeom prst="rect">
            <a:avLst/>
          </a:prstGeom>
        </p:spPr>
      </p:pic>
      <p:pic>
        <p:nvPicPr>
          <p:cNvPr id="235" name="Grafik 234">
            <a:extLst>
              <a:ext uri="{FF2B5EF4-FFF2-40B4-BE49-F238E27FC236}">
                <a16:creationId xmlns:a16="http://schemas.microsoft.com/office/drawing/2014/main" id="{725184F6-EA1C-3F8F-D2EC-00B466CED18E}"/>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171516" y="2989724"/>
            <a:ext cx="90077" cy="28388"/>
          </a:xfrm>
          <a:prstGeom prst="rect">
            <a:avLst/>
          </a:prstGeom>
        </p:spPr>
      </p:pic>
      <p:pic>
        <p:nvPicPr>
          <p:cNvPr id="236" name="Grafik 235">
            <a:extLst>
              <a:ext uri="{FF2B5EF4-FFF2-40B4-BE49-F238E27FC236}">
                <a16:creationId xmlns:a16="http://schemas.microsoft.com/office/drawing/2014/main" id="{D9928CBF-2B20-C037-2301-7E6322D67310}"/>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495370" y="2992099"/>
            <a:ext cx="90077" cy="28388"/>
          </a:xfrm>
          <a:prstGeom prst="rect">
            <a:avLst/>
          </a:prstGeom>
        </p:spPr>
      </p:pic>
      <p:sp>
        <p:nvSpPr>
          <p:cNvPr id="237" name="Rechteck 236">
            <a:extLst>
              <a:ext uri="{FF2B5EF4-FFF2-40B4-BE49-F238E27FC236}">
                <a16:creationId xmlns:a16="http://schemas.microsoft.com/office/drawing/2014/main" id="{E93FDA73-10CE-C04B-E5B2-3D533030F45D}"/>
              </a:ext>
            </a:extLst>
          </p:cNvPr>
          <p:cNvSpPr/>
          <p:nvPr/>
        </p:nvSpPr>
        <p:spPr>
          <a:xfrm>
            <a:off x="5011431" y="4041619"/>
            <a:ext cx="777214" cy="537750"/>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r>
              <a:rPr lang="de-DE" sz="800" dirty="0"/>
              <a:t> </a:t>
            </a:r>
            <a:r>
              <a:rPr lang="de-DE" sz="800" dirty="0" err="1"/>
              <a:t>unit</a:t>
            </a:r>
            <a:r>
              <a:rPr lang="de-DE" sz="800" dirty="0"/>
              <a:t> </a:t>
            </a:r>
          </a:p>
          <a:p>
            <a:pPr algn="ctr"/>
            <a:r>
              <a:rPr lang="de-DE" sz="800" dirty="0" err="1"/>
              <a:t>for</a:t>
            </a:r>
            <a:r>
              <a:rPr lang="de-DE" sz="800" dirty="0"/>
              <a:t> </a:t>
            </a:r>
            <a:r>
              <a:rPr lang="de-DE" sz="800" dirty="0" err="1"/>
              <a:t>both</a:t>
            </a:r>
            <a:r>
              <a:rPr lang="de-DE" sz="800" dirty="0"/>
              <a:t> </a:t>
            </a:r>
            <a:r>
              <a:rPr lang="de-DE" sz="800" dirty="0" err="1"/>
              <a:t>station</a:t>
            </a:r>
            <a:endParaRPr lang="de-DE" sz="800" dirty="0"/>
          </a:p>
          <a:p>
            <a:pPr algn="ctr"/>
            <a:r>
              <a:rPr lang="de-DE" sz="800" dirty="0"/>
              <a:t>and </a:t>
            </a:r>
            <a:r>
              <a:rPr lang="de-DE" sz="800" dirty="0" err="1"/>
              <a:t>cutting</a:t>
            </a:r>
            <a:endParaRPr lang="de-DE" sz="800" dirty="0"/>
          </a:p>
        </p:txBody>
      </p:sp>
      <p:grpSp>
        <p:nvGrpSpPr>
          <p:cNvPr id="244" name="Gruppieren 243">
            <a:extLst>
              <a:ext uri="{FF2B5EF4-FFF2-40B4-BE49-F238E27FC236}">
                <a16:creationId xmlns:a16="http://schemas.microsoft.com/office/drawing/2014/main" id="{E2AEA7F4-7295-1251-00B5-AA01BB28EAF7}"/>
              </a:ext>
            </a:extLst>
          </p:cNvPr>
          <p:cNvGrpSpPr/>
          <p:nvPr/>
        </p:nvGrpSpPr>
        <p:grpSpPr>
          <a:xfrm rot="10800000">
            <a:off x="7863831" y="2720064"/>
            <a:ext cx="75705" cy="277927"/>
            <a:chOff x="3476670" y="3647733"/>
            <a:chExt cx="75705" cy="277927"/>
          </a:xfrm>
        </p:grpSpPr>
        <p:sp>
          <p:nvSpPr>
            <p:cNvPr id="245" name="Rechteck 244">
              <a:extLst>
                <a:ext uri="{FF2B5EF4-FFF2-40B4-BE49-F238E27FC236}">
                  <a16:creationId xmlns:a16="http://schemas.microsoft.com/office/drawing/2014/main" id="{7B54302C-11C7-B485-A438-7F2B8D93C7A7}"/>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46" name="Verbinder: gekrümmt 245">
              <a:extLst>
                <a:ext uri="{FF2B5EF4-FFF2-40B4-BE49-F238E27FC236}">
                  <a16:creationId xmlns:a16="http://schemas.microsoft.com/office/drawing/2014/main" id="{56539A40-50D5-B29E-8A22-6F11BE66D04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47" name="Grafik 246">
            <a:extLst>
              <a:ext uri="{FF2B5EF4-FFF2-40B4-BE49-F238E27FC236}">
                <a16:creationId xmlns:a16="http://schemas.microsoft.com/office/drawing/2014/main" id="{7E5A5EC7-0386-A282-6484-B78E9F72166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7825246" y="2992099"/>
            <a:ext cx="90077" cy="28388"/>
          </a:xfrm>
          <a:prstGeom prst="rect">
            <a:avLst/>
          </a:prstGeom>
        </p:spPr>
      </p:pic>
      <p:pic>
        <p:nvPicPr>
          <p:cNvPr id="253" name="Grafik 252">
            <a:extLst>
              <a:ext uri="{FF2B5EF4-FFF2-40B4-BE49-F238E27FC236}">
                <a16:creationId xmlns:a16="http://schemas.microsoft.com/office/drawing/2014/main" id="{92409F58-7A9E-AE65-240A-4D24ABB8D138}"/>
              </a:ext>
            </a:extLst>
          </p:cNvPr>
          <p:cNvPicPr>
            <a:picLocks noChangeAspect="1"/>
          </p:cNvPicPr>
          <p:nvPr/>
        </p:nvPicPr>
        <p:blipFill rotWithShape="1">
          <a:blip r:embed="rId7"/>
          <a:srcRect l="12368" t="11098" r="5271"/>
          <a:stretch/>
        </p:blipFill>
        <p:spPr>
          <a:xfrm>
            <a:off x="8250419" y="3052205"/>
            <a:ext cx="85407" cy="102912"/>
          </a:xfrm>
          <a:prstGeom prst="rect">
            <a:avLst/>
          </a:prstGeom>
        </p:spPr>
      </p:pic>
      <p:pic>
        <p:nvPicPr>
          <p:cNvPr id="254" name="Grafik 253">
            <a:extLst>
              <a:ext uri="{FF2B5EF4-FFF2-40B4-BE49-F238E27FC236}">
                <a16:creationId xmlns:a16="http://schemas.microsoft.com/office/drawing/2014/main" id="{8D0346BC-A063-6585-19A4-ECA1DEE25AC3}"/>
              </a:ext>
            </a:extLst>
          </p:cNvPr>
          <p:cNvPicPr>
            <a:picLocks noChangeAspect="1"/>
          </p:cNvPicPr>
          <p:nvPr/>
        </p:nvPicPr>
        <p:blipFill rotWithShape="1">
          <a:blip r:embed="rId7"/>
          <a:srcRect l="12368" t="11098" r="5271"/>
          <a:stretch/>
        </p:blipFill>
        <p:spPr>
          <a:xfrm flipH="1">
            <a:off x="8100388" y="3046575"/>
            <a:ext cx="90381" cy="107501"/>
          </a:xfrm>
          <a:prstGeom prst="rect">
            <a:avLst/>
          </a:prstGeom>
        </p:spPr>
      </p:pic>
      <p:grpSp>
        <p:nvGrpSpPr>
          <p:cNvPr id="280" name="Gruppieren 279">
            <a:extLst>
              <a:ext uri="{FF2B5EF4-FFF2-40B4-BE49-F238E27FC236}">
                <a16:creationId xmlns:a16="http://schemas.microsoft.com/office/drawing/2014/main" id="{32A2AFED-AFE3-0180-93E8-2CA5CBCCBC09}"/>
              </a:ext>
            </a:extLst>
          </p:cNvPr>
          <p:cNvGrpSpPr/>
          <p:nvPr/>
        </p:nvGrpSpPr>
        <p:grpSpPr>
          <a:xfrm rot="10800000">
            <a:off x="8575653" y="2708945"/>
            <a:ext cx="75705" cy="277927"/>
            <a:chOff x="3476670" y="3647733"/>
            <a:chExt cx="75705" cy="277927"/>
          </a:xfrm>
        </p:grpSpPr>
        <p:sp>
          <p:nvSpPr>
            <p:cNvPr id="281" name="Rechteck 280">
              <a:extLst>
                <a:ext uri="{FF2B5EF4-FFF2-40B4-BE49-F238E27FC236}">
                  <a16:creationId xmlns:a16="http://schemas.microsoft.com/office/drawing/2014/main" id="{8DED5B3F-AF8E-7261-DBE6-F80C73390F0F}"/>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82" name="Verbinder: gekrümmt 281">
              <a:extLst>
                <a:ext uri="{FF2B5EF4-FFF2-40B4-BE49-F238E27FC236}">
                  <a16:creationId xmlns:a16="http://schemas.microsoft.com/office/drawing/2014/main" id="{05B73AE2-150B-9485-8C68-250600F8AFA3}"/>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pic>
        <p:nvPicPr>
          <p:cNvPr id="284" name="Grafik 283">
            <a:extLst>
              <a:ext uri="{FF2B5EF4-FFF2-40B4-BE49-F238E27FC236}">
                <a16:creationId xmlns:a16="http://schemas.microsoft.com/office/drawing/2014/main" id="{F2FB8AA0-7B22-54C1-536E-A804376E6430}"/>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023054">
            <a:off x="8541637" y="2979538"/>
            <a:ext cx="90077" cy="28388"/>
          </a:xfrm>
          <a:prstGeom prst="rect">
            <a:avLst/>
          </a:prstGeom>
        </p:spPr>
      </p:pic>
      <p:sp>
        <p:nvSpPr>
          <p:cNvPr id="3" name="Rechteck: abgerundete Ecken 2">
            <a:extLst>
              <a:ext uri="{FF2B5EF4-FFF2-40B4-BE49-F238E27FC236}">
                <a16:creationId xmlns:a16="http://schemas.microsoft.com/office/drawing/2014/main" id="{AD54DD49-B80D-270C-953C-6D40F22CC719}"/>
              </a:ext>
            </a:extLst>
          </p:cNvPr>
          <p:cNvSpPr/>
          <p:nvPr/>
        </p:nvSpPr>
        <p:spPr>
          <a:xfrm>
            <a:off x="2721856" y="285543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   </a:t>
            </a:r>
          </a:p>
        </p:txBody>
      </p:sp>
      <p:sp>
        <p:nvSpPr>
          <p:cNvPr id="5" name="Rechteck: abgerundete Ecken 4">
            <a:extLst>
              <a:ext uri="{FF2B5EF4-FFF2-40B4-BE49-F238E27FC236}">
                <a16:creationId xmlns:a16="http://schemas.microsoft.com/office/drawing/2014/main" id="{F61C4982-8239-11A3-7A2F-7C51CFC7E02D}"/>
              </a:ext>
            </a:extLst>
          </p:cNvPr>
          <p:cNvSpPr/>
          <p:nvPr/>
        </p:nvSpPr>
        <p:spPr>
          <a:xfrm>
            <a:off x="5381905" y="285117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10   </a:t>
            </a:r>
          </a:p>
        </p:txBody>
      </p:sp>
      <p:sp>
        <p:nvSpPr>
          <p:cNvPr id="7" name="Rechteck: abgerundete Ecken 6">
            <a:extLst>
              <a:ext uri="{FF2B5EF4-FFF2-40B4-BE49-F238E27FC236}">
                <a16:creationId xmlns:a16="http://schemas.microsoft.com/office/drawing/2014/main" id="{D5BB4D1E-F832-BCDB-3D7D-8588D3C9B534}"/>
              </a:ext>
            </a:extLst>
          </p:cNvPr>
          <p:cNvSpPr/>
          <p:nvPr/>
        </p:nvSpPr>
        <p:spPr>
          <a:xfrm>
            <a:off x="2435429" y="285391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   </a:t>
            </a:r>
          </a:p>
        </p:txBody>
      </p:sp>
      <p:sp>
        <p:nvSpPr>
          <p:cNvPr id="9" name="Rechteck: abgerundete Ecken 8">
            <a:extLst>
              <a:ext uri="{FF2B5EF4-FFF2-40B4-BE49-F238E27FC236}">
                <a16:creationId xmlns:a16="http://schemas.microsoft.com/office/drawing/2014/main" id="{B910DB63-32E1-54A6-345C-B644735B5E95}"/>
              </a:ext>
            </a:extLst>
          </p:cNvPr>
          <p:cNvSpPr/>
          <p:nvPr/>
        </p:nvSpPr>
        <p:spPr>
          <a:xfrm>
            <a:off x="3059088" y="285391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3   </a:t>
            </a:r>
          </a:p>
        </p:txBody>
      </p:sp>
      <p:sp>
        <p:nvSpPr>
          <p:cNvPr id="10" name="Rechteck: abgerundete Ecken 9">
            <a:extLst>
              <a:ext uri="{FF2B5EF4-FFF2-40B4-BE49-F238E27FC236}">
                <a16:creationId xmlns:a16="http://schemas.microsoft.com/office/drawing/2014/main" id="{C917C9F5-D5D8-E91F-F59D-FED0D9445BB2}"/>
              </a:ext>
            </a:extLst>
          </p:cNvPr>
          <p:cNvSpPr/>
          <p:nvPr/>
        </p:nvSpPr>
        <p:spPr>
          <a:xfrm>
            <a:off x="3660734" y="285047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5   </a:t>
            </a:r>
          </a:p>
        </p:txBody>
      </p:sp>
      <p:sp>
        <p:nvSpPr>
          <p:cNvPr id="11" name="Rechteck: abgerundete Ecken 10">
            <a:extLst>
              <a:ext uri="{FF2B5EF4-FFF2-40B4-BE49-F238E27FC236}">
                <a16:creationId xmlns:a16="http://schemas.microsoft.com/office/drawing/2014/main" id="{76FFB077-C747-3DCE-8A48-6257E1B02606}"/>
              </a:ext>
            </a:extLst>
          </p:cNvPr>
          <p:cNvSpPr/>
          <p:nvPr/>
        </p:nvSpPr>
        <p:spPr>
          <a:xfrm>
            <a:off x="3350496" y="284896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4   </a:t>
            </a:r>
          </a:p>
        </p:txBody>
      </p:sp>
      <p:sp>
        <p:nvSpPr>
          <p:cNvPr id="12" name="Rechteck: abgerundete Ecken 11">
            <a:extLst>
              <a:ext uri="{FF2B5EF4-FFF2-40B4-BE49-F238E27FC236}">
                <a16:creationId xmlns:a16="http://schemas.microsoft.com/office/drawing/2014/main" id="{2CC29E68-451B-A328-9547-CCF48187EFE5}"/>
              </a:ext>
            </a:extLst>
          </p:cNvPr>
          <p:cNvSpPr/>
          <p:nvPr/>
        </p:nvSpPr>
        <p:spPr>
          <a:xfrm>
            <a:off x="4004340" y="284896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6  </a:t>
            </a:r>
          </a:p>
        </p:txBody>
      </p:sp>
      <p:sp>
        <p:nvSpPr>
          <p:cNvPr id="13" name="Rechteck: abgerundete Ecken 12">
            <a:extLst>
              <a:ext uri="{FF2B5EF4-FFF2-40B4-BE49-F238E27FC236}">
                <a16:creationId xmlns:a16="http://schemas.microsoft.com/office/drawing/2014/main" id="{87C70DAD-A81E-2846-3B00-5ACFA3D80975}"/>
              </a:ext>
            </a:extLst>
          </p:cNvPr>
          <p:cNvSpPr/>
          <p:nvPr/>
        </p:nvSpPr>
        <p:spPr>
          <a:xfrm>
            <a:off x="4744959" y="2855420"/>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8   </a:t>
            </a:r>
          </a:p>
        </p:txBody>
      </p:sp>
      <p:sp>
        <p:nvSpPr>
          <p:cNvPr id="14" name="Rechteck: abgerundete Ecken 13">
            <a:extLst>
              <a:ext uri="{FF2B5EF4-FFF2-40B4-BE49-F238E27FC236}">
                <a16:creationId xmlns:a16="http://schemas.microsoft.com/office/drawing/2014/main" id="{08F43D75-CF15-B015-DDCB-1382401B451B}"/>
              </a:ext>
            </a:extLst>
          </p:cNvPr>
          <p:cNvSpPr/>
          <p:nvPr/>
        </p:nvSpPr>
        <p:spPr>
          <a:xfrm>
            <a:off x="4333916" y="285390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7   </a:t>
            </a:r>
          </a:p>
        </p:txBody>
      </p:sp>
      <p:sp>
        <p:nvSpPr>
          <p:cNvPr id="15" name="Rechteck: abgerundete Ecken 14">
            <a:extLst>
              <a:ext uri="{FF2B5EF4-FFF2-40B4-BE49-F238E27FC236}">
                <a16:creationId xmlns:a16="http://schemas.microsoft.com/office/drawing/2014/main" id="{FA7EF5AD-29F4-F5D0-25F9-44A2A48DD552}"/>
              </a:ext>
            </a:extLst>
          </p:cNvPr>
          <p:cNvSpPr/>
          <p:nvPr/>
        </p:nvSpPr>
        <p:spPr>
          <a:xfrm>
            <a:off x="5003630" y="2853903"/>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9  </a:t>
            </a:r>
          </a:p>
        </p:txBody>
      </p:sp>
      <p:sp>
        <p:nvSpPr>
          <p:cNvPr id="16" name="Rechteck: abgerundete Ecken 15">
            <a:extLst>
              <a:ext uri="{FF2B5EF4-FFF2-40B4-BE49-F238E27FC236}">
                <a16:creationId xmlns:a16="http://schemas.microsoft.com/office/drawing/2014/main" id="{1D528AA4-BDE9-0BFB-F674-1164DD16BF64}"/>
              </a:ext>
            </a:extLst>
          </p:cNvPr>
          <p:cNvSpPr/>
          <p:nvPr/>
        </p:nvSpPr>
        <p:spPr>
          <a:xfrm>
            <a:off x="7377188" y="2859028"/>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16   </a:t>
            </a:r>
          </a:p>
        </p:txBody>
      </p:sp>
      <p:sp>
        <p:nvSpPr>
          <p:cNvPr id="32" name="Rechteck: abgerundete Ecken 31">
            <a:extLst>
              <a:ext uri="{FF2B5EF4-FFF2-40B4-BE49-F238E27FC236}">
                <a16:creationId xmlns:a16="http://schemas.microsoft.com/office/drawing/2014/main" id="{C2E335A8-6C93-9E1E-E49A-1653F07AD457}"/>
              </a:ext>
            </a:extLst>
          </p:cNvPr>
          <p:cNvSpPr/>
          <p:nvPr/>
        </p:nvSpPr>
        <p:spPr>
          <a:xfrm>
            <a:off x="7735718" y="285171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17   </a:t>
            </a:r>
          </a:p>
        </p:txBody>
      </p:sp>
      <p:sp>
        <p:nvSpPr>
          <p:cNvPr id="34" name="Rechteck: abgerundete Ecken 33">
            <a:extLst>
              <a:ext uri="{FF2B5EF4-FFF2-40B4-BE49-F238E27FC236}">
                <a16:creationId xmlns:a16="http://schemas.microsoft.com/office/drawing/2014/main" id="{60627A16-1464-90F1-5509-694D94C22746}"/>
              </a:ext>
            </a:extLst>
          </p:cNvPr>
          <p:cNvSpPr/>
          <p:nvPr/>
        </p:nvSpPr>
        <p:spPr>
          <a:xfrm>
            <a:off x="5723458" y="285187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11   </a:t>
            </a:r>
          </a:p>
        </p:txBody>
      </p:sp>
      <p:sp>
        <p:nvSpPr>
          <p:cNvPr id="51" name="Rechteck: abgerundete Ecken 50">
            <a:extLst>
              <a:ext uri="{FF2B5EF4-FFF2-40B4-BE49-F238E27FC236}">
                <a16:creationId xmlns:a16="http://schemas.microsoft.com/office/drawing/2014/main" id="{31F2F5D7-D2AE-E28E-5F46-F2CE43B2BCAE}"/>
              </a:ext>
            </a:extLst>
          </p:cNvPr>
          <p:cNvSpPr/>
          <p:nvPr/>
        </p:nvSpPr>
        <p:spPr>
          <a:xfrm>
            <a:off x="6102799" y="285035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12  </a:t>
            </a:r>
          </a:p>
        </p:txBody>
      </p:sp>
      <p:sp>
        <p:nvSpPr>
          <p:cNvPr id="61" name="Rechteck: abgerundete Ecken 60">
            <a:extLst>
              <a:ext uri="{FF2B5EF4-FFF2-40B4-BE49-F238E27FC236}">
                <a16:creationId xmlns:a16="http://schemas.microsoft.com/office/drawing/2014/main" id="{1614CFD5-ED21-A4A0-ED9C-6DAC6F9C4589}"/>
              </a:ext>
            </a:extLst>
          </p:cNvPr>
          <p:cNvSpPr/>
          <p:nvPr/>
        </p:nvSpPr>
        <p:spPr>
          <a:xfrm>
            <a:off x="6740237" y="2856814"/>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14   </a:t>
            </a:r>
          </a:p>
        </p:txBody>
      </p:sp>
      <p:sp>
        <p:nvSpPr>
          <p:cNvPr id="68" name="Rechteck: abgerundete Ecken 67">
            <a:extLst>
              <a:ext uri="{FF2B5EF4-FFF2-40B4-BE49-F238E27FC236}">
                <a16:creationId xmlns:a16="http://schemas.microsoft.com/office/drawing/2014/main" id="{32903777-D82E-0393-F53C-222BE15B57B3}"/>
              </a:ext>
            </a:extLst>
          </p:cNvPr>
          <p:cNvSpPr/>
          <p:nvPr/>
        </p:nvSpPr>
        <p:spPr>
          <a:xfrm>
            <a:off x="6415712" y="285529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13   </a:t>
            </a:r>
          </a:p>
        </p:txBody>
      </p:sp>
      <p:sp>
        <p:nvSpPr>
          <p:cNvPr id="147" name="Rechteck: abgerundete Ecken 146">
            <a:extLst>
              <a:ext uri="{FF2B5EF4-FFF2-40B4-BE49-F238E27FC236}">
                <a16:creationId xmlns:a16="http://schemas.microsoft.com/office/drawing/2014/main" id="{EC378705-8044-FAEA-0845-A7E88153035F}"/>
              </a:ext>
            </a:extLst>
          </p:cNvPr>
          <p:cNvSpPr/>
          <p:nvPr/>
        </p:nvSpPr>
        <p:spPr>
          <a:xfrm>
            <a:off x="7057648" y="2855297"/>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15  </a:t>
            </a:r>
          </a:p>
        </p:txBody>
      </p:sp>
      <p:sp>
        <p:nvSpPr>
          <p:cNvPr id="150" name="Rechteck: abgerundete Ecken 149">
            <a:extLst>
              <a:ext uri="{FF2B5EF4-FFF2-40B4-BE49-F238E27FC236}">
                <a16:creationId xmlns:a16="http://schemas.microsoft.com/office/drawing/2014/main" id="{052104F3-767C-BE84-C9BD-88760A3F7199}"/>
              </a:ext>
            </a:extLst>
          </p:cNvPr>
          <p:cNvSpPr/>
          <p:nvPr/>
        </p:nvSpPr>
        <p:spPr>
          <a:xfrm>
            <a:off x="8092713" y="2854265"/>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18   </a:t>
            </a:r>
          </a:p>
        </p:txBody>
      </p:sp>
      <p:sp>
        <p:nvSpPr>
          <p:cNvPr id="151" name="Rechteck: abgerundete Ecken 150">
            <a:extLst>
              <a:ext uri="{FF2B5EF4-FFF2-40B4-BE49-F238E27FC236}">
                <a16:creationId xmlns:a16="http://schemas.microsoft.com/office/drawing/2014/main" id="{9BD722C0-9D72-E0CD-AE0E-3F6C3E310440}"/>
              </a:ext>
            </a:extLst>
          </p:cNvPr>
          <p:cNvSpPr/>
          <p:nvPr/>
        </p:nvSpPr>
        <p:spPr>
          <a:xfrm>
            <a:off x="8406791" y="2853552"/>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19   </a:t>
            </a:r>
          </a:p>
        </p:txBody>
      </p:sp>
      <p:sp>
        <p:nvSpPr>
          <p:cNvPr id="181" name="Rechteck: abgerundete Ecken 180">
            <a:extLst>
              <a:ext uri="{FF2B5EF4-FFF2-40B4-BE49-F238E27FC236}">
                <a16:creationId xmlns:a16="http://schemas.microsoft.com/office/drawing/2014/main" id="{35EF6CC8-4AD1-B816-2539-9ACE40FDB86F}"/>
              </a:ext>
            </a:extLst>
          </p:cNvPr>
          <p:cNvSpPr/>
          <p:nvPr/>
        </p:nvSpPr>
        <p:spPr>
          <a:xfrm>
            <a:off x="8757253" y="2856571"/>
            <a:ext cx="99155" cy="93965"/>
          </a:xfrm>
          <a:prstGeom prst="roundRect">
            <a:avLst/>
          </a:prstGeom>
          <a:ln w="12700"/>
        </p:spPr>
        <p:style>
          <a:lnRef idx="2">
            <a:schemeClr val="accent1"/>
          </a:lnRef>
          <a:fillRef idx="1">
            <a:schemeClr val="lt1"/>
          </a:fillRef>
          <a:effectRef idx="0">
            <a:schemeClr val="accent1"/>
          </a:effectRef>
          <a:fontRef idx="minor">
            <a:schemeClr val="dk1"/>
          </a:fontRef>
        </p:style>
        <p:txBody>
          <a:bodyPr wrap="none" rIns="36000" rtlCol="0" anchor="ctr"/>
          <a:lstStyle/>
          <a:p>
            <a:pPr algn="ctr"/>
            <a:r>
              <a:rPr lang="de-DE" sz="600" dirty="0"/>
              <a:t>20   </a:t>
            </a:r>
          </a:p>
        </p:txBody>
      </p:sp>
      <p:sp>
        <p:nvSpPr>
          <p:cNvPr id="229" name="Rechteck 228">
            <a:extLst>
              <a:ext uri="{FF2B5EF4-FFF2-40B4-BE49-F238E27FC236}">
                <a16:creationId xmlns:a16="http://schemas.microsoft.com/office/drawing/2014/main" id="{90CB41F9-DE61-A1D1-772F-21A2D23D3499}"/>
              </a:ext>
            </a:extLst>
          </p:cNvPr>
          <p:cNvSpPr/>
          <p:nvPr/>
        </p:nvSpPr>
        <p:spPr>
          <a:xfrm rot="5400000">
            <a:off x="8350728" y="2457687"/>
            <a:ext cx="427241" cy="233861"/>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40" name="Gruppieren 239">
            <a:extLst>
              <a:ext uri="{FF2B5EF4-FFF2-40B4-BE49-F238E27FC236}">
                <a16:creationId xmlns:a16="http://schemas.microsoft.com/office/drawing/2014/main" id="{7F19270E-3FA8-EB4D-59D5-C1A1D4FCAA8A}"/>
              </a:ext>
            </a:extLst>
          </p:cNvPr>
          <p:cNvGrpSpPr/>
          <p:nvPr/>
        </p:nvGrpSpPr>
        <p:grpSpPr>
          <a:xfrm rot="10800000" flipH="1">
            <a:off x="9365287" y="3250352"/>
            <a:ext cx="25807" cy="1063104"/>
            <a:chOff x="6851814" y="1766023"/>
            <a:chExt cx="78569" cy="2068826"/>
          </a:xfrm>
        </p:grpSpPr>
        <p:sp>
          <p:nvSpPr>
            <p:cNvPr id="241" name="Rechteck 240">
              <a:extLst>
                <a:ext uri="{FF2B5EF4-FFF2-40B4-BE49-F238E27FC236}">
                  <a16:creationId xmlns:a16="http://schemas.microsoft.com/office/drawing/2014/main" id="{259B9444-B7CC-441A-94A9-24D8AF5E33FA}"/>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42" name="Rechteck 241">
              <a:extLst>
                <a:ext uri="{FF2B5EF4-FFF2-40B4-BE49-F238E27FC236}">
                  <a16:creationId xmlns:a16="http://schemas.microsoft.com/office/drawing/2014/main" id="{316B7930-982C-A531-CFF5-40562593CE97}"/>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43" name="Rechteck 242">
              <a:extLst>
                <a:ext uri="{FF2B5EF4-FFF2-40B4-BE49-F238E27FC236}">
                  <a16:creationId xmlns:a16="http://schemas.microsoft.com/office/drawing/2014/main" id="{C123DF38-ABB4-23A3-1AC8-1B53AA323DA2}"/>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5" name="Rechteck 274">
              <a:extLst>
                <a:ext uri="{FF2B5EF4-FFF2-40B4-BE49-F238E27FC236}">
                  <a16:creationId xmlns:a16="http://schemas.microsoft.com/office/drawing/2014/main" id="{55391DC0-C85D-2F09-B31F-91F7FDA60D3E}"/>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76" name="Rechteck 275">
              <a:extLst>
                <a:ext uri="{FF2B5EF4-FFF2-40B4-BE49-F238E27FC236}">
                  <a16:creationId xmlns:a16="http://schemas.microsoft.com/office/drawing/2014/main" id="{F35E5191-E9A3-FB41-043F-1A0430201FF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77" name="Gruppieren 276">
            <a:extLst>
              <a:ext uri="{FF2B5EF4-FFF2-40B4-BE49-F238E27FC236}">
                <a16:creationId xmlns:a16="http://schemas.microsoft.com/office/drawing/2014/main" id="{E440D2C4-5216-71F0-2E8B-57A9D68DE664}"/>
              </a:ext>
            </a:extLst>
          </p:cNvPr>
          <p:cNvGrpSpPr/>
          <p:nvPr/>
        </p:nvGrpSpPr>
        <p:grpSpPr>
          <a:xfrm rot="10800000" flipH="1">
            <a:off x="9412806" y="3251495"/>
            <a:ext cx="25807" cy="1063104"/>
            <a:chOff x="6851814" y="1766023"/>
            <a:chExt cx="78569" cy="2068826"/>
          </a:xfrm>
        </p:grpSpPr>
        <p:sp>
          <p:nvSpPr>
            <p:cNvPr id="279" name="Rechteck 278">
              <a:extLst>
                <a:ext uri="{FF2B5EF4-FFF2-40B4-BE49-F238E27FC236}">
                  <a16:creationId xmlns:a16="http://schemas.microsoft.com/office/drawing/2014/main" id="{49980DDD-C98F-01ED-2C98-6B7B026D1BAF}"/>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3" name="Rechteck 282">
              <a:extLst>
                <a:ext uri="{FF2B5EF4-FFF2-40B4-BE49-F238E27FC236}">
                  <a16:creationId xmlns:a16="http://schemas.microsoft.com/office/drawing/2014/main" id="{656D71DE-21DB-9D1B-C194-F0BD5F9CDC40}"/>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90" name="Rechteck 289">
              <a:extLst>
                <a:ext uri="{FF2B5EF4-FFF2-40B4-BE49-F238E27FC236}">
                  <a16:creationId xmlns:a16="http://schemas.microsoft.com/office/drawing/2014/main" id="{3450A2D2-FAAC-9F64-292B-909C286B06E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1" name="Rechteck 290">
              <a:extLst>
                <a:ext uri="{FF2B5EF4-FFF2-40B4-BE49-F238E27FC236}">
                  <a16:creationId xmlns:a16="http://schemas.microsoft.com/office/drawing/2014/main" id="{7FEB1C48-32CC-E6AA-7196-D776A10D7B56}"/>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2" name="Rechteck 291">
              <a:extLst>
                <a:ext uri="{FF2B5EF4-FFF2-40B4-BE49-F238E27FC236}">
                  <a16:creationId xmlns:a16="http://schemas.microsoft.com/office/drawing/2014/main" id="{4D13EA71-6683-6D0D-D3D8-82F0E39183B8}"/>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3" name="Gruppieren 292">
            <a:extLst>
              <a:ext uri="{FF2B5EF4-FFF2-40B4-BE49-F238E27FC236}">
                <a16:creationId xmlns:a16="http://schemas.microsoft.com/office/drawing/2014/main" id="{A4162032-D783-E867-0099-0AB45182EA58}"/>
              </a:ext>
            </a:extLst>
          </p:cNvPr>
          <p:cNvGrpSpPr/>
          <p:nvPr/>
        </p:nvGrpSpPr>
        <p:grpSpPr>
          <a:xfrm rot="10800000" flipH="1">
            <a:off x="9459779" y="3251943"/>
            <a:ext cx="25807" cy="1063104"/>
            <a:chOff x="6851814" y="1766023"/>
            <a:chExt cx="78569" cy="2068826"/>
          </a:xfrm>
        </p:grpSpPr>
        <p:sp>
          <p:nvSpPr>
            <p:cNvPr id="294" name="Rechteck 293">
              <a:extLst>
                <a:ext uri="{FF2B5EF4-FFF2-40B4-BE49-F238E27FC236}">
                  <a16:creationId xmlns:a16="http://schemas.microsoft.com/office/drawing/2014/main" id="{04579CDA-64EE-F6F2-88C5-46E5F2D1EF3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5" name="Rechteck 294">
              <a:extLst>
                <a:ext uri="{FF2B5EF4-FFF2-40B4-BE49-F238E27FC236}">
                  <a16:creationId xmlns:a16="http://schemas.microsoft.com/office/drawing/2014/main" id="{E4A1F72F-76C8-476D-CA18-69B7C5A5605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96" name="Rechteck 295">
              <a:extLst>
                <a:ext uri="{FF2B5EF4-FFF2-40B4-BE49-F238E27FC236}">
                  <a16:creationId xmlns:a16="http://schemas.microsoft.com/office/drawing/2014/main" id="{CDF5E242-0DFC-7590-A830-E54F773BF85B}"/>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7" name="Rechteck 296">
              <a:extLst>
                <a:ext uri="{FF2B5EF4-FFF2-40B4-BE49-F238E27FC236}">
                  <a16:creationId xmlns:a16="http://schemas.microsoft.com/office/drawing/2014/main" id="{E053899F-79A6-65BA-5DD9-6BFDD4CC7D1A}"/>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98" name="Rechteck 297">
              <a:extLst>
                <a:ext uri="{FF2B5EF4-FFF2-40B4-BE49-F238E27FC236}">
                  <a16:creationId xmlns:a16="http://schemas.microsoft.com/office/drawing/2014/main" id="{40E8F5E4-5216-0395-8FBC-0D08CC832AE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99" name="Gruppieren 298">
            <a:extLst>
              <a:ext uri="{FF2B5EF4-FFF2-40B4-BE49-F238E27FC236}">
                <a16:creationId xmlns:a16="http://schemas.microsoft.com/office/drawing/2014/main" id="{D255B44C-EAF0-4417-97C8-AD8C0F8EB462}"/>
              </a:ext>
            </a:extLst>
          </p:cNvPr>
          <p:cNvGrpSpPr/>
          <p:nvPr/>
        </p:nvGrpSpPr>
        <p:grpSpPr>
          <a:xfrm rot="10800000" flipH="1">
            <a:off x="9507409" y="3251942"/>
            <a:ext cx="25807" cy="1063104"/>
            <a:chOff x="6851814" y="1766023"/>
            <a:chExt cx="78569" cy="2068826"/>
          </a:xfrm>
        </p:grpSpPr>
        <p:sp>
          <p:nvSpPr>
            <p:cNvPr id="300" name="Rechteck 299">
              <a:extLst>
                <a:ext uri="{FF2B5EF4-FFF2-40B4-BE49-F238E27FC236}">
                  <a16:creationId xmlns:a16="http://schemas.microsoft.com/office/drawing/2014/main" id="{81327185-AD1D-CE27-B4F4-AE1A090D4FC3}"/>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1" name="Rechteck 300">
              <a:extLst>
                <a:ext uri="{FF2B5EF4-FFF2-40B4-BE49-F238E27FC236}">
                  <a16:creationId xmlns:a16="http://schemas.microsoft.com/office/drawing/2014/main" id="{854AA64B-F859-A48B-9C92-C9D7FB2B3FE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02" name="Rechteck 301">
              <a:extLst>
                <a:ext uri="{FF2B5EF4-FFF2-40B4-BE49-F238E27FC236}">
                  <a16:creationId xmlns:a16="http://schemas.microsoft.com/office/drawing/2014/main" id="{A93C99E4-B113-CEA2-6B99-A7B17E03596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3" name="Rechteck 302">
              <a:extLst>
                <a:ext uri="{FF2B5EF4-FFF2-40B4-BE49-F238E27FC236}">
                  <a16:creationId xmlns:a16="http://schemas.microsoft.com/office/drawing/2014/main" id="{54F1AC29-EF7F-523B-0332-82C607E8CB09}"/>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4" name="Rechteck 303">
              <a:extLst>
                <a:ext uri="{FF2B5EF4-FFF2-40B4-BE49-F238E27FC236}">
                  <a16:creationId xmlns:a16="http://schemas.microsoft.com/office/drawing/2014/main" id="{480321A7-499B-9A01-A59F-A3EFBAC7411A}"/>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317" name="Rechteck 316">
            <a:extLst>
              <a:ext uri="{FF2B5EF4-FFF2-40B4-BE49-F238E27FC236}">
                <a16:creationId xmlns:a16="http://schemas.microsoft.com/office/drawing/2014/main" id="{F7DDCAA9-6DA7-6F7A-14D6-ABB3D1E72D32}"/>
              </a:ext>
            </a:extLst>
          </p:cNvPr>
          <p:cNvSpPr/>
          <p:nvPr/>
        </p:nvSpPr>
        <p:spPr>
          <a:xfrm>
            <a:off x="5091366" y="1929528"/>
            <a:ext cx="512182"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8" name="Rechteck 317">
            <a:extLst>
              <a:ext uri="{FF2B5EF4-FFF2-40B4-BE49-F238E27FC236}">
                <a16:creationId xmlns:a16="http://schemas.microsoft.com/office/drawing/2014/main" id="{B03FC68E-01B7-51D2-C466-08A5A8D76B93}"/>
              </a:ext>
            </a:extLst>
          </p:cNvPr>
          <p:cNvSpPr/>
          <p:nvPr/>
        </p:nvSpPr>
        <p:spPr>
          <a:xfrm>
            <a:off x="5090441" y="2453085"/>
            <a:ext cx="503579" cy="11210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9" name="Textfeld 318">
            <a:extLst>
              <a:ext uri="{FF2B5EF4-FFF2-40B4-BE49-F238E27FC236}">
                <a16:creationId xmlns:a16="http://schemas.microsoft.com/office/drawing/2014/main" id="{5467F8B0-ECA5-CBD8-1472-578771235646}"/>
              </a:ext>
            </a:extLst>
          </p:cNvPr>
          <p:cNvSpPr txBox="1"/>
          <p:nvPr/>
        </p:nvSpPr>
        <p:spPr>
          <a:xfrm>
            <a:off x="7734760" y="4656715"/>
            <a:ext cx="1223540" cy="276999"/>
          </a:xfrm>
          <a:prstGeom prst="rect">
            <a:avLst/>
          </a:prstGeom>
          <a:noFill/>
        </p:spPr>
        <p:txBody>
          <a:bodyPr wrap="none" rtlCol="0">
            <a:spAutoFit/>
          </a:bodyPr>
          <a:lstStyle/>
          <a:p>
            <a:r>
              <a:rPr lang="de-DE" sz="1200" dirty="0" err="1"/>
              <a:t>Protective</a:t>
            </a:r>
            <a:r>
              <a:rPr lang="de-DE" sz="1200" dirty="0"/>
              <a:t> Fence</a:t>
            </a:r>
          </a:p>
        </p:txBody>
      </p:sp>
      <p:cxnSp>
        <p:nvCxnSpPr>
          <p:cNvPr id="311" name="Gerader Verbinder 310">
            <a:extLst>
              <a:ext uri="{FF2B5EF4-FFF2-40B4-BE49-F238E27FC236}">
                <a16:creationId xmlns:a16="http://schemas.microsoft.com/office/drawing/2014/main" id="{AE031142-780B-25BC-3625-30292E7296E3}"/>
              </a:ext>
            </a:extLst>
          </p:cNvPr>
          <p:cNvCxnSpPr>
            <a:cxnSpLocks/>
          </p:cNvCxnSpPr>
          <p:nvPr/>
        </p:nvCxnSpPr>
        <p:spPr>
          <a:xfrm>
            <a:off x="1586276" y="6260439"/>
            <a:ext cx="989006" cy="0"/>
          </a:xfrm>
          <a:prstGeom prst="line">
            <a:avLst/>
          </a:prstGeom>
          <a:ln>
            <a:solidFill>
              <a:srgbClr val="FF9966"/>
            </a:solidFill>
          </a:ln>
        </p:spPr>
        <p:style>
          <a:lnRef idx="2">
            <a:schemeClr val="accent1"/>
          </a:lnRef>
          <a:fillRef idx="0">
            <a:schemeClr val="accent1"/>
          </a:fillRef>
          <a:effectRef idx="1">
            <a:schemeClr val="accent1"/>
          </a:effectRef>
          <a:fontRef idx="minor">
            <a:schemeClr val="tx1"/>
          </a:fontRef>
        </p:style>
      </p:cxnSp>
      <p:sp>
        <p:nvSpPr>
          <p:cNvPr id="314" name="Ellipse 313">
            <a:extLst>
              <a:ext uri="{FF2B5EF4-FFF2-40B4-BE49-F238E27FC236}">
                <a16:creationId xmlns:a16="http://schemas.microsoft.com/office/drawing/2014/main" id="{6B10E0C7-FB98-F62F-16CA-865951CD5758}"/>
              </a:ext>
            </a:extLst>
          </p:cNvPr>
          <p:cNvSpPr/>
          <p:nvPr/>
        </p:nvSpPr>
        <p:spPr>
          <a:xfrm>
            <a:off x="2361677" y="6040564"/>
            <a:ext cx="216000" cy="2160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141" name="Gruppieren 140">
            <a:extLst>
              <a:ext uri="{FF2B5EF4-FFF2-40B4-BE49-F238E27FC236}">
                <a16:creationId xmlns:a16="http://schemas.microsoft.com/office/drawing/2014/main" id="{937A9597-B47B-6235-879B-14438CAB6965}"/>
              </a:ext>
            </a:extLst>
          </p:cNvPr>
          <p:cNvGrpSpPr/>
          <p:nvPr/>
        </p:nvGrpSpPr>
        <p:grpSpPr>
          <a:xfrm flipH="1">
            <a:off x="5217340" y="2285653"/>
            <a:ext cx="19389" cy="713061"/>
            <a:chOff x="6851814" y="1766023"/>
            <a:chExt cx="78569" cy="2068826"/>
          </a:xfrm>
        </p:grpSpPr>
        <p:sp>
          <p:nvSpPr>
            <p:cNvPr id="142" name="Rechteck 141">
              <a:extLst>
                <a:ext uri="{FF2B5EF4-FFF2-40B4-BE49-F238E27FC236}">
                  <a16:creationId xmlns:a16="http://schemas.microsoft.com/office/drawing/2014/main" id="{83CF38F2-4788-3D35-E341-E102B7FB2D19}"/>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3" name="Rechteck 142">
              <a:extLst>
                <a:ext uri="{FF2B5EF4-FFF2-40B4-BE49-F238E27FC236}">
                  <a16:creationId xmlns:a16="http://schemas.microsoft.com/office/drawing/2014/main" id="{7B772EF1-4578-474A-BE05-9F3BC1669E9F}"/>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44" name="Rechteck 143">
              <a:extLst>
                <a:ext uri="{FF2B5EF4-FFF2-40B4-BE49-F238E27FC236}">
                  <a16:creationId xmlns:a16="http://schemas.microsoft.com/office/drawing/2014/main" id="{0113ED61-826D-F3ED-EB32-0B9C42513956}"/>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5" name="Rechteck 144">
              <a:extLst>
                <a:ext uri="{FF2B5EF4-FFF2-40B4-BE49-F238E27FC236}">
                  <a16:creationId xmlns:a16="http://schemas.microsoft.com/office/drawing/2014/main" id="{195D4549-F886-217E-1B7B-3004752D5CC3}"/>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46" name="Rechteck 145">
              <a:extLst>
                <a:ext uri="{FF2B5EF4-FFF2-40B4-BE49-F238E27FC236}">
                  <a16:creationId xmlns:a16="http://schemas.microsoft.com/office/drawing/2014/main" id="{7B3C791D-AB79-0BBC-9B95-4FCE3027931B}"/>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180" name="Grafik 179">
            <a:extLst>
              <a:ext uri="{FF2B5EF4-FFF2-40B4-BE49-F238E27FC236}">
                <a16:creationId xmlns:a16="http://schemas.microsoft.com/office/drawing/2014/main" id="{524BC2A8-71DA-202C-A774-E63626CC6D97}"/>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5184119" y="2268544"/>
            <a:ext cx="90077" cy="28388"/>
          </a:xfrm>
          <a:prstGeom prst="rect">
            <a:avLst/>
          </a:prstGeom>
        </p:spPr>
      </p:pic>
      <p:sp>
        <p:nvSpPr>
          <p:cNvPr id="53" name="Rechteck 52">
            <a:extLst>
              <a:ext uri="{FF2B5EF4-FFF2-40B4-BE49-F238E27FC236}">
                <a16:creationId xmlns:a16="http://schemas.microsoft.com/office/drawing/2014/main" id="{07C02E58-C111-4EA7-1847-25A85FFFF541}"/>
              </a:ext>
            </a:extLst>
          </p:cNvPr>
          <p:cNvSpPr/>
          <p:nvPr/>
        </p:nvSpPr>
        <p:spPr>
          <a:xfrm>
            <a:off x="5189396" y="2354051"/>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5" name="Rechteck 54">
            <a:extLst>
              <a:ext uri="{FF2B5EF4-FFF2-40B4-BE49-F238E27FC236}">
                <a16:creationId xmlns:a16="http://schemas.microsoft.com/office/drawing/2014/main" id="{97BA4A9B-D254-88FC-6D87-98DE96B34773}"/>
              </a:ext>
            </a:extLst>
          </p:cNvPr>
          <p:cNvSpPr/>
          <p:nvPr/>
        </p:nvSpPr>
        <p:spPr>
          <a:xfrm>
            <a:off x="5187013" y="2472625"/>
            <a:ext cx="23461" cy="73229"/>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6" name="Rechteck 55">
            <a:extLst>
              <a:ext uri="{FF2B5EF4-FFF2-40B4-BE49-F238E27FC236}">
                <a16:creationId xmlns:a16="http://schemas.microsoft.com/office/drawing/2014/main" id="{2F845E76-3289-ACD7-3DC5-C248997C1366}"/>
              </a:ext>
            </a:extLst>
          </p:cNvPr>
          <p:cNvSpPr/>
          <p:nvPr/>
        </p:nvSpPr>
        <p:spPr>
          <a:xfrm>
            <a:off x="5239402" y="2356430"/>
            <a:ext cx="23461" cy="34161"/>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5A8FE43E-0F8B-F15D-692B-5DCBA56481A1}"/>
              </a:ext>
            </a:extLst>
          </p:cNvPr>
          <p:cNvSpPr/>
          <p:nvPr/>
        </p:nvSpPr>
        <p:spPr>
          <a:xfrm>
            <a:off x="5189394" y="1948197"/>
            <a:ext cx="23461" cy="88607"/>
          </a:xfrm>
          <a:prstGeom prst="rect">
            <a:avLst/>
          </a:prstGeom>
          <a:solidFill>
            <a:schemeClr val="tx1">
              <a:lumMod val="75000"/>
              <a:lumOff val="25000"/>
            </a:schemeClr>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7" name="Rechteck 36">
            <a:extLst>
              <a:ext uri="{FF2B5EF4-FFF2-40B4-BE49-F238E27FC236}">
                <a16:creationId xmlns:a16="http://schemas.microsoft.com/office/drawing/2014/main" id="{105FF465-0ADA-A643-AC03-0A774074E6CE}"/>
              </a:ext>
            </a:extLst>
          </p:cNvPr>
          <p:cNvSpPr/>
          <p:nvPr/>
        </p:nvSpPr>
        <p:spPr>
          <a:xfrm>
            <a:off x="5136716" y="1654286"/>
            <a:ext cx="172817" cy="1296258"/>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grpSp>
        <p:nvGrpSpPr>
          <p:cNvPr id="335" name="Gruppieren 334">
            <a:extLst>
              <a:ext uri="{FF2B5EF4-FFF2-40B4-BE49-F238E27FC236}">
                <a16:creationId xmlns:a16="http://schemas.microsoft.com/office/drawing/2014/main" id="{7423334E-98E7-0618-01BC-75BC8D8CC6C5}"/>
              </a:ext>
            </a:extLst>
          </p:cNvPr>
          <p:cNvGrpSpPr/>
          <p:nvPr/>
        </p:nvGrpSpPr>
        <p:grpSpPr>
          <a:xfrm flipH="1">
            <a:off x="5548337" y="2288036"/>
            <a:ext cx="19389" cy="713061"/>
            <a:chOff x="6851814" y="1766023"/>
            <a:chExt cx="78569" cy="2068826"/>
          </a:xfrm>
        </p:grpSpPr>
        <p:sp>
          <p:nvSpPr>
            <p:cNvPr id="336" name="Rechteck 335">
              <a:extLst>
                <a:ext uri="{FF2B5EF4-FFF2-40B4-BE49-F238E27FC236}">
                  <a16:creationId xmlns:a16="http://schemas.microsoft.com/office/drawing/2014/main" id="{618E50BD-6742-F728-C606-35CA6696B3DB}"/>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7" name="Rechteck 336">
              <a:extLst>
                <a:ext uri="{FF2B5EF4-FFF2-40B4-BE49-F238E27FC236}">
                  <a16:creationId xmlns:a16="http://schemas.microsoft.com/office/drawing/2014/main" id="{E02212D4-4A69-ACF2-983B-9AD6073A8DAA}"/>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38" name="Rechteck 337">
              <a:extLst>
                <a:ext uri="{FF2B5EF4-FFF2-40B4-BE49-F238E27FC236}">
                  <a16:creationId xmlns:a16="http://schemas.microsoft.com/office/drawing/2014/main" id="{780B4405-D36A-78B6-1424-F17591977E5C}"/>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9" name="Rechteck 338">
              <a:extLst>
                <a:ext uri="{FF2B5EF4-FFF2-40B4-BE49-F238E27FC236}">
                  <a16:creationId xmlns:a16="http://schemas.microsoft.com/office/drawing/2014/main" id="{F7711CBA-B9C3-799D-4F87-28F2FE2ED8B9}"/>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40" name="Rechteck 339">
              <a:extLst>
                <a:ext uri="{FF2B5EF4-FFF2-40B4-BE49-F238E27FC236}">
                  <a16:creationId xmlns:a16="http://schemas.microsoft.com/office/drawing/2014/main" id="{A0D3D56F-C48A-FA07-0947-046052EA1AF1}"/>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pic>
        <p:nvPicPr>
          <p:cNvPr id="342" name="Grafik 341">
            <a:extLst>
              <a:ext uri="{FF2B5EF4-FFF2-40B4-BE49-F238E27FC236}">
                <a16:creationId xmlns:a16="http://schemas.microsoft.com/office/drawing/2014/main" id="{3E4FEDDB-A6B1-95E8-5B5B-8CBE2B8164D8}"/>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5515116" y="2270927"/>
            <a:ext cx="90077" cy="28388"/>
          </a:xfrm>
          <a:prstGeom prst="rect">
            <a:avLst/>
          </a:prstGeom>
        </p:spPr>
      </p:pic>
      <p:cxnSp>
        <p:nvCxnSpPr>
          <p:cNvPr id="345" name="Gerade Verbindung mit Pfeil 344">
            <a:extLst>
              <a:ext uri="{FF2B5EF4-FFF2-40B4-BE49-F238E27FC236}">
                <a16:creationId xmlns:a16="http://schemas.microsoft.com/office/drawing/2014/main" id="{E627E4AB-0DE5-A671-9205-78A8B42CF209}"/>
              </a:ext>
            </a:extLst>
          </p:cNvPr>
          <p:cNvCxnSpPr>
            <a:cxnSpLocks/>
          </p:cNvCxnSpPr>
          <p:nvPr/>
        </p:nvCxnSpPr>
        <p:spPr>
          <a:xfrm flipV="1">
            <a:off x="5279084" y="2509138"/>
            <a:ext cx="226036" cy="871"/>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cxnSp>
        <p:nvCxnSpPr>
          <p:cNvPr id="348" name="Gerade Verbindung mit Pfeil 347">
            <a:extLst>
              <a:ext uri="{FF2B5EF4-FFF2-40B4-BE49-F238E27FC236}">
                <a16:creationId xmlns:a16="http://schemas.microsoft.com/office/drawing/2014/main" id="{23FBACD4-147E-C0F2-B36E-382881E6BB1B}"/>
              </a:ext>
            </a:extLst>
          </p:cNvPr>
          <p:cNvCxnSpPr>
            <a:cxnSpLocks/>
          </p:cNvCxnSpPr>
          <p:nvPr/>
        </p:nvCxnSpPr>
        <p:spPr>
          <a:xfrm flipV="1">
            <a:off x="5279084" y="1988438"/>
            <a:ext cx="226036" cy="871"/>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sp>
        <p:nvSpPr>
          <p:cNvPr id="376" name="Rechteck 375">
            <a:extLst>
              <a:ext uri="{FF2B5EF4-FFF2-40B4-BE49-F238E27FC236}">
                <a16:creationId xmlns:a16="http://schemas.microsoft.com/office/drawing/2014/main" id="{02457479-FF05-5E05-A7CC-DC31A0F9FA6B}"/>
              </a:ext>
            </a:extLst>
          </p:cNvPr>
          <p:cNvSpPr/>
          <p:nvPr/>
        </p:nvSpPr>
        <p:spPr>
          <a:xfrm rot="5400000">
            <a:off x="8423376" y="2732173"/>
            <a:ext cx="310603" cy="69890"/>
          </a:xfrm>
          <a:prstGeom prst="rect">
            <a:avLst/>
          </a:prstGeom>
          <a:gradFill>
            <a:gsLst>
              <a:gs pos="0">
                <a:schemeClr val="dk1">
                  <a:tint val="100000"/>
                  <a:shade val="100000"/>
                  <a:satMod val="130000"/>
                  <a:alpha val="4200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350" name="Gruppieren 349">
            <a:extLst>
              <a:ext uri="{FF2B5EF4-FFF2-40B4-BE49-F238E27FC236}">
                <a16:creationId xmlns:a16="http://schemas.microsoft.com/office/drawing/2014/main" id="{BC703767-FC09-4D63-A41D-49357769E495}"/>
              </a:ext>
            </a:extLst>
          </p:cNvPr>
          <p:cNvGrpSpPr/>
          <p:nvPr/>
        </p:nvGrpSpPr>
        <p:grpSpPr>
          <a:xfrm>
            <a:off x="3268796" y="3552122"/>
            <a:ext cx="467578" cy="90248"/>
            <a:chOff x="4413024" y="3765960"/>
            <a:chExt cx="467578" cy="90248"/>
          </a:xfrm>
        </p:grpSpPr>
        <p:sp>
          <p:nvSpPr>
            <p:cNvPr id="347" name="Ellipse 346">
              <a:extLst>
                <a:ext uri="{FF2B5EF4-FFF2-40B4-BE49-F238E27FC236}">
                  <a16:creationId xmlns:a16="http://schemas.microsoft.com/office/drawing/2014/main" id="{3C492A4F-160F-4A15-D5B4-30DEF8C5FBF2}"/>
                </a:ext>
              </a:extLst>
            </p:cNvPr>
            <p:cNvSpPr/>
            <p:nvPr/>
          </p:nvSpPr>
          <p:spPr>
            <a:xfrm>
              <a:off x="4413024" y="3766208"/>
              <a:ext cx="90000" cy="90000"/>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49" name="Ellipse 348">
              <a:extLst>
                <a:ext uri="{FF2B5EF4-FFF2-40B4-BE49-F238E27FC236}">
                  <a16:creationId xmlns:a16="http://schemas.microsoft.com/office/drawing/2014/main" id="{EBB8E8BD-7946-D9C6-4195-7AA5C2D292E7}"/>
                </a:ext>
              </a:extLst>
            </p:cNvPr>
            <p:cNvSpPr/>
            <p:nvPr/>
          </p:nvSpPr>
          <p:spPr>
            <a:xfrm>
              <a:off x="4790602" y="3765960"/>
              <a:ext cx="90000" cy="90000"/>
            </a:xfrm>
            <a:prstGeom prst="ellipse">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sp>
        <p:nvSpPr>
          <p:cNvPr id="329" name="Rechteck 328">
            <a:extLst>
              <a:ext uri="{FF2B5EF4-FFF2-40B4-BE49-F238E27FC236}">
                <a16:creationId xmlns:a16="http://schemas.microsoft.com/office/drawing/2014/main" id="{600D350D-A5E3-5678-CF02-01844B417071}"/>
              </a:ext>
            </a:extLst>
          </p:cNvPr>
          <p:cNvSpPr/>
          <p:nvPr/>
        </p:nvSpPr>
        <p:spPr>
          <a:xfrm>
            <a:off x="4484445" y="2416312"/>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52" name="Halbbogen 351">
            <a:extLst>
              <a:ext uri="{FF2B5EF4-FFF2-40B4-BE49-F238E27FC236}">
                <a16:creationId xmlns:a16="http://schemas.microsoft.com/office/drawing/2014/main" id="{6BF531E2-25D5-17A7-78B9-E30F6BC9F49D}"/>
              </a:ext>
            </a:extLst>
          </p:cNvPr>
          <p:cNvSpPr/>
          <p:nvPr/>
        </p:nvSpPr>
        <p:spPr>
          <a:xfrm rot="10800000">
            <a:off x="7818782" y="2944234"/>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80" name="Rechteck 379">
            <a:extLst>
              <a:ext uri="{FF2B5EF4-FFF2-40B4-BE49-F238E27FC236}">
                <a16:creationId xmlns:a16="http://schemas.microsoft.com/office/drawing/2014/main" id="{7DC24DCC-505F-7B42-732F-C937B618ECB1}"/>
              </a:ext>
            </a:extLst>
          </p:cNvPr>
          <p:cNvSpPr/>
          <p:nvPr/>
        </p:nvSpPr>
        <p:spPr>
          <a:xfrm rot="10800000">
            <a:off x="7826336" y="3137130"/>
            <a:ext cx="87700" cy="276589"/>
          </a:xfrm>
          <a:prstGeom prst="rect">
            <a:avLst/>
          </a:prstGeom>
          <a:gradFill>
            <a:gsLst>
              <a:gs pos="0">
                <a:schemeClr val="dk1">
                  <a:tint val="100000"/>
                  <a:shade val="100000"/>
                  <a:satMod val="130000"/>
                  <a:alpha val="0"/>
                </a:schemeClr>
              </a:gs>
              <a:gs pos="100000">
                <a:schemeClr val="dk1">
                  <a:tint val="50000"/>
                  <a:shade val="100000"/>
                  <a:satMod val="350000"/>
                </a:schemeClr>
              </a:gs>
            </a:gsLst>
          </a:gra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94" name="Halbbogen 393">
            <a:extLst>
              <a:ext uri="{FF2B5EF4-FFF2-40B4-BE49-F238E27FC236}">
                <a16:creationId xmlns:a16="http://schemas.microsoft.com/office/drawing/2014/main" id="{76538CCA-05F9-3A03-6D68-2593DCD5AFA0}"/>
              </a:ext>
            </a:extLst>
          </p:cNvPr>
          <p:cNvSpPr/>
          <p:nvPr/>
        </p:nvSpPr>
        <p:spPr>
          <a:xfrm>
            <a:off x="4469970" y="2704448"/>
            <a:ext cx="104306" cy="162001"/>
          </a:xfrm>
          <a:prstGeom prst="blockArc">
            <a:avLst>
              <a:gd name="adj1" fmla="val 10745637"/>
              <a:gd name="adj2" fmla="val 11"/>
              <a:gd name="adj3" fmla="val 5475"/>
            </a:avLst>
          </a:prstGeom>
          <a:gradFill>
            <a:gsLst>
              <a:gs pos="0">
                <a:schemeClr val="tx1"/>
              </a:gs>
              <a:gs pos="100000">
                <a:schemeClr val="accent1">
                  <a:tint val="50000"/>
                  <a:shade val="100000"/>
                  <a:satMod val="350000"/>
                </a:schemeClr>
              </a:gs>
            </a:gsLst>
          </a:gra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396" name="Textfeld 395">
            <a:extLst>
              <a:ext uri="{FF2B5EF4-FFF2-40B4-BE49-F238E27FC236}">
                <a16:creationId xmlns:a16="http://schemas.microsoft.com/office/drawing/2014/main" id="{07801104-DE54-86EA-6985-4A0065F17238}"/>
              </a:ext>
            </a:extLst>
          </p:cNvPr>
          <p:cNvSpPr txBox="1"/>
          <p:nvPr/>
        </p:nvSpPr>
        <p:spPr>
          <a:xfrm>
            <a:off x="4376056" y="5384334"/>
            <a:ext cx="2043745" cy="1200329"/>
          </a:xfrm>
          <a:prstGeom prst="rect">
            <a:avLst/>
          </a:prstGeom>
          <a:noFill/>
        </p:spPr>
        <p:txBody>
          <a:bodyPr wrap="square" rtlCol="0">
            <a:spAutoFit/>
          </a:bodyPr>
          <a:lstStyle/>
          <a:p>
            <a:r>
              <a:rPr lang="de-DE" sz="900" dirty="0"/>
              <a:t>1       Cutting </a:t>
            </a:r>
            <a:r>
              <a:rPr lang="de-DE" sz="900" dirty="0" err="1"/>
              <a:t>cable</a:t>
            </a:r>
            <a:endParaRPr lang="de-DE" sz="900" dirty="0"/>
          </a:p>
          <a:p>
            <a:r>
              <a:rPr lang="de-DE" sz="900" dirty="0"/>
              <a:t>2       </a:t>
            </a:r>
            <a:r>
              <a:rPr lang="de-DE" sz="900" dirty="0" err="1"/>
              <a:t>Removing</a:t>
            </a:r>
            <a:r>
              <a:rPr lang="de-DE" sz="900" dirty="0"/>
              <a:t> </a:t>
            </a:r>
            <a:r>
              <a:rPr lang="de-DE" sz="900" dirty="0" err="1"/>
              <a:t>Isolationpart</a:t>
            </a:r>
            <a:r>
              <a:rPr lang="de-DE" sz="900" dirty="0"/>
              <a:t> Terminal 1</a:t>
            </a:r>
          </a:p>
          <a:p>
            <a:r>
              <a:rPr lang="de-DE" sz="900" dirty="0"/>
              <a:t>3       Free Station </a:t>
            </a:r>
          </a:p>
          <a:p>
            <a:r>
              <a:rPr lang="de-DE" sz="900" dirty="0"/>
              <a:t>4       </a:t>
            </a:r>
            <a:r>
              <a:rPr lang="de-DE" sz="900" dirty="0" err="1"/>
              <a:t>Feeding</a:t>
            </a:r>
            <a:r>
              <a:rPr lang="de-DE" sz="900" dirty="0"/>
              <a:t> Terminal 2 and </a:t>
            </a:r>
            <a:r>
              <a:rPr lang="de-DE" sz="900" dirty="0" err="1"/>
              <a:t>Crimping</a:t>
            </a:r>
            <a:r>
              <a:rPr lang="de-DE" sz="900" dirty="0"/>
              <a:t> 1</a:t>
            </a:r>
          </a:p>
          <a:p>
            <a:r>
              <a:rPr lang="de-DE" sz="900" dirty="0"/>
              <a:t>5       Free Station</a:t>
            </a:r>
          </a:p>
          <a:p>
            <a:r>
              <a:rPr lang="de-DE" sz="900" dirty="0"/>
              <a:t>6       Bending Terminal 1</a:t>
            </a:r>
          </a:p>
          <a:p>
            <a:pPr marL="228600" indent="-228600">
              <a:buAutoNum type="arabicPlain" startAt="7"/>
            </a:pPr>
            <a:r>
              <a:rPr lang="de-DE" sz="900" dirty="0" err="1"/>
              <a:t>Tinning</a:t>
            </a:r>
            <a:r>
              <a:rPr lang="de-DE" sz="900" dirty="0"/>
              <a:t> 1 Terminal 1</a:t>
            </a:r>
          </a:p>
          <a:p>
            <a:pPr marL="228600" indent="-228600">
              <a:buFontTx/>
              <a:buAutoNum type="arabicPlain" startAt="7"/>
            </a:pPr>
            <a:r>
              <a:rPr lang="de-DE" sz="900" dirty="0"/>
              <a:t>Optical </a:t>
            </a:r>
            <a:r>
              <a:rPr lang="de-DE" sz="900" dirty="0" err="1"/>
              <a:t>Inspection</a:t>
            </a:r>
            <a:r>
              <a:rPr lang="de-DE" sz="900" dirty="0"/>
              <a:t> Terminal 1</a:t>
            </a:r>
          </a:p>
        </p:txBody>
      </p:sp>
      <p:sp>
        <p:nvSpPr>
          <p:cNvPr id="397" name="Textfeld 396">
            <a:extLst>
              <a:ext uri="{FF2B5EF4-FFF2-40B4-BE49-F238E27FC236}">
                <a16:creationId xmlns:a16="http://schemas.microsoft.com/office/drawing/2014/main" id="{E6282995-C6CF-70A1-0023-FEAFCC958BC4}"/>
              </a:ext>
            </a:extLst>
          </p:cNvPr>
          <p:cNvSpPr txBox="1"/>
          <p:nvPr/>
        </p:nvSpPr>
        <p:spPr>
          <a:xfrm>
            <a:off x="8789031" y="5375573"/>
            <a:ext cx="1926764" cy="784830"/>
          </a:xfrm>
          <a:prstGeom prst="rect">
            <a:avLst/>
          </a:prstGeom>
          <a:noFill/>
        </p:spPr>
        <p:txBody>
          <a:bodyPr wrap="square" rtlCol="0">
            <a:spAutoFit/>
          </a:bodyPr>
          <a:lstStyle/>
          <a:p>
            <a:r>
              <a:rPr lang="de-DE" sz="900" dirty="0"/>
              <a:t>16     Bending Terminal 2</a:t>
            </a:r>
          </a:p>
          <a:p>
            <a:r>
              <a:rPr lang="de-DE" sz="900" dirty="0"/>
              <a:t>17     </a:t>
            </a:r>
            <a:r>
              <a:rPr lang="de-DE" sz="900" dirty="0" err="1"/>
              <a:t>Tinning</a:t>
            </a:r>
            <a:r>
              <a:rPr lang="de-DE" sz="900" dirty="0"/>
              <a:t> 1 Terminal 2</a:t>
            </a:r>
          </a:p>
          <a:p>
            <a:r>
              <a:rPr lang="de-DE" sz="900" dirty="0"/>
              <a:t>18     Optical </a:t>
            </a:r>
            <a:r>
              <a:rPr lang="de-DE" sz="900" dirty="0" err="1"/>
              <a:t>Inspection</a:t>
            </a:r>
            <a:r>
              <a:rPr lang="de-DE" sz="900" dirty="0"/>
              <a:t> Terminal 2</a:t>
            </a:r>
          </a:p>
          <a:p>
            <a:r>
              <a:rPr lang="de-DE" sz="900" dirty="0"/>
              <a:t>19     </a:t>
            </a:r>
            <a:r>
              <a:rPr lang="de-DE" sz="900" dirty="0" err="1"/>
              <a:t>Labeling</a:t>
            </a:r>
            <a:r>
              <a:rPr lang="de-DE" sz="900" dirty="0"/>
              <a:t> (Option)</a:t>
            </a:r>
          </a:p>
          <a:p>
            <a:r>
              <a:rPr lang="de-DE" sz="900" dirty="0"/>
              <a:t>20     Output Cable</a:t>
            </a:r>
          </a:p>
        </p:txBody>
      </p:sp>
      <p:sp>
        <p:nvSpPr>
          <p:cNvPr id="398" name="Textfeld 397">
            <a:extLst>
              <a:ext uri="{FF2B5EF4-FFF2-40B4-BE49-F238E27FC236}">
                <a16:creationId xmlns:a16="http://schemas.microsoft.com/office/drawing/2014/main" id="{8876DD53-E338-E606-E655-CD9D01B91F2A}"/>
              </a:ext>
            </a:extLst>
          </p:cNvPr>
          <p:cNvSpPr txBox="1"/>
          <p:nvPr/>
        </p:nvSpPr>
        <p:spPr>
          <a:xfrm>
            <a:off x="6546163" y="5380236"/>
            <a:ext cx="2052078" cy="1061829"/>
          </a:xfrm>
          <a:prstGeom prst="rect">
            <a:avLst/>
          </a:prstGeom>
          <a:noFill/>
        </p:spPr>
        <p:txBody>
          <a:bodyPr wrap="square" rtlCol="0">
            <a:spAutoFit/>
          </a:bodyPr>
          <a:lstStyle>
            <a:defPPr>
              <a:defRPr lang="de-DE"/>
            </a:defPPr>
            <a:lvl1pPr>
              <a:defRPr sz="900"/>
            </a:lvl1pPr>
          </a:lstStyle>
          <a:p>
            <a:r>
              <a:rPr lang="de-DE" dirty="0"/>
              <a:t>9       </a:t>
            </a:r>
            <a:r>
              <a:rPr lang="de-DE" dirty="0" err="1"/>
              <a:t>Turning</a:t>
            </a:r>
            <a:r>
              <a:rPr lang="de-DE" dirty="0"/>
              <a:t> </a:t>
            </a:r>
            <a:r>
              <a:rPr lang="de-DE" dirty="0" err="1"/>
              <a:t>station</a:t>
            </a:r>
            <a:r>
              <a:rPr lang="de-DE" dirty="0"/>
              <a:t> Terminal 1 </a:t>
            </a:r>
            <a:r>
              <a:rPr lang="de-DE" dirty="0" err="1"/>
              <a:t>to</a:t>
            </a:r>
            <a:r>
              <a:rPr lang="de-DE" dirty="0"/>
              <a:t> 2</a:t>
            </a:r>
          </a:p>
          <a:p>
            <a:r>
              <a:rPr lang="de-DE" dirty="0"/>
              <a:t>10     </a:t>
            </a:r>
            <a:r>
              <a:rPr lang="de-DE" dirty="0" err="1"/>
              <a:t>Turning</a:t>
            </a:r>
            <a:r>
              <a:rPr lang="de-DE" dirty="0"/>
              <a:t> Position Terminal 2    3-6-9</a:t>
            </a:r>
          </a:p>
          <a:p>
            <a:pPr marL="228600" indent="-228600">
              <a:buAutoNum type="arabicPlain" startAt="11"/>
            </a:pPr>
            <a:r>
              <a:rPr lang="de-DE" dirty="0"/>
              <a:t>Insert </a:t>
            </a:r>
            <a:r>
              <a:rPr lang="de-DE" dirty="0" err="1"/>
              <a:t>Shrinksleeve</a:t>
            </a:r>
            <a:r>
              <a:rPr lang="de-DE" dirty="0"/>
              <a:t> (Option)</a:t>
            </a:r>
          </a:p>
          <a:p>
            <a:r>
              <a:rPr lang="de-DE" dirty="0"/>
              <a:t>12     </a:t>
            </a:r>
            <a:r>
              <a:rPr lang="de-DE" dirty="0" err="1"/>
              <a:t>Removing</a:t>
            </a:r>
            <a:r>
              <a:rPr lang="de-DE" dirty="0"/>
              <a:t> </a:t>
            </a:r>
            <a:r>
              <a:rPr lang="de-DE" dirty="0" err="1"/>
              <a:t>Isolationpart</a:t>
            </a:r>
            <a:r>
              <a:rPr lang="de-DE" dirty="0"/>
              <a:t> Terminal 2</a:t>
            </a:r>
          </a:p>
          <a:p>
            <a:r>
              <a:rPr lang="de-DE" dirty="0"/>
              <a:t>13     Free Station</a:t>
            </a:r>
          </a:p>
          <a:p>
            <a:r>
              <a:rPr lang="de-DE" sz="900" dirty="0"/>
              <a:t>14     </a:t>
            </a:r>
            <a:r>
              <a:rPr lang="de-DE" sz="900" dirty="0" err="1"/>
              <a:t>Feeding</a:t>
            </a:r>
            <a:r>
              <a:rPr lang="de-DE" sz="900" dirty="0"/>
              <a:t> Terminal 2 and </a:t>
            </a:r>
            <a:r>
              <a:rPr lang="de-DE" sz="900" dirty="0" err="1"/>
              <a:t>Crimping</a:t>
            </a:r>
            <a:r>
              <a:rPr lang="de-DE" sz="900" dirty="0"/>
              <a:t> 2</a:t>
            </a:r>
          </a:p>
          <a:p>
            <a:r>
              <a:rPr lang="de-DE" dirty="0"/>
              <a:t>15     Free Station</a:t>
            </a:r>
            <a:endParaRPr lang="de-DE" sz="900" dirty="0"/>
          </a:p>
        </p:txBody>
      </p:sp>
      <p:sp>
        <p:nvSpPr>
          <p:cNvPr id="401" name="Rechteck 400">
            <a:extLst>
              <a:ext uri="{FF2B5EF4-FFF2-40B4-BE49-F238E27FC236}">
                <a16:creationId xmlns:a16="http://schemas.microsoft.com/office/drawing/2014/main" id="{EB91AAFD-3F79-620C-0A94-BB6CF68ED630}"/>
              </a:ext>
            </a:extLst>
          </p:cNvPr>
          <p:cNvSpPr/>
          <p:nvPr/>
        </p:nvSpPr>
        <p:spPr>
          <a:xfrm>
            <a:off x="7662611" y="1800077"/>
            <a:ext cx="633413" cy="54031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de-DE" sz="800" dirty="0"/>
              <a:t>Cooling Generator</a:t>
            </a:r>
          </a:p>
        </p:txBody>
      </p:sp>
      <p:sp>
        <p:nvSpPr>
          <p:cNvPr id="406" name="Bogen 405">
            <a:extLst>
              <a:ext uri="{FF2B5EF4-FFF2-40B4-BE49-F238E27FC236}">
                <a16:creationId xmlns:a16="http://schemas.microsoft.com/office/drawing/2014/main" id="{0A9F292A-FBC0-A417-C2F2-AE33EAD228AA}"/>
              </a:ext>
            </a:extLst>
          </p:cNvPr>
          <p:cNvSpPr/>
          <p:nvPr/>
        </p:nvSpPr>
        <p:spPr>
          <a:xfrm rot="5400000">
            <a:off x="2230151" y="3548349"/>
            <a:ext cx="1860101" cy="2294504"/>
          </a:xfrm>
          <a:prstGeom prst="arc">
            <a:avLst>
              <a:gd name="adj1" fmla="val 16200000"/>
              <a:gd name="adj2" fmla="val 21545760"/>
            </a:avLst>
          </a:prstGeom>
          <a:ln>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cxnSp>
        <p:nvCxnSpPr>
          <p:cNvPr id="408" name="Gerader Verbinder 407">
            <a:extLst>
              <a:ext uri="{FF2B5EF4-FFF2-40B4-BE49-F238E27FC236}">
                <a16:creationId xmlns:a16="http://schemas.microsoft.com/office/drawing/2014/main" id="{16ED4264-716A-ED40-37B9-0912C17FA336}"/>
              </a:ext>
            </a:extLst>
          </p:cNvPr>
          <p:cNvCxnSpPr/>
          <p:nvPr/>
        </p:nvCxnSpPr>
        <p:spPr>
          <a:xfrm>
            <a:off x="3188873" y="4696570"/>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0" name="Gerade Verbindung mit Pfeil 409">
            <a:extLst>
              <a:ext uri="{FF2B5EF4-FFF2-40B4-BE49-F238E27FC236}">
                <a16:creationId xmlns:a16="http://schemas.microsoft.com/office/drawing/2014/main" id="{F4040FF7-D6E8-4263-9AA2-8A2D07AC01EB}"/>
              </a:ext>
            </a:extLst>
          </p:cNvPr>
          <p:cNvCxnSpPr>
            <a:cxnSpLocks/>
          </p:cNvCxnSpPr>
          <p:nvPr/>
        </p:nvCxnSpPr>
        <p:spPr>
          <a:xfrm flipV="1">
            <a:off x="3743583" y="3325203"/>
            <a:ext cx="5414" cy="5508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2" name="Gerader Verbinder 411">
            <a:extLst>
              <a:ext uri="{FF2B5EF4-FFF2-40B4-BE49-F238E27FC236}">
                <a16:creationId xmlns:a16="http://schemas.microsoft.com/office/drawing/2014/main" id="{5402DEC2-9D89-E811-3D0B-EF1052B56D7B}"/>
              </a:ext>
            </a:extLst>
          </p:cNvPr>
          <p:cNvCxnSpPr/>
          <p:nvPr/>
        </p:nvCxnSpPr>
        <p:spPr>
          <a:xfrm>
            <a:off x="3229126" y="3326975"/>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3" name="Gerader Verbinder 412">
            <a:extLst>
              <a:ext uri="{FF2B5EF4-FFF2-40B4-BE49-F238E27FC236}">
                <a16:creationId xmlns:a16="http://schemas.microsoft.com/office/drawing/2014/main" id="{E37CEAF5-8806-55B9-E780-5755C365DB8C}"/>
              </a:ext>
            </a:extLst>
          </p:cNvPr>
          <p:cNvCxnSpPr/>
          <p:nvPr/>
        </p:nvCxnSpPr>
        <p:spPr>
          <a:xfrm>
            <a:off x="4237726" y="3334996"/>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15" name="Textfeld 414">
            <a:extLst>
              <a:ext uri="{FF2B5EF4-FFF2-40B4-BE49-F238E27FC236}">
                <a16:creationId xmlns:a16="http://schemas.microsoft.com/office/drawing/2014/main" id="{DFC23C4D-9CB1-B6F8-D780-DD778BAA7CA7}"/>
              </a:ext>
            </a:extLst>
          </p:cNvPr>
          <p:cNvSpPr txBox="1"/>
          <p:nvPr/>
        </p:nvSpPr>
        <p:spPr>
          <a:xfrm>
            <a:off x="3220867" y="3950468"/>
            <a:ext cx="1050846" cy="415498"/>
          </a:xfrm>
          <a:prstGeom prst="rect">
            <a:avLst/>
          </a:prstGeom>
          <a:noFill/>
        </p:spPr>
        <p:txBody>
          <a:bodyPr wrap="square" rtlCol="0">
            <a:spAutoFit/>
          </a:bodyPr>
          <a:lstStyle/>
          <a:p>
            <a:pPr algn="ctr"/>
            <a:r>
              <a:rPr lang="de-DE" sz="700" dirty="0"/>
              <a:t>Clear Path </a:t>
            </a:r>
            <a:r>
              <a:rPr lang="de-DE" sz="700" dirty="0" err="1"/>
              <a:t>to</a:t>
            </a:r>
            <a:r>
              <a:rPr lang="de-DE" sz="700" dirty="0"/>
              <a:t> </a:t>
            </a:r>
          </a:p>
          <a:p>
            <a:pPr algn="ctr"/>
            <a:r>
              <a:rPr lang="de-DE" sz="700" dirty="0" err="1"/>
              <a:t>Crimping</a:t>
            </a:r>
            <a:r>
              <a:rPr lang="de-DE" sz="700" dirty="0"/>
              <a:t> </a:t>
            </a:r>
            <a:r>
              <a:rPr lang="de-DE" sz="700" dirty="0" err="1"/>
              <a:t>station</a:t>
            </a:r>
            <a:r>
              <a:rPr lang="de-DE" sz="700" dirty="0"/>
              <a:t> </a:t>
            </a:r>
            <a:r>
              <a:rPr lang="de-DE" sz="700" dirty="0" err="1"/>
              <a:t>for</a:t>
            </a:r>
            <a:endParaRPr lang="de-DE" sz="700" dirty="0"/>
          </a:p>
          <a:p>
            <a:pPr algn="ctr"/>
            <a:r>
              <a:rPr lang="de-DE" sz="700" dirty="0" err="1"/>
              <a:t>changing</a:t>
            </a:r>
            <a:r>
              <a:rPr lang="de-DE" sz="700" dirty="0"/>
              <a:t> </a:t>
            </a:r>
            <a:r>
              <a:rPr lang="de-DE" sz="700" dirty="0" err="1"/>
              <a:t>Crimping</a:t>
            </a:r>
            <a:r>
              <a:rPr lang="de-DE" sz="700" dirty="0"/>
              <a:t> Die</a:t>
            </a:r>
          </a:p>
        </p:txBody>
      </p:sp>
      <p:cxnSp>
        <p:nvCxnSpPr>
          <p:cNvPr id="416" name="Gerade Verbindung mit Pfeil 415">
            <a:extLst>
              <a:ext uri="{FF2B5EF4-FFF2-40B4-BE49-F238E27FC236}">
                <a16:creationId xmlns:a16="http://schemas.microsoft.com/office/drawing/2014/main" id="{724ED228-6F2E-6C09-576C-C7FB49C272DA}"/>
              </a:ext>
            </a:extLst>
          </p:cNvPr>
          <p:cNvCxnSpPr>
            <a:cxnSpLocks/>
          </p:cNvCxnSpPr>
          <p:nvPr/>
        </p:nvCxnSpPr>
        <p:spPr>
          <a:xfrm>
            <a:off x="6879619" y="1331321"/>
            <a:ext cx="0" cy="7173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7" name="Gerader Verbinder 416">
            <a:extLst>
              <a:ext uri="{FF2B5EF4-FFF2-40B4-BE49-F238E27FC236}">
                <a16:creationId xmlns:a16="http://schemas.microsoft.com/office/drawing/2014/main" id="{1E1CBEB1-3D20-B2D4-7382-A20334A0F79F}"/>
              </a:ext>
            </a:extLst>
          </p:cNvPr>
          <p:cNvCxnSpPr/>
          <p:nvPr/>
        </p:nvCxnSpPr>
        <p:spPr>
          <a:xfrm>
            <a:off x="6383811" y="1453066"/>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418" name="Gerader Verbinder 417">
            <a:extLst>
              <a:ext uri="{FF2B5EF4-FFF2-40B4-BE49-F238E27FC236}">
                <a16:creationId xmlns:a16="http://schemas.microsoft.com/office/drawing/2014/main" id="{6E89A8F0-1C1A-FE80-DEDA-3A52873A0B4F}"/>
              </a:ext>
            </a:extLst>
          </p:cNvPr>
          <p:cNvCxnSpPr/>
          <p:nvPr/>
        </p:nvCxnSpPr>
        <p:spPr>
          <a:xfrm>
            <a:off x="7392411" y="1461087"/>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19" name="Textfeld 418">
            <a:extLst>
              <a:ext uri="{FF2B5EF4-FFF2-40B4-BE49-F238E27FC236}">
                <a16:creationId xmlns:a16="http://schemas.microsoft.com/office/drawing/2014/main" id="{00A1C9A8-34B6-E927-93FA-D1B408D90A8A}"/>
              </a:ext>
            </a:extLst>
          </p:cNvPr>
          <p:cNvSpPr txBox="1"/>
          <p:nvPr/>
        </p:nvSpPr>
        <p:spPr>
          <a:xfrm>
            <a:off x="6375552" y="2076559"/>
            <a:ext cx="1050846" cy="415498"/>
          </a:xfrm>
          <a:prstGeom prst="rect">
            <a:avLst/>
          </a:prstGeom>
          <a:noFill/>
        </p:spPr>
        <p:txBody>
          <a:bodyPr wrap="square" rtlCol="0">
            <a:spAutoFit/>
          </a:bodyPr>
          <a:lstStyle/>
          <a:p>
            <a:pPr algn="ctr"/>
            <a:r>
              <a:rPr lang="de-DE" sz="700" dirty="0"/>
              <a:t>Clear Path </a:t>
            </a:r>
            <a:r>
              <a:rPr lang="de-DE" sz="700" dirty="0" err="1"/>
              <a:t>to</a:t>
            </a:r>
            <a:r>
              <a:rPr lang="de-DE" sz="700" dirty="0"/>
              <a:t> </a:t>
            </a:r>
          </a:p>
          <a:p>
            <a:pPr algn="ctr"/>
            <a:r>
              <a:rPr lang="de-DE" sz="700" dirty="0" err="1"/>
              <a:t>Crimping</a:t>
            </a:r>
            <a:r>
              <a:rPr lang="de-DE" sz="700" dirty="0"/>
              <a:t> </a:t>
            </a:r>
            <a:r>
              <a:rPr lang="de-DE" sz="700" dirty="0" err="1"/>
              <a:t>station</a:t>
            </a:r>
            <a:r>
              <a:rPr lang="de-DE" sz="700" dirty="0"/>
              <a:t> </a:t>
            </a:r>
            <a:r>
              <a:rPr lang="de-DE" sz="700" dirty="0" err="1"/>
              <a:t>for</a:t>
            </a:r>
            <a:endParaRPr lang="de-DE" sz="700" dirty="0"/>
          </a:p>
          <a:p>
            <a:pPr algn="ctr"/>
            <a:r>
              <a:rPr lang="de-DE" sz="700" dirty="0" err="1"/>
              <a:t>changing</a:t>
            </a:r>
            <a:r>
              <a:rPr lang="de-DE" sz="700" dirty="0"/>
              <a:t> </a:t>
            </a:r>
            <a:r>
              <a:rPr lang="de-DE" sz="700" dirty="0" err="1"/>
              <a:t>Crimping</a:t>
            </a:r>
            <a:r>
              <a:rPr lang="de-DE" sz="700" dirty="0"/>
              <a:t> Die</a:t>
            </a:r>
          </a:p>
        </p:txBody>
      </p:sp>
      <p:cxnSp>
        <p:nvCxnSpPr>
          <p:cNvPr id="421" name="Gerader Verbinder 420">
            <a:extLst>
              <a:ext uri="{FF2B5EF4-FFF2-40B4-BE49-F238E27FC236}">
                <a16:creationId xmlns:a16="http://schemas.microsoft.com/office/drawing/2014/main" id="{104002DC-1CBE-AEE6-291A-7B4B5225CC4D}"/>
              </a:ext>
            </a:extLst>
          </p:cNvPr>
          <p:cNvCxnSpPr/>
          <p:nvPr/>
        </p:nvCxnSpPr>
        <p:spPr>
          <a:xfrm>
            <a:off x="7459348" y="79385"/>
            <a:ext cx="0" cy="94223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422" name="Bogen 421">
            <a:extLst>
              <a:ext uri="{FF2B5EF4-FFF2-40B4-BE49-F238E27FC236}">
                <a16:creationId xmlns:a16="http://schemas.microsoft.com/office/drawing/2014/main" id="{3396D9B2-80F9-1039-EB46-76537B3CE155}"/>
              </a:ext>
            </a:extLst>
          </p:cNvPr>
          <p:cNvSpPr/>
          <p:nvPr/>
        </p:nvSpPr>
        <p:spPr>
          <a:xfrm rot="16200000">
            <a:off x="6523794" y="-114012"/>
            <a:ext cx="1860101" cy="2294504"/>
          </a:xfrm>
          <a:prstGeom prst="arc">
            <a:avLst>
              <a:gd name="adj1" fmla="val 16200000"/>
              <a:gd name="adj2" fmla="val 21545760"/>
            </a:avLst>
          </a:prstGeom>
          <a:ln>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grpSp>
        <p:nvGrpSpPr>
          <p:cNvPr id="430" name="Gruppieren 429">
            <a:extLst>
              <a:ext uri="{FF2B5EF4-FFF2-40B4-BE49-F238E27FC236}">
                <a16:creationId xmlns:a16="http://schemas.microsoft.com/office/drawing/2014/main" id="{50AE0B4C-6CD9-618B-96A5-F1DA86D2691C}"/>
              </a:ext>
            </a:extLst>
          </p:cNvPr>
          <p:cNvGrpSpPr/>
          <p:nvPr/>
        </p:nvGrpSpPr>
        <p:grpSpPr>
          <a:xfrm>
            <a:off x="2830690" y="2999802"/>
            <a:ext cx="69580" cy="193454"/>
            <a:chOff x="2849757" y="2999802"/>
            <a:chExt cx="69580" cy="193454"/>
          </a:xfrm>
        </p:grpSpPr>
        <p:sp>
          <p:nvSpPr>
            <p:cNvPr id="424" name="Rechteck 423">
              <a:extLst>
                <a:ext uri="{FF2B5EF4-FFF2-40B4-BE49-F238E27FC236}">
                  <a16:creationId xmlns:a16="http://schemas.microsoft.com/office/drawing/2014/main" id="{8B429774-8B94-7203-F945-0830C0E6A020}"/>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26" name="Gerade Verbindung mit Pfeil 425">
              <a:extLst>
                <a:ext uri="{FF2B5EF4-FFF2-40B4-BE49-F238E27FC236}">
                  <a16:creationId xmlns:a16="http://schemas.microsoft.com/office/drawing/2014/main" id="{6FC554A2-E699-50C8-9C0B-2536947AE277}"/>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431" name="Gruppieren 430">
            <a:extLst>
              <a:ext uri="{FF2B5EF4-FFF2-40B4-BE49-F238E27FC236}">
                <a16:creationId xmlns:a16="http://schemas.microsoft.com/office/drawing/2014/main" id="{7C4E101E-6D3F-B73F-FCD2-132B17BBB0E5}"/>
              </a:ext>
            </a:extLst>
          </p:cNvPr>
          <p:cNvGrpSpPr/>
          <p:nvPr/>
        </p:nvGrpSpPr>
        <p:grpSpPr>
          <a:xfrm>
            <a:off x="3482944" y="2991323"/>
            <a:ext cx="69580" cy="193454"/>
            <a:chOff x="2849757" y="2999802"/>
            <a:chExt cx="69580" cy="193454"/>
          </a:xfrm>
        </p:grpSpPr>
        <p:sp>
          <p:nvSpPr>
            <p:cNvPr id="432" name="Rechteck 431">
              <a:extLst>
                <a:ext uri="{FF2B5EF4-FFF2-40B4-BE49-F238E27FC236}">
                  <a16:creationId xmlns:a16="http://schemas.microsoft.com/office/drawing/2014/main" id="{89CCD666-35A8-8250-0447-BBE2F46E6C98}"/>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33" name="Gerade Verbindung mit Pfeil 432">
              <a:extLst>
                <a:ext uri="{FF2B5EF4-FFF2-40B4-BE49-F238E27FC236}">
                  <a16:creationId xmlns:a16="http://schemas.microsoft.com/office/drawing/2014/main" id="{99F59633-1DF9-3730-851A-61003ADDBB26}"/>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41" name="Ellipse 440">
            <a:extLst>
              <a:ext uri="{FF2B5EF4-FFF2-40B4-BE49-F238E27FC236}">
                <a16:creationId xmlns:a16="http://schemas.microsoft.com/office/drawing/2014/main" id="{31B2067F-AB97-F4CE-49F4-78334ACCBE09}"/>
              </a:ext>
            </a:extLst>
          </p:cNvPr>
          <p:cNvSpPr/>
          <p:nvPr/>
        </p:nvSpPr>
        <p:spPr>
          <a:xfrm>
            <a:off x="5187013" y="3005749"/>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42" name="Ellipse 441">
            <a:extLst>
              <a:ext uri="{FF2B5EF4-FFF2-40B4-BE49-F238E27FC236}">
                <a16:creationId xmlns:a16="http://schemas.microsoft.com/office/drawing/2014/main" id="{E2AD34D2-176A-FFA8-4978-C218270EC79F}"/>
              </a:ext>
            </a:extLst>
          </p:cNvPr>
          <p:cNvSpPr/>
          <p:nvPr/>
        </p:nvSpPr>
        <p:spPr>
          <a:xfrm>
            <a:off x="5519116" y="3009401"/>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grpSp>
        <p:nvGrpSpPr>
          <p:cNvPr id="446" name="Gruppieren 445">
            <a:extLst>
              <a:ext uri="{FF2B5EF4-FFF2-40B4-BE49-F238E27FC236}">
                <a16:creationId xmlns:a16="http://schemas.microsoft.com/office/drawing/2014/main" id="{2A1647AC-6E31-0BCE-4496-AC0585503FA5}"/>
              </a:ext>
            </a:extLst>
          </p:cNvPr>
          <p:cNvGrpSpPr/>
          <p:nvPr/>
        </p:nvGrpSpPr>
        <p:grpSpPr>
          <a:xfrm rot="10800000">
            <a:off x="6859526" y="2608161"/>
            <a:ext cx="69580" cy="193454"/>
            <a:chOff x="2849757" y="2999802"/>
            <a:chExt cx="69580" cy="193454"/>
          </a:xfrm>
        </p:grpSpPr>
        <p:sp>
          <p:nvSpPr>
            <p:cNvPr id="447" name="Rechteck 446">
              <a:extLst>
                <a:ext uri="{FF2B5EF4-FFF2-40B4-BE49-F238E27FC236}">
                  <a16:creationId xmlns:a16="http://schemas.microsoft.com/office/drawing/2014/main" id="{9700959E-E259-6715-FAB9-614A97605CEC}"/>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48" name="Gerade Verbindung mit Pfeil 447">
              <a:extLst>
                <a:ext uri="{FF2B5EF4-FFF2-40B4-BE49-F238E27FC236}">
                  <a16:creationId xmlns:a16="http://schemas.microsoft.com/office/drawing/2014/main" id="{8FDCD703-6110-D182-46D7-F56DE32B4735}"/>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sp>
        <p:nvSpPr>
          <p:cNvPr id="460" name="Rechteck 459">
            <a:extLst>
              <a:ext uri="{FF2B5EF4-FFF2-40B4-BE49-F238E27FC236}">
                <a16:creationId xmlns:a16="http://schemas.microsoft.com/office/drawing/2014/main" id="{5CB04050-69CD-84D9-4A18-1FC1ECBB6BFE}"/>
              </a:ext>
            </a:extLst>
          </p:cNvPr>
          <p:cNvSpPr/>
          <p:nvPr/>
        </p:nvSpPr>
        <p:spPr>
          <a:xfrm>
            <a:off x="4316544" y="4041314"/>
            <a:ext cx="680855" cy="528120"/>
          </a:xfrm>
          <a:prstGeom prst="rect">
            <a:avLst/>
          </a:prstGeom>
        </p:spPr>
        <p:style>
          <a:lnRef idx="1">
            <a:schemeClr val="dk1"/>
          </a:lnRef>
          <a:fillRef idx="2">
            <a:schemeClr val="dk1"/>
          </a:fillRef>
          <a:effectRef idx="1">
            <a:schemeClr val="dk1"/>
          </a:effectRef>
          <a:fontRef idx="minor">
            <a:schemeClr val="dk1"/>
          </a:fontRef>
        </p:style>
        <p:txBody>
          <a:bodyPr wrap="none" rtlCol="0" anchor="ctr"/>
          <a:lstStyle/>
          <a:p>
            <a:pPr algn="ctr"/>
            <a:r>
              <a:rPr lang="de-DE" sz="800" dirty="0" err="1"/>
              <a:t>Suction</a:t>
            </a:r>
            <a:endParaRPr lang="de-DE" sz="800" dirty="0"/>
          </a:p>
          <a:p>
            <a:pPr algn="ctr"/>
            <a:r>
              <a:rPr lang="de-DE" sz="800" dirty="0"/>
              <a:t> </a:t>
            </a:r>
            <a:r>
              <a:rPr lang="de-DE" sz="800" dirty="0" err="1"/>
              <a:t>unit</a:t>
            </a:r>
            <a:r>
              <a:rPr lang="de-DE" sz="800" dirty="0"/>
              <a:t> </a:t>
            </a:r>
            <a:r>
              <a:rPr lang="de-DE" sz="800" dirty="0" err="1"/>
              <a:t>for</a:t>
            </a:r>
            <a:r>
              <a:rPr lang="de-DE" sz="800" dirty="0"/>
              <a:t> </a:t>
            </a:r>
            <a:r>
              <a:rPr lang="de-DE" sz="800" dirty="0" err="1"/>
              <a:t>both</a:t>
            </a:r>
            <a:endParaRPr lang="de-DE" sz="800" dirty="0"/>
          </a:p>
          <a:p>
            <a:pPr algn="ctr"/>
            <a:r>
              <a:rPr lang="de-DE" sz="800" dirty="0" err="1"/>
              <a:t>Tinning</a:t>
            </a:r>
            <a:r>
              <a:rPr lang="de-DE" sz="800" dirty="0"/>
              <a:t> </a:t>
            </a:r>
            <a:r>
              <a:rPr lang="de-DE" sz="800" dirty="0" err="1"/>
              <a:t>station</a:t>
            </a:r>
            <a:endParaRPr lang="de-DE" sz="800" dirty="0"/>
          </a:p>
        </p:txBody>
      </p:sp>
      <p:sp>
        <p:nvSpPr>
          <p:cNvPr id="402" name="Rechteck 401">
            <a:extLst>
              <a:ext uri="{FF2B5EF4-FFF2-40B4-BE49-F238E27FC236}">
                <a16:creationId xmlns:a16="http://schemas.microsoft.com/office/drawing/2014/main" id="{A65D4B45-8A83-9CE7-4A5C-EED89F649B14}"/>
              </a:ext>
            </a:extLst>
          </p:cNvPr>
          <p:cNvSpPr/>
          <p:nvPr/>
        </p:nvSpPr>
        <p:spPr>
          <a:xfrm>
            <a:off x="7699135" y="1358295"/>
            <a:ext cx="494459" cy="390172"/>
          </a:xfrm>
          <a:prstGeom prst="rect">
            <a:avLst/>
          </a:prstGeom>
        </p:spPr>
        <p:style>
          <a:lnRef idx="1">
            <a:schemeClr val="dk1"/>
          </a:lnRef>
          <a:fillRef idx="3">
            <a:schemeClr val="dk1"/>
          </a:fillRef>
          <a:effectRef idx="2">
            <a:schemeClr val="dk1"/>
          </a:effectRef>
          <a:fontRef idx="minor">
            <a:schemeClr val="lt1"/>
          </a:fontRef>
        </p:style>
        <p:txBody>
          <a:bodyPr wrap="none" rtlCol="0" anchor="ctr"/>
          <a:lstStyle/>
          <a:p>
            <a:pPr algn="ctr"/>
            <a:r>
              <a:rPr lang="de-DE" sz="700" dirty="0" err="1"/>
              <a:t>Induction</a:t>
            </a:r>
            <a:r>
              <a:rPr lang="de-DE" sz="700" dirty="0"/>
              <a:t> </a:t>
            </a:r>
          </a:p>
          <a:p>
            <a:pPr algn="ctr"/>
            <a:r>
              <a:rPr lang="de-DE" sz="700" dirty="0"/>
              <a:t>Generator</a:t>
            </a:r>
          </a:p>
        </p:txBody>
      </p:sp>
      <p:sp>
        <p:nvSpPr>
          <p:cNvPr id="468" name="Rechteck 467">
            <a:extLst>
              <a:ext uri="{FF2B5EF4-FFF2-40B4-BE49-F238E27FC236}">
                <a16:creationId xmlns:a16="http://schemas.microsoft.com/office/drawing/2014/main" id="{D28EB021-0B93-5EB5-DBC4-BB92C5E82479}"/>
              </a:ext>
            </a:extLst>
          </p:cNvPr>
          <p:cNvSpPr/>
          <p:nvPr/>
        </p:nvSpPr>
        <p:spPr>
          <a:xfrm rot="5400000">
            <a:off x="1844236" y="3193316"/>
            <a:ext cx="934369" cy="112442"/>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69" name="Rechteck 468">
            <a:extLst>
              <a:ext uri="{FF2B5EF4-FFF2-40B4-BE49-F238E27FC236}">
                <a16:creationId xmlns:a16="http://schemas.microsoft.com/office/drawing/2014/main" id="{8ABC2AEC-F862-746C-F680-631D8F2286DB}"/>
              </a:ext>
            </a:extLst>
          </p:cNvPr>
          <p:cNvSpPr/>
          <p:nvPr/>
        </p:nvSpPr>
        <p:spPr>
          <a:xfrm>
            <a:off x="2515159" y="3276299"/>
            <a:ext cx="167360" cy="16152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0" name="Rechteck 469">
            <a:extLst>
              <a:ext uri="{FF2B5EF4-FFF2-40B4-BE49-F238E27FC236}">
                <a16:creationId xmlns:a16="http://schemas.microsoft.com/office/drawing/2014/main" id="{B9A72DFD-2C21-0422-F9F9-76EB0BCC0E49}"/>
              </a:ext>
            </a:extLst>
          </p:cNvPr>
          <p:cNvSpPr/>
          <p:nvPr/>
        </p:nvSpPr>
        <p:spPr>
          <a:xfrm rot="10800000">
            <a:off x="2178883" y="3313408"/>
            <a:ext cx="467198" cy="60415"/>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1" name="Rechteck 470">
            <a:extLst>
              <a:ext uri="{FF2B5EF4-FFF2-40B4-BE49-F238E27FC236}">
                <a16:creationId xmlns:a16="http://schemas.microsoft.com/office/drawing/2014/main" id="{19F564EB-31F1-1262-195F-56E679A0D2CE}"/>
              </a:ext>
            </a:extLst>
          </p:cNvPr>
          <p:cNvSpPr/>
          <p:nvPr/>
        </p:nvSpPr>
        <p:spPr>
          <a:xfrm rot="5400000">
            <a:off x="2065242" y="3840866"/>
            <a:ext cx="1442046" cy="101281"/>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72" name="Titel 1">
            <a:extLst>
              <a:ext uri="{FF2B5EF4-FFF2-40B4-BE49-F238E27FC236}">
                <a16:creationId xmlns:a16="http://schemas.microsoft.com/office/drawing/2014/main" id="{34BCB49A-80E4-E2F7-4717-A2CA96680C92}"/>
              </a:ext>
            </a:extLst>
          </p:cNvPr>
          <p:cNvSpPr txBox="1">
            <a:spLocks/>
          </p:cNvSpPr>
          <p:nvPr/>
        </p:nvSpPr>
        <p:spPr>
          <a:xfrm>
            <a:off x="4047226" y="130021"/>
            <a:ext cx="2771963"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de-DE" sz="1100" b="1" dirty="0">
                <a:latin typeface="+mj-lt"/>
              </a:rPr>
              <a:t>Layout / Concept</a:t>
            </a:r>
          </a:p>
        </p:txBody>
      </p:sp>
      <p:sp>
        <p:nvSpPr>
          <p:cNvPr id="30" name="Rechteck 29">
            <a:extLst>
              <a:ext uri="{FF2B5EF4-FFF2-40B4-BE49-F238E27FC236}">
                <a16:creationId xmlns:a16="http://schemas.microsoft.com/office/drawing/2014/main" id="{3EA6BB3C-E15D-90A2-5912-DB89E26717B5}"/>
              </a:ext>
            </a:extLst>
          </p:cNvPr>
          <p:cNvSpPr/>
          <p:nvPr/>
        </p:nvSpPr>
        <p:spPr>
          <a:xfrm rot="16200000" flipV="1">
            <a:off x="58341" y="2837652"/>
            <a:ext cx="3627668" cy="50291"/>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462" name="Rechteck 461">
            <a:extLst>
              <a:ext uri="{FF2B5EF4-FFF2-40B4-BE49-F238E27FC236}">
                <a16:creationId xmlns:a16="http://schemas.microsoft.com/office/drawing/2014/main" id="{010CB12E-E6C9-2D3F-F0C4-91916CC41BC1}"/>
              </a:ext>
            </a:extLst>
          </p:cNvPr>
          <p:cNvSpPr/>
          <p:nvPr/>
        </p:nvSpPr>
        <p:spPr>
          <a:xfrm rot="16200000" flipV="1">
            <a:off x="9056919" y="2840227"/>
            <a:ext cx="3632680" cy="45719"/>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cxnSp>
        <p:nvCxnSpPr>
          <p:cNvPr id="473" name="Gerader Verbinder 472">
            <a:extLst>
              <a:ext uri="{FF2B5EF4-FFF2-40B4-BE49-F238E27FC236}">
                <a16:creationId xmlns:a16="http://schemas.microsoft.com/office/drawing/2014/main" id="{1B5428E0-0428-482C-C80A-ED8C3935CCC2}"/>
              </a:ext>
            </a:extLst>
          </p:cNvPr>
          <p:cNvCxnSpPr>
            <a:cxnSpLocks/>
          </p:cNvCxnSpPr>
          <p:nvPr/>
        </p:nvCxnSpPr>
        <p:spPr>
          <a:xfrm>
            <a:off x="7886332" y="3042994"/>
            <a:ext cx="108279" cy="188312"/>
          </a:xfrm>
          <a:prstGeom prst="line">
            <a:avLst/>
          </a:prstGeom>
        </p:spPr>
        <p:style>
          <a:lnRef idx="2">
            <a:schemeClr val="accent1"/>
          </a:lnRef>
          <a:fillRef idx="0">
            <a:schemeClr val="accent1"/>
          </a:fillRef>
          <a:effectRef idx="1">
            <a:schemeClr val="accent1"/>
          </a:effectRef>
          <a:fontRef idx="minor">
            <a:schemeClr val="tx1"/>
          </a:fontRef>
        </p:style>
      </p:cxnSp>
      <p:cxnSp>
        <p:nvCxnSpPr>
          <p:cNvPr id="475" name="Gerader Verbinder 474">
            <a:extLst>
              <a:ext uri="{FF2B5EF4-FFF2-40B4-BE49-F238E27FC236}">
                <a16:creationId xmlns:a16="http://schemas.microsoft.com/office/drawing/2014/main" id="{6CC62A1E-7EC7-083B-BF2A-B273C146B673}"/>
              </a:ext>
            </a:extLst>
          </p:cNvPr>
          <p:cNvCxnSpPr>
            <a:cxnSpLocks/>
          </p:cNvCxnSpPr>
          <p:nvPr/>
        </p:nvCxnSpPr>
        <p:spPr>
          <a:xfrm flipH="1">
            <a:off x="4537096" y="2581190"/>
            <a:ext cx="156279" cy="18221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5" name="Gerade Verbindung mit Pfeil 464">
            <a:extLst>
              <a:ext uri="{FF2B5EF4-FFF2-40B4-BE49-F238E27FC236}">
                <a16:creationId xmlns:a16="http://schemas.microsoft.com/office/drawing/2014/main" id="{6DBBCA4B-EBB2-27FC-E134-AB271F5BCBAA}"/>
              </a:ext>
            </a:extLst>
          </p:cNvPr>
          <p:cNvCxnSpPr>
            <a:cxnSpLocks/>
          </p:cNvCxnSpPr>
          <p:nvPr/>
        </p:nvCxnSpPr>
        <p:spPr>
          <a:xfrm>
            <a:off x="10752871" y="3344101"/>
            <a:ext cx="0" cy="433326"/>
          </a:xfrm>
          <a:prstGeom prst="straightConnector1">
            <a:avLst/>
          </a:prstGeom>
          <a:ln w="6350">
            <a:headEnd w="sm" len="sm"/>
            <a:tailEnd type="triangle" w="sm" len="sm"/>
          </a:ln>
        </p:spPr>
        <p:style>
          <a:lnRef idx="2">
            <a:schemeClr val="dk1"/>
          </a:lnRef>
          <a:fillRef idx="0">
            <a:schemeClr val="dk1"/>
          </a:fillRef>
          <a:effectRef idx="1">
            <a:schemeClr val="dk1"/>
          </a:effectRef>
          <a:fontRef idx="minor">
            <a:schemeClr val="tx1"/>
          </a:fontRef>
        </p:style>
      </p:cxnSp>
      <p:grpSp>
        <p:nvGrpSpPr>
          <p:cNvPr id="481" name="Gruppieren 480">
            <a:extLst>
              <a:ext uri="{FF2B5EF4-FFF2-40B4-BE49-F238E27FC236}">
                <a16:creationId xmlns:a16="http://schemas.microsoft.com/office/drawing/2014/main" id="{94FC0045-1FF1-8F4F-08AE-BA54ADD890FD}"/>
              </a:ext>
            </a:extLst>
          </p:cNvPr>
          <p:cNvGrpSpPr/>
          <p:nvPr/>
        </p:nvGrpSpPr>
        <p:grpSpPr>
          <a:xfrm rot="9790760" flipH="1">
            <a:off x="9018112" y="2834697"/>
            <a:ext cx="19389" cy="600095"/>
            <a:chOff x="6851814" y="1766023"/>
            <a:chExt cx="78569" cy="2068826"/>
          </a:xfrm>
        </p:grpSpPr>
        <p:sp>
          <p:nvSpPr>
            <p:cNvPr id="482" name="Rechteck 481">
              <a:extLst>
                <a:ext uri="{FF2B5EF4-FFF2-40B4-BE49-F238E27FC236}">
                  <a16:creationId xmlns:a16="http://schemas.microsoft.com/office/drawing/2014/main" id="{BA1F5142-DD9B-A669-DC74-B6AC4F6C9272}"/>
                </a:ext>
              </a:extLst>
            </p:cNvPr>
            <p:cNvSpPr/>
            <p:nvPr/>
          </p:nvSpPr>
          <p:spPr>
            <a:xfrm>
              <a:off x="6874597" y="1847310"/>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83" name="Rechteck 482">
              <a:extLst>
                <a:ext uri="{FF2B5EF4-FFF2-40B4-BE49-F238E27FC236}">
                  <a16:creationId xmlns:a16="http://schemas.microsoft.com/office/drawing/2014/main" id="{D839225A-A7D0-8097-A187-F0F969B61AE8}"/>
                </a:ext>
              </a:extLst>
            </p:cNvPr>
            <p:cNvSpPr/>
            <p:nvPr/>
          </p:nvSpPr>
          <p:spPr>
            <a:xfrm>
              <a:off x="6851814" y="1979385"/>
              <a:ext cx="78569" cy="1642102"/>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484" name="Rechteck 483">
              <a:extLst>
                <a:ext uri="{FF2B5EF4-FFF2-40B4-BE49-F238E27FC236}">
                  <a16:creationId xmlns:a16="http://schemas.microsoft.com/office/drawing/2014/main" id="{C618F932-A6AC-16C9-FF0E-5760AE84A04C}"/>
                </a:ext>
              </a:extLst>
            </p:cNvPr>
            <p:cNvSpPr/>
            <p:nvPr/>
          </p:nvSpPr>
          <p:spPr>
            <a:xfrm>
              <a:off x="6851814" y="1766023"/>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85" name="Rechteck 484">
              <a:extLst>
                <a:ext uri="{FF2B5EF4-FFF2-40B4-BE49-F238E27FC236}">
                  <a16:creationId xmlns:a16="http://schemas.microsoft.com/office/drawing/2014/main" id="{1D0C86BF-6E90-391F-186B-20DAE6E2F76C}"/>
                </a:ext>
              </a:extLst>
            </p:cNvPr>
            <p:cNvSpPr/>
            <p:nvPr/>
          </p:nvSpPr>
          <p:spPr>
            <a:xfrm>
              <a:off x="6874597" y="3621487"/>
              <a:ext cx="33002" cy="132075"/>
            </a:xfrm>
            <a:prstGeom prst="rect">
              <a:avLst/>
            </a:prstGeom>
            <a:solidFill>
              <a:srgbClr val="FF9900"/>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86" name="Rechteck 485">
              <a:extLst>
                <a:ext uri="{FF2B5EF4-FFF2-40B4-BE49-F238E27FC236}">
                  <a16:creationId xmlns:a16="http://schemas.microsoft.com/office/drawing/2014/main" id="{3465DE4C-E595-BFD7-50E2-038916A4BFF4}"/>
                </a:ext>
              </a:extLst>
            </p:cNvPr>
            <p:cNvSpPr/>
            <p:nvPr/>
          </p:nvSpPr>
          <p:spPr>
            <a:xfrm>
              <a:off x="6851814" y="3701649"/>
              <a:ext cx="78569" cy="133200"/>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477" name="Rechteck 476">
            <a:extLst>
              <a:ext uri="{FF2B5EF4-FFF2-40B4-BE49-F238E27FC236}">
                <a16:creationId xmlns:a16="http://schemas.microsoft.com/office/drawing/2014/main" id="{6884A20D-1391-6C03-5B94-1AEF4858A72F}"/>
              </a:ext>
            </a:extLst>
          </p:cNvPr>
          <p:cNvSpPr/>
          <p:nvPr/>
        </p:nvSpPr>
        <p:spPr>
          <a:xfrm rot="5400000">
            <a:off x="5548136" y="3889468"/>
            <a:ext cx="652434" cy="53919"/>
          </a:xfrm>
          <a:prstGeom prst="rect">
            <a:avLst/>
          </a:prstGeom>
          <a:solidFill>
            <a:schemeClr val="bg1">
              <a:lumMod val="75000"/>
            </a:schemeClr>
          </a:solidFill>
          <a:ln>
            <a:solidFill>
              <a:srgbClr val="0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4000" dirty="0" err="1"/>
          </a:p>
        </p:txBody>
      </p:sp>
      <p:sp>
        <p:nvSpPr>
          <p:cNvPr id="476" name="Ellipse 475">
            <a:extLst>
              <a:ext uri="{FF2B5EF4-FFF2-40B4-BE49-F238E27FC236}">
                <a16:creationId xmlns:a16="http://schemas.microsoft.com/office/drawing/2014/main" id="{7884A855-24BB-7B07-1E64-AA6D047C272E}"/>
              </a:ext>
            </a:extLst>
          </p:cNvPr>
          <p:cNvSpPr>
            <a:spLocks noChangeAspect="1"/>
          </p:cNvSpPr>
          <p:nvPr/>
        </p:nvSpPr>
        <p:spPr>
          <a:xfrm rot="5400000">
            <a:off x="5821082" y="4008348"/>
            <a:ext cx="504000" cy="504000"/>
          </a:xfrm>
          <a:prstGeom prst="ellipse">
            <a:avLst/>
          </a:prstGeom>
          <a:solidFill>
            <a:schemeClr val="bg1">
              <a:lumMod val="50000"/>
            </a:schemeClr>
          </a:solidFill>
          <a:ln>
            <a:solidFill>
              <a:srgbClr val="0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4000" dirty="0" err="1"/>
          </a:p>
        </p:txBody>
      </p:sp>
      <p:sp>
        <p:nvSpPr>
          <p:cNvPr id="111" name="Flussdiagramm: Datenträger mit direktem Zugriff 110">
            <a:extLst>
              <a:ext uri="{FF2B5EF4-FFF2-40B4-BE49-F238E27FC236}">
                <a16:creationId xmlns:a16="http://schemas.microsoft.com/office/drawing/2014/main" id="{CA65ADE4-1B8E-0543-30F2-857A357F8680}"/>
              </a:ext>
            </a:extLst>
          </p:cNvPr>
          <p:cNvSpPr/>
          <p:nvPr/>
        </p:nvSpPr>
        <p:spPr>
          <a:xfrm rot="19835810">
            <a:off x="6052570" y="422529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2" name="Flussdiagramm: Datenträger mit direktem Zugriff 111">
            <a:extLst>
              <a:ext uri="{FF2B5EF4-FFF2-40B4-BE49-F238E27FC236}">
                <a16:creationId xmlns:a16="http://schemas.microsoft.com/office/drawing/2014/main" id="{60B69C78-FF0E-6FE3-845D-9775CA99A1B9}"/>
              </a:ext>
            </a:extLst>
          </p:cNvPr>
          <p:cNvSpPr/>
          <p:nvPr/>
        </p:nvSpPr>
        <p:spPr>
          <a:xfrm rot="19835810">
            <a:off x="6078233" y="4303765"/>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3" name="Flussdiagramm: Datenträger mit direktem Zugriff 112">
            <a:extLst>
              <a:ext uri="{FF2B5EF4-FFF2-40B4-BE49-F238E27FC236}">
                <a16:creationId xmlns:a16="http://schemas.microsoft.com/office/drawing/2014/main" id="{4527F419-717C-3EB0-CA71-89527FE26813}"/>
              </a:ext>
            </a:extLst>
          </p:cNvPr>
          <p:cNvSpPr/>
          <p:nvPr/>
        </p:nvSpPr>
        <p:spPr>
          <a:xfrm rot="3152920">
            <a:off x="5995565" y="431544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4" name="Flussdiagramm: Datenträger mit direktem Zugriff 113">
            <a:extLst>
              <a:ext uri="{FF2B5EF4-FFF2-40B4-BE49-F238E27FC236}">
                <a16:creationId xmlns:a16="http://schemas.microsoft.com/office/drawing/2014/main" id="{3A22D148-7D54-B80E-7768-558A6FF76025}"/>
              </a:ext>
            </a:extLst>
          </p:cNvPr>
          <p:cNvSpPr/>
          <p:nvPr/>
        </p:nvSpPr>
        <p:spPr>
          <a:xfrm rot="3152920">
            <a:off x="6087830" y="413935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5" name="Flussdiagramm: Datenträger mit direktem Zugriff 114">
            <a:extLst>
              <a:ext uri="{FF2B5EF4-FFF2-40B4-BE49-F238E27FC236}">
                <a16:creationId xmlns:a16="http://schemas.microsoft.com/office/drawing/2014/main" id="{C7CDF857-FD2A-5A87-9D50-BC61302A5210}"/>
              </a:ext>
            </a:extLst>
          </p:cNvPr>
          <p:cNvSpPr/>
          <p:nvPr/>
        </p:nvSpPr>
        <p:spPr>
          <a:xfrm rot="1182316">
            <a:off x="6035102" y="439636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6" name="Flussdiagramm: Datenträger mit direktem Zugriff 115">
            <a:extLst>
              <a:ext uri="{FF2B5EF4-FFF2-40B4-BE49-F238E27FC236}">
                <a16:creationId xmlns:a16="http://schemas.microsoft.com/office/drawing/2014/main" id="{31AE4DCA-3F86-C86F-78B9-54B705AEF539}"/>
              </a:ext>
            </a:extLst>
          </p:cNvPr>
          <p:cNvSpPr/>
          <p:nvPr/>
        </p:nvSpPr>
        <p:spPr>
          <a:xfrm rot="1182316">
            <a:off x="6007624" y="414408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78" name="Flussdiagramm: Datenträger mit direktem Zugriff 477">
            <a:extLst>
              <a:ext uri="{FF2B5EF4-FFF2-40B4-BE49-F238E27FC236}">
                <a16:creationId xmlns:a16="http://schemas.microsoft.com/office/drawing/2014/main" id="{048C1673-6A19-5727-F8BB-C7C53309B6D9}"/>
              </a:ext>
            </a:extLst>
          </p:cNvPr>
          <p:cNvSpPr/>
          <p:nvPr/>
        </p:nvSpPr>
        <p:spPr>
          <a:xfrm rot="3152920">
            <a:off x="6175575" y="427177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79" name="Flussdiagramm: Datenträger mit direktem Zugriff 478">
            <a:extLst>
              <a:ext uri="{FF2B5EF4-FFF2-40B4-BE49-F238E27FC236}">
                <a16:creationId xmlns:a16="http://schemas.microsoft.com/office/drawing/2014/main" id="{B505BDD1-3D7C-BEB5-DF5C-CFA21F226391}"/>
              </a:ext>
            </a:extLst>
          </p:cNvPr>
          <p:cNvSpPr/>
          <p:nvPr/>
        </p:nvSpPr>
        <p:spPr>
          <a:xfrm rot="5400000">
            <a:off x="5827290" y="384965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80" name="Flussdiagramm: Datenträger mit direktem Zugriff 479">
            <a:extLst>
              <a:ext uri="{FF2B5EF4-FFF2-40B4-BE49-F238E27FC236}">
                <a16:creationId xmlns:a16="http://schemas.microsoft.com/office/drawing/2014/main" id="{C681A224-74B2-4EEF-D78A-2950A33A39B0}"/>
              </a:ext>
            </a:extLst>
          </p:cNvPr>
          <p:cNvSpPr/>
          <p:nvPr/>
        </p:nvSpPr>
        <p:spPr>
          <a:xfrm rot="5400000">
            <a:off x="5826110" y="395188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88" name="Flussdiagramm: Datenträger mit direktem Zugriff 487">
            <a:extLst>
              <a:ext uri="{FF2B5EF4-FFF2-40B4-BE49-F238E27FC236}">
                <a16:creationId xmlns:a16="http://schemas.microsoft.com/office/drawing/2014/main" id="{AAB2A7ED-A049-5974-E341-A01A89435833}"/>
              </a:ext>
            </a:extLst>
          </p:cNvPr>
          <p:cNvSpPr/>
          <p:nvPr/>
        </p:nvSpPr>
        <p:spPr>
          <a:xfrm rot="5400000">
            <a:off x="5829671" y="365166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89" name="Flussdiagramm: Datenträger mit direktem Zugriff 488">
            <a:extLst>
              <a:ext uri="{FF2B5EF4-FFF2-40B4-BE49-F238E27FC236}">
                <a16:creationId xmlns:a16="http://schemas.microsoft.com/office/drawing/2014/main" id="{06A17AAF-7D66-1C36-6D31-D396EF1A587D}"/>
              </a:ext>
            </a:extLst>
          </p:cNvPr>
          <p:cNvSpPr/>
          <p:nvPr/>
        </p:nvSpPr>
        <p:spPr>
          <a:xfrm rot="5400000">
            <a:off x="5828491" y="3753900"/>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90" name="Rechteck 489">
            <a:extLst>
              <a:ext uri="{FF2B5EF4-FFF2-40B4-BE49-F238E27FC236}">
                <a16:creationId xmlns:a16="http://schemas.microsoft.com/office/drawing/2014/main" id="{4ADAB3CD-BD67-F76C-45AF-BC48CD2022E0}"/>
              </a:ext>
            </a:extLst>
          </p:cNvPr>
          <p:cNvSpPr/>
          <p:nvPr/>
        </p:nvSpPr>
        <p:spPr>
          <a:xfrm rot="5400000">
            <a:off x="5714397" y="3591887"/>
            <a:ext cx="593894" cy="12173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92" name="Rechteck 491">
            <a:extLst>
              <a:ext uri="{FF2B5EF4-FFF2-40B4-BE49-F238E27FC236}">
                <a16:creationId xmlns:a16="http://schemas.microsoft.com/office/drawing/2014/main" id="{7726DB8B-C9A6-110A-685A-FACEF37EB701}"/>
              </a:ext>
            </a:extLst>
          </p:cNvPr>
          <p:cNvSpPr/>
          <p:nvPr/>
        </p:nvSpPr>
        <p:spPr>
          <a:xfrm rot="10800000">
            <a:off x="5822249" y="3618193"/>
            <a:ext cx="259721" cy="45719"/>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nvGrpSpPr>
          <p:cNvPr id="78" name="Gruppieren 77">
            <a:extLst>
              <a:ext uri="{FF2B5EF4-FFF2-40B4-BE49-F238E27FC236}">
                <a16:creationId xmlns:a16="http://schemas.microsoft.com/office/drawing/2014/main" id="{88F6367B-CBAA-07F7-88D0-4ACF42B47219}"/>
              </a:ext>
            </a:extLst>
          </p:cNvPr>
          <p:cNvGrpSpPr/>
          <p:nvPr/>
        </p:nvGrpSpPr>
        <p:grpSpPr>
          <a:xfrm rot="10800000">
            <a:off x="5865029" y="2716456"/>
            <a:ext cx="75705" cy="277927"/>
            <a:chOff x="3476670" y="3647733"/>
            <a:chExt cx="75705" cy="277927"/>
          </a:xfrm>
        </p:grpSpPr>
        <p:sp>
          <p:nvSpPr>
            <p:cNvPr id="79" name="Rechteck 78">
              <a:extLst>
                <a:ext uri="{FF2B5EF4-FFF2-40B4-BE49-F238E27FC236}">
                  <a16:creationId xmlns:a16="http://schemas.microsoft.com/office/drawing/2014/main" id="{4D24A9C9-2FAD-4909-FE51-49F8A9B2A4F2}"/>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80" name="Verbinder: gekrümmt 79">
              <a:extLst>
                <a:ext uri="{FF2B5EF4-FFF2-40B4-BE49-F238E27FC236}">
                  <a16:creationId xmlns:a16="http://schemas.microsoft.com/office/drawing/2014/main" id="{16054D7C-94C1-1760-1E08-2088E59C4D09}"/>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506" name="Flussdiagramm: Datenträger mit direktem Zugriff 505">
            <a:extLst>
              <a:ext uri="{FF2B5EF4-FFF2-40B4-BE49-F238E27FC236}">
                <a16:creationId xmlns:a16="http://schemas.microsoft.com/office/drawing/2014/main" id="{3F951283-D433-D719-C33B-5E0F0560B7BB}"/>
              </a:ext>
            </a:extLst>
          </p:cNvPr>
          <p:cNvSpPr/>
          <p:nvPr/>
        </p:nvSpPr>
        <p:spPr>
          <a:xfrm rot="5400000">
            <a:off x="5827412" y="288170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07" name="Flussdiagramm: Datenträger mit direktem Zugriff 506">
            <a:extLst>
              <a:ext uri="{FF2B5EF4-FFF2-40B4-BE49-F238E27FC236}">
                <a16:creationId xmlns:a16="http://schemas.microsoft.com/office/drawing/2014/main" id="{7B3E35C8-AB52-67E9-06F8-C3D95F19F57A}"/>
              </a:ext>
            </a:extLst>
          </p:cNvPr>
          <p:cNvSpPr/>
          <p:nvPr/>
        </p:nvSpPr>
        <p:spPr>
          <a:xfrm rot="8821425">
            <a:off x="5932458" y="433318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08" name="Flussdiagramm: Datenträger mit direktem Zugriff 507">
            <a:extLst>
              <a:ext uri="{FF2B5EF4-FFF2-40B4-BE49-F238E27FC236}">
                <a16:creationId xmlns:a16="http://schemas.microsoft.com/office/drawing/2014/main" id="{F97484BF-80BD-9384-7A0C-F6C39B3F9F6B}"/>
              </a:ext>
            </a:extLst>
          </p:cNvPr>
          <p:cNvSpPr/>
          <p:nvPr/>
        </p:nvSpPr>
        <p:spPr>
          <a:xfrm rot="5400000">
            <a:off x="5837997" y="4255623"/>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09" name="Flussdiagramm: Datenträger mit direktem Zugriff 508">
            <a:extLst>
              <a:ext uri="{FF2B5EF4-FFF2-40B4-BE49-F238E27FC236}">
                <a16:creationId xmlns:a16="http://schemas.microsoft.com/office/drawing/2014/main" id="{77BA0E57-A207-9356-C87B-0C6F50ECDC68}"/>
              </a:ext>
            </a:extLst>
          </p:cNvPr>
          <p:cNvSpPr/>
          <p:nvPr/>
        </p:nvSpPr>
        <p:spPr>
          <a:xfrm rot="3152920">
            <a:off x="5867554" y="4375557"/>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0" name="Flussdiagramm: Datenträger mit direktem Zugriff 509">
            <a:extLst>
              <a:ext uri="{FF2B5EF4-FFF2-40B4-BE49-F238E27FC236}">
                <a16:creationId xmlns:a16="http://schemas.microsoft.com/office/drawing/2014/main" id="{57B8C945-2603-3455-AB05-831DF48E5237}"/>
              </a:ext>
            </a:extLst>
          </p:cNvPr>
          <p:cNvSpPr/>
          <p:nvPr/>
        </p:nvSpPr>
        <p:spPr>
          <a:xfrm rot="3152920">
            <a:off x="5873346" y="419637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11" name="Flussdiagramm: Datenträger mit direktem Zugriff 510">
            <a:extLst>
              <a:ext uri="{FF2B5EF4-FFF2-40B4-BE49-F238E27FC236}">
                <a16:creationId xmlns:a16="http://schemas.microsoft.com/office/drawing/2014/main" id="{D800447E-2889-036D-E484-B5F89A95680F}"/>
              </a:ext>
            </a:extLst>
          </p:cNvPr>
          <p:cNvSpPr/>
          <p:nvPr/>
        </p:nvSpPr>
        <p:spPr>
          <a:xfrm rot="5400000">
            <a:off x="6194057" y="288574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9" name="Flussdiagramm: Datenträger mit direktem Zugriff 68">
            <a:extLst>
              <a:ext uri="{FF2B5EF4-FFF2-40B4-BE49-F238E27FC236}">
                <a16:creationId xmlns:a16="http://schemas.microsoft.com/office/drawing/2014/main" id="{E378403A-5106-EC5F-9501-662CB583DFD5}"/>
              </a:ext>
            </a:extLst>
          </p:cNvPr>
          <p:cNvSpPr/>
          <p:nvPr/>
        </p:nvSpPr>
        <p:spPr>
          <a:xfrm rot="5400000">
            <a:off x="6522671" y="288812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1" name="Flussdiagramm: Datenträger mit direktem Zugriff 100">
            <a:extLst>
              <a:ext uri="{FF2B5EF4-FFF2-40B4-BE49-F238E27FC236}">
                <a16:creationId xmlns:a16="http://schemas.microsoft.com/office/drawing/2014/main" id="{618DC1F0-03DD-9A5F-A819-1962C342F3EA}"/>
              </a:ext>
            </a:extLst>
          </p:cNvPr>
          <p:cNvSpPr/>
          <p:nvPr/>
        </p:nvSpPr>
        <p:spPr>
          <a:xfrm rot="5400000">
            <a:off x="6844142" y="2892888"/>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2" name="Flussdiagramm: Datenträger mit direktem Zugriff 101">
            <a:extLst>
              <a:ext uri="{FF2B5EF4-FFF2-40B4-BE49-F238E27FC236}">
                <a16:creationId xmlns:a16="http://schemas.microsoft.com/office/drawing/2014/main" id="{06AB7FE3-AD7A-6676-5D94-6C245CEB4CE7}"/>
              </a:ext>
            </a:extLst>
          </p:cNvPr>
          <p:cNvSpPr/>
          <p:nvPr/>
        </p:nvSpPr>
        <p:spPr>
          <a:xfrm rot="5400000">
            <a:off x="7170373" y="2883364"/>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3" name="Flussdiagramm: Datenträger mit direktem Zugriff 102">
            <a:extLst>
              <a:ext uri="{FF2B5EF4-FFF2-40B4-BE49-F238E27FC236}">
                <a16:creationId xmlns:a16="http://schemas.microsoft.com/office/drawing/2014/main" id="{A09D2BCC-EE71-1955-D494-7BBF8BF5F314}"/>
              </a:ext>
            </a:extLst>
          </p:cNvPr>
          <p:cNvSpPr/>
          <p:nvPr/>
        </p:nvSpPr>
        <p:spPr>
          <a:xfrm rot="5400000">
            <a:off x="7496606" y="288812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1" name="Flussdiagramm: Datenträger mit direktem Zugriff 120">
            <a:extLst>
              <a:ext uri="{FF2B5EF4-FFF2-40B4-BE49-F238E27FC236}">
                <a16:creationId xmlns:a16="http://schemas.microsoft.com/office/drawing/2014/main" id="{7B2CA781-7A77-4F94-861F-CF94BDAF9E32}"/>
              </a:ext>
            </a:extLst>
          </p:cNvPr>
          <p:cNvSpPr/>
          <p:nvPr/>
        </p:nvSpPr>
        <p:spPr>
          <a:xfrm rot="5400000">
            <a:off x="7825221" y="2885742"/>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2" name="Gruppieren 1">
            <a:extLst>
              <a:ext uri="{FF2B5EF4-FFF2-40B4-BE49-F238E27FC236}">
                <a16:creationId xmlns:a16="http://schemas.microsoft.com/office/drawing/2014/main" id="{929C3B6D-249E-99D8-75AA-2A4C08560F72}"/>
              </a:ext>
            </a:extLst>
          </p:cNvPr>
          <p:cNvGrpSpPr/>
          <p:nvPr/>
        </p:nvGrpSpPr>
        <p:grpSpPr>
          <a:xfrm>
            <a:off x="4839310" y="2995333"/>
            <a:ext cx="69580" cy="193454"/>
            <a:chOff x="2849757" y="2999802"/>
            <a:chExt cx="69580" cy="193454"/>
          </a:xfrm>
        </p:grpSpPr>
        <p:sp>
          <p:nvSpPr>
            <p:cNvPr id="21" name="Rechteck 20">
              <a:extLst>
                <a:ext uri="{FF2B5EF4-FFF2-40B4-BE49-F238E27FC236}">
                  <a16:creationId xmlns:a16="http://schemas.microsoft.com/office/drawing/2014/main" id="{5462C323-A237-4BD5-2282-71E8B306510D}"/>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26" name="Gerade Verbindung mit Pfeil 25">
              <a:extLst>
                <a:ext uri="{FF2B5EF4-FFF2-40B4-BE49-F238E27FC236}">
                  <a16:creationId xmlns:a16="http://schemas.microsoft.com/office/drawing/2014/main" id="{A47F1649-C2CE-0922-11AC-898050102802}"/>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218" name="Gruppieren 217">
            <a:extLst>
              <a:ext uri="{FF2B5EF4-FFF2-40B4-BE49-F238E27FC236}">
                <a16:creationId xmlns:a16="http://schemas.microsoft.com/office/drawing/2014/main" id="{A2B7AA3F-3CC5-B640-E556-E69F459775C2}"/>
              </a:ext>
            </a:extLst>
          </p:cNvPr>
          <p:cNvGrpSpPr/>
          <p:nvPr/>
        </p:nvGrpSpPr>
        <p:grpSpPr>
          <a:xfrm>
            <a:off x="4811891" y="2805783"/>
            <a:ext cx="75705" cy="277927"/>
            <a:chOff x="3476670" y="3647733"/>
            <a:chExt cx="75705" cy="277927"/>
          </a:xfrm>
        </p:grpSpPr>
        <p:sp>
          <p:nvSpPr>
            <p:cNvPr id="219" name="Rechteck 218">
              <a:extLst>
                <a:ext uri="{FF2B5EF4-FFF2-40B4-BE49-F238E27FC236}">
                  <a16:creationId xmlns:a16="http://schemas.microsoft.com/office/drawing/2014/main" id="{F651B3D9-08E6-C14C-F087-E778DE62BB7D}"/>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20" name="Verbinder: gekrümmt 219">
              <a:extLst>
                <a:ext uri="{FF2B5EF4-FFF2-40B4-BE49-F238E27FC236}">
                  <a16:creationId xmlns:a16="http://schemas.microsoft.com/office/drawing/2014/main" id="{6DD7E2A0-A406-CB4D-B9A8-945226299C4D}"/>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grpSp>
        <p:nvGrpSpPr>
          <p:cNvPr id="31" name="Gruppieren 30">
            <a:extLst>
              <a:ext uri="{FF2B5EF4-FFF2-40B4-BE49-F238E27FC236}">
                <a16:creationId xmlns:a16="http://schemas.microsoft.com/office/drawing/2014/main" id="{61E914B8-DFF2-9AFC-3FA0-D9856BA06098}"/>
              </a:ext>
            </a:extLst>
          </p:cNvPr>
          <p:cNvGrpSpPr/>
          <p:nvPr/>
        </p:nvGrpSpPr>
        <p:grpSpPr>
          <a:xfrm rot="10800000">
            <a:off x="8189027" y="2606789"/>
            <a:ext cx="69580" cy="193454"/>
            <a:chOff x="2849757" y="2999802"/>
            <a:chExt cx="69580" cy="193454"/>
          </a:xfrm>
        </p:grpSpPr>
        <p:sp>
          <p:nvSpPr>
            <p:cNvPr id="33" name="Rechteck 32">
              <a:extLst>
                <a:ext uri="{FF2B5EF4-FFF2-40B4-BE49-F238E27FC236}">
                  <a16:creationId xmlns:a16="http://schemas.microsoft.com/office/drawing/2014/main" id="{8E0C8E31-2BA0-ADFA-63C9-D40B7FD49424}"/>
                </a:ext>
              </a:extLst>
            </p:cNvPr>
            <p:cNvSpPr/>
            <p:nvPr/>
          </p:nvSpPr>
          <p:spPr>
            <a:xfrm>
              <a:off x="2849757" y="2999802"/>
              <a:ext cx="69580" cy="19345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cxnSp>
          <p:nvCxnSpPr>
            <p:cNvPr id="455" name="Gerade Verbindung mit Pfeil 454">
              <a:extLst>
                <a:ext uri="{FF2B5EF4-FFF2-40B4-BE49-F238E27FC236}">
                  <a16:creationId xmlns:a16="http://schemas.microsoft.com/office/drawing/2014/main" id="{9305CBF7-3066-1B13-E217-29606DFE0F4D}"/>
                </a:ext>
              </a:extLst>
            </p:cNvPr>
            <p:cNvCxnSpPr>
              <a:cxnSpLocks/>
            </p:cNvCxnSpPr>
            <p:nvPr/>
          </p:nvCxnSpPr>
          <p:spPr>
            <a:xfrm flipV="1">
              <a:off x="2884480" y="3072584"/>
              <a:ext cx="0" cy="113087"/>
            </a:xfrm>
            <a:prstGeom prst="straightConnector1">
              <a:avLst/>
            </a:prstGeom>
            <a:ln w="3175">
              <a:solidFill>
                <a:schemeClr val="bg1"/>
              </a:solidFill>
              <a:headEnd w="sm" len="sm"/>
              <a:tailEnd type="triangle" w="sm" len="sm"/>
            </a:ln>
          </p:spPr>
          <p:style>
            <a:lnRef idx="2">
              <a:schemeClr val="accent1"/>
            </a:lnRef>
            <a:fillRef idx="0">
              <a:schemeClr val="accent1"/>
            </a:fillRef>
            <a:effectRef idx="1">
              <a:schemeClr val="accent1"/>
            </a:effectRef>
            <a:fontRef idx="minor">
              <a:schemeClr val="tx1"/>
            </a:fontRef>
          </p:style>
        </p:cxnSp>
      </p:grpSp>
      <p:grpSp>
        <p:nvGrpSpPr>
          <p:cNvPr id="248" name="Gruppieren 247">
            <a:extLst>
              <a:ext uri="{FF2B5EF4-FFF2-40B4-BE49-F238E27FC236}">
                <a16:creationId xmlns:a16="http://schemas.microsoft.com/office/drawing/2014/main" id="{6C45AAAF-B98B-AF70-F194-A0F8A34462FE}"/>
              </a:ext>
            </a:extLst>
          </p:cNvPr>
          <p:cNvGrpSpPr/>
          <p:nvPr/>
        </p:nvGrpSpPr>
        <p:grpSpPr>
          <a:xfrm rot="10800000">
            <a:off x="8217542" y="2720064"/>
            <a:ext cx="75705" cy="277927"/>
            <a:chOff x="3476670" y="3647733"/>
            <a:chExt cx="75705" cy="277927"/>
          </a:xfrm>
        </p:grpSpPr>
        <p:sp>
          <p:nvSpPr>
            <p:cNvPr id="249" name="Rechteck 248">
              <a:extLst>
                <a:ext uri="{FF2B5EF4-FFF2-40B4-BE49-F238E27FC236}">
                  <a16:creationId xmlns:a16="http://schemas.microsoft.com/office/drawing/2014/main" id="{16D971C9-00C1-2D38-94FB-ED1781720C9B}"/>
                </a:ext>
              </a:extLst>
            </p:cNvPr>
            <p:cNvSpPr/>
            <p:nvPr/>
          </p:nvSpPr>
          <p:spPr>
            <a:xfrm rot="10800000">
              <a:off x="3532986" y="3647733"/>
              <a:ext cx="19389" cy="194393"/>
            </a:xfrm>
            <a:prstGeom prst="rect">
              <a:avLst/>
            </a:prstGeom>
            <a:solidFill>
              <a:srgbClr val="FF9966"/>
            </a:solidFill>
            <a:ln w="3175">
              <a:noFill/>
            </a:ln>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cxnSp>
          <p:nvCxnSpPr>
            <p:cNvPr id="250" name="Verbinder: gekrümmt 249">
              <a:extLst>
                <a:ext uri="{FF2B5EF4-FFF2-40B4-BE49-F238E27FC236}">
                  <a16:creationId xmlns:a16="http://schemas.microsoft.com/office/drawing/2014/main" id="{335DBC82-24B9-ACE5-76E7-CFEB677D11C6}"/>
                </a:ext>
              </a:extLst>
            </p:cNvPr>
            <p:cNvCxnSpPr>
              <a:cxnSpLocks/>
            </p:cNvCxnSpPr>
            <p:nvPr/>
          </p:nvCxnSpPr>
          <p:spPr>
            <a:xfrm rot="5400000">
              <a:off x="3466886" y="3849865"/>
              <a:ext cx="85579" cy="66012"/>
            </a:xfrm>
            <a:prstGeom prst="curvedConnector3">
              <a:avLst>
                <a:gd name="adj1" fmla="val 41653"/>
              </a:avLst>
            </a:prstGeom>
            <a:solidFill>
              <a:srgbClr val="FF9966"/>
            </a:solidFill>
            <a:ln w="19050">
              <a:solidFill>
                <a:schemeClr val="accent6"/>
              </a:solidFill>
            </a:ln>
          </p:spPr>
          <p:style>
            <a:lnRef idx="1">
              <a:schemeClr val="dk1"/>
            </a:lnRef>
            <a:fillRef idx="3">
              <a:schemeClr val="dk1"/>
            </a:fillRef>
            <a:effectRef idx="2">
              <a:schemeClr val="dk1"/>
            </a:effectRef>
            <a:fontRef idx="minor">
              <a:schemeClr val="lt1"/>
            </a:fontRef>
          </p:style>
        </p:cxnSp>
      </p:grpSp>
      <p:sp>
        <p:nvSpPr>
          <p:cNvPr id="122" name="Flussdiagramm: Datenträger mit direktem Zugriff 121">
            <a:extLst>
              <a:ext uri="{FF2B5EF4-FFF2-40B4-BE49-F238E27FC236}">
                <a16:creationId xmlns:a16="http://schemas.microsoft.com/office/drawing/2014/main" id="{C663B9B0-B1E2-2620-72DF-EB203B9A86DF}"/>
              </a:ext>
            </a:extLst>
          </p:cNvPr>
          <p:cNvSpPr/>
          <p:nvPr/>
        </p:nvSpPr>
        <p:spPr>
          <a:xfrm rot="5400000">
            <a:off x="8182410" y="2888119"/>
            <a:ext cx="93252" cy="17626"/>
          </a:xfrm>
          <a:prstGeom prst="flowChartMagneticDrum">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222" name="Grafik 221">
            <a:extLst>
              <a:ext uri="{FF2B5EF4-FFF2-40B4-BE49-F238E27FC236}">
                <a16:creationId xmlns:a16="http://schemas.microsoft.com/office/drawing/2014/main" id="{086E33D6-868C-2DD6-6102-607A7138BA31}"/>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5400000">
            <a:off x="4835025" y="2778148"/>
            <a:ext cx="90077" cy="28388"/>
          </a:xfrm>
          <a:prstGeom prst="rect">
            <a:avLst/>
          </a:prstGeom>
        </p:spPr>
      </p:pic>
      <p:pic>
        <p:nvPicPr>
          <p:cNvPr id="251" name="Grafik 250">
            <a:extLst>
              <a:ext uri="{FF2B5EF4-FFF2-40B4-BE49-F238E27FC236}">
                <a16:creationId xmlns:a16="http://schemas.microsoft.com/office/drawing/2014/main" id="{CDDCCC56-F14B-3963-AC7F-D95BD4966FCA}"/>
              </a:ext>
            </a:extLst>
          </p:cNvPr>
          <p:cNvPicPr>
            <a:picLocks noChangeAspect="1"/>
          </p:cNvPicPr>
          <p:nvPr/>
        </p:nvPicPr>
        <p:blipFill>
          <a:blip r:embed="rId5">
            <a:clrChange>
              <a:clrFrom>
                <a:srgbClr val="FFFFFF"/>
              </a:clrFrom>
              <a:clrTo>
                <a:srgbClr val="FFFFFF">
                  <a:alpha val="0"/>
                </a:srgbClr>
              </a:clrTo>
            </a:clrChange>
            <a:biLevel thresh="75000"/>
          </a:blip>
          <a:srcRect t="15959"/>
          <a:stretch/>
        </p:blipFill>
        <p:spPr>
          <a:xfrm rot="16200000">
            <a:off x="8178957" y="2992099"/>
            <a:ext cx="90077" cy="28388"/>
          </a:xfrm>
          <a:prstGeom prst="rect">
            <a:avLst/>
          </a:prstGeom>
        </p:spPr>
      </p:pic>
      <p:sp>
        <p:nvSpPr>
          <p:cNvPr id="474" name="Ellipse 473">
            <a:extLst>
              <a:ext uri="{FF2B5EF4-FFF2-40B4-BE49-F238E27FC236}">
                <a16:creationId xmlns:a16="http://schemas.microsoft.com/office/drawing/2014/main" id="{4B0D52AB-A356-3A44-0B25-42D791BD09A9}"/>
              </a:ext>
            </a:extLst>
          </p:cNvPr>
          <p:cNvSpPr/>
          <p:nvPr/>
        </p:nvSpPr>
        <p:spPr>
          <a:xfrm>
            <a:off x="8878106" y="2716297"/>
            <a:ext cx="75855" cy="74033"/>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91" name="Rechteck 490">
            <a:extLst>
              <a:ext uri="{FF2B5EF4-FFF2-40B4-BE49-F238E27FC236}">
                <a16:creationId xmlns:a16="http://schemas.microsoft.com/office/drawing/2014/main" id="{D7E1F54C-BA01-D392-4287-6989B4B78993}"/>
              </a:ext>
            </a:extLst>
          </p:cNvPr>
          <p:cNvSpPr/>
          <p:nvPr/>
        </p:nvSpPr>
        <p:spPr>
          <a:xfrm rot="5400000">
            <a:off x="9148344" y="2308188"/>
            <a:ext cx="446463" cy="484189"/>
          </a:xfrm>
          <a:prstGeom prst="rect">
            <a:avLst/>
          </a:prstGeom>
          <a:solidFill>
            <a:schemeClr val="bg1">
              <a:lumMod val="6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96" name="Rechteck 495">
            <a:extLst>
              <a:ext uri="{FF2B5EF4-FFF2-40B4-BE49-F238E27FC236}">
                <a16:creationId xmlns:a16="http://schemas.microsoft.com/office/drawing/2014/main" id="{178EE6E9-3A87-C558-6DB7-ADDC68359CA2}"/>
              </a:ext>
            </a:extLst>
          </p:cNvPr>
          <p:cNvSpPr/>
          <p:nvPr/>
        </p:nvSpPr>
        <p:spPr>
          <a:xfrm rot="5400000">
            <a:off x="8058975" y="3716576"/>
            <a:ext cx="1404037" cy="232611"/>
          </a:xfrm>
          <a:prstGeom prst="rect">
            <a:avLst/>
          </a:prstGeom>
        </p:spPr>
        <p:style>
          <a:lnRef idx="1">
            <a:schemeClr val="accent2"/>
          </a:lnRef>
          <a:fillRef idx="3">
            <a:schemeClr val="accent2"/>
          </a:fillRef>
          <a:effectRef idx="2">
            <a:schemeClr val="accent2"/>
          </a:effectRef>
          <a:fontRef idx="minor">
            <a:schemeClr val="lt1"/>
          </a:fontRef>
        </p:style>
        <p:txBody>
          <a:bodyPr vert="horz" wrap="none" rtlCol="0" anchor="ctr"/>
          <a:lstStyle/>
          <a:p>
            <a:pPr algn="ctr"/>
            <a:r>
              <a:rPr lang="de-DE" sz="1400" dirty="0"/>
              <a:t>NOK</a:t>
            </a:r>
          </a:p>
        </p:txBody>
      </p:sp>
      <p:sp>
        <p:nvSpPr>
          <p:cNvPr id="499" name="Rechteck 498">
            <a:extLst>
              <a:ext uri="{FF2B5EF4-FFF2-40B4-BE49-F238E27FC236}">
                <a16:creationId xmlns:a16="http://schemas.microsoft.com/office/drawing/2014/main" id="{9FA6E81B-E2A5-61B9-7A1A-3FFEA451A824}"/>
              </a:ext>
            </a:extLst>
          </p:cNvPr>
          <p:cNvSpPr/>
          <p:nvPr/>
        </p:nvSpPr>
        <p:spPr>
          <a:xfrm rot="5400000">
            <a:off x="8419426" y="2801483"/>
            <a:ext cx="4440698" cy="113087"/>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00" name="Rechteck 499">
            <a:extLst>
              <a:ext uri="{FF2B5EF4-FFF2-40B4-BE49-F238E27FC236}">
                <a16:creationId xmlns:a16="http://schemas.microsoft.com/office/drawing/2014/main" id="{04B7E840-9798-ABAF-3E3D-218EDE88677A}"/>
              </a:ext>
            </a:extLst>
          </p:cNvPr>
          <p:cNvSpPr/>
          <p:nvPr/>
        </p:nvSpPr>
        <p:spPr>
          <a:xfrm rot="5400000">
            <a:off x="7593783" y="2807438"/>
            <a:ext cx="4434685" cy="107194"/>
          </a:xfrm>
          <a:prstGeom prst="rect">
            <a:avLst/>
          </a:prstGeom>
          <a:solidFill>
            <a:schemeClr val="bg1">
              <a:lumMod val="65000"/>
            </a:schemeClr>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01" name="Rechteck 500">
            <a:extLst>
              <a:ext uri="{FF2B5EF4-FFF2-40B4-BE49-F238E27FC236}">
                <a16:creationId xmlns:a16="http://schemas.microsoft.com/office/drawing/2014/main" id="{681A68F2-68FD-6F6F-05E6-B4B4009462E2}"/>
              </a:ext>
            </a:extLst>
          </p:cNvPr>
          <p:cNvSpPr/>
          <p:nvPr/>
        </p:nvSpPr>
        <p:spPr>
          <a:xfrm>
            <a:off x="9789348" y="2665399"/>
            <a:ext cx="863639"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502" name="Gruppieren 501">
            <a:extLst>
              <a:ext uri="{FF2B5EF4-FFF2-40B4-BE49-F238E27FC236}">
                <a16:creationId xmlns:a16="http://schemas.microsoft.com/office/drawing/2014/main" id="{786F2DB8-C5C3-ABA9-2212-C2BAFD5BA466}"/>
              </a:ext>
            </a:extLst>
          </p:cNvPr>
          <p:cNvGrpSpPr/>
          <p:nvPr/>
        </p:nvGrpSpPr>
        <p:grpSpPr>
          <a:xfrm rot="5400000" flipH="1">
            <a:off x="10226518" y="2386300"/>
            <a:ext cx="25807" cy="726114"/>
            <a:chOff x="6851814" y="1766023"/>
            <a:chExt cx="78569" cy="2068826"/>
          </a:xfrm>
        </p:grpSpPr>
        <p:sp>
          <p:nvSpPr>
            <p:cNvPr id="503" name="Rechteck 502">
              <a:extLst>
                <a:ext uri="{FF2B5EF4-FFF2-40B4-BE49-F238E27FC236}">
                  <a16:creationId xmlns:a16="http://schemas.microsoft.com/office/drawing/2014/main" id="{68700EC8-184F-651F-283C-220AC64449C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04" name="Rechteck 503">
              <a:extLst>
                <a:ext uri="{FF2B5EF4-FFF2-40B4-BE49-F238E27FC236}">
                  <a16:creationId xmlns:a16="http://schemas.microsoft.com/office/drawing/2014/main" id="{EC057BD8-E979-9999-F25A-B2B8DE312FA0}"/>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05" name="Rechteck 504">
              <a:extLst>
                <a:ext uri="{FF2B5EF4-FFF2-40B4-BE49-F238E27FC236}">
                  <a16:creationId xmlns:a16="http://schemas.microsoft.com/office/drawing/2014/main" id="{F8B2485C-F823-C09D-1E59-980FD8F8710F}"/>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1" name="Rechteck 70">
              <a:extLst>
                <a:ext uri="{FF2B5EF4-FFF2-40B4-BE49-F238E27FC236}">
                  <a16:creationId xmlns:a16="http://schemas.microsoft.com/office/drawing/2014/main" id="{243958FC-4BAF-B4E3-B7BD-78BEF1AEA12E}"/>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2" name="Rechteck 71">
              <a:extLst>
                <a:ext uri="{FF2B5EF4-FFF2-40B4-BE49-F238E27FC236}">
                  <a16:creationId xmlns:a16="http://schemas.microsoft.com/office/drawing/2014/main" id="{C6B69966-D78A-B3E6-22B0-CE2D55A5A44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74" name="Gruppieren 73">
            <a:extLst>
              <a:ext uri="{FF2B5EF4-FFF2-40B4-BE49-F238E27FC236}">
                <a16:creationId xmlns:a16="http://schemas.microsoft.com/office/drawing/2014/main" id="{2AAA2572-DE7E-A41B-F8BA-DFADA2829B70}"/>
              </a:ext>
            </a:extLst>
          </p:cNvPr>
          <p:cNvGrpSpPr/>
          <p:nvPr/>
        </p:nvGrpSpPr>
        <p:grpSpPr>
          <a:xfrm rot="5400000" flipH="1">
            <a:off x="10227661" y="2344797"/>
            <a:ext cx="25807" cy="726114"/>
            <a:chOff x="6851814" y="1766023"/>
            <a:chExt cx="78569" cy="2068826"/>
          </a:xfrm>
        </p:grpSpPr>
        <p:sp>
          <p:nvSpPr>
            <p:cNvPr id="75" name="Rechteck 74">
              <a:extLst>
                <a:ext uri="{FF2B5EF4-FFF2-40B4-BE49-F238E27FC236}">
                  <a16:creationId xmlns:a16="http://schemas.microsoft.com/office/drawing/2014/main" id="{ED84AC5F-1A8A-B9AF-D81E-7EE399E282C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76" name="Rechteck 75">
              <a:extLst>
                <a:ext uri="{FF2B5EF4-FFF2-40B4-BE49-F238E27FC236}">
                  <a16:creationId xmlns:a16="http://schemas.microsoft.com/office/drawing/2014/main" id="{88794B04-8D60-8CCB-3E2D-7075DF28F034}"/>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25" name="Rechteck 124">
              <a:extLst>
                <a:ext uri="{FF2B5EF4-FFF2-40B4-BE49-F238E27FC236}">
                  <a16:creationId xmlns:a16="http://schemas.microsoft.com/office/drawing/2014/main" id="{39A2E434-2970-F594-AD83-9E59F2C89B58}"/>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27" name="Rechteck 126">
              <a:extLst>
                <a:ext uri="{FF2B5EF4-FFF2-40B4-BE49-F238E27FC236}">
                  <a16:creationId xmlns:a16="http://schemas.microsoft.com/office/drawing/2014/main" id="{47292E0F-CEFF-4870-E3C7-B44D31BBE499}"/>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30" name="Rechteck 129">
              <a:extLst>
                <a:ext uri="{FF2B5EF4-FFF2-40B4-BE49-F238E27FC236}">
                  <a16:creationId xmlns:a16="http://schemas.microsoft.com/office/drawing/2014/main" id="{9AB2675A-8E20-A713-4EF2-E38961A18519}"/>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sp>
        <p:nvSpPr>
          <p:cNvPr id="167" name="Rechteck 166">
            <a:extLst>
              <a:ext uri="{FF2B5EF4-FFF2-40B4-BE49-F238E27FC236}">
                <a16:creationId xmlns:a16="http://schemas.microsoft.com/office/drawing/2014/main" id="{ACBB35C9-1BCD-AE31-22CD-C00FDC25A632}"/>
              </a:ext>
            </a:extLst>
          </p:cNvPr>
          <p:cNvSpPr/>
          <p:nvPr/>
        </p:nvSpPr>
        <p:spPr>
          <a:xfrm>
            <a:off x="9806000" y="1160312"/>
            <a:ext cx="864000"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68" name="Rechteck 167">
            <a:extLst>
              <a:ext uri="{FF2B5EF4-FFF2-40B4-BE49-F238E27FC236}">
                <a16:creationId xmlns:a16="http://schemas.microsoft.com/office/drawing/2014/main" id="{11966147-4E49-FDAC-1E17-ECDD119CBA95}"/>
              </a:ext>
            </a:extLst>
          </p:cNvPr>
          <p:cNvSpPr/>
          <p:nvPr/>
        </p:nvSpPr>
        <p:spPr>
          <a:xfrm>
            <a:off x="9806000" y="690379"/>
            <a:ext cx="864000"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69" name="Rechteck 168">
            <a:extLst>
              <a:ext uri="{FF2B5EF4-FFF2-40B4-BE49-F238E27FC236}">
                <a16:creationId xmlns:a16="http://schemas.microsoft.com/office/drawing/2014/main" id="{20F33180-5D76-DD99-3BB0-0614BF7B376E}"/>
              </a:ext>
            </a:extLst>
          </p:cNvPr>
          <p:cNvSpPr/>
          <p:nvPr/>
        </p:nvSpPr>
        <p:spPr>
          <a:xfrm>
            <a:off x="9811715" y="1630847"/>
            <a:ext cx="864000"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359" name="Gruppieren 358">
            <a:extLst>
              <a:ext uri="{FF2B5EF4-FFF2-40B4-BE49-F238E27FC236}">
                <a16:creationId xmlns:a16="http://schemas.microsoft.com/office/drawing/2014/main" id="{4B8F27E4-281D-6386-0728-D273693F03A3}"/>
              </a:ext>
            </a:extLst>
          </p:cNvPr>
          <p:cNvGrpSpPr/>
          <p:nvPr/>
        </p:nvGrpSpPr>
        <p:grpSpPr>
          <a:xfrm>
            <a:off x="9801918" y="4623143"/>
            <a:ext cx="863639" cy="432000"/>
            <a:chOff x="9711678" y="4322351"/>
            <a:chExt cx="863639" cy="432000"/>
          </a:xfrm>
        </p:grpSpPr>
        <p:sp>
          <p:nvSpPr>
            <p:cNvPr id="170" name="Rechteck 169">
              <a:extLst>
                <a:ext uri="{FF2B5EF4-FFF2-40B4-BE49-F238E27FC236}">
                  <a16:creationId xmlns:a16="http://schemas.microsoft.com/office/drawing/2014/main" id="{B712E091-F98F-CED5-D9BC-5521130E1471}"/>
                </a:ext>
              </a:extLst>
            </p:cNvPr>
            <p:cNvSpPr/>
            <p:nvPr/>
          </p:nvSpPr>
          <p:spPr>
            <a:xfrm>
              <a:off x="9711678" y="4322351"/>
              <a:ext cx="863639"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171" name="Gruppieren 170">
              <a:extLst>
                <a:ext uri="{FF2B5EF4-FFF2-40B4-BE49-F238E27FC236}">
                  <a16:creationId xmlns:a16="http://schemas.microsoft.com/office/drawing/2014/main" id="{C4FF7DA1-6C77-AFB5-1F34-5A314709B668}"/>
                </a:ext>
              </a:extLst>
            </p:cNvPr>
            <p:cNvGrpSpPr/>
            <p:nvPr/>
          </p:nvGrpSpPr>
          <p:grpSpPr>
            <a:xfrm rot="5400000" flipH="1">
              <a:off x="10148848" y="4362092"/>
              <a:ext cx="25807" cy="726114"/>
              <a:chOff x="6851814" y="1766023"/>
              <a:chExt cx="78569" cy="2068826"/>
            </a:xfrm>
          </p:grpSpPr>
          <p:sp>
            <p:nvSpPr>
              <p:cNvPr id="172" name="Rechteck 171">
                <a:extLst>
                  <a:ext uri="{FF2B5EF4-FFF2-40B4-BE49-F238E27FC236}">
                    <a16:creationId xmlns:a16="http://schemas.microsoft.com/office/drawing/2014/main" id="{6AD4DBD2-E006-44D9-28B2-581B69E25BD5}"/>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3" name="Rechteck 172">
                <a:extLst>
                  <a:ext uri="{FF2B5EF4-FFF2-40B4-BE49-F238E27FC236}">
                    <a16:creationId xmlns:a16="http://schemas.microsoft.com/office/drawing/2014/main" id="{DEF44C3B-F531-4A0B-7A3C-A9380B0A3170}"/>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179" name="Rechteck 178">
                <a:extLst>
                  <a:ext uri="{FF2B5EF4-FFF2-40B4-BE49-F238E27FC236}">
                    <a16:creationId xmlns:a16="http://schemas.microsoft.com/office/drawing/2014/main" id="{ACC59FF8-7329-F0F8-AF74-2CE753DCE529}"/>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82" name="Rechteck 181">
                <a:extLst>
                  <a:ext uri="{FF2B5EF4-FFF2-40B4-BE49-F238E27FC236}">
                    <a16:creationId xmlns:a16="http://schemas.microsoft.com/office/drawing/2014/main" id="{E3ED3BE6-E508-05F5-CDA1-CDE2B3792F9C}"/>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04" name="Rechteck 203">
                <a:extLst>
                  <a:ext uri="{FF2B5EF4-FFF2-40B4-BE49-F238E27FC236}">
                    <a16:creationId xmlns:a16="http://schemas.microsoft.com/office/drawing/2014/main" id="{348234F6-C2AA-AB0C-F31F-FF706BB90CCD}"/>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16" name="Gruppieren 215">
              <a:extLst>
                <a:ext uri="{FF2B5EF4-FFF2-40B4-BE49-F238E27FC236}">
                  <a16:creationId xmlns:a16="http://schemas.microsoft.com/office/drawing/2014/main" id="{9C8C9045-5A23-A002-F794-58A4AC19B7E2}"/>
                </a:ext>
              </a:extLst>
            </p:cNvPr>
            <p:cNvGrpSpPr/>
            <p:nvPr/>
          </p:nvGrpSpPr>
          <p:grpSpPr>
            <a:xfrm rot="5400000" flipH="1">
              <a:off x="10149991" y="4314573"/>
              <a:ext cx="25807" cy="726114"/>
              <a:chOff x="6851814" y="1766023"/>
              <a:chExt cx="78569" cy="2068826"/>
            </a:xfrm>
          </p:grpSpPr>
          <p:sp>
            <p:nvSpPr>
              <p:cNvPr id="217" name="Rechteck 216">
                <a:extLst>
                  <a:ext uri="{FF2B5EF4-FFF2-40B4-BE49-F238E27FC236}">
                    <a16:creationId xmlns:a16="http://schemas.microsoft.com/office/drawing/2014/main" id="{552FBEBF-F900-0528-AFA4-86DFB3B10EC8}"/>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21" name="Rechteck 220">
                <a:extLst>
                  <a:ext uri="{FF2B5EF4-FFF2-40B4-BE49-F238E27FC236}">
                    <a16:creationId xmlns:a16="http://schemas.microsoft.com/office/drawing/2014/main" id="{5579A51B-E9CD-DBF1-C7AA-7551430070CD}"/>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23" name="Rechteck 222">
                <a:extLst>
                  <a:ext uri="{FF2B5EF4-FFF2-40B4-BE49-F238E27FC236}">
                    <a16:creationId xmlns:a16="http://schemas.microsoft.com/office/drawing/2014/main" id="{AB789161-1080-BB67-EBB1-9FCFF43EDA53}"/>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25" name="Rechteck 224">
                <a:extLst>
                  <a:ext uri="{FF2B5EF4-FFF2-40B4-BE49-F238E27FC236}">
                    <a16:creationId xmlns:a16="http://schemas.microsoft.com/office/drawing/2014/main" id="{AEF5DB7C-805D-9AA4-310F-842634F20635}"/>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27" name="Rechteck 226">
                <a:extLst>
                  <a:ext uri="{FF2B5EF4-FFF2-40B4-BE49-F238E27FC236}">
                    <a16:creationId xmlns:a16="http://schemas.microsoft.com/office/drawing/2014/main" id="{0F8AE618-B00F-57DB-34DD-4A4610822B24}"/>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30" name="Gruppieren 229">
              <a:extLst>
                <a:ext uri="{FF2B5EF4-FFF2-40B4-BE49-F238E27FC236}">
                  <a16:creationId xmlns:a16="http://schemas.microsoft.com/office/drawing/2014/main" id="{64820BC6-220A-E1B3-D92C-5AF3EA5BEEB3}"/>
                </a:ext>
              </a:extLst>
            </p:cNvPr>
            <p:cNvGrpSpPr/>
            <p:nvPr/>
          </p:nvGrpSpPr>
          <p:grpSpPr>
            <a:xfrm rot="5400000" flipH="1">
              <a:off x="10150439" y="4267600"/>
              <a:ext cx="25807" cy="726114"/>
              <a:chOff x="6851814" y="1766023"/>
              <a:chExt cx="78569" cy="2068826"/>
            </a:xfrm>
          </p:grpSpPr>
          <p:sp>
            <p:nvSpPr>
              <p:cNvPr id="232" name="Rechteck 231">
                <a:extLst>
                  <a:ext uri="{FF2B5EF4-FFF2-40B4-BE49-F238E27FC236}">
                    <a16:creationId xmlns:a16="http://schemas.microsoft.com/office/drawing/2014/main" id="{381AD970-D081-6994-7994-3BFB84138E6F}"/>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33" name="Rechteck 232">
                <a:extLst>
                  <a:ext uri="{FF2B5EF4-FFF2-40B4-BE49-F238E27FC236}">
                    <a16:creationId xmlns:a16="http://schemas.microsoft.com/office/drawing/2014/main" id="{16BE83A6-CC6F-2C9E-88D6-00C615C8BEC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34" name="Rechteck 233">
                <a:extLst>
                  <a:ext uri="{FF2B5EF4-FFF2-40B4-BE49-F238E27FC236}">
                    <a16:creationId xmlns:a16="http://schemas.microsoft.com/office/drawing/2014/main" id="{2286C3E4-1989-2ED4-F081-537077910D52}"/>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39" name="Rechteck 238">
                <a:extLst>
                  <a:ext uri="{FF2B5EF4-FFF2-40B4-BE49-F238E27FC236}">
                    <a16:creationId xmlns:a16="http://schemas.microsoft.com/office/drawing/2014/main" id="{D7362ABE-B158-A31D-74CD-376D45A400D1}"/>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55" name="Rechteck 254">
                <a:extLst>
                  <a:ext uri="{FF2B5EF4-FFF2-40B4-BE49-F238E27FC236}">
                    <a16:creationId xmlns:a16="http://schemas.microsoft.com/office/drawing/2014/main" id="{7E44A94C-9CBE-0B4F-159A-7D6CC83E9477}"/>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285" name="Gruppieren 284">
              <a:extLst>
                <a:ext uri="{FF2B5EF4-FFF2-40B4-BE49-F238E27FC236}">
                  <a16:creationId xmlns:a16="http://schemas.microsoft.com/office/drawing/2014/main" id="{C9DA5595-F09D-6650-181E-E126A2BAAC6E}"/>
                </a:ext>
              </a:extLst>
            </p:cNvPr>
            <p:cNvGrpSpPr/>
            <p:nvPr/>
          </p:nvGrpSpPr>
          <p:grpSpPr>
            <a:xfrm rot="5400000" flipH="1">
              <a:off x="10150438" y="4219970"/>
              <a:ext cx="25807" cy="726114"/>
              <a:chOff x="6851814" y="1766023"/>
              <a:chExt cx="78569" cy="2068826"/>
            </a:xfrm>
          </p:grpSpPr>
          <p:sp>
            <p:nvSpPr>
              <p:cNvPr id="286" name="Rechteck 285">
                <a:extLst>
                  <a:ext uri="{FF2B5EF4-FFF2-40B4-BE49-F238E27FC236}">
                    <a16:creationId xmlns:a16="http://schemas.microsoft.com/office/drawing/2014/main" id="{0A759AE0-083C-35D2-955B-9D95AEE39A40}"/>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7" name="Rechteck 286">
                <a:extLst>
                  <a:ext uri="{FF2B5EF4-FFF2-40B4-BE49-F238E27FC236}">
                    <a16:creationId xmlns:a16="http://schemas.microsoft.com/office/drawing/2014/main" id="{709F351A-69FD-FD5B-BA4B-FADED673860C}"/>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88" name="Rechteck 287">
                <a:extLst>
                  <a:ext uri="{FF2B5EF4-FFF2-40B4-BE49-F238E27FC236}">
                    <a16:creationId xmlns:a16="http://schemas.microsoft.com/office/drawing/2014/main" id="{F6551111-D640-4C62-DC7D-820A90F4BA02}"/>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89" name="Rechteck 288">
                <a:extLst>
                  <a:ext uri="{FF2B5EF4-FFF2-40B4-BE49-F238E27FC236}">
                    <a16:creationId xmlns:a16="http://schemas.microsoft.com/office/drawing/2014/main" id="{63F1E587-38A6-E603-CE72-7A5A4D9BE135}"/>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5" name="Rechteck 304">
                <a:extLst>
                  <a:ext uri="{FF2B5EF4-FFF2-40B4-BE49-F238E27FC236}">
                    <a16:creationId xmlns:a16="http://schemas.microsoft.com/office/drawing/2014/main" id="{BD441096-90CE-814A-204E-130C7CD36D67}"/>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06" name="Gruppieren 305">
              <a:extLst>
                <a:ext uri="{FF2B5EF4-FFF2-40B4-BE49-F238E27FC236}">
                  <a16:creationId xmlns:a16="http://schemas.microsoft.com/office/drawing/2014/main" id="{CA9E8733-079E-F11C-9916-CB62D64720B3}"/>
                </a:ext>
              </a:extLst>
            </p:cNvPr>
            <p:cNvGrpSpPr/>
            <p:nvPr/>
          </p:nvGrpSpPr>
          <p:grpSpPr>
            <a:xfrm rot="5400000" flipH="1">
              <a:off x="10135198" y="4043313"/>
              <a:ext cx="25807" cy="726114"/>
              <a:chOff x="6851814" y="1766023"/>
              <a:chExt cx="78569" cy="2068826"/>
            </a:xfrm>
          </p:grpSpPr>
          <p:sp>
            <p:nvSpPr>
              <p:cNvPr id="307" name="Rechteck 306">
                <a:extLst>
                  <a:ext uri="{FF2B5EF4-FFF2-40B4-BE49-F238E27FC236}">
                    <a16:creationId xmlns:a16="http://schemas.microsoft.com/office/drawing/2014/main" id="{584ED3F8-A968-F06C-EEC6-52DDB5BC47C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08" name="Rechteck 307">
                <a:extLst>
                  <a:ext uri="{FF2B5EF4-FFF2-40B4-BE49-F238E27FC236}">
                    <a16:creationId xmlns:a16="http://schemas.microsoft.com/office/drawing/2014/main" id="{E19349BA-62B1-D866-FC27-B7F79A8B8D07}"/>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09" name="Rechteck 308">
                <a:extLst>
                  <a:ext uri="{FF2B5EF4-FFF2-40B4-BE49-F238E27FC236}">
                    <a16:creationId xmlns:a16="http://schemas.microsoft.com/office/drawing/2014/main" id="{7361D188-6BB5-CAB8-C76F-B1DA0EA1AB78}"/>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0" name="Rechteck 309">
                <a:extLst>
                  <a:ext uri="{FF2B5EF4-FFF2-40B4-BE49-F238E27FC236}">
                    <a16:creationId xmlns:a16="http://schemas.microsoft.com/office/drawing/2014/main" id="{F0BE0779-31E0-8CBE-EE2D-24D434E56E7E}"/>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2" name="Rechteck 311">
                <a:extLst>
                  <a:ext uri="{FF2B5EF4-FFF2-40B4-BE49-F238E27FC236}">
                    <a16:creationId xmlns:a16="http://schemas.microsoft.com/office/drawing/2014/main" id="{E6F927D8-6475-9C96-78EC-918843FC28AB}"/>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13" name="Gruppieren 312">
              <a:extLst>
                <a:ext uri="{FF2B5EF4-FFF2-40B4-BE49-F238E27FC236}">
                  <a16:creationId xmlns:a16="http://schemas.microsoft.com/office/drawing/2014/main" id="{6F300F8B-6137-D8C0-AD15-502F3E94565A}"/>
                </a:ext>
              </a:extLst>
            </p:cNvPr>
            <p:cNvGrpSpPr/>
            <p:nvPr/>
          </p:nvGrpSpPr>
          <p:grpSpPr>
            <a:xfrm rot="5400000" flipH="1">
              <a:off x="10139008" y="4102933"/>
              <a:ext cx="25807" cy="726114"/>
              <a:chOff x="6851814" y="1766023"/>
              <a:chExt cx="78569" cy="2068826"/>
            </a:xfrm>
          </p:grpSpPr>
          <p:sp>
            <p:nvSpPr>
              <p:cNvPr id="315" name="Rechteck 314">
                <a:extLst>
                  <a:ext uri="{FF2B5EF4-FFF2-40B4-BE49-F238E27FC236}">
                    <a16:creationId xmlns:a16="http://schemas.microsoft.com/office/drawing/2014/main" id="{6549BFC0-FF92-AAA8-5B32-C2780B0D05F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16" name="Rechteck 315">
                <a:extLst>
                  <a:ext uri="{FF2B5EF4-FFF2-40B4-BE49-F238E27FC236}">
                    <a16:creationId xmlns:a16="http://schemas.microsoft.com/office/drawing/2014/main" id="{BDB742D3-F41F-52E6-8581-268C0A41FBAA}"/>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20" name="Rechteck 319">
                <a:extLst>
                  <a:ext uri="{FF2B5EF4-FFF2-40B4-BE49-F238E27FC236}">
                    <a16:creationId xmlns:a16="http://schemas.microsoft.com/office/drawing/2014/main" id="{5EA7B499-B2CD-80AF-79A8-0F1B646F2BC1}"/>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21" name="Rechteck 320">
                <a:extLst>
                  <a:ext uri="{FF2B5EF4-FFF2-40B4-BE49-F238E27FC236}">
                    <a16:creationId xmlns:a16="http://schemas.microsoft.com/office/drawing/2014/main" id="{B7BEC484-50A8-0D33-0700-484F4249CF4F}"/>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22" name="Rechteck 321">
                <a:extLst>
                  <a:ext uri="{FF2B5EF4-FFF2-40B4-BE49-F238E27FC236}">
                    <a16:creationId xmlns:a16="http://schemas.microsoft.com/office/drawing/2014/main" id="{2D041026-D2DD-A729-94E4-0B23E505BB4F}"/>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23" name="Gruppieren 322">
              <a:extLst>
                <a:ext uri="{FF2B5EF4-FFF2-40B4-BE49-F238E27FC236}">
                  <a16:creationId xmlns:a16="http://schemas.microsoft.com/office/drawing/2014/main" id="{8333A46D-8C42-AB76-5A2A-64E37638E81E}"/>
                </a:ext>
              </a:extLst>
            </p:cNvPr>
            <p:cNvGrpSpPr/>
            <p:nvPr/>
          </p:nvGrpSpPr>
          <p:grpSpPr>
            <a:xfrm rot="5400000" flipH="1">
              <a:off x="10140913" y="4159010"/>
              <a:ext cx="25807" cy="726114"/>
              <a:chOff x="6851814" y="1766023"/>
              <a:chExt cx="78569" cy="2068826"/>
            </a:xfrm>
          </p:grpSpPr>
          <p:sp>
            <p:nvSpPr>
              <p:cNvPr id="324" name="Rechteck 323">
                <a:extLst>
                  <a:ext uri="{FF2B5EF4-FFF2-40B4-BE49-F238E27FC236}">
                    <a16:creationId xmlns:a16="http://schemas.microsoft.com/office/drawing/2014/main" id="{22C2DA99-2703-25C9-862F-45F49E80AAB7}"/>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25" name="Rechteck 324">
                <a:extLst>
                  <a:ext uri="{FF2B5EF4-FFF2-40B4-BE49-F238E27FC236}">
                    <a16:creationId xmlns:a16="http://schemas.microsoft.com/office/drawing/2014/main" id="{566646C8-E890-0643-0776-9F92F6C61554}"/>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26" name="Rechteck 325">
                <a:extLst>
                  <a:ext uri="{FF2B5EF4-FFF2-40B4-BE49-F238E27FC236}">
                    <a16:creationId xmlns:a16="http://schemas.microsoft.com/office/drawing/2014/main" id="{3E3163A3-CFB7-C510-DD1C-5697ED3213A7}"/>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27" name="Rechteck 326">
                <a:extLst>
                  <a:ext uri="{FF2B5EF4-FFF2-40B4-BE49-F238E27FC236}">
                    <a16:creationId xmlns:a16="http://schemas.microsoft.com/office/drawing/2014/main" id="{810B29A3-01C1-EAB3-80D0-111637D4BDF1}"/>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28" name="Rechteck 327">
                <a:extLst>
                  <a:ext uri="{FF2B5EF4-FFF2-40B4-BE49-F238E27FC236}">
                    <a16:creationId xmlns:a16="http://schemas.microsoft.com/office/drawing/2014/main" id="{151DDC4E-9BC6-ADE4-E2DB-28E53BE7684A}"/>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30" name="Gruppieren 329">
              <a:extLst>
                <a:ext uri="{FF2B5EF4-FFF2-40B4-BE49-F238E27FC236}">
                  <a16:creationId xmlns:a16="http://schemas.microsoft.com/office/drawing/2014/main" id="{53580670-2D75-7B93-843C-11016BCD67E8}"/>
                </a:ext>
              </a:extLst>
            </p:cNvPr>
            <p:cNvGrpSpPr/>
            <p:nvPr/>
          </p:nvGrpSpPr>
          <p:grpSpPr>
            <a:xfrm rot="5400000" flipH="1">
              <a:off x="10156153" y="4162820"/>
              <a:ext cx="25807" cy="726114"/>
              <a:chOff x="6851814" y="1766023"/>
              <a:chExt cx="78569" cy="2068826"/>
            </a:xfrm>
          </p:grpSpPr>
          <p:sp>
            <p:nvSpPr>
              <p:cNvPr id="331" name="Rechteck 330">
                <a:extLst>
                  <a:ext uri="{FF2B5EF4-FFF2-40B4-BE49-F238E27FC236}">
                    <a16:creationId xmlns:a16="http://schemas.microsoft.com/office/drawing/2014/main" id="{BE52B12F-C678-6656-E3CC-0B24563E163B}"/>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2" name="Rechteck 331">
                <a:extLst>
                  <a:ext uri="{FF2B5EF4-FFF2-40B4-BE49-F238E27FC236}">
                    <a16:creationId xmlns:a16="http://schemas.microsoft.com/office/drawing/2014/main" id="{BDD39CF3-1820-B322-B39B-C87E1C60E2D6}"/>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33" name="Rechteck 332">
                <a:extLst>
                  <a:ext uri="{FF2B5EF4-FFF2-40B4-BE49-F238E27FC236}">
                    <a16:creationId xmlns:a16="http://schemas.microsoft.com/office/drawing/2014/main" id="{59C443C0-0FB8-289F-281D-CBD9A9DF3427}"/>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34" name="Rechteck 333">
                <a:extLst>
                  <a:ext uri="{FF2B5EF4-FFF2-40B4-BE49-F238E27FC236}">
                    <a16:creationId xmlns:a16="http://schemas.microsoft.com/office/drawing/2014/main" id="{59109A02-0A63-76E1-8D79-DC400040F5F3}"/>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41" name="Rechteck 340">
                <a:extLst>
                  <a:ext uri="{FF2B5EF4-FFF2-40B4-BE49-F238E27FC236}">
                    <a16:creationId xmlns:a16="http://schemas.microsoft.com/office/drawing/2014/main" id="{F05F7D2F-8A9D-725A-A189-4AAF420BDE6D}"/>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43" name="Gruppieren 342">
              <a:extLst>
                <a:ext uri="{FF2B5EF4-FFF2-40B4-BE49-F238E27FC236}">
                  <a16:creationId xmlns:a16="http://schemas.microsoft.com/office/drawing/2014/main" id="{52441405-1420-BE4A-6B2A-0E6FD5F369BA}"/>
                </a:ext>
              </a:extLst>
            </p:cNvPr>
            <p:cNvGrpSpPr/>
            <p:nvPr/>
          </p:nvGrpSpPr>
          <p:grpSpPr>
            <a:xfrm rot="5400000" flipH="1">
              <a:off x="10142818" y="3991841"/>
              <a:ext cx="25807" cy="726114"/>
              <a:chOff x="6851814" y="1766023"/>
              <a:chExt cx="78569" cy="2068826"/>
            </a:xfrm>
          </p:grpSpPr>
          <p:sp>
            <p:nvSpPr>
              <p:cNvPr id="344" name="Rechteck 343">
                <a:extLst>
                  <a:ext uri="{FF2B5EF4-FFF2-40B4-BE49-F238E27FC236}">
                    <a16:creationId xmlns:a16="http://schemas.microsoft.com/office/drawing/2014/main" id="{B4566C08-8E22-333A-3522-85599398EB8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46" name="Rechteck 345">
                <a:extLst>
                  <a:ext uri="{FF2B5EF4-FFF2-40B4-BE49-F238E27FC236}">
                    <a16:creationId xmlns:a16="http://schemas.microsoft.com/office/drawing/2014/main" id="{E178C5CD-C084-6E30-77CE-FD0EEA0C5245}"/>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51" name="Rechteck 350">
                <a:extLst>
                  <a:ext uri="{FF2B5EF4-FFF2-40B4-BE49-F238E27FC236}">
                    <a16:creationId xmlns:a16="http://schemas.microsoft.com/office/drawing/2014/main" id="{722FAB65-0EAA-EA8D-A705-2D255C971733}"/>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53" name="Rechteck 352">
                <a:extLst>
                  <a:ext uri="{FF2B5EF4-FFF2-40B4-BE49-F238E27FC236}">
                    <a16:creationId xmlns:a16="http://schemas.microsoft.com/office/drawing/2014/main" id="{A8FCB209-353D-C1C3-274B-B7B522BDA8DE}"/>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54" name="Rechteck 353">
                <a:extLst>
                  <a:ext uri="{FF2B5EF4-FFF2-40B4-BE49-F238E27FC236}">
                    <a16:creationId xmlns:a16="http://schemas.microsoft.com/office/drawing/2014/main" id="{3F5BEB81-B81E-020E-044D-CE837612BBCB}"/>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pic>
        <p:nvPicPr>
          <p:cNvPr id="358" name="Grafik 357">
            <a:extLst>
              <a:ext uri="{FF2B5EF4-FFF2-40B4-BE49-F238E27FC236}">
                <a16:creationId xmlns:a16="http://schemas.microsoft.com/office/drawing/2014/main" id="{C502F29D-9BFD-D495-F657-1461BE157D9C}"/>
              </a:ext>
            </a:extLst>
          </p:cNvPr>
          <p:cNvPicPr>
            <a:picLocks noChangeAspect="1"/>
          </p:cNvPicPr>
          <p:nvPr/>
        </p:nvPicPr>
        <p:blipFill>
          <a:blip r:embed="rId8">
            <a:clrChange>
              <a:clrFrom>
                <a:srgbClr val="FFFFFF"/>
              </a:clrFrom>
              <a:clrTo>
                <a:srgbClr val="FFFFFF">
                  <a:alpha val="0"/>
                </a:srgbClr>
              </a:clrTo>
            </a:clrChange>
            <a:extLst>
              <a:ext uri="{BEBA8EAE-BF5A-486C-A8C5-ECC9F3942E4B}">
                <a14:imgProps xmlns:a14="http://schemas.microsoft.com/office/drawing/2010/main">
                  <a14:imgLayer r:embed="rId9">
                    <a14:imgEffect>
                      <a14:saturation sat="0"/>
                    </a14:imgEffect>
                  </a14:imgLayer>
                </a14:imgProps>
              </a:ext>
            </a:extLst>
          </a:blip>
          <a:stretch>
            <a:fillRect/>
          </a:stretch>
        </p:blipFill>
        <p:spPr>
          <a:xfrm rot="6809829">
            <a:off x="8908664" y="2187484"/>
            <a:ext cx="1181531" cy="834402"/>
          </a:xfrm>
          <a:prstGeom prst="rect">
            <a:avLst/>
          </a:prstGeom>
        </p:spPr>
      </p:pic>
      <p:grpSp>
        <p:nvGrpSpPr>
          <p:cNvPr id="360" name="Gruppieren 359">
            <a:extLst>
              <a:ext uri="{FF2B5EF4-FFF2-40B4-BE49-F238E27FC236}">
                <a16:creationId xmlns:a16="http://schemas.microsoft.com/office/drawing/2014/main" id="{AFB7EF0B-F378-E478-60FE-6850B2AA25A8}"/>
              </a:ext>
            </a:extLst>
          </p:cNvPr>
          <p:cNvGrpSpPr/>
          <p:nvPr/>
        </p:nvGrpSpPr>
        <p:grpSpPr>
          <a:xfrm>
            <a:off x="9801918" y="4142328"/>
            <a:ext cx="863639" cy="432000"/>
            <a:chOff x="9711678" y="4322351"/>
            <a:chExt cx="863639" cy="432000"/>
          </a:xfrm>
        </p:grpSpPr>
        <p:sp>
          <p:nvSpPr>
            <p:cNvPr id="361" name="Rechteck 360">
              <a:extLst>
                <a:ext uri="{FF2B5EF4-FFF2-40B4-BE49-F238E27FC236}">
                  <a16:creationId xmlns:a16="http://schemas.microsoft.com/office/drawing/2014/main" id="{7D12DA77-C825-1830-36BA-0B004448C199}"/>
                </a:ext>
              </a:extLst>
            </p:cNvPr>
            <p:cNvSpPr/>
            <p:nvPr/>
          </p:nvSpPr>
          <p:spPr>
            <a:xfrm>
              <a:off x="9711678" y="4322351"/>
              <a:ext cx="863639"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362" name="Gruppieren 361">
              <a:extLst>
                <a:ext uri="{FF2B5EF4-FFF2-40B4-BE49-F238E27FC236}">
                  <a16:creationId xmlns:a16="http://schemas.microsoft.com/office/drawing/2014/main" id="{A4E7AC06-DFA3-8F86-4C1A-66188EC232FD}"/>
                </a:ext>
              </a:extLst>
            </p:cNvPr>
            <p:cNvGrpSpPr/>
            <p:nvPr/>
          </p:nvGrpSpPr>
          <p:grpSpPr>
            <a:xfrm rot="5400000" flipH="1">
              <a:off x="10148848" y="4362092"/>
              <a:ext cx="25807" cy="726114"/>
              <a:chOff x="6851814" y="1766023"/>
              <a:chExt cx="78569" cy="2068826"/>
            </a:xfrm>
          </p:grpSpPr>
          <p:sp>
            <p:nvSpPr>
              <p:cNvPr id="513" name="Rechteck 512">
                <a:extLst>
                  <a:ext uri="{FF2B5EF4-FFF2-40B4-BE49-F238E27FC236}">
                    <a16:creationId xmlns:a16="http://schemas.microsoft.com/office/drawing/2014/main" id="{D0AD5FE1-41B5-2A62-D021-920B1DFC3862}"/>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14" name="Rechteck 513">
                <a:extLst>
                  <a:ext uri="{FF2B5EF4-FFF2-40B4-BE49-F238E27FC236}">
                    <a16:creationId xmlns:a16="http://schemas.microsoft.com/office/drawing/2014/main" id="{D991BEE8-71DA-646E-35AB-14A013A61E41}"/>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15" name="Rechteck 514">
                <a:extLst>
                  <a:ext uri="{FF2B5EF4-FFF2-40B4-BE49-F238E27FC236}">
                    <a16:creationId xmlns:a16="http://schemas.microsoft.com/office/drawing/2014/main" id="{A41A0923-5EC8-3AA2-D6B9-3FB642639AA2}"/>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16" name="Rechteck 515">
                <a:extLst>
                  <a:ext uri="{FF2B5EF4-FFF2-40B4-BE49-F238E27FC236}">
                    <a16:creationId xmlns:a16="http://schemas.microsoft.com/office/drawing/2014/main" id="{6368BC04-F4C2-C375-8CB5-F698DC98B945}"/>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17" name="Rechteck 516">
                <a:extLst>
                  <a:ext uri="{FF2B5EF4-FFF2-40B4-BE49-F238E27FC236}">
                    <a16:creationId xmlns:a16="http://schemas.microsoft.com/office/drawing/2014/main" id="{5F02AFB7-C8BC-35B6-1B99-96726B7392EA}"/>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63" name="Gruppieren 362">
              <a:extLst>
                <a:ext uri="{FF2B5EF4-FFF2-40B4-BE49-F238E27FC236}">
                  <a16:creationId xmlns:a16="http://schemas.microsoft.com/office/drawing/2014/main" id="{52574240-5782-9A5F-A5CC-1F8665280331}"/>
                </a:ext>
              </a:extLst>
            </p:cNvPr>
            <p:cNvGrpSpPr/>
            <p:nvPr/>
          </p:nvGrpSpPr>
          <p:grpSpPr>
            <a:xfrm rot="5400000" flipH="1">
              <a:off x="10149991" y="4314573"/>
              <a:ext cx="25807" cy="726114"/>
              <a:chOff x="6851814" y="1766023"/>
              <a:chExt cx="78569" cy="2068826"/>
            </a:xfrm>
          </p:grpSpPr>
          <p:sp>
            <p:nvSpPr>
              <p:cNvPr id="429" name="Rechteck 428">
                <a:extLst>
                  <a:ext uri="{FF2B5EF4-FFF2-40B4-BE49-F238E27FC236}">
                    <a16:creationId xmlns:a16="http://schemas.microsoft.com/office/drawing/2014/main" id="{8C30F93F-F203-2D0F-9028-ACFCEDC76562}"/>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38" name="Rechteck 437">
                <a:extLst>
                  <a:ext uri="{FF2B5EF4-FFF2-40B4-BE49-F238E27FC236}">
                    <a16:creationId xmlns:a16="http://schemas.microsoft.com/office/drawing/2014/main" id="{183E2E29-ED1A-31BA-6D25-DE17B6DAB010}"/>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439" name="Rechteck 438">
                <a:extLst>
                  <a:ext uri="{FF2B5EF4-FFF2-40B4-BE49-F238E27FC236}">
                    <a16:creationId xmlns:a16="http://schemas.microsoft.com/office/drawing/2014/main" id="{0836BF7B-A995-2069-AA60-788029D858A9}"/>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40" name="Rechteck 439">
                <a:extLst>
                  <a:ext uri="{FF2B5EF4-FFF2-40B4-BE49-F238E27FC236}">
                    <a16:creationId xmlns:a16="http://schemas.microsoft.com/office/drawing/2014/main" id="{48D871A4-9DD7-4685-B330-BEED9EF8F4AF}"/>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12" name="Rechteck 511">
                <a:extLst>
                  <a:ext uri="{FF2B5EF4-FFF2-40B4-BE49-F238E27FC236}">
                    <a16:creationId xmlns:a16="http://schemas.microsoft.com/office/drawing/2014/main" id="{CC1D6E44-2F71-3B5F-8181-319FF42CB029}"/>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64" name="Gruppieren 363">
              <a:extLst>
                <a:ext uri="{FF2B5EF4-FFF2-40B4-BE49-F238E27FC236}">
                  <a16:creationId xmlns:a16="http://schemas.microsoft.com/office/drawing/2014/main" id="{D1776306-DF8A-A599-6267-30EDD7BB4756}"/>
                </a:ext>
              </a:extLst>
            </p:cNvPr>
            <p:cNvGrpSpPr/>
            <p:nvPr/>
          </p:nvGrpSpPr>
          <p:grpSpPr>
            <a:xfrm rot="5400000" flipH="1">
              <a:off x="10150439" y="4267600"/>
              <a:ext cx="25807" cy="726114"/>
              <a:chOff x="6851814" y="1766023"/>
              <a:chExt cx="78569" cy="2068826"/>
            </a:xfrm>
          </p:grpSpPr>
          <p:sp>
            <p:nvSpPr>
              <p:cNvPr id="414" name="Rechteck 413">
                <a:extLst>
                  <a:ext uri="{FF2B5EF4-FFF2-40B4-BE49-F238E27FC236}">
                    <a16:creationId xmlns:a16="http://schemas.microsoft.com/office/drawing/2014/main" id="{05CE209D-A446-0FAF-29BD-3D12AD05F016}"/>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20" name="Rechteck 419">
                <a:extLst>
                  <a:ext uri="{FF2B5EF4-FFF2-40B4-BE49-F238E27FC236}">
                    <a16:creationId xmlns:a16="http://schemas.microsoft.com/office/drawing/2014/main" id="{EEC1F073-053A-FC3E-8ED3-34617769809C}"/>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425" name="Rechteck 424">
                <a:extLst>
                  <a:ext uri="{FF2B5EF4-FFF2-40B4-BE49-F238E27FC236}">
                    <a16:creationId xmlns:a16="http://schemas.microsoft.com/office/drawing/2014/main" id="{31A9A37F-0AF6-82D6-0C72-30FC833CD81F}"/>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27" name="Rechteck 426">
                <a:extLst>
                  <a:ext uri="{FF2B5EF4-FFF2-40B4-BE49-F238E27FC236}">
                    <a16:creationId xmlns:a16="http://schemas.microsoft.com/office/drawing/2014/main" id="{9DEE4EC4-8934-9C66-8EB9-D47D37FB08E3}"/>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28" name="Rechteck 427">
                <a:extLst>
                  <a:ext uri="{FF2B5EF4-FFF2-40B4-BE49-F238E27FC236}">
                    <a16:creationId xmlns:a16="http://schemas.microsoft.com/office/drawing/2014/main" id="{77B3C3EB-D29E-9E81-28F5-AE9728764AD1}"/>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65" name="Gruppieren 364">
              <a:extLst>
                <a:ext uri="{FF2B5EF4-FFF2-40B4-BE49-F238E27FC236}">
                  <a16:creationId xmlns:a16="http://schemas.microsoft.com/office/drawing/2014/main" id="{835DC129-EAF9-90A3-B6B8-A3441B2AD5F1}"/>
                </a:ext>
              </a:extLst>
            </p:cNvPr>
            <p:cNvGrpSpPr/>
            <p:nvPr/>
          </p:nvGrpSpPr>
          <p:grpSpPr>
            <a:xfrm rot="5400000" flipH="1">
              <a:off x="10150438" y="4219970"/>
              <a:ext cx="25807" cy="726114"/>
              <a:chOff x="6851814" y="1766023"/>
              <a:chExt cx="78569" cy="2068826"/>
            </a:xfrm>
          </p:grpSpPr>
          <p:sp>
            <p:nvSpPr>
              <p:cNvPr id="404" name="Rechteck 403">
                <a:extLst>
                  <a:ext uri="{FF2B5EF4-FFF2-40B4-BE49-F238E27FC236}">
                    <a16:creationId xmlns:a16="http://schemas.microsoft.com/office/drawing/2014/main" id="{8B9F014B-3D28-1E8C-16A0-8739A028AB5D}"/>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05" name="Rechteck 404">
                <a:extLst>
                  <a:ext uri="{FF2B5EF4-FFF2-40B4-BE49-F238E27FC236}">
                    <a16:creationId xmlns:a16="http://schemas.microsoft.com/office/drawing/2014/main" id="{6B41D1E9-19AA-3232-0462-B3DE7E1C9593}"/>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407" name="Rechteck 406">
                <a:extLst>
                  <a:ext uri="{FF2B5EF4-FFF2-40B4-BE49-F238E27FC236}">
                    <a16:creationId xmlns:a16="http://schemas.microsoft.com/office/drawing/2014/main" id="{B0841141-7D51-6FC5-5B1A-553034F98EED}"/>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09" name="Rechteck 408">
                <a:extLst>
                  <a:ext uri="{FF2B5EF4-FFF2-40B4-BE49-F238E27FC236}">
                    <a16:creationId xmlns:a16="http://schemas.microsoft.com/office/drawing/2014/main" id="{57EADD79-382E-2E64-DA31-08251E7CD98F}"/>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11" name="Rechteck 410">
                <a:extLst>
                  <a:ext uri="{FF2B5EF4-FFF2-40B4-BE49-F238E27FC236}">
                    <a16:creationId xmlns:a16="http://schemas.microsoft.com/office/drawing/2014/main" id="{B549451B-45D1-4CD6-219F-927B94AA70E4}"/>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66" name="Gruppieren 365">
              <a:extLst>
                <a:ext uri="{FF2B5EF4-FFF2-40B4-BE49-F238E27FC236}">
                  <a16:creationId xmlns:a16="http://schemas.microsoft.com/office/drawing/2014/main" id="{BCDA17F6-B5E1-415A-E3C3-54D0F2DEB74B}"/>
                </a:ext>
              </a:extLst>
            </p:cNvPr>
            <p:cNvGrpSpPr/>
            <p:nvPr/>
          </p:nvGrpSpPr>
          <p:grpSpPr>
            <a:xfrm rot="5400000" flipH="1">
              <a:off x="10135198" y="4043313"/>
              <a:ext cx="25807" cy="726114"/>
              <a:chOff x="6851814" y="1766023"/>
              <a:chExt cx="78569" cy="2068826"/>
            </a:xfrm>
          </p:grpSpPr>
          <p:sp>
            <p:nvSpPr>
              <p:cNvPr id="393" name="Rechteck 392">
                <a:extLst>
                  <a:ext uri="{FF2B5EF4-FFF2-40B4-BE49-F238E27FC236}">
                    <a16:creationId xmlns:a16="http://schemas.microsoft.com/office/drawing/2014/main" id="{42111AB3-55D6-899D-130C-B46356E0FE76}"/>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95" name="Rechteck 394">
                <a:extLst>
                  <a:ext uri="{FF2B5EF4-FFF2-40B4-BE49-F238E27FC236}">
                    <a16:creationId xmlns:a16="http://schemas.microsoft.com/office/drawing/2014/main" id="{F7C50539-0A3C-7BFE-F891-AAE8B30896FD}"/>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99" name="Rechteck 398">
                <a:extLst>
                  <a:ext uri="{FF2B5EF4-FFF2-40B4-BE49-F238E27FC236}">
                    <a16:creationId xmlns:a16="http://schemas.microsoft.com/office/drawing/2014/main" id="{6FA8929C-6FE5-B500-FE3C-78333F06F1D3}"/>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00" name="Rechteck 399">
                <a:extLst>
                  <a:ext uri="{FF2B5EF4-FFF2-40B4-BE49-F238E27FC236}">
                    <a16:creationId xmlns:a16="http://schemas.microsoft.com/office/drawing/2014/main" id="{0BC00A02-8039-E7E7-0688-02A50329C207}"/>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403" name="Rechteck 402">
                <a:extLst>
                  <a:ext uri="{FF2B5EF4-FFF2-40B4-BE49-F238E27FC236}">
                    <a16:creationId xmlns:a16="http://schemas.microsoft.com/office/drawing/2014/main" id="{C7614B48-BF7A-1B9C-49FE-5F3CBADC55F9}"/>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67" name="Gruppieren 366">
              <a:extLst>
                <a:ext uri="{FF2B5EF4-FFF2-40B4-BE49-F238E27FC236}">
                  <a16:creationId xmlns:a16="http://schemas.microsoft.com/office/drawing/2014/main" id="{85C59262-6169-D863-C396-593EE5319DDD}"/>
                </a:ext>
              </a:extLst>
            </p:cNvPr>
            <p:cNvGrpSpPr/>
            <p:nvPr/>
          </p:nvGrpSpPr>
          <p:grpSpPr>
            <a:xfrm rot="5400000" flipH="1">
              <a:off x="10139008" y="4102933"/>
              <a:ext cx="25807" cy="726114"/>
              <a:chOff x="6851814" y="1766023"/>
              <a:chExt cx="78569" cy="2068826"/>
            </a:xfrm>
          </p:grpSpPr>
          <p:sp>
            <p:nvSpPr>
              <p:cNvPr id="388" name="Rechteck 387">
                <a:extLst>
                  <a:ext uri="{FF2B5EF4-FFF2-40B4-BE49-F238E27FC236}">
                    <a16:creationId xmlns:a16="http://schemas.microsoft.com/office/drawing/2014/main" id="{98C1213E-AA79-DD89-83CB-831798DB85B9}"/>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9" name="Rechteck 388">
                <a:extLst>
                  <a:ext uri="{FF2B5EF4-FFF2-40B4-BE49-F238E27FC236}">
                    <a16:creationId xmlns:a16="http://schemas.microsoft.com/office/drawing/2014/main" id="{19EA822B-00F5-50AF-C358-368D9DA51F90}"/>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90" name="Rechteck 389">
                <a:extLst>
                  <a:ext uri="{FF2B5EF4-FFF2-40B4-BE49-F238E27FC236}">
                    <a16:creationId xmlns:a16="http://schemas.microsoft.com/office/drawing/2014/main" id="{7D65D61F-7EC4-0B9F-F792-F5DCC1C5971A}"/>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91" name="Rechteck 390">
                <a:extLst>
                  <a:ext uri="{FF2B5EF4-FFF2-40B4-BE49-F238E27FC236}">
                    <a16:creationId xmlns:a16="http://schemas.microsoft.com/office/drawing/2014/main" id="{601F9A20-E08A-1792-A251-7CC8F3A283AE}"/>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92" name="Rechteck 391">
                <a:extLst>
                  <a:ext uri="{FF2B5EF4-FFF2-40B4-BE49-F238E27FC236}">
                    <a16:creationId xmlns:a16="http://schemas.microsoft.com/office/drawing/2014/main" id="{3376B89A-018E-43AC-7230-95751D209ACE}"/>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68" name="Gruppieren 367">
              <a:extLst>
                <a:ext uri="{FF2B5EF4-FFF2-40B4-BE49-F238E27FC236}">
                  <a16:creationId xmlns:a16="http://schemas.microsoft.com/office/drawing/2014/main" id="{9C5A53B0-F13A-72F1-B523-1A11C165D314}"/>
                </a:ext>
              </a:extLst>
            </p:cNvPr>
            <p:cNvGrpSpPr/>
            <p:nvPr/>
          </p:nvGrpSpPr>
          <p:grpSpPr>
            <a:xfrm rot="5400000" flipH="1">
              <a:off x="10140913" y="4159010"/>
              <a:ext cx="25807" cy="726114"/>
              <a:chOff x="6851814" y="1766023"/>
              <a:chExt cx="78569" cy="2068826"/>
            </a:xfrm>
          </p:grpSpPr>
          <p:sp>
            <p:nvSpPr>
              <p:cNvPr id="383" name="Rechteck 382">
                <a:extLst>
                  <a:ext uri="{FF2B5EF4-FFF2-40B4-BE49-F238E27FC236}">
                    <a16:creationId xmlns:a16="http://schemas.microsoft.com/office/drawing/2014/main" id="{2962A312-323A-E3C8-E517-5F24BC899B94}"/>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4" name="Rechteck 383">
                <a:extLst>
                  <a:ext uri="{FF2B5EF4-FFF2-40B4-BE49-F238E27FC236}">
                    <a16:creationId xmlns:a16="http://schemas.microsoft.com/office/drawing/2014/main" id="{86D09457-E6CE-FFB2-2B8A-2D3A925CB0BD}"/>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85" name="Rechteck 384">
                <a:extLst>
                  <a:ext uri="{FF2B5EF4-FFF2-40B4-BE49-F238E27FC236}">
                    <a16:creationId xmlns:a16="http://schemas.microsoft.com/office/drawing/2014/main" id="{EA76353A-CC25-041F-2556-FC628330EA9F}"/>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6" name="Rechteck 385">
                <a:extLst>
                  <a:ext uri="{FF2B5EF4-FFF2-40B4-BE49-F238E27FC236}">
                    <a16:creationId xmlns:a16="http://schemas.microsoft.com/office/drawing/2014/main" id="{C129559F-3E48-B922-ABBB-9DC320A6554D}"/>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7" name="Rechteck 386">
                <a:extLst>
                  <a:ext uri="{FF2B5EF4-FFF2-40B4-BE49-F238E27FC236}">
                    <a16:creationId xmlns:a16="http://schemas.microsoft.com/office/drawing/2014/main" id="{CD239732-471A-EBE9-3D27-B8E6C2B587DB}"/>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69" name="Gruppieren 368">
              <a:extLst>
                <a:ext uri="{FF2B5EF4-FFF2-40B4-BE49-F238E27FC236}">
                  <a16:creationId xmlns:a16="http://schemas.microsoft.com/office/drawing/2014/main" id="{ABCF88FE-14D5-C68E-C705-5DA658CF0112}"/>
                </a:ext>
              </a:extLst>
            </p:cNvPr>
            <p:cNvGrpSpPr/>
            <p:nvPr/>
          </p:nvGrpSpPr>
          <p:grpSpPr>
            <a:xfrm rot="5400000" flipH="1">
              <a:off x="10156153" y="4162820"/>
              <a:ext cx="25807" cy="726114"/>
              <a:chOff x="6851814" y="1766023"/>
              <a:chExt cx="78569" cy="2068826"/>
            </a:xfrm>
          </p:grpSpPr>
          <p:sp>
            <p:nvSpPr>
              <p:cNvPr id="377" name="Rechteck 376">
                <a:extLst>
                  <a:ext uri="{FF2B5EF4-FFF2-40B4-BE49-F238E27FC236}">
                    <a16:creationId xmlns:a16="http://schemas.microsoft.com/office/drawing/2014/main" id="{0AF67240-6973-A522-EB5F-2992B0F9D8C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8" name="Rechteck 377">
                <a:extLst>
                  <a:ext uri="{FF2B5EF4-FFF2-40B4-BE49-F238E27FC236}">
                    <a16:creationId xmlns:a16="http://schemas.microsoft.com/office/drawing/2014/main" id="{CEFBC8B9-4309-C112-3753-831C0326A09E}"/>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79" name="Rechteck 378">
                <a:extLst>
                  <a:ext uri="{FF2B5EF4-FFF2-40B4-BE49-F238E27FC236}">
                    <a16:creationId xmlns:a16="http://schemas.microsoft.com/office/drawing/2014/main" id="{F192B354-4926-DB75-BB51-AE32FBD2A6D9}"/>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1" name="Rechteck 380">
                <a:extLst>
                  <a:ext uri="{FF2B5EF4-FFF2-40B4-BE49-F238E27FC236}">
                    <a16:creationId xmlns:a16="http://schemas.microsoft.com/office/drawing/2014/main" id="{75112D33-5990-AC6E-81C8-489E7863D890}"/>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82" name="Rechteck 381">
                <a:extLst>
                  <a:ext uri="{FF2B5EF4-FFF2-40B4-BE49-F238E27FC236}">
                    <a16:creationId xmlns:a16="http://schemas.microsoft.com/office/drawing/2014/main" id="{53DC00BE-83AC-D62E-F8D1-C2C979940AD7}"/>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370" name="Gruppieren 369">
              <a:extLst>
                <a:ext uri="{FF2B5EF4-FFF2-40B4-BE49-F238E27FC236}">
                  <a16:creationId xmlns:a16="http://schemas.microsoft.com/office/drawing/2014/main" id="{14BC71D4-EB6E-F22B-966E-E4D99BEE88B5}"/>
                </a:ext>
              </a:extLst>
            </p:cNvPr>
            <p:cNvGrpSpPr/>
            <p:nvPr/>
          </p:nvGrpSpPr>
          <p:grpSpPr>
            <a:xfrm rot="5400000" flipH="1">
              <a:off x="10142818" y="3991841"/>
              <a:ext cx="25807" cy="726114"/>
              <a:chOff x="6851814" y="1766023"/>
              <a:chExt cx="78569" cy="2068826"/>
            </a:xfrm>
          </p:grpSpPr>
          <p:sp>
            <p:nvSpPr>
              <p:cNvPr id="371" name="Rechteck 370">
                <a:extLst>
                  <a:ext uri="{FF2B5EF4-FFF2-40B4-BE49-F238E27FC236}">
                    <a16:creationId xmlns:a16="http://schemas.microsoft.com/office/drawing/2014/main" id="{4480A262-F858-5564-6246-E3D8DB295E72}"/>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2" name="Rechteck 371">
                <a:extLst>
                  <a:ext uri="{FF2B5EF4-FFF2-40B4-BE49-F238E27FC236}">
                    <a16:creationId xmlns:a16="http://schemas.microsoft.com/office/drawing/2014/main" id="{A23F34F5-A209-430E-6325-AC8DF28BEBCB}"/>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373" name="Rechteck 372">
                <a:extLst>
                  <a:ext uri="{FF2B5EF4-FFF2-40B4-BE49-F238E27FC236}">
                    <a16:creationId xmlns:a16="http://schemas.microsoft.com/office/drawing/2014/main" id="{187B061B-D290-96DB-6983-06CB7107544A}"/>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4" name="Rechteck 373">
                <a:extLst>
                  <a:ext uri="{FF2B5EF4-FFF2-40B4-BE49-F238E27FC236}">
                    <a16:creationId xmlns:a16="http://schemas.microsoft.com/office/drawing/2014/main" id="{5A279C0A-4E5F-5E16-2E7F-0F1C54BA8004}"/>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375" name="Rechteck 374">
                <a:extLst>
                  <a:ext uri="{FF2B5EF4-FFF2-40B4-BE49-F238E27FC236}">
                    <a16:creationId xmlns:a16="http://schemas.microsoft.com/office/drawing/2014/main" id="{14E59261-07A4-FBCF-1D06-232DECA458AD}"/>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grpSp>
        <p:nvGrpSpPr>
          <p:cNvPr id="518" name="Gruppieren 517">
            <a:extLst>
              <a:ext uri="{FF2B5EF4-FFF2-40B4-BE49-F238E27FC236}">
                <a16:creationId xmlns:a16="http://schemas.microsoft.com/office/drawing/2014/main" id="{E8E5AB1C-270B-A9F0-FCFC-332A8BA92633}"/>
              </a:ext>
            </a:extLst>
          </p:cNvPr>
          <p:cNvGrpSpPr/>
          <p:nvPr/>
        </p:nvGrpSpPr>
        <p:grpSpPr>
          <a:xfrm>
            <a:off x="9805093" y="3665351"/>
            <a:ext cx="863639" cy="432000"/>
            <a:chOff x="9711678" y="4322351"/>
            <a:chExt cx="863639" cy="432000"/>
          </a:xfrm>
        </p:grpSpPr>
        <p:sp>
          <p:nvSpPr>
            <p:cNvPr id="519" name="Rechteck 518">
              <a:extLst>
                <a:ext uri="{FF2B5EF4-FFF2-40B4-BE49-F238E27FC236}">
                  <a16:creationId xmlns:a16="http://schemas.microsoft.com/office/drawing/2014/main" id="{60569323-71C9-1EB0-1BDC-E7BF9094E863}"/>
                </a:ext>
              </a:extLst>
            </p:cNvPr>
            <p:cNvSpPr/>
            <p:nvPr/>
          </p:nvSpPr>
          <p:spPr>
            <a:xfrm>
              <a:off x="9711678" y="4322351"/>
              <a:ext cx="863639"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520" name="Gruppieren 519">
              <a:extLst>
                <a:ext uri="{FF2B5EF4-FFF2-40B4-BE49-F238E27FC236}">
                  <a16:creationId xmlns:a16="http://schemas.microsoft.com/office/drawing/2014/main" id="{B0125662-52F5-58A6-B930-6A769DBEC1C4}"/>
                </a:ext>
              </a:extLst>
            </p:cNvPr>
            <p:cNvGrpSpPr/>
            <p:nvPr/>
          </p:nvGrpSpPr>
          <p:grpSpPr>
            <a:xfrm rot="5400000" flipH="1">
              <a:off x="10148848" y="4362092"/>
              <a:ext cx="25807" cy="726114"/>
              <a:chOff x="6851814" y="1766023"/>
              <a:chExt cx="78569" cy="2068826"/>
            </a:xfrm>
          </p:grpSpPr>
          <p:sp>
            <p:nvSpPr>
              <p:cNvPr id="569" name="Rechteck 568">
                <a:extLst>
                  <a:ext uri="{FF2B5EF4-FFF2-40B4-BE49-F238E27FC236}">
                    <a16:creationId xmlns:a16="http://schemas.microsoft.com/office/drawing/2014/main" id="{146028A2-A111-E186-3DBF-A51145696243}"/>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70" name="Rechteck 569">
                <a:extLst>
                  <a:ext uri="{FF2B5EF4-FFF2-40B4-BE49-F238E27FC236}">
                    <a16:creationId xmlns:a16="http://schemas.microsoft.com/office/drawing/2014/main" id="{C58B535A-AA8D-00DB-2C57-108C22BC9999}"/>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71" name="Rechteck 570">
                <a:extLst>
                  <a:ext uri="{FF2B5EF4-FFF2-40B4-BE49-F238E27FC236}">
                    <a16:creationId xmlns:a16="http://schemas.microsoft.com/office/drawing/2014/main" id="{7BDBA0FE-8DD5-4DC0-32A6-15DED28B283A}"/>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72" name="Rechteck 571">
                <a:extLst>
                  <a:ext uri="{FF2B5EF4-FFF2-40B4-BE49-F238E27FC236}">
                    <a16:creationId xmlns:a16="http://schemas.microsoft.com/office/drawing/2014/main" id="{F87B786A-3A8C-EF44-357B-3332024E2372}"/>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73" name="Rechteck 572">
                <a:extLst>
                  <a:ext uri="{FF2B5EF4-FFF2-40B4-BE49-F238E27FC236}">
                    <a16:creationId xmlns:a16="http://schemas.microsoft.com/office/drawing/2014/main" id="{917A3D69-3CB7-DA53-E936-68A68DBDF10E}"/>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21" name="Gruppieren 520">
              <a:extLst>
                <a:ext uri="{FF2B5EF4-FFF2-40B4-BE49-F238E27FC236}">
                  <a16:creationId xmlns:a16="http://schemas.microsoft.com/office/drawing/2014/main" id="{314404C1-ABAC-AB02-30F2-5398BF54821F}"/>
                </a:ext>
              </a:extLst>
            </p:cNvPr>
            <p:cNvGrpSpPr/>
            <p:nvPr/>
          </p:nvGrpSpPr>
          <p:grpSpPr>
            <a:xfrm rot="5400000" flipH="1">
              <a:off x="10149991" y="4314573"/>
              <a:ext cx="25807" cy="726114"/>
              <a:chOff x="6851814" y="1766023"/>
              <a:chExt cx="78569" cy="2068826"/>
            </a:xfrm>
          </p:grpSpPr>
          <p:sp>
            <p:nvSpPr>
              <p:cNvPr id="564" name="Rechteck 563">
                <a:extLst>
                  <a:ext uri="{FF2B5EF4-FFF2-40B4-BE49-F238E27FC236}">
                    <a16:creationId xmlns:a16="http://schemas.microsoft.com/office/drawing/2014/main" id="{08D613D6-F731-5D70-06AD-2886A00F6477}"/>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65" name="Rechteck 564">
                <a:extLst>
                  <a:ext uri="{FF2B5EF4-FFF2-40B4-BE49-F238E27FC236}">
                    <a16:creationId xmlns:a16="http://schemas.microsoft.com/office/drawing/2014/main" id="{8F7572FC-8EA8-8B5B-1867-B624FDFCD7E9}"/>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66" name="Rechteck 565">
                <a:extLst>
                  <a:ext uri="{FF2B5EF4-FFF2-40B4-BE49-F238E27FC236}">
                    <a16:creationId xmlns:a16="http://schemas.microsoft.com/office/drawing/2014/main" id="{351B84E8-7627-BD41-243F-F094FCACF3A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67" name="Rechteck 566">
                <a:extLst>
                  <a:ext uri="{FF2B5EF4-FFF2-40B4-BE49-F238E27FC236}">
                    <a16:creationId xmlns:a16="http://schemas.microsoft.com/office/drawing/2014/main" id="{8F238E9A-A401-AE9B-C79B-7F719B5A71C0}"/>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68" name="Rechteck 567">
                <a:extLst>
                  <a:ext uri="{FF2B5EF4-FFF2-40B4-BE49-F238E27FC236}">
                    <a16:creationId xmlns:a16="http://schemas.microsoft.com/office/drawing/2014/main" id="{59BB41E5-A05F-7467-FC0C-F975FD289F9F}"/>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22" name="Gruppieren 521">
              <a:extLst>
                <a:ext uri="{FF2B5EF4-FFF2-40B4-BE49-F238E27FC236}">
                  <a16:creationId xmlns:a16="http://schemas.microsoft.com/office/drawing/2014/main" id="{34D2ACD7-C379-58C7-7684-C0B5D6E1954E}"/>
                </a:ext>
              </a:extLst>
            </p:cNvPr>
            <p:cNvGrpSpPr/>
            <p:nvPr/>
          </p:nvGrpSpPr>
          <p:grpSpPr>
            <a:xfrm rot="5400000" flipH="1">
              <a:off x="10150439" y="4267600"/>
              <a:ext cx="25807" cy="726114"/>
              <a:chOff x="6851814" y="1766023"/>
              <a:chExt cx="78569" cy="2068826"/>
            </a:xfrm>
          </p:grpSpPr>
          <p:sp>
            <p:nvSpPr>
              <p:cNvPr id="559" name="Rechteck 558">
                <a:extLst>
                  <a:ext uri="{FF2B5EF4-FFF2-40B4-BE49-F238E27FC236}">
                    <a16:creationId xmlns:a16="http://schemas.microsoft.com/office/drawing/2014/main" id="{A862CC31-5BB0-B75F-4E7B-78F2EE3C005F}"/>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60" name="Rechteck 559">
                <a:extLst>
                  <a:ext uri="{FF2B5EF4-FFF2-40B4-BE49-F238E27FC236}">
                    <a16:creationId xmlns:a16="http://schemas.microsoft.com/office/drawing/2014/main" id="{427EA972-B5A8-703A-8E71-A5B8ACB6494E}"/>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61" name="Rechteck 560">
                <a:extLst>
                  <a:ext uri="{FF2B5EF4-FFF2-40B4-BE49-F238E27FC236}">
                    <a16:creationId xmlns:a16="http://schemas.microsoft.com/office/drawing/2014/main" id="{137915D7-3861-5389-964A-499101225382}"/>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62" name="Rechteck 561">
                <a:extLst>
                  <a:ext uri="{FF2B5EF4-FFF2-40B4-BE49-F238E27FC236}">
                    <a16:creationId xmlns:a16="http://schemas.microsoft.com/office/drawing/2014/main" id="{276AE670-9E58-7F7E-BB81-62529D498247}"/>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63" name="Rechteck 562">
                <a:extLst>
                  <a:ext uri="{FF2B5EF4-FFF2-40B4-BE49-F238E27FC236}">
                    <a16:creationId xmlns:a16="http://schemas.microsoft.com/office/drawing/2014/main" id="{1C9359B5-E670-C2CB-1C1E-A4B9E90674DD}"/>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23" name="Gruppieren 522">
              <a:extLst>
                <a:ext uri="{FF2B5EF4-FFF2-40B4-BE49-F238E27FC236}">
                  <a16:creationId xmlns:a16="http://schemas.microsoft.com/office/drawing/2014/main" id="{A251FFF5-574F-0F20-6C00-CDB06D7DDB7D}"/>
                </a:ext>
              </a:extLst>
            </p:cNvPr>
            <p:cNvGrpSpPr/>
            <p:nvPr/>
          </p:nvGrpSpPr>
          <p:grpSpPr>
            <a:xfrm rot="5400000" flipH="1">
              <a:off x="10150438" y="4219970"/>
              <a:ext cx="25807" cy="726114"/>
              <a:chOff x="6851814" y="1766023"/>
              <a:chExt cx="78569" cy="2068826"/>
            </a:xfrm>
          </p:grpSpPr>
          <p:sp>
            <p:nvSpPr>
              <p:cNvPr id="554" name="Rechteck 553">
                <a:extLst>
                  <a:ext uri="{FF2B5EF4-FFF2-40B4-BE49-F238E27FC236}">
                    <a16:creationId xmlns:a16="http://schemas.microsoft.com/office/drawing/2014/main" id="{82F6C700-47E0-52B6-6806-E5A8A2C0FF5D}"/>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55" name="Rechteck 554">
                <a:extLst>
                  <a:ext uri="{FF2B5EF4-FFF2-40B4-BE49-F238E27FC236}">
                    <a16:creationId xmlns:a16="http://schemas.microsoft.com/office/drawing/2014/main" id="{873085FC-CA4C-DCCB-9356-DB7C0F9382D0}"/>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56" name="Rechteck 555">
                <a:extLst>
                  <a:ext uri="{FF2B5EF4-FFF2-40B4-BE49-F238E27FC236}">
                    <a16:creationId xmlns:a16="http://schemas.microsoft.com/office/drawing/2014/main" id="{D7DD79D0-1577-0E91-92D4-59995611781B}"/>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57" name="Rechteck 556">
                <a:extLst>
                  <a:ext uri="{FF2B5EF4-FFF2-40B4-BE49-F238E27FC236}">
                    <a16:creationId xmlns:a16="http://schemas.microsoft.com/office/drawing/2014/main" id="{54C97601-646E-FB1B-1D43-C0BE26C799AA}"/>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58" name="Rechteck 557">
                <a:extLst>
                  <a:ext uri="{FF2B5EF4-FFF2-40B4-BE49-F238E27FC236}">
                    <a16:creationId xmlns:a16="http://schemas.microsoft.com/office/drawing/2014/main" id="{E7D9FC35-6A7B-507F-FB33-26C0B84E1829}"/>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24" name="Gruppieren 523">
              <a:extLst>
                <a:ext uri="{FF2B5EF4-FFF2-40B4-BE49-F238E27FC236}">
                  <a16:creationId xmlns:a16="http://schemas.microsoft.com/office/drawing/2014/main" id="{3AECF75C-191E-9C13-911F-44CB98D608A4}"/>
                </a:ext>
              </a:extLst>
            </p:cNvPr>
            <p:cNvGrpSpPr/>
            <p:nvPr/>
          </p:nvGrpSpPr>
          <p:grpSpPr>
            <a:xfrm rot="5400000" flipH="1">
              <a:off x="10135198" y="4043313"/>
              <a:ext cx="25807" cy="726114"/>
              <a:chOff x="6851814" y="1766023"/>
              <a:chExt cx="78569" cy="2068826"/>
            </a:xfrm>
          </p:grpSpPr>
          <p:sp>
            <p:nvSpPr>
              <p:cNvPr id="549" name="Rechteck 548">
                <a:extLst>
                  <a:ext uri="{FF2B5EF4-FFF2-40B4-BE49-F238E27FC236}">
                    <a16:creationId xmlns:a16="http://schemas.microsoft.com/office/drawing/2014/main" id="{5740B0C3-EFC8-2CA6-6983-015ABAF002AC}"/>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50" name="Rechteck 549">
                <a:extLst>
                  <a:ext uri="{FF2B5EF4-FFF2-40B4-BE49-F238E27FC236}">
                    <a16:creationId xmlns:a16="http://schemas.microsoft.com/office/drawing/2014/main" id="{A011752C-FD62-1EE9-FF79-B3E1B9A6BEC8}"/>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51" name="Rechteck 550">
                <a:extLst>
                  <a:ext uri="{FF2B5EF4-FFF2-40B4-BE49-F238E27FC236}">
                    <a16:creationId xmlns:a16="http://schemas.microsoft.com/office/drawing/2014/main" id="{23569C8E-E107-3F92-7212-FF69B4067D74}"/>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52" name="Rechteck 551">
                <a:extLst>
                  <a:ext uri="{FF2B5EF4-FFF2-40B4-BE49-F238E27FC236}">
                    <a16:creationId xmlns:a16="http://schemas.microsoft.com/office/drawing/2014/main" id="{2C5B446C-5E13-3969-76A7-DB1E2F3E7CF7}"/>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53" name="Rechteck 552">
                <a:extLst>
                  <a:ext uri="{FF2B5EF4-FFF2-40B4-BE49-F238E27FC236}">
                    <a16:creationId xmlns:a16="http://schemas.microsoft.com/office/drawing/2014/main" id="{15494DE7-B800-34DA-861D-C31EF8B91562}"/>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25" name="Gruppieren 524">
              <a:extLst>
                <a:ext uri="{FF2B5EF4-FFF2-40B4-BE49-F238E27FC236}">
                  <a16:creationId xmlns:a16="http://schemas.microsoft.com/office/drawing/2014/main" id="{8B0B76BE-D086-C82D-4B85-455129861474}"/>
                </a:ext>
              </a:extLst>
            </p:cNvPr>
            <p:cNvGrpSpPr/>
            <p:nvPr/>
          </p:nvGrpSpPr>
          <p:grpSpPr>
            <a:xfrm rot="5400000" flipH="1">
              <a:off x="10139008" y="4102933"/>
              <a:ext cx="25807" cy="726114"/>
              <a:chOff x="6851814" y="1766023"/>
              <a:chExt cx="78569" cy="2068826"/>
            </a:xfrm>
          </p:grpSpPr>
          <p:sp>
            <p:nvSpPr>
              <p:cNvPr id="544" name="Rechteck 543">
                <a:extLst>
                  <a:ext uri="{FF2B5EF4-FFF2-40B4-BE49-F238E27FC236}">
                    <a16:creationId xmlns:a16="http://schemas.microsoft.com/office/drawing/2014/main" id="{C44E42C4-C094-81D3-73E9-B655F7117CF3}"/>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45" name="Rechteck 544">
                <a:extLst>
                  <a:ext uri="{FF2B5EF4-FFF2-40B4-BE49-F238E27FC236}">
                    <a16:creationId xmlns:a16="http://schemas.microsoft.com/office/drawing/2014/main" id="{EFE24F2A-C43E-6065-4278-A98C15C57172}"/>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46" name="Rechteck 545">
                <a:extLst>
                  <a:ext uri="{FF2B5EF4-FFF2-40B4-BE49-F238E27FC236}">
                    <a16:creationId xmlns:a16="http://schemas.microsoft.com/office/drawing/2014/main" id="{C0F8D81B-5584-A060-D7F3-4DD75BC824EB}"/>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47" name="Rechteck 546">
                <a:extLst>
                  <a:ext uri="{FF2B5EF4-FFF2-40B4-BE49-F238E27FC236}">
                    <a16:creationId xmlns:a16="http://schemas.microsoft.com/office/drawing/2014/main" id="{C5A221C7-58D5-F297-E003-C330DB78CF0F}"/>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48" name="Rechteck 547">
                <a:extLst>
                  <a:ext uri="{FF2B5EF4-FFF2-40B4-BE49-F238E27FC236}">
                    <a16:creationId xmlns:a16="http://schemas.microsoft.com/office/drawing/2014/main" id="{19432EAD-D8F8-80FD-D69D-18DBC2102A9F}"/>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26" name="Gruppieren 525">
              <a:extLst>
                <a:ext uri="{FF2B5EF4-FFF2-40B4-BE49-F238E27FC236}">
                  <a16:creationId xmlns:a16="http://schemas.microsoft.com/office/drawing/2014/main" id="{926A43FB-957E-F514-237D-DBD54CF0A239}"/>
                </a:ext>
              </a:extLst>
            </p:cNvPr>
            <p:cNvGrpSpPr/>
            <p:nvPr/>
          </p:nvGrpSpPr>
          <p:grpSpPr>
            <a:xfrm rot="5400000" flipH="1">
              <a:off x="10140913" y="4159010"/>
              <a:ext cx="25807" cy="726114"/>
              <a:chOff x="6851814" y="1766023"/>
              <a:chExt cx="78569" cy="2068826"/>
            </a:xfrm>
          </p:grpSpPr>
          <p:sp>
            <p:nvSpPr>
              <p:cNvPr id="539" name="Rechteck 538">
                <a:extLst>
                  <a:ext uri="{FF2B5EF4-FFF2-40B4-BE49-F238E27FC236}">
                    <a16:creationId xmlns:a16="http://schemas.microsoft.com/office/drawing/2014/main" id="{886EE0D0-ECD1-2762-20B6-66C78FC039A2}"/>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40" name="Rechteck 539">
                <a:extLst>
                  <a:ext uri="{FF2B5EF4-FFF2-40B4-BE49-F238E27FC236}">
                    <a16:creationId xmlns:a16="http://schemas.microsoft.com/office/drawing/2014/main" id="{AD9F6921-C189-279A-4056-B465C38BAF14}"/>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41" name="Rechteck 540">
                <a:extLst>
                  <a:ext uri="{FF2B5EF4-FFF2-40B4-BE49-F238E27FC236}">
                    <a16:creationId xmlns:a16="http://schemas.microsoft.com/office/drawing/2014/main" id="{53B0E94A-30FF-9EDF-8406-BAEA4BB4BAA3}"/>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42" name="Rechteck 541">
                <a:extLst>
                  <a:ext uri="{FF2B5EF4-FFF2-40B4-BE49-F238E27FC236}">
                    <a16:creationId xmlns:a16="http://schemas.microsoft.com/office/drawing/2014/main" id="{4596B3B4-5024-ADD3-C126-9C864FAEE244}"/>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43" name="Rechteck 542">
                <a:extLst>
                  <a:ext uri="{FF2B5EF4-FFF2-40B4-BE49-F238E27FC236}">
                    <a16:creationId xmlns:a16="http://schemas.microsoft.com/office/drawing/2014/main" id="{BF1F1EB3-0D38-491F-0BC4-39BBC146B1D1}"/>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27" name="Gruppieren 526">
              <a:extLst>
                <a:ext uri="{FF2B5EF4-FFF2-40B4-BE49-F238E27FC236}">
                  <a16:creationId xmlns:a16="http://schemas.microsoft.com/office/drawing/2014/main" id="{1402B7D9-49D1-7A75-B548-018052FC6088}"/>
                </a:ext>
              </a:extLst>
            </p:cNvPr>
            <p:cNvGrpSpPr/>
            <p:nvPr/>
          </p:nvGrpSpPr>
          <p:grpSpPr>
            <a:xfrm rot="5400000" flipH="1">
              <a:off x="10156153" y="4162820"/>
              <a:ext cx="25807" cy="726114"/>
              <a:chOff x="6851814" y="1766023"/>
              <a:chExt cx="78569" cy="2068826"/>
            </a:xfrm>
          </p:grpSpPr>
          <p:sp>
            <p:nvSpPr>
              <p:cNvPr id="534" name="Rechteck 533">
                <a:extLst>
                  <a:ext uri="{FF2B5EF4-FFF2-40B4-BE49-F238E27FC236}">
                    <a16:creationId xmlns:a16="http://schemas.microsoft.com/office/drawing/2014/main" id="{D21C61F1-B2D3-FF9C-E3B7-4A57F714F052}"/>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35" name="Rechteck 534">
                <a:extLst>
                  <a:ext uri="{FF2B5EF4-FFF2-40B4-BE49-F238E27FC236}">
                    <a16:creationId xmlns:a16="http://schemas.microsoft.com/office/drawing/2014/main" id="{1045D3D4-378F-D3CC-E390-89B2469CDF0F}"/>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36" name="Rechteck 535">
                <a:extLst>
                  <a:ext uri="{FF2B5EF4-FFF2-40B4-BE49-F238E27FC236}">
                    <a16:creationId xmlns:a16="http://schemas.microsoft.com/office/drawing/2014/main" id="{CA34F147-8290-5034-0DA8-7404FC12A535}"/>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37" name="Rechteck 536">
                <a:extLst>
                  <a:ext uri="{FF2B5EF4-FFF2-40B4-BE49-F238E27FC236}">
                    <a16:creationId xmlns:a16="http://schemas.microsoft.com/office/drawing/2014/main" id="{902BBC2C-B3BC-2DA2-9698-E08028E8D40C}"/>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38" name="Rechteck 537">
                <a:extLst>
                  <a:ext uri="{FF2B5EF4-FFF2-40B4-BE49-F238E27FC236}">
                    <a16:creationId xmlns:a16="http://schemas.microsoft.com/office/drawing/2014/main" id="{A4A83A0B-CC4F-AF47-33E8-FFDB1193DEE8}"/>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28" name="Gruppieren 527">
              <a:extLst>
                <a:ext uri="{FF2B5EF4-FFF2-40B4-BE49-F238E27FC236}">
                  <a16:creationId xmlns:a16="http://schemas.microsoft.com/office/drawing/2014/main" id="{39F6429D-BE4A-A8E9-CF79-48409910E58E}"/>
                </a:ext>
              </a:extLst>
            </p:cNvPr>
            <p:cNvGrpSpPr/>
            <p:nvPr/>
          </p:nvGrpSpPr>
          <p:grpSpPr>
            <a:xfrm rot="5400000" flipH="1">
              <a:off x="10142818" y="3991841"/>
              <a:ext cx="25807" cy="726114"/>
              <a:chOff x="6851814" y="1766023"/>
              <a:chExt cx="78569" cy="2068826"/>
            </a:xfrm>
          </p:grpSpPr>
          <p:sp>
            <p:nvSpPr>
              <p:cNvPr id="529" name="Rechteck 528">
                <a:extLst>
                  <a:ext uri="{FF2B5EF4-FFF2-40B4-BE49-F238E27FC236}">
                    <a16:creationId xmlns:a16="http://schemas.microsoft.com/office/drawing/2014/main" id="{271D4376-1EA6-DED7-DEB9-FC4DE0271227}"/>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30" name="Rechteck 529">
                <a:extLst>
                  <a:ext uri="{FF2B5EF4-FFF2-40B4-BE49-F238E27FC236}">
                    <a16:creationId xmlns:a16="http://schemas.microsoft.com/office/drawing/2014/main" id="{4EA7AE7A-368E-2DCD-E33C-FAC7AB0975AF}"/>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31" name="Rechteck 530">
                <a:extLst>
                  <a:ext uri="{FF2B5EF4-FFF2-40B4-BE49-F238E27FC236}">
                    <a16:creationId xmlns:a16="http://schemas.microsoft.com/office/drawing/2014/main" id="{799837CD-46BF-173B-8B01-E4B70B639862}"/>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32" name="Rechteck 531">
                <a:extLst>
                  <a:ext uri="{FF2B5EF4-FFF2-40B4-BE49-F238E27FC236}">
                    <a16:creationId xmlns:a16="http://schemas.microsoft.com/office/drawing/2014/main" id="{FCE468C1-A2A0-45B1-B872-65B9E5504CBC}"/>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33" name="Rechteck 532">
                <a:extLst>
                  <a:ext uri="{FF2B5EF4-FFF2-40B4-BE49-F238E27FC236}">
                    <a16:creationId xmlns:a16="http://schemas.microsoft.com/office/drawing/2014/main" id="{64A6A335-8E70-4F33-1AD2-C368D9E1628E}"/>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grpSp>
        <p:nvGrpSpPr>
          <p:cNvPr id="575" name="Gruppieren 574">
            <a:extLst>
              <a:ext uri="{FF2B5EF4-FFF2-40B4-BE49-F238E27FC236}">
                <a16:creationId xmlns:a16="http://schemas.microsoft.com/office/drawing/2014/main" id="{992B73C5-B001-5B2B-FDA4-57F45DE54EC4}"/>
              </a:ext>
            </a:extLst>
          </p:cNvPr>
          <p:cNvGrpSpPr/>
          <p:nvPr/>
        </p:nvGrpSpPr>
        <p:grpSpPr>
          <a:xfrm>
            <a:off x="9801082" y="3163157"/>
            <a:ext cx="863639" cy="432000"/>
            <a:chOff x="9711678" y="4322351"/>
            <a:chExt cx="863639" cy="432000"/>
          </a:xfrm>
        </p:grpSpPr>
        <p:sp>
          <p:nvSpPr>
            <p:cNvPr id="576" name="Rechteck 575">
              <a:extLst>
                <a:ext uri="{FF2B5EF4-FFF2-40B4-BE49-F238E27FC236}">
                  <a16:creationId xmlns:a16="http://schemas.microsoft.com/office/drawing/2014/main" id="{F2073A6E-AFEE-276E-E87A-15E59BE432FB}"/>
                </a:ext>
              </a:extLst>
            </p:cNvPr>
            <p:cNvSpPr/>
            <p:nvPr/>
          </p:nvSpPr>
          <p:spPr>
            <a:xfrm>
              <a:off x="9711678" y="4322351"/>
              <a:ext cx="863639" cy="43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nvGrpSpPr>
            <p:cNvPr id="577" name="Gruppieren 576">
              <a:extLst>
                <a:ext uri="{FF2B5EF4-FFF2-40B4-BE49-F238E27FC236}">
                  <a16:creationId xmlns:a16="http://schemas.microsoft.com/office/drawing/2014/main" id="{1CAE74BB-5A92-F863-6F5B-2E0F5F32AC58}"/>
                </a:ext>
              </a:extLst>
            </p:cNvPr>
            <p:cNvGrpSpPr/>
            <p:nvPr/>
          </p:nvGrpSpPr>
          <p:grpSpPr>
            <a:xfrm rot="5400000" flipH="1">
              <a:off x="10148848" y="4362092"/>
              <a:ext cx="25807" cy="726114"/>
              <a:chOff x="6851814" y="1766023"/>
              <a:chExt cx="78569" cy="2068826"/>
            </a:xfrm>
          </p:grpSpPr>
          <p:sp>
            <p:nvSpPr>
              <p:cNvPr id="626" name="Rechteck 625">
                <a:extLst>
                  <a:ext uri="{FF2B5EF4-FFF2-40B4-BE49-F238E27FC236}">
                    <a16:creationId xmlns:a16="http://schemas.microsoft.com/office/drawing/2014/main" id="{7EEC3A2B-0CB3-90F1-BB0F-838E87123249}"/>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27" name="Rechteck 626">
                <a:extLst>
                  <a:ext uri="{FF2B5EF4-FFF2-40B4-BE49-F238E27FC236}">
                    <a16:creationId xmlns:a16="http://schemas.microsoft.com/office/drawing/2014/main" id="{A3D78C76-7E06-D827-5C89-FD76B1907DAE}"/>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628" name="Rechteck 627">
                <a:extLst>
                  <a:ext uri="{FF2B5EF4-FFF2-40B4-BE49-F238E27FC236}">
                    <a16:creationId xmlns:a16="http://schemas.microsoft.com/office/drawing/2014/main" id="{89F6AA9F-4A41-0BEA-E3B4-8058044AD236}"/>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29" name="Rechteck 628">
                <a:extLst>
                  <a:ext uri="{FF2B5EF4-FFF2-40B4-BE49-F238E27FC236}">
                    <a16:creationId xmlns:a16="http://schemas.microsoft.com/office/drawing/2014/main" id="{FF0B63D4-62AF-20BC-D882-7FD7280C3EC1}"/>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30" name="Rechteck 629">
                <a:extLst>
                  <a:ext uri="{FF2B5EF4-FFF2-40B4-BE49-F238E27FC236}">
                    <a16:creationId xmlns:a16="http://schemas.microsoft.com/office/drawing/2014/main" id="{0FD2D4C8-4B9D-4E6D-427E-3EC481408D2C}"/>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78" name="Gruppieren 577">
              <a:extLst>
                <a:ext uri="{FF2B5EF4-FFF2-40B4-BE49-F238E27FC236}">
                  <a16:creationId xmlns:a16="http://schemas.microsoft.com/office/drawing/2014/main" id="{D56D4DF1-F193-93AC-355F-68700AD2D7FB}"/>
                </a:ext>
              </a:extLst>
            </p:cNvPr>
            <p:cNvGrpSpPr/>
            <p:nvPr/>
          </p:nvGrpSpPr>
          <p:grpSpPr>
            <a:xfrm rot="5400000" flipH="1">
              <a:off x="10149991" y="4314573"/>
              <a:ext cx="25807" cy="726114"/>
              <a:chOff x="6851814" y="1766023"/>
              <a:chExt cx="78569" cy="2068826"/>
            </a:xfrm>
          </p:grpSpPr>
          <p:sp>
            <p:nvSpPr>
              <p:cNvPr id="621" name="Rechteck 620">
                <a:extLst>
                  <a:ext uri="{FF2B5EF4-FFF2-40B4-BE49-F238E27FC236}">
                    <a16:creationId xmlns:a16="http://schemas.microsoft.com/office/drawing/2014/main" id="{DA23B1D9-FFB8-4647-09FD-6663CEF39684}"/>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22" name="Rechteck 621">
                <a:extLst>
                  <a:ext uri="{FF2B5EF4-FFF2-40B4-BE49-F238E27FC236}">
                    <a16:creationId xmlns:a16="http://schemas.microsoft.com/office/drawing/2014/main" id="{628FAB75-CED4-F464-B162-8F6AAD61E11A}"/>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623" name="Rechteck 622">
                <a:extLst>
                  <a:ext uri="{FF2B5EF4-FFF2-40B4-BE49-F238E27FC236}">
                    <a16:creationId xmlns:a16="http://schemas.microsoft.com/office/drawing/2014/main" id="{AFE15C90-0711-40DE-C324-F769ECD30746}"/>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24" name="Rechteck 623">
                <a:extLst>
                  <a:ext uri="{FF2B5EF4-FFF2-40B4-BE49-F238E27FC236}">
                    <a16:creationId xmlns:a16="http://schemas.microsoft.com/office/drawing/2014/main" id="{D237C2F5-109C-3FBF-367B-FE750CA51F45}"/>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25" name="Rechteck 624">
                <a:extLst>
                  <a:ext uri="{FF2B5EF4-FFF2-40B4-BE49-F238E27FC236}">
                    <a16:creationId xmlns:a16="http://schemas.microsoft.com/office/drawing/2014/main" id="{A6C075E0-1CB4-2769-EFA9-15339F82C63F}"/>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79" name="Gruppieren 578">
              <a:extLst>
                <a:ext uri="{FF2B5EF4-FFF2-40B4-BE49-F238E27FC236}">
                  <a16:creationId xmlns:a16="http://schemas.microsoft.com/office/drawing/2014/main" id="{08E21562-1EB7-2555-4470-BA0A5707246D}"/>
                </a:ext>
              </a:extLst>
            </p:cNvPr>
            <p:cNvGrpSpPr/>
            <p:nvPr/>
          </p:nvGrpSpPr>
          <p:grpSpPr>
            <a:xfrm rot="5400000" flipH="1">
              <a:off x="10150439" y="4267600"/>
              <a:ext cx="25807" cy="726114"/>
              <a:chOff x="6851814" y="1766023"/>
              <a:chExt cx="78569" cy="2068826"/>
            </a:xfrm>
          </p:grpSpPr>
          <p:sp>
            <p:nvSpPr>
              <p:cNvPr id="616" name="Rechteck 615">
                <a:extLst>
                  <a:ext uri="{FF2B5EF4-FFF2-40B4-BE49-F238E27FC236}">
                    <a16:creationId xmlns:a16="http://schemas.microsoft.com/office/drawing/2014/main" id="{379D90CB-EBD7-BF55-D426-DA2B9D5FEA28}"/>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17" name="Rechteck 616">
                <a:extLst>
                  <a:ext uri="{FF2B5EF4-FFF2-40B4-BE49-F238E27FC236}">
                    <a16:creationId xmlns:a16="http://schemas.microsoft.com/office/drawing/2014/main" id="{2FBEBFF9-E5AE-F466-7751-4251F67008B3}"/>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618" name="Rechteck 617">
                <a:extLst>
                  <a:ext uri="{FF2B5EF4-FFF2-40B4-BE49-F238E27FC236}">
                    <a16:creationId xmlns:a16="http://schemas.microsoft.com/office/drawing/2014/main" id="{110E7118-307B-0378-7D7E-99B0361D4607}"/>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19" name="Rechteck 618">
                <a:extLst>
                  <a:ext uri="{FF2B5EF4-FFF2-40B4-BE49-F238E27FC236}">
                    <a16:creationId xmlns:a16="http://schemas.microsoft.com/office/drawing/2014/main" id="{8922E71F-9A5B-2844-8F5C-FF8B8FF1C8BA}"/>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20" name="Rechteck 619">
                <a:extLst>
                  <a:ext uri="{FF2B5EF4-FFF2-40B4-BE49-F238E27FC236}">
                    <a16:creationId xmlns:a16="http://schemas.microsoft.com/office/drawing/2014/main" id="{6EB84680-5A70-6FE8-2B77-D01AAECA7154}"/>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80" name="Gruppieren 579">
              <a:extLst>
                <a:ext uri="{FF2B5EF4-FFF2-40B4-BE49-F238E27FC236}">
                  <a16:creationId xmlns:a16="http://schemas.microsoft.com/office/drawing/2014/main" id="{5A14DCCB-307F-15CE-2A63-4316D2DBCF77}"/>
                </a:ext>
              </a:extLst>
            </p:cNvPr>
            <p:cNvGrpSpPr/>
            <p:nvPr/>
          </p:nvGrpSpPr>
          <p:grpSpPr>
            <a:xfrm rot="5400000" flipH="1">
              <a:off x="10150438" y="4219970"/>
              <a:ext cx="25807" cy="726114"/>
              <a:chOff x="6851814" y="1766023"/>
              <a:chExt cx="78569" cy="2068826"/>
            </a:xfrm>
          </p:grpSpPr>
          <p:sp>
            <p:nvSpPr>
              <p:cNvPr id="611" name="Rechteck 610">
                <a:extLst>
                  <a:ext uri="{FF2B5EF4-FFF2-40B4-BE49-F238E27FC236}">
                    <a16:creationId xmlns:a16="http://schemas.microsoft.com/office/drawing/2014/main" id="{B00B59A8-F84F-AAE3-997D-6A3017E7C7B7}"/>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12" name="Rechteck 611">
                <a:extLst>
                  <a:ext uri="{FF2B5EF4-FFF2-40B4-BE49-F238E27FC236}">
                    <a16:creationId xmlns:a16="http://schemas.microsoft.com/office/drawing/2014/main" id="{62CF46CD-21B4-C7E2-0123-8D8F8D12822B}"/>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613" name="Rechteck 612">
                <a:extLst>
                  <a:ext uri="{FF2B5EF4-FFF2-40B4-BE49-F238E27FC236}">
                    <a16:creationId xmlns:a16="http://schemas.microsoft.com/office/drawing/2014/main" id="{0C9F1D14-2F4D-7E4D-6AB5-D846C4381720}"/>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14" name="Rechteck 613">
                <a:extLst>
                  <a:ext uri="{FF2B5EF4-FFF2-40B4-BE49-F238E27FC236}">
                    <a16:creationId xmlns:a16="http://schemas.microsoft.com/office/drawing/2014/main" id="{20C320C9-F742-9A2A-DC8C-51D77CDF3ED7}"/>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15" name="Rechteck 614">
                <a:extLst>
                  <a:ext uri="{FF2B5EF4-FFF2-40B4-BE49-F238E27FC236}">
                    <a16:creationId xmlns:a16="http://schemas.microsoft.com/office/drawing/2014/main" id="{DC3E117A-1B8E-26C9-10A1-2FF24053A749}"/>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81" name="Gruppieren 580">
              <a:extLst>
                <a:ext uri="{FF2B5EF4-FFF2-40B4-BE49-F238E27FC236}">
                  <a16:creationId xmlns:a16="http://schemas.microsoft.com/office/drawing/2014/main" id="{0E7D98D4-3822-8188-34C4-5C86707AA4FF}"/>
                </a:ext>
              </a:extLst>
            </p:cNvPr>
            <p:cNvGrpSpPr/>
            <p:nvPr/>
          </p:nvGrpSpPr>
          <p:grpSpPr>
            <a:xfrm rot="5400000" flipH="1">
              <a:off x="10135198" y="4043313"/>
              <a:ext cx="25807" cy="726114"/>
              <a:chOff x="6851814" y="1766023"/>
              <a:chExt cx="78569" cy="2068826"/>
            </a:xfrm>
          </p:grpSpPr>
          <p:sp>
            <p:nvSpPr>
              <p:cNvPr id="606" name="Rechteck 605">
                <a:extLst>
                  <a:ext uri="{FF2B5EF4-FFF2-40B4-BE49-F238E27FC236}">
                    <a16:creationId xmlns:a16="http://schemas.microsoft.com/office/drawing/2014/main" id="{5B3FF5B1-E4EF-C3D5-4957-7BD769CBC985}"/>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07" name="Rechteck 606">
                <a:extLst>
                  <a:ext uri="{FF2B5EF4-FFF2-40B4-BE49-F238E27FC236}">
                    <a16:creationId xmlns:a16="http://schemas.microsoft.com/office/drawing/2014/main" id="{02ED1243-975E-1343-559A-9B4034C4C152}"/>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608" name="Rechteck 607">
                <a:extLst>
                  <a:ext uri="{FF2B5EF4-FFF2-40B4-BE49-F238E27FC236}">
                    <a16:creationId xmlns:a16="http://schemas.microsoft.com/office/drawing/2014/main" id="{C589DC0F-B399-C710-2A4C-A6E87FA6FB62}"/>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09" name="Rechteck 608">
                <a:extLst>
                  <a:ext uri="{FF2B5EF4-FFF2-40B4-BE49-F238E27FC236}">
                    <a16:creationId xmlns:a16="http://schemas.microsoft.com/office/drawing/2014/main" id="{36ECBF1D-FC86-EDCA-A896-49979DA9AABE}"/>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10" name="Rechteck 609">
                <a:extLst>
                  <a:ext uri="{FF2B5EF4-FFF2-40B4-BE49-F238E27FC236}">
                    <a16:creationId xmlns:a16="http://schemas.microsoft.com/office/drawing/2014/main" id="{ED2378EA-4786-7EF2-9DB6-87D2954FA014}"/>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82" name="Gruppieren 581">
              <a:extLst>
                <a:ext uri="{FF2B5EF4-FFF2-40B4-BE49-F238E27FC236}">
                  <a16:creationId xmlns:a16="http://schemas.microsoft.com/office/drawing/2014/main" id="{F6B11E73-14C1-CE3F-1B54-B6C849C96F29}"/>
                </a:ext>
              </a:extLst>
            </p:cNvPr>
            <p:cNvGrpSpPr/>
            <p:nvPr/>
          </p:nvGrpSpPr>
          <p:grpSpPr>
            <a:xfrm rot="5400000" flipH="1">
              <a:off x="10139008" y="4102933"/>
              <a:ext cx="25807" cy="726114"/>
              <a:chOff x="6851814" y="1766023"/>
              <a:chExt cx="78569" cy="2068826"/>
            </a:xfrm>
          </p:grpSpPr>
          <p:sp>
            <p:nvSpPr>
              <p:cNvPr id="601" name="Rechteck 600">
                <a:extLst>
                  <a:ext uri="{FF2B5EF4-FFF2-40B4-BE49-F238E27FC236}">
                    <a16:creationId xmlns:a16="http://schemas.microsoft.com/office/drawing/2014/main" id="{A6A835CC-F446-0C11-144B-10CA2DD92778}"/>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02" name="Rechteck 601">
                <a:extLst>
                  <a:ext uri="{FF2B5EF4-FFF2-40B4-BE49-F238E27FC236}">
                    <a16:creationId xmlns:a16="http://schemas.microsoft.com/office/drawing/2014/main" id="{068F0299-B406-0523-3713-3BFD940B6E7E}"/>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603" name="Rechteck 602">
                <a:extLst>
                  <a:ext uri="{FF2B5EF4-FFF2-40B4-BE49-F238E27FC236}">
                    <a16:creationId xmlns:a16="http://schemas.microsoft.com/office/drawing/2014/main" id="{FCFBB1B7-ACA5-8AA8-E74A-967C58BE1294}"/>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04" name="Rechteck 603">
                <a:extLst>
                  <a:ext uri="{FF2B5EF4-FFF2-40B4-BE49-F238E27FC236}">
                    <a16:creationId xmlns:a16="http://schemas.microsoft.com/office/drawing/2014/main" id="{574DB89C-A559-9A1D-7F0F-C9931A08FE2C}"/>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05" name="Rechteck 604">
                <a:extLst>
                  <a:ext uri="{FF2B5EF4-FFF2-40B4-BE49-F238E27FC236}">
                    <a16:creationId xmlns:a16="http://schemas.microsoft.com/office/drawing/2014/main" id="{0616ACFE-498C-2A95-3257-67716F97CC8F}"/>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83" name="Gruppieren 582">
              <a:extLst>
                <a:ext uri="{FF2B5EF4-FFF2-40B4-BE49-F238E27FC236}">
                  <a16:creationId xmlns:a16="http://schemas.microsoft.com/office/drawing/2014/main" id="{89C3A9BE-A495-FC6F-EA0F-8A7180281FAB}"/>
                </a:ext>
              </a:extLst>
            </p:cNvPr>
            <p:cNvGrpSpPr/>
            <p:nvPr/>
          </p:nvGrpSpPr>
          <p:grpSpPr>
            <a:xfrm rot="5400000" flipH="1">
              <a:off x="10140913" y="4159010"/>
              <a:ext cx="25807" cy="726114"/>
              <a:chOff x="6851814" y="1766023"/>
              <a:chExt cx="78569" cy="2068826"/>
            </a:xfrm>
          </p:grpSpPr>
          <p:sp>
            <p:nvSpPr>
              <p:cNvPr id="596" name="Rechteck 595">
                <a:extLst>
                  <a:ext uri="{FF2B5EF4-FFF2-40B4-BE49-F238E27FC236}">
                    <a16:creationId xmlns:a16="http://schemas.microsoft.com/office/drawing/2014/main" id="{FE05A9B9-9A20-D21F-084F-08D8611C5AE2}"/>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97" name="Rechteck 596">
                <a:extLst>
                  <a:ext uri="{FF2B5EF4-FFF2-40B4-BE49-F238E27FC236}">
                    <a16:creationId xmlns:a16="http://schemas.microsoft.com/office/drawing/2014/main" id="{3EDA36A2-9A72-2E7A-901B-909366BE0D6F}"/>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98" name="Rechteck 597">
                <a:extLst>
                  <a:ext uri="{FF2B5EF4-FFF2-40B4-BE49-F238E27FC236}">
                    <a16:creationId xmlns:a16="http://schemas.microsoft.com/office/drawing/2014/main" id="{911D435E-904F-7C5C-CC0C-4E061013492C}"/>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99" name="Rechteck 598">
                <a:extLst>
                  <a:ext uri="{FF2B5EF4-FFF2-40B4-BE49-F238E27FC236}">
                    <a16:creationId xmlns:a16="http://schemas.microsoft.com/office/drawing/2014/main" id="{1FF080FA-4C45-9FB6-CEFA-A8EB6E29B16F}"/>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600" name="Rechteck 599">
                <a:extLst>
                  <a:ext uri="{FF2B5EF4-FFF2-40B4-BE49-F238E27FC236}">
                    <a16:creationId xmlns:a16="http://schemas.microsoft.com/office/drawing/2014/main" id="{8CFB65D0-DE55-A41A-EE46-A8E142C7D1CD}"/>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84" name="Gruppieren 583">
              <a:extLst>
                <a:ext uri="{FF2B5EF4-FFF2-40B4-BE49-F238E27FC236}">
                  <a16:creationId xmlns:a16="http://schemas.microsoft.com/office/drawing/2014/main" id="{A8F24D38-3065-D5BA-1BF3-94ABB685B4BA}"/>
                </a:ext>
              </a:extLst>
            </p:cNvPr>
            <p:cNvGrpSpPr/>
            <p:nvPr/>
          </p:nvGrpSpPr>
          <p:grpSpPr>
            <a:xfrm rot="5400000" flipH="1">
              <a:off x="10156153" y="4162820"/>
              <a:ext cx="25807" cy="726114"/>
              <a:chOff x="6851814" y="1766023"/>
              <a:chExt cx="78569" cy="2068826"/>
            </a:xfrm>
          </p:grpSpPr>
          <p:sp>
            <p:nvSpPr>
              <p:cNvPr id="591" name="Rechteck 590">
                <a:extLst>
                  <a:ext uri="{FF2B5EF4-FFF2-40B4-BE49-F238E27FC236}">
                    <a16:creationId xmlns:a16="http://schemas.microsoft.com/office/drawing/2014/main" id="{D32A0AC2-C04C-A339-2479-342AFABBB03E}"/>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92" name="Rechteck 591">
                <a:extLst>
                  <a:ext uri="{FF2B5EF4-FFF2-40B4-BE49-F238E27FC236}">
                    <a16:creationId xmlns:a16="http://schemas.microsoft.com/office/drawing/2014/main" id="{06BE3B1D-AB70-D1B1-9AF3-24632AE3DE1D}"/>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93" name="Rechteck 592">
                <a:extLst>
                  <a:ext uri="{FF2B5EF4-FFF2-40B4-BE49-F238E27FC236}">
                    <a16:creationId xmlns:a16="http://schemas.microsoft.com/office/drawing/2014/main" id="{957B323E-58A0-C328-A85D-F245A1F9728C}"/>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94" name="Rechteck 593">
                <a:extLst>
                  <a:ext uri="{FF2B5EF4-FFF2-40B4-BE49-F238E27FC236}">
                    <a16:creationId xmlns:a16="http://schemas.microsoft.com/office/drawing/2014/main" id="{71F274D2-18F5-668A-9177-6CD069EC9930}"/>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95" name="Rechteck 594">
                <a:extLst>
                  <a:ext uri="{FF2B5EF4-FFF2-40B4-BE49-F238E27FC236}">
                    <a16:creationId xmlns:a16="http://schemas.microsoft.com/office/drawing/2014/main" id="{8B97BE17-03C3-E411-4E9E-13033A3663D3}"/>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nvGrpSpPr>
            <p:cNvPr id="585" name="Gruppieren 584">
              <a:extLst>
                <a:ext uri="{FF2B5EF4-FFF2-40B4-BE49-F238E27FC236}">
                  <a16:creationId xmlns:a16="http://schemas.microsoft.com/office/drawing/2014/main" id="{F882ED50-55F6-D7EF-C669-1E6AA67DF4EE}"/>
                </a:ext>
              </a:extLst>
            </p:cNvPr>
            <p:cNvGrpSpPr/>
            <p:nvPr/>
          </p:nvGrpSpPr>
          <p:grpSpPr>
            <a:xfrm rot="5400000" flipH="1">
              <a:off x="10142818" y="3991841"/>
              <a:ext cx="25807" cy="726114"/>
              <a:chOff x="6851814" y="1766023"/>
              <a:chExt cx="78569" cy="2068826"/>
            </a:xfrm>
          </p:grpSpPr>
          <p:sp>
            <p:nvSpPr>
              <p:cNvPr id="586" name="Rechteck 585">
                <a:extLst>
                  <a:ext uri="{FF2B5EF4-FFF2-40B4-BE49-F238E27FC236}">
                    <a16:creationId xmlns:a16="http://schemas.microsoft.com/office/drawing/2014/main" id="{DB37C889-5B2B-2A4B-70CE-749E40B71058}"/>
                  </a:ext>
                </a:extLst>
              </p:cNvPr>
              <p:cNvSpPr/>
              <p:nvPr/>
            </p:nvSpPr>
            <p:spPr>
              <a:xfrm>
                <a:off x="6874597" y="1847310"/>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87" name="Rechteck 586">
                <a:extLst>
                  <a:ext uri="{FF2B5EF4-FFF2-40B4-BE49-F238E27FC236}">
                    <a16:creationId xmlns:a16="http://schemas.microsoft.com/office/drawing/2014/main" id="{A7BF644B-BAAC-5E67-B2F8-C721A6CBBCAC}"/>
                  </a:ext>
                </a:extLst>
              </p:cNvPr>
              <p:cNvSpPr/>
              <p:nvPr/>
            </p:nvSpPr>
            <p:spPr>
              <a:xfrm>
                <a:off x="6851814" y="1979385"/>
                <a:ext cx="78569" cy="1642102"/>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588" name="Rechteck 587">
                <a:extLst>
                  <a:ext uri="{FF2B5EF4-FFF2-40B4-BE49-F238E27FC236}">
                    <a16:creationId xmlns:a16="http://schemas.microsoft.com/office/drawing/2014/main" id="{D7782025-80FF-D04D-C985-0811AD9F6AB6}"/>
                  </a:ext>
                </a:extLst>
              </p:cNvPr>
              <p:cNvSpPr/>
              <p:nvPr/>
            </p:nvSpPr>
            <p:spPr>
              <a:xfrm>
                <a:off x="6851814" y="1766023"/>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89" name="Rechteck 588">
                <a:extLst>
                  <a:ext uri="{FF2B5EF4-FFF2-40B4-BE49-F238E27FC236}">
                    <a16:creationId xmlns:a16="http://schemas.microsoft.com/office/drawing/2014/main" id="{702AA6D4-5FB7-A1FF-D501-213395E336C1}"/>
                  </a:ext>
                </a:extLst>
              </p:cNvPr>
              <p:cNvSpPr/>
              <p:nvPr/>
            </p:nvSpPr>
            <p:spPr>
              <a:xfrm>
                <a:off x="6874597" y="3621487"/>
                <a:ext cx="33002" cy="132075"/>
              </a:xfrm>
              <a:prstGeom prst="rect">
                <a:avLst/>
              </a:prstGeom>
              <a:solidFill>
                <a:srgbClr val="FF9900"/>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590" name="Rechteck 589">
                <a:extLst>
                  <a:ext uri="{FF2B5EF4-FFF2-40B4-BE49-F238E27FC236}">
                    <a16:creationId xmlns:a16="http://schemas.microsoft.com/office/drawing/2014/main" id="{B3F48E10-79D8-6605-4B60-BD76984C8CB1}"/>
                  </a:ext>
                </a:extLst>
              </p:cNvPr>
              <p:cNvSpPr/>
              <p:nvPr/>
            </p:nvSpPr>
            <p:spPr>
              <a:xfrm>
                <a:off x="6851814" y="3701649"/>
                <a:ext cx="78569" cy="133200"/>
              </a:xfrm>
              <a:prstGeom prst="rect">
                <a:avLst/>
              </a:prstGeom>
              <a:solidFill>
                <a:srgbClr val="FF9966"/>
              </a:solidFill>
              <a:ln w="3175"/>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grpSp>
      </p:grpSp>
      <p:sp>
        <p:nvSpPr>
          <p:cNvPr id="28" name="Rechteck 27">
            <a:extLst>
              <a:ext uri="{FF2B5EF4-FFF2-40B4-BE49-F238E27FC236}">
                <a16:creationId xmlns:a16="http://schemas.microsoft.com/office/drawing/2014/main" id="{A1C09A0B-3E17-8E6E-537B-B8FD5BB62326}"/>
              </a:ext>
            </a:extLst>
          </p:cNvPr>
          <p:cNvSpPr/>
          <p:nvPr/>
        </p:nvSpPr>
        <p:spPr>
          <a:xfrm flipV="1">
            <a:off x="1881761" y="4634408"/>
            <a:ext cx="8975380" cy="45719"/>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29" name="Rechteck 28">
            <a:extLst>
              <a:ext uri="{FF2B5EF4-FFF2-40B4-BE49-F238E27FC236}">
                <a16:creationId xmlns:a16="http://schemas.microsoft.com/office/drawing/2014/main" id="{E731386E-512D-E1C1-7954-41D93F39568E}"/>
              </a:ext>
            </a:extLst>
          </p:cNvPr>
          <p:cNvSpPr/>
          <p:nvPr/>
        </p:nvSpPr>
        <p:spPr>
          <a:xfrm flipV="1">
            <a:off x="1894974" y="1045492"/>
            <a:ext cx="8962072" cy="45719"/>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schemeClr val="tx1"/>
              </a:solidFill>
            </a:endParaRPr>
          </a:p>
        </p:txBody>
      </p:sp>
      <p:sp>
        <p:nvSpPr>
          <p:cNvPr id="632" name="Rechteck: obere Ecken abgeschnitten 631">
            <a:extLst>
              <a:ext uri="{FF2B5EF4-FFF2-40B4-BE49-F238E27FC236}">
                <a16:creationId xmlns:a16="http://schemas.microsoft.com/office/drawing/2014/main" id="{41C8B047-3C57-DCFF-A909-6299B787D392}"/>
              </a:ext>
            </a:extLst>
          </p:cNvPr>
          <p:cNvSpPr/>
          <p:nvPr/>
        </p:nvSpPr>
        <p:spPr>
          <a:xfrm>
            <a:off x="8878606" y="3072584"/>
            <a:ext cx="98707" cy="296070"/>
          </a:xfrm>
          <a:prstGeom prst="snip2SameRect">
            <a:avLst>
              <a:gd name="adj1" fmla="val 37260"/>
              <a:gd name="adj2" fmla="val 0"/>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706919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CDCACF-FA6D-63DB-9853-242F80D01EF2}"/>
              </a:ext>
            </a:extLst>
          </p:cNvPr>
          <p:cNvSpPr>
            <a:spLocks noGrp="1"/>
          </p:cNvSpPr>
          <p:nvPr>
            <p:ph type="title"/>
          </p:nvPr>
        </p:nvSpPr>
        <p:spPr/>
        <p:txBody>
          <a:bodyPr/>
          <a:lstStyle/>
          <a:p>
            <a:r>
              <a:rPr lang="de-DE" sz="1400" b="1" u="sng" dirty="0">
                <a:latin typeface="+mj-lt"/>
              </a:rPr>
              <a:t>Insert and </a:t>
            </a:r>
            <a:r>
              <a:rPr lang="de-DE" sz="1400" b="1" u="sng" dirty="0" err="1">
                <a:latin typeface="+mj-lt"/>
              </a:rPr>
              <a:t>cutting</a:t>
            </a:r>
            <a:r>
              <a:rPr lang="de-DE" sz="1400" b="1" u="sng" dirty="0">
                <a:latin typeface="+mj-lt"/>
              </a:rPr>
              <a:t> Cable</a:t>
            </a:r>
          </a:p>
        </p:txBody>
      </p:sp>
      <p:pic>
        <p:nvPicPr>
          <p:cNvPr id="16" name="Grafik 15">
            <a:extLst>
              <a:ext uri="{FF2B5EF4-FFF2-40B4-BE49-F238E27FC236}">
                <a16:creationId xmlns:a16="http://schemas.microsoft.com/office/drawing/2014/main" id="{07523D7B-7DEB-9B71-7C45-B84F96D16C42}"/>
              </a:ext>
            </a:extLst>
          </p:cNvPr>
          <p:cNvPicPr>
            <a:picLocks noChangeAspect="1"/>
          </p:cNvPicPr>
          <p:nvPr/>
        </p:nvPicPr>
        <p:blipFill>
          <a:blip r:embed="rId2"/>
          <a:stretch>
            <a:fillRect/>
          </a:stretch>
        </p:blipFill>
        <p:spPr>
          <a:xfrm>
            <a:off x="469900" y="1193759"/>
            <a:ext cx="4409239" cy="2063791"/>
          </a:xfrm>
          <a:prstGeom prst="rect">
            <a:avLst/>
          </a:prstGeom>
        </p:spPr>
      </p:pic>
      <p:sp>
        <p:nvSpPr>
          <p:cNvPr id="6" name="Textfeld 5">
            <a:extLst>
              <a:ext uri="{FF2B5EF4-FFF2-40B4-BE49-F238E27FC236}">
                <a16:creationId xmlns:a16="http://schemas.microsoft.com/office/drawing/2014/main" id="{5E341060-4392-545D-835F-72BA10A8095E}"/>
              </a:ext>
            </a:extLst>
          </p:cNvPr>
          <p:cNvSpPr txBox="1"/>
          <p:nvPr/>
        </p:nvSpPr>
        <p:spPr>
          <a:xfrm>
            <a:off x="6096000" y="1048724"/>
            <a:ext cx="4805874" cy="4324261"/>
          </a:xfrm>
          <a:prstGeom prst="rect">
            <a:avLst/>
          </a:prstGeom>
          <a:noFill/>
        </p:spPr>
        <p:txBody>
          <a:bodyPr wrap="square" rtlCol="0">
            <a:spAutoFit/>
          </a:bodyPr>
          <a:lstStyle/>
          <a:p>
            <a:r>
              <a:rPr lang="de-DE" sz="1600" b="1" u="sng" dirty="0">
                <a:latin typeface="+mj-lt"/>
                <a:ea typeface="Calibri" panose="020F0502020204030204" pitchFamily="34" charset="0"/>
                <a:cs typeface="Calibri" panose="020F0502020204030204" pitchFamily="34" charset="0"/>
              </a:rPr>
              <a:t>Station </a:t>
            </a:r>
            <a:r>
              <a:rPr lang="de-DE" sz="1600" b="1" u="sng" dirty="0" err="1">
                <a:latin typeface="+mj-lt"/>
                <a:ea typeface="Calibri" panose="020F0502020204030204" pitchFamily="34" charset="0"/>
                <a:cs typeface="Calibri" panose="020F0502020204030204" pitchFamily="34" charset="0"/>
              </a:rPr>
              <a:t>consisting</a:t>
            </a:r>
            <a:r>
              <a:rPr lang="de-DE" sz="1600" b="1" u="sng" dirty="0">
                <a:latin typeface="+mj-lt"/>
                <a:ea typeface="Calibri" panose="020F0502020204030204" pitchFamily="34" charset="0"/>
                <a:cs typeface="Calibri" panose="020F0502020204030204" pitchFamily="34" charset="0"/>
              </a:rPr>
              <a:t> </a:t>
            </a:r>
            <a:r>
              <a:rPr lang="de-DE" sz="1600" b="1" u="sng" dirty="0" err="1">
                <a:latin typeface="+mj-lt"/>
                <a:ea typeface="Calibri" panose="020F0502020204030204" pitchFamily="34" charset="0"/>
                <a:cs typeface="Calibri" panose="020F0502020204030204" pitchFamily="34" charset="0"/>
              </a:rPr>
              <a:t>of</a:t>
            </a:r>
            <a:r>
              <a:rPr lang="de-DE" sz="1600" b="1" u="sng" dirty="0">
                <a:latin typeface="+mj-lt"/>
                <a:ea typeface="Calibri" panose="020F0502020204030204" pitchFamily="34" charset="0"/>
                <a:cs typeface="Calibri" panose="020F0502020204030204" pitchFamily="34" charset="0"/>
              </a:rPr>
              <a:t>:</a:t>
            </a:r>
          </a:p>
          <a:p>
            <a:endParaRPr lang="de-DE" sz="900" dirty="0">
              <a:latin typeface="+mj-lt"/>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1000" dirty="0">
                <a:latin typeface="+mj-lt"/>
                <a:ea typeface="Calibri" panose="020F0502020204030204" pitchFamily="34" charset="0"/>
                <a:cs typeface="Calibri" panose="020F0502020204030204" pitchFamily="34" charset="0"/>
              </a:rPr>
              <a:t>Automatic cable unwinder for tension-free material feed for all 3 named cable cross-sections</a:t>
            </a:r>
            <a:endParaRPr lang="de-DE" sz="1000" dirty="0">
              <a:latin typeface="+mj-lt"/>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de-DE" sz="1000" dirty="0">
                <a:latin typeface="+mj-lt"/>
                <a:ea typeface="Calibri" panose="020F0502020204030204" pitchFamily="34" charset="0"/>
                <a:cs typeface="Calibri" panose="020F0502020204030204" pitchFamily="34" charset="0"/>
              </a:rPr>
              <a:t>Cutting </a:t>
            </a:r>
            <a:r>
              <a:rPr lang="de-DE" sz="1000" dirty="0" err="1">
                <a:latin typeface="+mj-lt"/>
                <a:ea typeface="Calibri" panose="020F0502020204030204" pitchFamily="34" charset="0"/>
                <a:cs typeface="Calibri" panose="020F0502020204030204" pitchFamily="34" charset="0"/>
              </a:rPr>
              <a:t>unit</a:t>
            </a:r>
            <a:endParaRPr lang="de-DE" sz="1000" dirty="0">
              <a:latin typeface="+mj-lt"/>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mj-lt"/>
              </a:rPr>
              <a:t>For</a:t>
            </a:r>
            <a:r>
              <a:rPr lang="de-DE" sz="1000" dirty="0">
                <a:solidFill>
                  <a:srgbClr val="000000"/>
                </a:solidFill>
                <a:latin typeface="+mj-lt"/>
              </a:rPr>
              <a:t> all </a:t>
            </a:r>
            <a:r>
              <a:rPr lang="de-DE" sz="1000" dirty="0" err="1">
                <a:solidFill>
                  <a:srgbClr val="000000"/>
                </a:solidFill>
                <a:latin typeface="+mj-lt"/>
              </a:rPr>
              <a:t>cable</a:t>
            </a:r>
            <a:r>
              <a:rPr lang="de-DE" sz="1000" dirty="0">
                <a:solidFill>
                  <a:srgbClr val="000000"/>
                </a:solidFill>
                <a:latin typeface="+mj-lt"/>
              </a:rPr>
              <a:t> </a:t>
            </a:r>
            <a:r>
              <a:rPr lang="de-DE" sz="1000" dirty="0" err="1">
                <a:solidFill>
                  <a:srgbClr val="000000"/>
                </a:solidFill>
                <a:latin typeface="+mj-lt"/>
              </a:rPr>
              <a:t>types</a:t>
            </a:r>
            <a:r>
              <a:rPr lang="de-DE" sz="1000" dirty="0">
                <a:solidFill>
                  <a:srgbClr val="000000"/>
                </a:solidFill>
                <a:latin typeface="+mj-lt"/>
              </a:rPr>
              <a:t> (</a:t>
            </a:r>
            <a:r>
              <a:rPr lang="de-DE" sz="1000" dirty="0" err="1">
                <a:solidFill>
                  <a:srgbClr val="000000"/>
                </a:solidFill>
                <a:latin typeface="+mj-lt"/>
              </a:rPr>
              <a:t>acdording</a:t>
            </a:r>
            <a:r>
              <a:rPr lang="de-DE" sz="1000" dirty="0">
                <a:solidFill>
                  <a:srgbClr val="000000"/>
                </a:solidFill>
                <a:latin typeface="+mj-lt"/>
              </a:rPr>
              <a:t> </a:t>
            </a:r>
            <a:r>
              <a:rPr lang="de-DE" sz="1000" dirty="0" err="1">
                <a:solidFill>
                  <a:srgbClr val="000000"/>
                </a:solidFill>
                <a:latin typeface="+mj-lt"/>
              </a:rPr>
              <a:t>to</a:t>
            </a:r>
            <a:r>
              <a:rPr lang="de-DE" sz="1000" dirty="0">
                <a:solidFill>
                  <a:srgbClr val="000000"/>
                </a:solidFill>
                <a:latin typeface="+mj-lt"/>
              </a:rPr>
              <a:t> </a:t>
            </a:r>
            <a:r>
              <a:rPr lang="de-DE" sz="1000" dirty="0" err="1">
                <a:solidFill>
                  <a:srgbClr val="000000"/>
                </a:solidFill>
                <a:latin typeface="+mj-lt"/>
              </a:rPr>
              <a:t>specification</a:t>
            </a:r>
            <a:r>
              <a:rPr lang="de-DE" sz="1000" dirty="0">
                <a:solidFill>
                  <a:srgbClr val="000000"/>
                </a:solidFill>
                <a:latin typeface="+mj-lt"/>
              </a:rPr>
              <a:t>)</a:t>
            </a:r>
          </a:p>
          <a:p>
            <a:pPr marL="628650" lvl="1" indent="-171450" defTabSz="457200">
              <a:spcBef>
                <a:spcPct val="20000"/>
              </a:spcBef>
              <a:buFont typeface="Symbol" panose="05050102010706020507" pitchFamily="18" charset="2"/>
              <a:buChar char="-"/>
            </a:pPr>
            <a:r>
              <a:rPr lang="de-DE" sz="1000" dirty="0">
                <a:solidFill>
                  <a:srgbClr val="000000"/>
                </a:solidFill>
                <a:latin typeface="+mj-lt"/>
              </a:rPr>
              <a:t>Electric </a:t>
            </a:r>
            <a:r>
              <a:rPr lang="de-DE" sz="1000" dirty="0" err="1">
                <a:solidFill>
                  <a:srgbClr val="000000"/>
                </a:solidFill>
                <a:latin typeface="+mj-lt"/>
              </a:rPr>
              <a:t>feed</a:t>
            </a:r>
            <a:r>
              <a:rPr lang="de-DE" sz="1000" dirty="0">
                <a:solidFill>
                  <a:srgbClr val="000000"/>
                </a:solidFill>
                <a:latin typeface="+mj-lt"/>
              </a:rPr>
              <a:t> </a:t>
            </a:r>
          </a:p>
          <a:p>
            <a:pPr marL="628650" lvl="1" indent="-171450" defTabSz="457200">
              <a:spcBef>
                <a:spcPct val="20000"/>
              </a:spcBef>
              <a:buFont typeface="Symbol" panose="05050102010706020507" pitchFamily="18" charset="2"/>
              <a:buChar char="-"/>
            </a:pPr>
            <a:r>
              <a:rPr lang="de-DE" sz="1000" dirty="0">
                <a:solidFill>
                  <a:srgbClr val="000000"/>
                </a:solidFill>
                <a:latin typeface="+mj-lt"/>
              </a:rPr>
              <a:t>Cable </a:t>
            </a:r>
            <a:r>
              <a:rPr lang="de-DE" sz="1000" dirty="0" err="1">
                <a:solidFill>
                  <a:srgbClr val="000000"/>
                </a:solidFill>
                <a:latin typeface="+mj-lt"/>
              </a:rPr>
              <a:t>length</a:t>
            </a:r>
            <a:r>
              <a:rPr lang="de-DE" sz="1000" dirty="0">
                <a:solidFill>
                  <a:srgbClr val="000000"/>
                </a:solidFill>
                <a:latin typeface="+mj-lt"/>
              </a:rPr>
              <a:t> </a:t>
            </a:r>
            <a:r>
              <a:rPr lang="de-DE" sz="1000" dirty="0" err="1">
                <a:solidFill>
                  <a:srgbClr val="000000"/>
                </a:solidFill>
                <a:latin typeface="+mj-lt"/>
              </a:rPr>
              <a:t>from</a:t>
            </a:r>
            <a:r>
              <a:rPr lang="de-DE" sz="1000" dirty="0">
                <a:solidFill>
                  <a:srgbClr val="000000"/>
                </a:solidFill>
                <a:latin typeface="+mj-lt"/>
              </a:rPr>
              <a:t> 150mm </a:t>
            </a:r>
            <a:r>
              <a:rPr lang="de-DE" sz="1000" dirty="0" err="1">
                <a:solidFill>
                  <a:srgbClr val="000000"/>
                </a:solidFill>
                <a:latin typeface="+mj-lt"/>
              </a:rPr>
              <a:t>to</a:t>
            </a:r>
            <a:r>
              <a:rPr lang="de-DE" sz="1000" dirty="0">
                <a:solidFill>
                  <a:srgbClr val="000000"/>
                </a:solidFill>
                <a:latin typeface="+mj-lt"/>
              </a:rPr>
              <a:t> 1500mm</a:t>
            </a:r>
          </a:p>
          <a:p>
            <a:pPr marL="628650" lvl="1" indent="-171450" defTabSz="457200">
              <a:spcBef>
                <a:spcPct val="20000"/>
              </a:spcBef>
              <a:buFont typeface="Symbol" panose="05050102010706020507" pitchFamily="18" charset="2"/>
              <a:buChar char="-"/>
            </a:pPr>
            <a:r>
              <a:rPr lang="de-DE" sz="1000" dirty="0" err="1">
                <a:solidFill>
                  <a:srgbClr val="000000"/>
                </a:solidFill>
                <a:latin typeface="+mj-lt"/>
              </a:rPr>
              <a:t>Knife</a:t>
            </a:r>
            <a:r>
              <a:rPr lang="de-DE" sz="1000" dirty="0">
                <a:solidFill>
                  <a:srgbClr val="000000"/>
                </a:solidFill>
                <a:latin typeface="+mj-lt"/>
              </a:rPr>
              <a:t>: V-</a:t>
            </a:r>
            <a:r>
              <a:rPr lang="de-DE" sz="1000" dirty="0" err="1">
                <a:solidFill>
                  <a:srgbClr val="000000"/>
                </a:solidFill>
                <a:latin typeface="+mj-lt"/>
              </a:rPr>
              <a:t>shape</a:t>
            </a:r>
            <a:r>
              <a:rPr lang="de-DE" sz="1000" dirty="0">
                <a:solidFill>
                  <a:srgbClr val="000000"/>
                </a:solidFill>
                <a:latin typeface="+mj-lt"/>
              </a:rPr>
              <a:t> </a:t>
            </a:r>
            <a:r>
              <a:rPr lang="de-DE" sz="1000" dirty="0" err="1">
                <a:solidFill>
                  <a:srgbClr val="000000"/>
                </a:solidFill>
                <a:latin typeface="+mj-lt"/>
              </a:rPr>
              <a:t>for</a:t>
            </a:r>
            <a:r>
              <a:rPr lang="de-DE" sz="1000" dirty="0">
                <a:solidFill>
                  <a:srgbClr val="000000"/>
                </a:solidFill>
                <a:latin typeface="+mj-lt"/>
              </a:rPr>
              <a:t> all </a:t>
            </a:r>
            <a:r>
              <a:rPr lang="de-DE" sz="1000" dirty="0" err="1">
                <a:solidFill>
                  <a:srgbClr val="000000"/>
                </a:solidFill>
                <a:latin typeface="+mj-lt"/>
              </a:rPr>
              <a:t>cable</a:t>
            </a:r>
            <a:r>
              <a:rPr lang="de-DE" sz="1000" dirty="0">
                <a:solidFill>
                  <a:srgbClr val="000000"/>
                </a:solidFill>
                <a:latin typeface="+mj-lt"/>
              </a:rPr>
              <a:t> </a:t>
            </a:r>
            <a:r>
              <a:rPr lang="de-DE" sz="1000" dirty="0" err="1">
                <a:solidFill>
                  <a:srgbClr val="000000"/>
                </a:solidFill>
                <a:latin typeface="+mj-lt"/>
              </a:rPr>
              <a:t>types</a:t>
            </a:r>
            <a:endParaRPr lang="de-DE" sz="1000" dirty="0">
              <a:solidFill>
                <a:srgbClr val="000000"/>
              </a:solidFill>
              <a:latin typeface="+mj-lt"/>
            </a:endParaRPr>
          </a:p>
          <a:p>
            <a:pPr marL="342900" indent="-342900" defTabSz="457200">
              <a:spcBef>
                <a:spcPct val="20000"/>
              </a:spcBef>
              <a:buFont typeface="Arial"/>
              <a:buChar char="•"/>
            </a:pPr>
            <a:r>
              <a:rPr lang="de-DE" sz="1000" dirty="0" err="1">
                <a:latin typeface="+mj-lt"/>
                <a:ea typeface="Calibri" panose="020F0502020204030204" pitchFamily="34" charset="0"/>
                <a:cs typeface="Calibri" panose="020F0502020204030204" pitchFamily="34" charset="0"/>
              </a:rPr>
              <a:t>Handover</a:t>
            </a:r>
            <a:r>
              <a:rPr lang="de-DE" sz="1000" dirty="0">
                <a:latin typeface="+mj-lt"/>
                <a:ea typeface="Calibri" panose="020F0502020204030204" pitchFamily="34" charset="0"/>
                <a:cs typeface="Calibri" panose="020F0502020204030204" pitchFamily="34" charset="0"/>
              </a:rPr>
              <a:t> </a:t>
            </a:r>
            <a:r>
              <a:rPr lang="de-DE" sz="1000" dirty="0" err="1">
                <a:latin typeface="+mj-lt"/>
                <a:ea typeface="Calibri" panose="020F0502020204030204" pitchFamily="34" charset="0"/>
                <a:cs typeface="Calibri" panose="020F0502020204030204" pitchFamily="34" charset="0"/>
              </a:rPr>
              <a:t>unit</a:t>
            </a:r>
            <a:endParaRPr lang="de-DE" sz="1000" dirty="0">
              <a:latin typeface="+mj-lt"/>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mj-lt"/>
              </a:rPr>
              <a:t>Pneumatic</a:t>
            </a:r>
            <a:r>
              <a:rPr lang="de-DE" sz="1000" dirty="0">
                <a:solidFill>
                  <a:srgbClr val="000000"/>
                </a:solidFill>
                <a:latin typeface="+mj-lt"/>
              </a:rPr>
              <a:t> </a:t>
            </a:r>
            <a:r>
              <a:rPr lang="de-DE" sz="1000" dirty="0" err="1">
                <a:solidFill>
                  <a:srgbClr val="000000"/>
                </a:solidFill>
                <a:latin typeface="+mj-lt"/>
              </a:rPr>
              <a:t>Cylinder</a:t>
            </a:r>
            <a:r>
              <a:rPr lang="de-DE" sz="1000" dirty="0">
                <a:solidFill>
                  <a:srgbClr val="000000"/>
                </a:solidFill>
                <a:latin typeface="+mj-lt"/>
              </a:rPr>
              <a:t> y-</a:t>
            </a:r>
            <a:r>
              <a:rPr lang="de-DE" sz="1000" dirty="0" err="1">
                <a:solidFill>
                  <a:srgbClr val="000000"/>
                </a:solidFill>
                <a:latin typeface="+mj-lt"/>
              </a:rPr>
              <a:t>stroke</a:t>
            </a:r>
            <a:endParaRPr lang="de-DE" sz="1000" dirty="0">
              <a:solidFill>
                <a:srgbClr val="000000"/>
              </a:solidFill>
              <a:latin typeface="+mj-lt"/>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mj-lt"/>
              </a:rPr>
              <a:t>Pneumatic</a:t>
            </a:r>
            <a:r>
              <a:rPr lang="de-DE" sz="1000" dirty="0">
                <a:solidFill>
                  <a:srgbClr val="000000"/>
                </a:solidFill>
                <a:latin typeface="+mj-lt"/>
              </a:rPr>
              <a:t> </a:t>
            </a:r>
            <a:r>
              <a:rPr lang="de-DE" sz="1000" dirty="0" err="1">
                <a:solidFill>
                  <a:srgbClr val="000000"/>
                </a:solidFill>
                <a:latin typeface="+mj-lt"/>
              </a:rPr>
              <a:t>Gripper</a:t>
            </a:r>
            <a:endParaRPr lang="de-DE" sz="1000" dirty="0">
              <a:solidFill>
                <a:srgbClr val="000000"/>
              </a:solidFill>
              <a:latin typeface="+mj-lt"/>
            </a:endParaRPr>
          </a:p>
          <a:p>
            <a:pPr marL="342900" indent="-342900" defTabSz="457200">
              <a:spcBef>
                <a:spcPct val="20000"/>
              </a:spcBef>
              <a:buFont typeface="Arial"/>
              <a:buChar char="•"/>
            </a:pPr>
            <a:r>
              <a:rPr lang="de-DE" sz="1000" dirty="0">
                <a:latin typeface="+mj-lt"/>
                <a:ea typeface="Calibri" panose="020F0502020204030204" pitchFamily="34" charset="0"/>
                <a:cs typeface="Calibri" panose="020F0502020204030204" pitchFamily="34" charset="0"/>
              </a:rPr>
              <a:t>Handling Cable in WPC</a:t>
            </a:r>
          </a:p>
          <a:p>
            <a:pPr marL="628650" lvl="1" indent="-171450" defTabSz="457200">
              <a:spcBef>
                <a:spcPct val="20000"/>
              </a:spcBef>
              <a:buFont typeface="Symbol" panose="05050102010706020507" pitchFamily="18" charset="2"/>
              <a:buChar char="-"/>
            </a:pPr>
            <a:r>
              <a:rPr lang="de-DE" sz="1000" dirty="0" err="1">
                <a:solidFill>
                  <a:srgbClr val="000000"/>
                </a:solidFill>
                <a:latin typeface="+mj-lt"/>
              </a:rPr>
              <a:t>Pneumatic</a:t>
            </a:r>
            <a:r>
              <a:rPr lang="de-DE" sz="1000" dirty="0">
                <a:solidFill>
                  <a:srgbClr val="000000"/>
                </a:solidFill>
                <a:latin typeface="+mj-lt"/>
              </a:rPr>
              <a:t> </a:t>
            </a:r>
            <a:r>
              <a:rPr lang="de-DE" sz="1000" dirty="0" err="1">
                <a:solidFill>
                  <a:srgbClr val="000000"/>
                </a:solidFill>
                <a:latin typeface="+mj-lt"/>
              </a:rPr>
              <a:t>Cylinder</a:t>
            </a:r>
            <a:r>
              <a:rPr lang="de-DE" sz="1000" dirty="0">
                <a:solidFill>
                  <a:srgbClr val="000000"/>
                </a:solidFill>
                <a:latin typeface="+mj-lt"/>
              </a:rPr>
              <a:t> y-</a:t>
            </a:r>
            <a:r>
              <a:rPr lang="de-DE" sz="1000" dirty="0" err="1">
                <a:solidFill>
                  <a:srgbClr val="000000"/>
                </a:solidFill>
                <a:latin typeface="+mj-lt"/>
              </a:rPr>
              <a:t>stroke</a:t>
            </a:r>
            <a:endParaRPr lang="de-DE" sz="1000" dirty="0">
              <a:solidFill>
                <a:srgbClr val="000000"/>
              </a:solidFill>
              <a:latin typeface="+mj-lt"/>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mj-lt"/>
              </a:rPr>
              <a:t>Pneumatic</a:t>
            </a:r>
            <a:r>
              <a:rPr lang="de-DE" sz="1000" dirty="0">
                <a:solidFill>
                  <a:srgbClr val="000000"/>
                </a:solidFill>
                <a:latin typeface="+mj-lt"/>
              </a:rPr>
              <a:t> </a:t>
            </a:r>
            <a:r>
              <a:rPr lang="de-DE" sz="1000" dirty="0" err="1">
                <a:solidFill>
                  <a:srgbClr val="000000"/>
                </a:solidFill>
                <a:latin typeface="+mj-lt"/>
              </a:rPr>
              <a:t>Cylinder</a:t>
            </a:r>
            <a:r>
              <a:rPr lang="de-DE" sz="1000" dirty="0">
                <a:solidFill>
                  <a:srgbClr val="000000"/>
                </a:solidFill>
                <a:latin typeface="+mj-lt"/>
              </a:rPr>
              <a:t> z-</a:t>
            </a:r>
            <a:r>
              <a:rPr lang="de-DE" sz="1000" dirty="0" err="1">
                <a:solidFill>
                  <a:srgbClr val="000000"/>
                </a:solidFill>
                <a:latin typeface="+mj-lt"/>
              </a:rPr>
              <a:t>stroke</a:t>
            </a:r>
            <a:endParaRPr lang="de-DE" sz="1000" dirty="0">
              <a:solidFill>
                <a:srgbClr val="000000"/>
              </a:solidFill>
              <a:latin typeface="+mj-lt"/>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mj-lt"/>
              </a:rPr>
              <a:t>Pneumatic</a:t>
            </a:r>
            <a:r>
              <a:rPr lang="de-DE" sz="1000" dirty="0">
                <a:solidFill>
                  <a:srgbClr val="000000"/>
                </a:solidFill>
                <a:latin typeface="+mj-lt"/>
              </a:rPr>
              <a:t> </a:t>
            </a:r>
            <a:r>
              <a:rPr lang="de-DE" sz="1000" dirty="0" err="1">
                <a:solidFill>
                  <a:srgbClr val="000000"/>
                </a:solidFill>
                <a:latin typeface="+mj-lt"/>
              </a:rPr>
              <a:t>Gripper</a:t>
            </a:r>
            <a:endParaRPr lang="de-DE" sz="1000" dirty="0">
              <a:solidFill>
                <a:srgbClr val="000000"/>
              </a:solidFill>
              <a:latin typeface="+mj-lt"/>
            </a:endParaRPr>
          </a:p>
          <a:p>
            <a:pPr marL="342900" indent="-342900" defTabSz="457200">
              <a:spcBef>
                <a:spcPct val="20000"/>
              </a:spcBef>
              <a:buFont typeface="Arial"/>
              <a:buChar char="•"/>
            </a:pPr>
            <a:r>
              <a:rPr lang="de-DE" sz="1000" dirty="0">
                <a:latin typeface="+mj-lt"/>
                <a:ea typeface="Calibri" panose="020F0502020204030204" pitchFamily="34" charset="0"/>
                <a:cs typeface="Calibri" panose="020F0502020204030204" pitchFamily="34" charset="0"/>
              </a:rPr>
              <a:t>Base frame</a:t>
            </a:r>
          </a:p>
          <a:p>
            <a:pPr marL="342900" indent="-342900" defTabSz="457200">
              <a:spcBef>
                <a:spcPct val="20000"/>
              </a:spcBef>
              <a:buFont typeface="Arial"/>
              <a:buChar char="•"/>
            </a:pPr>
            <a:r>
              <a:rPr lang="de-DE" sz="1000" dirty="0" err="1">
                <a:latin typeface="+mj-lt"/>
                <a:ea typeface="Calibri" panose="020F0502020204030204" pitchFamily="34" charset="0"/>
                <a:cs typeface="Calibri" panose="020F0502020204030204" pitchFamily="34" charset="0"/>
              </a:rPr>
              <a:t>Suction</a:t>
            </a:r>
            <a:r>
              <a:rPr lang="de-DE" sz="1000" dirty="0">
                <a:latin typeface="+mj-lt"/>
                <a:ea typeface="Calibri" panose="020F0502020204030204" pitchFamily="34" charset="0"/>
                <a:cs typeface="Calibri" panose="020F0502020204030204" pitchFamily="34" charset="0"/>
              </a:rPr>
              <a:t> </a:t>
            </a:r>
            <a:r>
              <a:rPr lang="de-DE" sz="1000" dirty="0" err="1">
                <a:latin typeface="+mj-lt"/>
                <a:ea typeface="Calibri" panose="020F0502020204030204" pitchFamily="34" charset="0"/>
                <a:cs typeface="Calibri" panose="020F0502020204030204" pitchFamily="34" charset="0"/>
              </a:rPr>
              <a:t>unit</a:t>
            </a:r>
            <a:endParaRPr lang="de-DE" sz="1000" dirty="0">
              <a:latin typeface="+mj-lt"/>
              <a:ea typeface="Calibri" panose="020F0502020204030204" pitchFamily="34" charset="0"/>
              <a:cs typeface="Calibri" panose="020F0502020204030204" pitchFamily="34" charset="0"/>
            </a:endParaRPr>
          </a:p>
          <a:p>
            <a:pPr marL="342900" lvl="1" indent="-342900" defTabSz="457200">
              <a:spcBef>
                <a:spcPct val="20000"/>
              </a:spcBef>
              <a:buFont typeface="Arial"/>
              <a:buChar char="•"/>
            </a:pPr>
            <a:r>
              <a:rPr lang="de-DE" sz="1000" dirty="0">
                <a:latin typeface="+mj-lt"/>
                <a:ea typeface="Calibri" panose="020F0502020204030204" pitchFamily="34" charset="0"/>
                <a:cs typeface="Calibri" panose="020F0502020204030204" pitchFamily="34" charset="0"/>
              </a:rPr>
              <a:t>Opener Unit </a:t>
            </a:r>
            <a:r>
              <a:rPr lang="de-DE" sz="1000" dirty="0" err="1">
                <a:latin typeface="+mj-lt"/>
                <a:ea typeface="Calibri" panose="020F0502020204030204" pitchFamily="34" charset="0"/>
                <a:cs typeface="Calibri" panose="020F0502020204030204" pitchFamily="34" charset="0"/>
              </a:rPr>
              <a:t>for</a:t>
            </a:r>
            <a:r>
              <a:rPr lang="de-DE" sz="1000" dirty="0">
                <a:latin typeface="+mj-lt"/>
                <a:ea typeface="Calibri" panose="020F0502020204030204" pitchFamily="34" charset="0"/>
                <a:cs typeface="Calibri" panose="020F0502020204030204" pitchFamily="34" charset="0"/>
              </a:rPr>
              <a:t> WPC</a:t>
            </a:r>
          </a:p>
          <a:p>
            <a:pPr marL="628650" lvl="1" indent="-171450" defTabSz="457200">
              <a:spcBef>
                <a:spcPct val="20000"/>
              </a:spcBef>
              <a:buFont typeface="Symbol" panose="05050102010706020507" pitchFamily="18" charset="2"/>
              <a:buChar char="-"/>
            </a:pPr>
            <a:r>
              <a:rPr lang="de-DE" sz="1000" dirty="0">
                <a:solidFill>
                  <a:srgbClr val="000000"/>
                </a:solidFill>
                <a:latin typeface="+mj-lt"/>
              </a:rPr>
              <a:t>2x </a:t>
            </a:r>
            <a:r>
              <a:rPr lang="de-DE" sz="1000" dirty="0" err="1">
                <a:solidFill>
                  <a:srgbClr val="000000"/>
                </a:solidFill>
                <a:latin typeface="+mj-lt"/>
              </a:rPr>
              <a:t>pneumatic</a:t>
            </a:r>
            <a:r>
              <a:rPr lang="de-DE" sz="1000" dirty="0">
                <a:solidFill>
                  <a:srgbClr val="000000"/>
                </a:solidFill>
                <a:latin typeface="+mj-lt"/>
              </a:rPr>
              <a:t> </a:t>
            </a:r>
            <a:r>
              <a:rPr lang="de-DE" sz="1000" dirty="0" err="1">
                <a:solidFill>
                  <a:srgbClr val="000000"/>
                </a:solidFill>
                <a:latin typeface="+mj-lt"/>
              </a:rPr>
              <a:t>cylinders</a:t>
            </a:r>
            <a:r>
              <a:rPr lang="de-DE" sz="1000" dirty="0">
                <a:solidFill>
                  <a:srgbClr val="000000"/>
                </a:solidFill>
                <a:latin typeface="+mj-lt"/>
              </a:rPr>
              <a:t> </a:t>
            </a:r>
            <a:r>
              <a:rPr lang="de-DE" sz="1000" dirty="0" err="1">
                <a:solidFill>
                  <a:srgbClr val="000000"/>
                </a:solidFill>
                <a:latin typeface="+mj-lt"/>
              </a:rPr>
              <a:t>to</a:t>
            </a:r>
            <a:r>
              <a:rPr lang="de-DE" sz="1000" dirty="0">
                <a:solidFill>
                  <a:srgbClr val="000000"/>
                </a:solidFill>
                <a:latin typeface="+mj-lt"/>
              </a:rPr>
              <a:t> open </a:t>
            </a:r>
            <a:r>
              <a:rPr lang="de-DE" sz="1000" dirty="0" err="1">
                <a:solidFill>
                  <a:srgbClr val="000000"/>
                </a:solidFill>
                <a:latin typeface="+mj-lt"/>
              </a:rPr>
              <a:t>the</a:t>
            </a:r>
            <a:r>
              <a:rPr lang="de-DE" sz="1000" dirty="0">
                <a:solidFill>
                  <a:srgbClr val="000000"/>
                </a:solidFill>
                <a:latin typeface="+mj-lt"/>
              </a:rPr>
              <a:t> </a:t>
            </a:r>
            <a:r>
              <a:rPr lang="de-DE" sz="1000" dirty="0" err="1">
                <a:solidFill>
                  <a:srgbClr val="000000"/>
                </a:solidFill>
                <a:latin typeface="+mj-lt"/>
              </a:rPr>
              <a:t>gripper</a:t>
            </a:r>
            <a:r>
              <a:rPr lang="de-DE" sz="1000" dirty="0">
                <a:solidFill>
                  <a:srgbClr val="000000"/>
                </a:solidFill>
                <a:latin typeface="+mj-lt"/>
              </a:rPr>
              <a:t> </a:t>
            </a:r>
            <a:r>
              <a:rPr lang="de-DE" sz="1000" dirty="0" err="1">
                <a:solidFill>
                  <a:srgbClr val="000000"/>
                </a:solidFill>
                <a:latin typeface="+mj-lt"/>
              </a:rPr>
              <a:t>jaws</a:t>
            </a:r>
            <a:r>
              <a:rPr lang="de-DE" sz="1000" dirty="0">
                <a:solidFill>
                  <a:srgbClr val="000000"/>
                </a:solidFill>
                <a:latin typeface="+mj-lt"/>
              </a:rPr>
              <a:t> on </a:t>
            </a:r>
            <a:r>
              <a:rPr lang="de-DE" sz="1000" dirty="0" err="1">
                <a:solidFill>
                  <a:srgbClr val="000000"/>
                </a:solidFill>
                <a:latin typeface="+mj-lt"/>
              </a:rPr>
              <a:t>the</a:t>
            </a:r>
            <a:r>
              <a:rPr lang="de-DE" sz="1000" dirty="0">
                <a:solidFill>
                  <a:srgbClr val="000000"/>
                </a:solidFill>
                <a:latin typeface="+mj-lt"/>
              </a:rPr>
              <a:t> WPC</a:t>
            </a:r>
          </a:p>
          <a:p>
            <a:pPr marL="342900" indent="-342900" defTabSz="457200">
              <a:spcBef>
                <a:spcPct val="20000"/>
              </a:spcBef>
              <a:buFont typeface="Arial"/>
              <a:buChar char="•"/>
            </a:pPr>
            <a:endParaRPr lang="de-DE" sz="1000" dirty="0">
              <a:latin typeface="+mj-lt"/>
              <a:ea typeface="Calibri" panose="020F0502020204030204" pitchFamily="34" charset="0"/>
              <a:cs typeface="Calibri" panose="020F0502020204030204" pitchFamily="34" charset="0"/>
            </a:endParaRPr>
          </a:p>
          <a:p>
            <a:pPr marL="342900" indent="-342900" defTabSz="457200">
              <a:spcBef>
                <a:spcPct val="20000"/>
              </a:spcBef>
              <a:buFont typeface="Arial"/>
              <a:buChar char="•"/>
            </a:pPr>
            <a:endParaRPr lang="de-DE" sz="1000" dirty="0">
              <a:latin typeface="+mj-lt"/>
              <a:ea typeface="Calibri" panose="020F0502020204030204" pitchFamily="34" charset="0"/>
              <a:cs typeface="Calibri" panose="020F0502020204030204" pitchFamily="34" charset="0"/>
            </a:endParaRPr>
          </a:p>
          <a:p>
            <a:pPr marL="342900" indent="-342900" defTabSz="457200">
              <a:spcBef>
                <a:spcPct val="20000"/>
              </a:spcBef>
              <a:buFont typeface="Arial"/>
              <a:buChar char="•"/>
            </a:pPr>
            <a:endParaRPr lang="de-DE" sz="1000"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9956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8600E69C-57D6-A2F4-0845-DF0CE0578382}"/>
              </a:ext>
            </a:extLst>
          </p:cNvPr>
          <p:cNvPicPr>
            <a:picLocks noChangeAspect="1"/>
          </p:cNvPicPr>
          <p:nvPr/>
        </p:nvPicPr>
        <p:blipFill>
          <a:blip r:embed="rId2"/>
          <a:stretch>
            <a:fillRect/>
          </a:stretch>
        </p:blipFill>
        <p:spPr>
          <a:xfrm>
            <a:off x="1031707" y="1307685"/>
            <a:ext cx="3362493" cy="2477103"/>
          </a:xfrm>
          <a:prstGeom prst="rect">
            <a:avLst/>
          </a:prstGeom>
        </p:spPr>
      </p:pic>
      <p:sp>
        <p:nvSpPr>
          <p:cNvPr id="5" name="Textfeld 4">
            <a:extLst>
              <a:ext uri="{FF2B5EF4-FFF2-40B4-BE49-F238E27FC236}">
                <a16:creationId xmlns:a16="http://schemas.microsoft.com/office/drawing/2014/main" id="{5FA20405-9279-8714-7CE0-5C8D22141C65}"/>
              </a:ext>
            </a:extLst>
          </p:cNvPr>
          <p:cNvSpPr txBox="1"/>
          <p:nvPr/>
        </p:nvSpPr>
        <p:spPr>
          <a:xfrm>
            <a:off x="6268527" y="1206085"/>
            <a:ext cx="3746341" cy="3585597"/>
          </a:xfrm>
          <a:prstGeom prst="rect">
            <a:avLst/>
          </a:prstGeom>
          <a:noFill/>
        </p:spPr>
        <p:txBody>
          <a:bodyPr wrap="square" rtlCol="0">
            <a:spAutoFit/>
          </a:bodyPr>
          <a:lstStyle/>
          <a:p>
            <a:r>
              <a:rPr lang="de-DE" sz="1600" b="1" u="sng" dirty="0">
                <a:latin typeface="Calibri" panose="020F0502020204030204" pitchFamily="34" charset="0"/>
                <a:ea typeface="Calibri" panose="020F0502020204030204" pitchFamily="34" charset="0"/>
                <a:cs typeface="Calibri" panose="020F0502020204030204" pitchFamily="34" charset="0"/>
              </a:rPr>
              <a:t>Station </a:t>
            </a:r>
            <a:r>
              <a:rPr lang="de-DE" sz="1600" b="1" u="sng" dirty="0" err="1">
                <a:latin typeface="Calibri" panose="020F0502020204030204" pitchFamily="34" charset="0"/>
                <a:ea typeface="Calibri" panose="020F0502020204030204" pitchFamily="34" charset="0"/>
                <a:cs typeface="Calibri" panose="020F0502020204030204" pitchFamily="34" charset="0"/>
              </a:rPr>
              <a:t>consisting</a:t>
            </a:r>
            <a:r>
              <a:rPr lang="de-DE" sz="1600" b="1" u="sng" dirty="0">
                <a:latin typeface="Calibri" panose="020F0502020204030204" pitchFamily="34" charset="0"/>
                <a:ea typeface="Calibri" panose="020F0502020204030204" pitchFamily="34" charset="0"/>
                <a:cs typeface="Calibri" panose="020F0502020204030204" pitchFamily="34" charset="0"/>
              </a:rPr>
              <a:t> </a:t>
            </a:r>
            <a:r>
              <a:rPr lang="de-DE" sz="1600" b="1" u="sng" dirty="0" err="1">
                <a:latin typeface="Calibri" panose="020F0502020204030204" pitchFamily="34" charset="0"/>
                <a:ea typeface="Calibri" panose="020F0502020204030204" pitchFamily="34" charset="0"/>
                <a:cs typeface="Calibri" panose="020F0502020204030204" pitchFamily="34" charset="0"/>
              </a:rPr>
              <a:t>of</a:t>
            </a:r>
            <a:r>
              <a:rPr lang="de-DE" sz="1600" b="1" u="sng" dirty="0">
                <a:latin typeface="Calibri" panose="020F0502020204030204" pitchFamily="34" charset="0"/>
                <a:ea typeface="Calibri" panose="020F0502020204030204" pitchFamily="34" charset="0"/>
                <a:cs typeface="Calibri" panose="020F0502020204030204" pitchFamily="34" charset="0"/>
              </a:rPr>
              <a:t>:</a:t>
            </a:r>
          </a:p>
          <a:p>
            <a:endParaRPr lang="de-DE" sz="9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Cutting and Pull Unit for Isolation Part</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Pneumatic Extraction cylinder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Pneumatic gripper with interchangeable knives</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2 knifes </a:t>
            </a:r>
            <a:r>
              <a:rPr lang="en-US" sz="1000" dirty="0" err="1">
                <a:latin typeface="Calibri" panose="020F0502020204030204" pitchFamily="34" charset="0"/>
                <a:ea typeface="Calibri" panose="020F0502020204030204" pitchFamily="34" charset="0"/>
                <a:cs typeface="Calibri" panose="020F0502020204030204" pitchFamily="34" charset="0"/>
              </a:rPr>
              <a:t>Typ</a:t>
            </a:r>
            <a:r>
              <a:rPr lang="en-US" sz="1000" dirty="0">
                <a:latin typeface="Calibri" panose="020F0502020204030204" pitchFamily="34" charset="0"/>
                <a:ea typeface="Calibri" panose="020F0502020204030204" pitchFamily="34" charset="0"/>
                <a:cs typeface="Calibri" panose="020F0502020204030204" pitchFamily="34" charset="0"/>
              </a:rPr>
              <a:t>:  V-blades included in the basic scope</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Turning unit pneumatic</a:t>
            </a:r>
            <a:endParaRPr lang="de-DE" sz="1000" dirty="0">
              <a:latin typeface="Calibri" panose="020F0502020204030204" pitchFamily="34" charset="0"/>
              <a:ea typeface="Calibri" panose="020F0502020204030204" pitchFamily="34" charset="0"/>
              <a:cs typeface="Calibri" panose="020F0502020204030204" pitchFamily="34" charset="0"/>
            </a:endParaRP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Holder Cable</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Pneumatic Cylinder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Pneumatic Gripper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Universal Gripper fingers for all cable types</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Electrical Pusher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Electrical cylinder for positioning </a:t>
            </a:r>
            <a:r>
              <a:rPr lang="en-US" sz="1000" dirty="0" err="1">
                <a:latin typeface="Calibri" panose="020F0502020204030204" pitchFamily="34" charset="0"/>
                <a:ea typeface="Calibri" panose="020F0502020204030204" pitchFamily="34" charset="0"/>
                <a:cs typeface="Calibri" panose="020F0502020204030204" pitchFamily="34" charset="0"/>
              </a:rPr>
              <a:t>cabel</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freely adjustable in 0,1mm steps</a:t>
            </a:r>
          </a:p>
          <a:p>
            <a:pPr marL="342900" lvl="1" indent="-342900" defTabSz="457200">
              <a:spcBef>
                <a:spcPct val="20000"/>
              </a:spcBef>
              <a:buFont typeface="Arial"/>
              <a:buChar char="•"/>
            </a:pPr>
            <a:r>
              <a:rPr lang="de-DE" altLang="de-DE" sz="1000" dirty="0" err="1">
                <a:latin typeface="Calibri" panose="020F0502020204030204" pitchFamily="34" charset="0"/>
                <a:ea typeface="Calibri" panose="020F0502020204030204" pitchFamily="34" charset="0"/>
                <a:cs typeface="Calibri" panose="020F0502020204030204" pitchFamily="34" charset="0"/>
              </a:rPr>
              <a:t>Extraction</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of</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the</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insulation</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ends</a:t>
            </a:r>
            <a:r>
              <a:rPr lang="de-DE" altLang="de-DE" sz="1000" dirty="0">
                <a:latin typeface="Calibri" panose="020F0502020204030204" pitchFamily="34" charset="0"/>
                <a:ea typeface="Calibri" panose="020F0502020204030204" pitchFamily="34" charset="0"/>
                <a:cs typeface="Calibri" panose="020F0502020204030204" pitchFamily="34" charset="0"/>
              </a:rPr>
              <a:t> and </a:t>
            </a:r>
            <a:r>
              <a:rPr lang="de-DE" altLang="de-DE" sz="1000" dirty="0" err="1">
                <a:latin typeface="Calibri" panose="020F0502020204030204" pitchFamily="34" charset="0"/>
                <a:ea typeface="Calibri" panose="020F0502020204030204" pitchFamily="34" charset="0"/>
                <a:cs typeface="Calibri" panose="020F0502020204030204" pitchFamily="34" charset="0"/>
              </a:rPr>
              <a:t>resulting</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protection</a:t>
            </a:r>
            <a:r>
              <a:rPr lang="de-DE" altLang="de-DE" sz="1000" dirty="0">
                <a:latin typeface="Calibri" panose="020F0502020204030204" pitchFamily="34" charset="0"/>
                <a:ea typeface="Calibri" panose="020F0502020204030204" pitchFamily="34" charset="0"/>
                <a:cs typeface="Calibri" panose="020F0502020204030204" pitchFamily="34" charset="0"/>
              </a:rPr>
              <a:t>	</a:t>
            </a:r>
          </a:p>
          <a:p>
            <a:pPr marL="628650" lvl="1" indent="-171450" defTabSz="457200">
              <a:spcBef>
                <a:spcPct val="20000"/>
              </a:spcBef>
              <a:buFont typeface="Symbol" panose="05050102010706020507" pitchFamily="18" charset="2"/>
              <a:buChar char="-"/>
            </a:pPr>
            <a:r>
              <a:rPr lang="de-DE" altLang="de-DE" sz="1000" dirty="0" err="1">
                <a:latin typeface="Calibri" panose="020F0502020204030204" pitchFamily="34" charset="0"/>
                <a:ea typeface="Calibri" panose="020F0502020204030204" pitchFamily="34" charset="0"/>
                <a:cs typeface="Calibri" panose="020F0502020204030204" pitchFamily="34" charset="0"/>
              </a:rPr>
              <a:t>Suction</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unit</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size</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designed</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for</a:t>
            </a:r>
            <a:r>
              <a:rPr lang="de-DE" altLang="de-DE" sz="1000" dirty="0">
                <a:latin typeface="Calibri" panose="020F0502020204030204" pitchFamily="34" charset="0"/>
                <a:ea typeface="Calibri" panose="020F0502020204030204" pitchFamily="34" charset="0"/>
                <a:cs typeface="Calibri" panose="020F0502020204030204" pitchFamily="34" charset="0"/>
              </a:rPr>
              <a:t> 1-shift  </a:t>
            </a:r>
          </a:p>
          <a:p>
            <a:pPr marL="342900" lvl="1" indent="-342900" defTabSz="457200">
              <a:spcBef>
                <a:spcPct val="20000"/>
              </a:spcBef>
              <a:buFont typeface="Arial"/>
              <a:buChar char="•"/>
            </a:pPr>
            <a:r>
              <a:rPr lang="de-DE" altLang="de-DE" sz="1000" dirty="0">
                <a:latin typeface="Calibri" panose="020F0502020204030204" pitchFamily="34" charset="0"/>
                <a:ea typeface="Calibri" panose="020F0502020204030204" pitchFamily="34" charset="0"/>
                <a:cs typeface="Calibri" panose="020F0502020204030204" pitchFamily="34" charset="0"/>
              </a:rPr>
              <a:t>Base frame</a:t>
            </a:r>
          </a:p>
          <a:p>
            <a:pPr lvl="1" defTabSz="457200">
              <a:spcBef>
                <a:spcPct val="20000"/>
              </a:spcBef>
            </a:pP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7" name="Titel 1">
            <a:extLst>
              <a:ext uri="{FF2B5EF4-FFF2-40B4-BE49-F238E27FC236}">
                <a16:creationId xmlns:a16="http://schemas.microsoft.com/office/drawing/2014/main" id="{AF194CBE-2195-4C3B-3633-131CC301975C}"/>
              </a:ext>
            </a:extLst>
          </p:cNvPr>
          <p:cNvSpPr txBox="1">
            <a:spLocks/>
          </p:cNvSpPr>
          <p:nvPr/>
        </p:nvSpPr>
        <p:spPr>
          <a:xfrm>
            <a:off x="3580157" y="139904"/>
            <a:ext cx="4656790"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de-DE" sz="1400" b="1" u="sng" dirty="0">
                <a:latin typeface="+mj-lt"/>
              </a:rPr>
              <a:t>Stripping Cable</a:t>
            </a:r>
            <a:endParaRPr lang="de-DE" sz="1400" u="sng" dirty="0"/>
          </a:p>
        </p:txBody>
      </p:sp>
    </p:spTree>
    <p:extLst>
      <p:ext uri="{BB962C8B-B14F-4D97-AF65-F5344CB8AC3E}">
        <p14:creationId xmlns:p14="http://schemas.microsoft.com/office/powerpoint/2010/main" val="84581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dirty="0" err="1">
                <a:latin typeface="+mj-lt"/>
              </a:rPr>
              <a:t>Crimping</a:t>
            </a:r>
            <a:r>
              <a:rPr lang="de-DE" sz="1400" b="1" dirty="0">
                <a:latin typeface="+mj-lt"/>
              </a:rPr>
              <a:t> Unit</a:t>
            </a:r>
          </a:p>
        </p:txBody>
      </p:sp>
      <p:pic>
        <p:nvPicPr>
          <p:cNvPr id="28" name="Grafik 27">
            <a:extLst>
              <a:ext uri="{FF2B5EF4-FFF2-40B4-BE49-F238E27FC236}">
                <a16:creationId xmlns:a16="http://schemas.microsoft.com/office/drawing/2014/main" id="{5BA1C3ED-3A8F-E95A-5A7B-DCA9DB6DD9ED}"/>
              </a:ext>
            </a:extLst>
          </p:cNvPr>
          <p:cNvPicPr>
            <a:picLocks noChangeAspect="1"/>
          </p:cNvPicPr>
          <p:nvPr/>
        </p:nvPicPr>
        <p:blipFill>
          <a:blip r:embed="rId2"/>
          <a:stretch>
            <a:fillRect/>
          </a:stretch>
        </p:blipFill>
        <p:spPr>
          <a:xfrm>
            <a:off x="430131" y="1180184"/>
            <a:ext cx="4370469" cy="2157404"/>
          </a:xfrm>
          <a:prstGeom prst="rect">
            <a:avLst/>
          </a:prstGeom>
        </p:spPr>
      </p:pic>
      <p:sp>
        <p:nvSpPr>
          <p:cNvPr id="4" name="Textfeld 3">
            <a:extLst>
              <a:ext uri="{FF2B5EF4-FFF2-40B4-BE49-F238E27FC236}">
                <a16:creationId xmlns:a16="http://schemas.microsoft.com/office/drawing/2014/main" id="{187874C9-8EA8-24DA-1033-B20EC5B8F3CB}"/>
              </a:ext>
            </a:extLst>
          </p:cNvPr>
          <p:cNvSpPr txBox="1"/>
          <p:nvPr/>
        </p:nvSpPr>
        <p:spPr>
          <a:xfrm>
            <a:off x="6028981" y="976386"/>
            <a:ext cx="4854919" cy="4419671"/>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including</a:t>
            </a:r>
            <a:r>
              <a:rPr lang="de-DE" sz="1400" b="1" u="sng" dirty="0">
                <a:latin typeface="Calibri" panose="020F0502020204030204" pitchFamily="34" charset="0"/>
                <a:ea typeface="Calibri" panose="020F0502020204030204" pitchFamily="34" charset="0"/>
                <a:cs typeface="Calibri" panose="020F0502020204030204" pitchFamily="34" charset="0"/>
              </a:rPr>
              <a:t> in </a:t>
            </a:r>
            <a:r>
              <a:rPr lang="de-DE" sz="1400" b="1" u="sng" dirty="0" err="1">
                <a:latin typeface="Calibri" panose="020F0502020204030204" pitchFamily="34" charset="0"/>
                <a:ea typeface="Calibri" panose="020F0502020204030204" pitchFamily="34" charset="0"/>
                <a:cs typeface="Calibri" panose="020F0502020204030204" pitchFamily="34" charset="0"/>
              </a:rPr>
              <a:t>the</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offer</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Feeding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Automatic feeding unit for all types of cable lugs</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Cable lug hopper for 2 hours</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Camera for position detection</a:t>
            </a:r>
          </a:p>
          <a:p>
            <a:pPr marL="628650" lvl="1" indent="-171450" defTabSz="457200">
              <a:spcBef>
                <a:spcPct val="20000"/>
              </a:spcBef>
              <a:buFont typeface="Symbol" panose="05050102010706020507" pitchFamily="18" charset="2"/>
              <a:buChar char="-"/>
            </a:pPr>
            <a:r>
              <a:rPr lang="en-US" sz="900" dirty="0" err="1">
                <a:latin typeface="Calibri" panose="020F0502020204030204" pitchFamily="34" charset="0"/>
                <a:ea typeface="Calibri" panose="020F0502020204030204" pitchFamily="34" charset="0"/>
                <a:cs typeface="Calibri" panose="020F0502020204030204" pitchFamily="34" charset="0"/>
              </a:rPr>
              <a:t>Scara</a:t>
            </a:r>
            <a:r>
              <a:rPr lang="en-US" sz="900" dirty="0">
                <a:latin typeface="Calibri" panose="020F0502020204030204" pitchFamily="34" charset="0"/>
                <a:ea typeface="Calibri" panose="020F0502020204030204" pitchFamily="34" charset="0"/>
                <a:cs typeface="Calibri" panose="020F0502020204030204" pitchFamily="34" charset="0"/>
              </a:rPr>
              <a:t> robot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Universal gripper for all types</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Alignment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Universal alignment unit for all </a:t>
            </a:r>
            <a:r>
              <a:rPr lang="en-US" sz="900" dirty="0" err="1">
                <a:latin typeface="Calibri" panose="020F0502020204030204" pitchFamily="34" charset="0"/>
                <a:ea typeface="Calibri" panose="020F0502020204030204" pitchFamily="34" charset="0"/>
                <a:cs typeface="Calibri" panose="020F0502020204030204" pitchFamily="34" charset="0"/>
              </a:rPr>
              <a:t>typs</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Pneumatic gripper for centering cable lug</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Handover station for cable lug</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Pneumatic 180° turning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2 pneumatic </a:t>
            </a:r>
            <a:r>
              <a:rPr lang="en-US" sz="900" dirty="0" err="1">
                <a:latin typeface="Calibri" panose="020F0502020204030204" pitchFamily="34" charset="0"/>
                <a:ea typeface="Calibri" panose="020F0502020204030204" pitchFamily="34" charset="0"/>
                <a:cs typeface="Calibri" panose="020F0502020204030204" pitchFamily="34" charset="0"/>
              </a:rPr>
              <a:t>zylinder</a:t>
            </a:r>
            <a:r>
              <a:rPr lang="en-US" sz="900" dirty="0">
                <a:latin typeface="Calibri" panose="020F0502020204030204" pitchFamily="34" charset="0"/>
                <a:ea typeface="Calibri" panose="020F0502020204030204" pitchFamily="34" charset="0"/>
                <a:cs typeface="Calibri" panose="020F0502020204030204" pitchFamily="34" charset="0"/>
              </a:rPr>
              <a:t> for delivery cable lug</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2 pneumatic gripping unit with floating unit</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Pusher</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cylinder for positioning </a:t>
            </a:r>
            <a:r>
              <a:rPr lang="en-US" sz="900" dirty="0" err="1">
                <a:latin typeface="Calibri" panose="020F0502020204030204" pitchFamily="34" charset="0"/>
                <a:ea typeface="Calibri" panose="020F0502020204030204" pitchFamily="34" charset="0"/>
                <a:cs typeface="Calibri" panose="020F0502020204030204" pitchFamily="34" charset="0"/>
              </a:rPr>
              <a:t>cabel</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freely adjustable in 0,1mm steps</a:t>
            </a: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Crimp </a:t>
            </a:r>
            <a:r>
              <a:rPr lang="de-DE" altLang="de-DE" sz="900" dirty="0" err="1">
                <a:latin typeface="Calibri" panose="020F0502020204030204" pitchFamily="34" charset="0"/>
                <a:ea typeface="Calibri" panose="020F0502020204030204" pitchFamily="34" charset="0"/>
                <a:cs typeface="Calibri" panose="020F0502020204030204" pitchFamily="34" charset="0"/>
              </a:rPr>
              <a:t>station</a:t>
            </a:r>
            <a:r>
              <a:rPr lang="de-DE" altLang="de-DE" sz="900" dirty="0">
                <a:latin typeface="Calibri" panose="020F0502020204030204" pitchFamily="34" charset="0"/>
                <a:ea typeface="Calibri" panose="020F0502020204030204" pitchFamily="34" charset="0"/>
                <a:cs typeface="Calibri" panose="020F0502020204030204" pitchFamily="34" charset="0"/>
              </a:rPr>
              <a:t>	</a:t>
            </a: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Basic </a:t>
            </a:r>
            <a:r>
              <a:rPr lang="de-DE" altLang="de-DE" sz="900" dirty="0" err="1">
                <a:latin typeface="Calibri" panose="020F0502020204030204" pitchFamily="34" charset="0"/>
                <a:ea typeface="Calibri" panose="020F0502020204030204" pitchFamily="34" charset="0"/>
                <a:cs typeface="Calibri" panose="020F0502020204030204" pitchFamily="34" charset="0"/>
              </a:rPr>
              <a:t>structure</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altLang="de-DE" sz="900" dirty="0" err="1">
                <a:latin typeface="Calibri" panose="020F0502020204030204" pitchFamily="34" charset="0"/>
                <a:ea typeface="Calibri" panose="020F0502020204030204" pitchFamily="34" charset="0"/>
                <a:cs typeface="Calibri" panose="020F0502020204030204" pitchFamily="34" charset="0"/>
              </a:rPr>
              <a:t>Electromechanical</a:t>
            </a:r>
            <a:r>
              <a:rPr lang="de-DE" altLang="de-DE" sz="900" dirty="0">
                <a:latin typeface="Calibri" panose="020F0502020204030204" pitchFamily="34" charset="0"/>
                <a:ea typeface="Calibri" panose="020F0502020204030204" pitchFamily="34" charset="0"/>
                <a:cs typeface="Calibri" panose="020F0502020204030204" pitchFamily="34" charset="0"/>
              </a:rPr>
              <a:t> NC </a:t>
            </a:r>
            <a:r>
              <a:rPr lang="de-DE" altLang="de-DE" sz="900" dirty="0" err="1">
                <a:latin typeface="Calibri" panose="020F0502020204030204" pitchFamily="34" charset="0"/>
                <a:ea typeface="Calibri" panose="020F0502020204030204" pitchFamily="34" charset="0"/>
                <a:cs typeface="Calibri" panose="020F0502020204030204" pitchFamily="34" charset="0"/>
              </a:rPr>
              <a:t>joining</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module</a:t>
            </a:r>
            <a:r>
              <a:rPr lang="de-DE" altLang="de-DE" sz="900" dirty="0">
                <a:latin typeface="Calibri" panose="020F0502020204030204" pitchFamily="34" charset="0"/>
                <a:ea typeface="Calibri" panose="020F0502020204030204" pitchFamily="34" charset="0"/>
                <a:cs typeface="Calibri" panose="020F0502020204030204" pitchFamily="34" charset="0"/>
              </a:rPr>
              <a:t> Fa Kistler  0-25KN</a:t>
            </a: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Crimp </a:t>
            </a:r>
            <a:r>
              <a:rPr lang="de-DE" altLang="de-DE" sz="900" dirty="0" err="1">
                <a:latin typeface="Calibri" panose="020F0502020204030204" pitchFamily="34" charset="0"/>
                <a:ea typeface="Calibri" panose="020F0502020204030204" pitchFamily="34" charset="0"/>
                <a:cs typeface="Calibri" panose="020F0502020204030204" pitchFamily="34" charset="0"/>
              </a:rPr>
              <a:t>tool</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from</a:t>
            </a:r>
            <a:r>
              <a:rPr lang="de-DE" altLang="de-DE" sz="900" dirty="0">
                <a:latin typeface="Calibri" panose="020F0502020204030204" pitchFamily="34" charset="0"/>
                <a:ea typeface="Calibri" panose="020F0502020204030204" pitchFamily="34" charset="0"/>
                <a:cs typeface="Calibri" panose="020F0502020204030204" pitchFamily="34" charset="0"/>
              </a:rPr>
              <a:t> Schäfer (</a:t>
            </a:r>
            <a:r>
              <a:rPr lang="de-DE" altLang="de-DE" sz="900" dirty="0" err="1">
                <a:latin typeface="Calibri" panose="020F0502020204030204" pitchFamily="34" charset="0"/>
                <a:ea typeface="Calibri" panose="020F0502020204030204" pitchFamily="34" charset="0"/>
                <a:cs typeface="Calibri" panose="020F0502020204030204" pitchFamily="34" charset="0"/>
              </a:rPr>
              <a:t>according</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to</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specification</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b="1" dirty="0">
                <a:latin typeface="Calibri" panose="020F0502020204030204" pitchFamily="34" charset="0"/>
                <a:ea typeface="Calibri" panose="020F0502020204030204" pitchFamily="34" charset="0"/>
                <a:cs typeface="Calibri" panose="020F0502020204030204" pitchFamily="34" charset="0"/>
              </a:rPr>
              <a:t>(</a:t>
            </a:r>
            <a:r>
              <a:rPr lang="de-DE" altLang="de-DE" sz="900" b="1" dirty="0" err="1">
                <a:latin typeface="Calibri" panose="020F0502020204030204" pitchFamily="34" charset="0"/>
                <a:ea typeface="Calibri" panose="020F0502020204030204" pitchFamily="34" charset="0"/>
                <a:cs typeface="Calibri" panose="020F0502020204030204" pitchFamily="34" charset="0"/>
              </a:rPr>
              <a:t>supplied</a:t>
            </a:r>
            <a:r>
              <a:rPr lang="de-DE" altLang="de-DE" sz="900" b="1" dirty="0">
                <a:latin typeface="Calibri" panose="020F0502020204030204" pitchFamily="34" charset="0"/>
                <a:ea typeface="Calibri" panose="020F0502020204030204" pitchFamily="34" charset="0"/>
                <a:cs typeface="Calibri" panose="020F0502020204030204" pitchFamily="34" charset="0"/>
              </a:rPr>
              <a:t> </a:t>
            </a:r>
            <a:r>
              <a:rPr lang="de-DE" altLang="de-DE" sz="900" b="1" dirty="0" err="1">
                <a:latin typeface="Calibri" panose="020F0502020204030204" pitchFamily="34" charset="0"/>
                <a:ea typeface="Calibri" panose="020F0502020204030204" pitchFamily="34" charset="0"/>
                <a:cs typeface="Calibri" panose="020F0502020204030204" pitchFamily="34" charset="0"/>
              </a:rPr>
              <a:t>by</a:t>
            </a:r>
            <a:r>
              <a:rPr lang="de-DE" altLang="de-DE" sz="900" b="1" dirty="0">
                <a:latin typeface="Calibri" panose="020F0502020204030204" pitchFamily="34" charset="0"/>
                <a:ea typeface="Calibri" panose="020F0502020204030204" pitchFamily="34" charset="0"/>
                <a:cs typeface="Calibri" panose="020F0502020204030204" pitchFamily="34" charset="0"/>
              </a:rPr>
              <a:t> Dräxlmaier)</a:t>
            </a: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Coding </a:t>
            </a:r>
            <a:r>
              <a:rPr lang="de-DE" altLang="de-DE" sz="900" dirty="0" err="1">
                <a:latin typeface="Calibri" panose="020F0502020204030204" pitchFamily="34" charset="0"/>
                <a:ea typeface="Calibri" panose="020F0502020204030204" pitchFamily="34" charset="0"/>
                <a:cs typeface="Calibri" panose="020F0502020204030204" pitchFamily="34" charset="0"/>
              </a:rPr>
              <a:t>for</a:t>
            </a:r>
            <a:r>
              <a:rPr lang="de-DE" altLang="de-DE" sz="900" dirty="0">
                <a:latin typeface="Calibri" panose="020F0502020204030204" pitchFamily="34" charset="0"/>
                <a:ea typeface="Calibri" panose="020F0502020204030204" pitchFamily="34" charset="0"/>
                <a:cs typeface="Calibri" panose="020F0502020204030204" pitchFamily="34" charset="0"/>
              </a:rPr>
              <a:t> crimp </a:t>
            </a:r>
            <a:r>
              <a:rPr lang="de-DE" altLang="de-DE" sz="900" dirty="0" err="1">
                <a:latin typeface="Calibri" panose="020F0502020204030204" pitchFamily="34" charset="0"/>
                <a:ea typeface="Calibri" panose="020F0502020204030204" pitchFamily="34" charset="0"/>
                <a:cs typeface="Calibri" panose="020F0502020204030204" pitchFamily="34" charset="0"/>
              </a:rPr>
              <a:t>tool</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Base frame</a:t>
            </a: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Welding </a:t>
            </a:r>
            <a:r>
              <a:rPr lang="de-DE" altLang="de-DE" sz="900" dirty="0" err="1">
                <a:latin typeface="Calibri" panose="020F0502020204030204" pitchFamily="34" charset="0"/>
                <a:ea typeface="Calibri" panose="020F0502020204030204" pitchFamily="34" charset="0"/>
                <a:cs typeface="Calibri" panose="020F0502020204030204" pitchFamily="34" charset="0"/>
              </a:rPr>
              <a:t>console</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Base </a:t>
            </a:r>
            <a:r>
              <a:rPr lang="de-DE" altLang="de-DE" sz="900" dirty="0" err="1">
                <a:latin typeface="Calibri" panose="020F0502020204030204" pitchFamily="34" charset="0"/>
                <a:ea typeface="Calibri" panose="020F0502020204030204" pitchFamily="34" charset="0"/>
                <a:cs typeface="Calibri" panose="020F0502020204030204" pitchFamily="34" charset="0"/>
              </a:rPr>
              <a:t>plate</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2311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dirty="0">
                <a:latin typeface="+mj-lt"/>
              </a:rPr>
              <a:t>Bending Unit</a:t>
            </a:r>
          </a:p>
        </p:txBody>
      </p:sp>
      <p:pic>
        <p:nvPicPr>
          <p:cNvPr id="20" name="Grafik 19">
            <a:extLst>
              <a:ext uri="{FF2B5EF4-FFF2-40B4-BE49-F238E27FC236}">
                <a16:creationId xmlns:a16="http://schemas.microsoft.com/office/drawing/2014/main" id="{479D4C70-436B-F656-3DBE-78BEBA6FA68A}"/>
              </a:ext>
            </a:extLst>
          </p:cNvPr>
          <p:cNvPicPr>
            <a:picLocks noChangeAspect="1"/>
          </p:cNvPicPr>
          <p:nvPr/>
        </p:nvPicPr>
        <p:blipFill>
          <a:blip r:embed="rId2"/>
          <a:stretch>
            <a:fillRect/>
          </a:stretch>
        </p:blipFill>
        <p:spPr>
          <a:xfrm>
            <a:off x="685800" y="696800"/>
            <a:ext cx="3137309" cy="2681225"/>
          </a:xfrm>
          <a:prstGeom prst="rect">
            <a:avLst/>
          </a:prstGeom>
        </p:spPr>
      </p:pic>
      <p:sp>
        <p:nvSpPr>
          <p:cNvPr id="3" name="Textfeld 2">
            <a:extLst>
              <a:ext uri="{FF2B5EF4-FFF2-40B4-BE49-F238E27FC236}">
                <a16:creationId xmlns:a16="http://schemas.microsoft.com/office/drawing/2014/main" id="{1CC547D2-B74B-6762-DD89-54E8025C3FAE}"/>
              </a:ext>
            </a:extLst>
          </p:cNvPr>
          <p:cNvSpPr txBox="1"/>
          <p:nvPr/>
        </p:nvSpPr>
        <p:spPr>
          <a:xfrm>
            <a:off x="6021629" y="907873"/>
            <a:ext cx="3985971" cy="2259080"/>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Fixing unit for cable lug</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Pneumatic clamping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Interchangeable jaws</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Coding for jaws</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Bending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swivel unit</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Adjustable from -90° till +90°</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Pusher</a:t>
            </a: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cylinder for positioning </a:t>
            </a:r>
            <a:r>
              <a:rPr lang="en-US" sz="900" dirty="0" err="1">
                <a:latin typeface="Calibri" panose="020F0502020204030204" pitchFamily="34" charset="0"/>
                <a:ea typeface="Calibri" panose="020F0502020204030204" pitchFamily="34" charset="0"/>
                <a:cs typeface="Calibri" panose="020F0502020204030204" pitchFamily="34" charset="0"/>
              </a:rPr>
              <a:t>cabel</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900" dirty="0">
                <a:latin typeface="Calibri" panose="020F0502020204030204" pitchFamily="34" charset="0"/>
                <a:ea typeface="Calibri" panose="020F0502020204030204" pitchFamily="34" charset="0"/>
                <a:cs typeface="Calibri" panose="020F0502020204030204" pitchFamily="34" charset="0"/>
              </a:rPr>
              <a:t>freely adjustable in 0,1mm steps</a:t>
            </a:r>
          </a:p>
          <a:p>
            <a:pPr marL="3429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Base frame</a:t>
            </a:r>
          </a:p>
        </p:txBody>
      </p:sp>
      <p:pic>
        <p:nvPicPr>
          <p:cNvPr id="4" name="Grafik 3">
            <a:extLst>
              <a:ext uri="{FF2B5EF4-FFF2-40B4-BE49-F238E27FC236}">
                <a16:creationId xmlns:a16="http://schemas.microsoft.com/office/drawing/2014/main" id="{8776125F-FF9E-A29D-651A-53A4A0A6A561}"/>
              </a:ext>
            </a:extLst>
          </p:cNvPr>
          <p:cNvPicPr>
            <a:picLocks noChangeAspect="1"/>
          </p:cNvPicPr>
          <p:nvPr/>
        </p:nvPicPr>
        <p:blipFill>
          <a:blip r:embed="rId3"/>
          <a:stretch>
            <a:fillRect/>
          </a:stretch>
        </p:blipFill>
        <p:spPr>
          <a:xfrm>
            <a:off x="9219148" y="1418197"/>
            <a:ext cx="1576904" cy="1572653"/>
          </a:xfrm>
          <a:prstGeom prst="rect">
            <a:avLst/>
          </a:prstGeom>
        </p:spPr>
      </p:pic>
    </p:spTree>
    <p:extLst>
      <p:ext uri="{BB962C8B-B14F-4D97-AF65-F5344CB8AC3E}">
        <p14:creationId xmlns:p14="http://schemas.microsoft.com/office/powerpoint/2010/main" val="1513289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u="sng" dirty="0" err="1">
                <a:latin typeface="+mj-lt"/>
              </a:rPr>
              <a:t>Tinning</a:t>
            </a:r>
            <a:r>
              <a:rPr lang="de-DE" sz="1400" b="1" u="sng" dirty="0">
                <a:latin typeface="+mj-lt"/>
              </a:rPr>
              <a:t> Unit</a:t>
            </a:r>
          </a:p>
        </p:txBody>
      </p:sp>
      <p:pic>
        <p:nvPicPr>
          <p:cNvPr id="4" name="Grafik 3">
            <a:extLst>
              <a:ext uri="{FF2B5EF4-FFF2-40B4-BE49-F238E27FC236}">
                <a16:creationId xmlns:a16="http://schemas.microsoft.com/office/drawing/2014/main" id="{99EF3F32-0011-56F3-FCDB-2462A636C0FD}"/>
              </a:ext>
            </a:extLst>
          </p:cNvPr>
          <p:cNvPicPr>
            <a:picLocks noChangeAspect="1"/>
          </p:cNvPicPr>
          <p:nvPr/>
        </p:nvPicPr>
        <p:blipFill>
          <a:blip r:embed="rId2"/>
          <a:stretch>
            <a:fillRect/>
          </a:stretch>
        </p:blipFill>
        <p:spPr>
          <a:xfrm>
            <a:off x="702665" y="854352"/>
            <a:ext cx="3164486" cy="2574648"/>
          </a:xfrm>
          <a:prstGeom prst="rect">
            <a:avLst/>
          </a:prstGeom>
        </p:spPr>
      </p:pic>
      <p:sp>
        <p:nvSpPr>
          <p:cNvPr id="3" name="Textfeld 2">
            <a:extLst>
              <a:ext uri="{FF2B5EF4-FFF2-40B4-BE49-F238E27FC236}">
                <a16:creationId xmlns:a16="http://schemas.microsoft.com/office/drawing/2014/main" id="{FFB98FC8-E593-1086-8949-8F8BF0756223}"/>
              </a:ext>
            </a:extLst>
          </p:cNvPr>
          <p:cNvSpPr txBox="1"/>
          <p:nvPr/>
        </p:nvSpPr>
        <p:spPr>
          <a:xfrm>
            <a:off x="5182759" y="848277"/>
            <a:ext cx="6163019" cy="5247590"/>
          </a:xfrm>
          <a:prstGeom prst="rect">
            <a:avLst/>
          </a:prstGeom>
          <a:noFill/>
        </p:spPr>
        <p:txBody>
          <a:bodyPr wrap="square" rtlCol="0">
            <a:spAutoFit/>
          </a:bodyPr>
          <a:lstStyle/>
          <a:p>
            <a:r>
              <a:rPr lang="de-DE" sz="1600" b="1" u="sng" dirty="0">
                <a:latin typeface="Calibri" panose="020F0502020204030204" pitchFamily="34" charset="0"/>
                <a:ea typeface="Calibri" panose="020F0502020204030204" pitchFamily="34" charset="0"/>
                <a:cs typeface="Calibri" panose="020F0502020204030204" pitchFamily="34" charset="0"/>
              </a:rPr>
              <a:t>Station </a:t>
            </a:r>
            <a:r>
              <a:rPr lang="de-DE" sz="1600" b="1" u="sng" dirty="0" err="1">
                <a:latin typeface="Calibri" panose="020F0502020204030204" pitchFamily="34" charset="0"/>
                <a:ea typeface="Calibri" panose="020F0502020204030204" pitchFamily="34" charset="0"/>
                <a:cs typeface="Calibri" panose="020F0502020204030204" pitchFamily="34" charset="0"/>
              </a:rPr>
              <a:t>consisting</a:t>
            </a:r>
            <a:r>
              <a:rPr lang="de-DE" sz="1600" b="1" u="sng" dirty="0">
                <a:latin typeface="Calibri" panose="020F0502020204030204" pitchFamily="34" charset="0"/>
                <a:ea typeface="Calibri" panose="020F0502020204030204" pitchFamily="34" charset="0"/>
                <a:cs typeface="Calibri" panose="020F0502020204030204" pitchFamily="34" charset="0"/>
              </a:rPr>
              <a:t> </a:t>
            </a:r>
            <a:r>
              <a:rPr lang="de-DE" sz="1600" b="1" u="sng" dirty="0" err="1">
                <a:latin typeface="Calibri" panose="020F0502020204030204" pitchFamily="34" charset="0"/>
                <a:ea typeface="Calibri" panose="020F0502020204030204" pitchFamily="34" charset="0"/>
                <a:cs typeface="Calibri" panose="020F0502020204030204" pitchFamily="34" charset="0"/>
              </a:rPr>
              <a:t>of</a:t>
            </a:r>
            <a:r>
              <a:rPr lang="de-DE" sz="1600" b="1" u="sng" dirty="0">
                <a:latin typeface="Calibri" panose="020F0502020204030204" pitchFamily="34" charset="0"/>
                <a:ea typeface="Calibri" panose="020F0502020204030204" pitchFamily="34" charset="0"/>
                <a:cs typeface="Calibri" panose="020F0502020204030204" pitchFamily="34" charset="0"/>
              </a:rPr>
              <a:t>:</a:t>
            </a:r>
          </a:p>
          <a:p>
            <a:endParaRPr lang="de-DE" sz="9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1000" dirty="0" err="1">
                <a:latin typeface="Calibri" panose="020F0502020204030204" pitchFamily="34" charset="0"/>
                <a:ea typeface="Calibri" panose="020F0502020204030204" pitchFamily="34" charset="0"/>
                <a:cs typeface="Calibri" panose="020F0502020204030204" pitchFamily="34" charset="0"/>
              </a:rPr>
              <a:t>Automatical</a:t>
            </a:r>
            <a:r>
              <a:rPr lang="en-US" sz="1000" dirty="0">
                <a:latin typeface="Calibri" panose="020F0502020204030204" pitchFamily="34" charset="0"/>
                <a:ea typeface="Calibri" panose="020F0502020204030204" pitchFamily="34" charset="0"/>
                <a:cs typeface="Calibri" panose="020F0502020204030204" pitchFamily="34" charset="0"/>
              </a:rPr>
              <a:t> tin feeding unit</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Wire length and dispensing speed are customizable</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Feeding of tin material Ø0.75 – 3.00 mm</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x-y-positioning unit for tin supply (+/- 10mm)</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Induction coil</a:t>
            </a:r>
          </a:p>
          <a:p>
            <a:pPr marL="628650" lvl="1" indent="-171450" defTabSz="457200">
              <a:spcBef>
                <a:spcPct val="20000"/>
              </a:spcBef>
              <a:buFont typeface="Symbol" panose="05050102010706020507" pitchFamily="18" charset="2"/>
              <a:buChar char="-"/>
            </a:pPr>
            <a:r>
              <a:rPr lang="en-US" sz="1000" b="0" i="0" u="none" strike="noStrike" baseline="0" dirty="0">
                <a:solidFill>
                  <a:srgbClr val="000000"/>
                </a:solidFill>
                <a:latin typeface="CIDFont+F2"/>
              </a:rPr>
              <a:t>Heating temperature adjustable    (ca. 20°steps are possible!)</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ea typeface="Calibri" panose="020F0502020204030204" pitchFamily="34" charset="0"/>
                <a:cs typeface="Calibri" panose="020F0502020204030204" pitchFamily="34" charset="0"/>
              </a:rPr>
              <a:t>Heating time </a:t>
            </a:r>
            <a:r>
              <a:rPr lang="en-US" sz="1000" dirty="0" err="1">
                <a:solidFill>
                  <a:srgbClr val="000000"/>
                </a:solidFill>
                <a:latin typeface="CIDFont+F2"/>
                <a:ea typeface="Calibri" panose="020F0502020204030204" pitchFamily="34" charset="0"/>
                <a:cs typeface="Calibri" panose="020F0502020204030204" pitchFamily="34" charset="0"/>
              </a:rPr>
              <a:t>ist</a:t>
            </a:r>
            <a:r>
              <a:rPr lang="en-US" sz="1000" dirty="0">
                <a:solidFill>
                  <a:srgbClr val="000000"/>
                </a:solidFill>
                <a:latin typeface="CIDFont+F2"/>
                <a:ea typeface="Calibri" panose="020F0502020204030204" pitchFamily="34" charset="0"/>
                <a:cs typeface="Calibri" panose="020F0502020204030204" pitchFamily="34" charset="0"/>
              </a:rPr>
              <a:t> adjustable</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ea typeface="Calibri" panose="020F0502020204030204" pitchFamily="34" charset="0"/>
                <a:cs typeface="Calibri" panose="020F0502020204030204" pitchFamily="34" charset="0"/>
              </a:rPr>
              <a:t>Induction generator / output power 30 kW HF</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ea typeface="Calibri" panose="020F0502020204030204" pitchFamily="34" charset="0"/>
                <a:cs typeface="Calibri" panose="020F0502020204030204" pitchFamily="34" charset="0"/>
              </a:rPr>
              <a:t>Inductor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Cooling unit</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Electrical Pusher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Electrical cylinder for positioning </a:t>
            </a:r>
            <a:r>
              <a:rPr lang="en-US" sz="1000" dirty="0" err="1">
                <a:latin typeface="Calibri" panose="020F0502020204030204" pitchFamily="34" charset="0"/>
                <a:ea typeface="Calibri" panose="020F0502020204030204" pitchFamily="34" charset="0"/>
                <a:cs typeface="Calibri" panose="020F0502020204030204" pitchFamily="34" charset="0"/>
              </a:rPr>
              <a:t>cabel</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freely adjustable in 0,1mm steps</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Suction unit</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Base frame</a:t>
            </a:r>
          </a:p>
          <a:p>
            <a:pPr marL="342900" lvl="1" indent="-342900" defTabSz="457200">
              <a:spcBef>
                <a:spcPct val="20000"/>
              </a:spcBef>
              <a:buFont typeface="Arial"/>
              <a:buChar char="•"/>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342900" lvl="1" indent="-342900" defTabSz="457200">
              <a:spcBef>
                <a:spcPct val="20000"/>
              </a:spcBef>
              <a:buFont typeface="Arial"/>
              <a:buChar char="•"/>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Note: Exact cycle time could not yet be determined. Too many different parameters that have to be</a:t>
            </a: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           matched to each other.</a:t>
            </a: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	- Which heating temp for different types</a:t>
            </a: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	- Which tin diameter is the optimum for different types</a:t>
            </a: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	- Tin quantity --&gt; different for each type</a:t>
            </a: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	- Tin feed speed</a:t>
            </a:r>
          </a:p>
          <a:p>
            <a:pPr marL="0" lvl="1" defTabSz="457200">
              <a:spcBef>
                <a:spcPct val="20000"/>
              </a:spcBef>
            </a:pPr>
            <a:endParaRPr lang="en-US" sz="1000" dirty="0">
              <a:latin typeface="Calibri" panose="020F0502020204030204" pitchFamily="34" charset="0"/>
              <a:ea typeface="Calibri" panose="020F0502020204030204" pitchFamily="34" charset="0"/>
              <a:cs typeface="Calibri" panose="020F0502020204030204" pitchFamily="34" charset="0"/>
            </a:endParaRPr>
          </a:p>
          <a:p>
            <a:pPr marL="0" lvl="1" defTabSz="457200">
              <a:spcBef>
                <a:spcPct val="20000"/>
              </a:spcBef>
            </a:pPr>
            <a:r>
              <a:rPr lang="en-US" sz="1000" dirty="0">
                <a:latin typeface="Calibri" panose="020F0502020204030204" pitchFamily="34" charset="0"/>
                <a:ea typeface="Calibri" panose="020F0502020204030204" pitchFamily="34" charset="0"/>
                <a:cs typeface="Calibri" panose="020F0502020204030204" pitchFamily="34" charset="0"/>
              </a:rPr>
              <a:t>Interaction of all parameters for all different types can only be determined during commissioning. This can lead to a longer cycle time!</a:t>
            </a:r>
          </a:p>
        </p:txBody>
      </p:sp>
      <p:pic>
        <p:nvPicPr>
          <p:cNvPr id="7" name="Grafik 6">
            <a:extLst>
              <a:ext uri="{FF2B5EF4-FFF2-40B4-BE49-F238E27FC236}">
                <a16:creationId xmlns:a16="http://schemas.microsoft.com/office/drawing/2014/main" id="{9A17FC24-3BC3-A7CA-3B51-C50EF28DC849}"/>
              </a:ext>
            </a:extLst>
          </p:cNvPr>
          <p:cNvPicPr>
            <a:picLocks noChangeAspect="1"/>
          </p:cNvPicPr>
          <p:nvPr/>
        </p:nvPicPr>
        <p:blipFill>
          <a:blip r:embed="rId3"/>
          <a:stretch>
            <a:fillRect/>
          </a:stretch>
        </p:blipFill>
        <p:spPr>
          <a:xfrm>
            <a:off x="8892289" y="2395500"/>
            <a:ext cx="1894689" cy="806439"/>
          </a:xfrm>
          <a:prstGeom prst="rect">
            <a:avLst/>
          </a:prstGeom>
        </p:spPr>
      </p:pic>
    </p:spTree>
    <p:extLst>
      <p:ext uri="{BB962C8B-B14F-4D97-AF65-F5344CB8AC3E}">
        <p14:creationId xmlns:p14="http://schemas.microsoft.com/office/powerpoint/2010/main" val="3884295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019856-C6BB-CD5C-4A54-14282EFE1EBD}"/>
              </a:ext>
            </a:extLst>
          </p:cNvPr>
          <p:cNvSpPr>
            <a:spLocks noGrp="1"/>
          </p:cNvSpPr>
          <p:nvPr>
            <p:ph type="title"/>
          </p:nvPr>
        </p:nvSpPr>
        <p:spPr/>
        <p:txBody>
          <a:bodyPr/>
          <a:lstStyle/>
          <a:p>
            <a:r>
              <a:rPr lang="de-DE" sz="1400" b="1" dirty="0">
                <a:latin typeface="+mj-lt"/>
              </a:rPr>
              <a:t>Visual </a:t>
            </a:r>
            <a:r>
              <a:rPr lang="de-DE" sz="1400" b="1" dirty="0" err="1">
                <a:latin typeface="+mj-lt"/>
              </a:rPr>
              <a:t>Inspection</a:t>
            </a:r>
            <a:r>
              <a:rPr lang="de-DE" sz="1400" b="1" dirty="0">
                <a:latin typeface="+mj-lt"/>
              </a:rPr>
              <a:t> Terminal</a:t>
            </a:r>
            <a:endParaRPr lang="de-DE" sz="1400" dirty="0"/>
          </a:p>
        </p:txBody>
      </p:sp>
      <p:pic>
        <p:nvPicPr>
          <p:cNvPr id="10" name="Grafik 9">
            <a:extLst>
              <a:ext uri="{FF2B5EF4-FFF2-40B4-BE49-F238E27FC236}">
                <a16:creationId xmlns:a16="http://schemas.microsoft.com/office/drawing/2014/main" id="{8262B9D4-DDDB-FCD9-D698-080B6985915D}"/>
              </a:ext>
            </a:extLst>
          </p:cNvPr>
          <p:cNvPicPr>
            <a:picLocks noChangeAspect="1"/>
          </p:cNvPicPr>
          <p:nvPr/>
        </p:nvPicPr>
        <p:blipFill>
          <a:blip r:embed="rId2"/>
          <a:stretch>
            <a:fillRect/>
          </a:stretch>
        </p:blipFill>
        <p:spPr>
          <a:xfrm>
            <a:off x="748313" y="968177"/>
            <a:ext cx="2752211" cy="2309016"/>
          </a:xfrm>
          <a:prstGeom prst="rect">
            <a:avLst/>
          </a:prstGeom>
        </p:spPr>
      </p:pic>
      <p:sp>
        <p:nvSpPr>
          <p:cNvPr id="3" name="Textfeld 2">
            <a:extLst>
              <a:ext uri="{FF2B5EF4-FFF2-40B4-BE49-F238E27FC236}">
                <a16:creationId xmlns:a16="http://schemas.microsoft.com/office/drawing/2014/main" id="{EBAFB13F-928D-1AFE-0CFF-18343975CB4E}"/>
              </a:ext>
            </a:extLst>
          </p:cNvPr>
          <p:cNvSpPr txBox="1"/>
          <p:nvPr/>
        </p:nvSpPr>
        <p:spPr>
          <a:xfrm>
            <a:off x="5048251" y="968177"/>
            <a:ext cx="6618038" cy="5155257"/>
          </a:xfrm>
          <a:prstGeom prst="rect">
            <a:avLst/>
          </a:prstGeom>
          <a:noFill/>
        </p:spPr>
        <p:txBody>
          <a:bodyPr wrap="square" rtlCol="0">
            <a:spAutoFit/>
          </a:bodyPr>
          <a:lstStyle/>
          <a:p>
            <a:r>
              <a:rPr lang="de-DE" sz="1600" b="1" u="sng" dirty="0">
                <a:latin typeface="Calibri" panose="020F0502020204030204" pitchFamily="34" charset="0"/>
                <a:ea typeface="Calibri" panose="020F0502020204030204" pitchFamily="34" charset="0"/>
                <a:cs typeface="Calibri" panose="020F0502020204030204" pitchFamily="34" charset="0"/>
              </a:rPr>
              <a:t>Station </a:t>
            </a:r>
            <a:r>
              <a:rPr lang="de-DE" sz="1600" b="1" u="sng" dirty="0" err="1">
                <a:latin typeface="Calibri" panose="020F0502020204030204" pitchFamily="34" charset="0"/>
                <a:ea typeface="Calibri" panose="020F0502020204030204" pitchFamily="34" charset="0"/>
                <a:cs typeface="Calibri" panose="020F0502020204030204" pitchFamily="34" charset="0"/>
              </a:rPr>
              <a:t>consisting</a:t>
            </a:r>
            <a:r>
              <a:rPr lang="de-DE" sz="1600" b="1" u="sng" dirty="0">
                <a:latin typeface="Calibri" panose="020F0502020204030204" pitchFamily="34" charset="0"/>
                <a:ea typeface="Calibri" panose="020F0502020204030204" pitchFamily="34" charset="0"/>
                <a:cs typeface="Calibri" panose="020F0502020204030204" pitchFamily="34" charset="0"/>
              </a:rPr>
              <a:t> </a:t>
            </a:r>
            <a:r>
              <a:rPr lang="de-DE" sz="1600" b="1" u="sng" dirty="0" err="1">
                <a:latin typeface="Calibri" panose="020F0502020204030204" pitchFamily="34" charset="0"/>
                <a:ea typeface="Calibri" panose="020F0502020204030204" pitchFamily="34" charset="0"/>
                <a:cs typeface="Calibri" panose="020F0502020204030204" pitchFamily="34" charset="0"/>
              </a:rPr>
              <a:t>of</a:t>
            </a:r>
            <a:r>
              <a:rPr lang="de-DE" sz="1600" b="1" u="sng" dirty="0">
                <a:latin typeface="Calibri" panose="020F0502020204030204" pitchFamily="34" charset="0"/>
                <a:ea typeface="Calibri" panose="020F0502020204030204" pitchFamily="34" charset="0"/>
                <a:cs typeface="Calibri" panose="020F0502020204030204" pitchFamily="34" charset="0"/>
              </a:rPr>
              <a:t>:</a:t>
            </a:r>
          </a:p>
          <a:p>
            <a:endParaRPr lang="de-DE" sz="9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Camera unit</a:t>
            </a: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2x Baumer VCXG.2-127M	</a:t>
            </a: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Connection </a:t>
            </a:r>
            <a:r>
              <a:rPr lang="de-DE" sz="1000" dirty="0" err="1">
                <a:solidFill>
                  <a:srgbClr val="000000"/>
                </a:solidFill>
                <a:latin typeface="CIDFont+F2"/>
              </a:rPr>
              <a:t>cable</a:t>
            </a:r>
            <a:r>
              <a:rPr lang="de-DE" sz="1000" dirty="0">
                <a:solidFill>
                  <a:srgbClr val="000000"/>
                </a:solidFill>
                <a:latin typeface="CIDFont+F2"/>
              </a:rPr>
              <a:t> (Netzwerk + IO), 10m </a:t>
            </a:r>
          </a:p>
          <a:p>
            <a:pPr marL="628650" lvl="1" indent="-171450" defTabSz="457200">
              <a:spcBef>
                <a:spcPct val="20000"/>
              </a:spcBef>
              <a:buFont typeface="Symbol" panose="05050102010706020507" pitchFamily="18" charset="2"/>
              <a:buChar char="-"/>
            </a:pPr>
            <a:r>
              <a:rPr lang="de-DE" sz="1000" dirty="0" err="1">
                <a:solidFill>
                  <a:srgbClr val="000000"/>
                </a:solidFill>
                <a:latin typeface="CIDFont+F2"/>
              </a:rPr>
              <a:t>Lighting</a:t>
            </a:r>
            <a:endParaRPr lang="de-DE" sz="10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Controller + SW-Paket + </a:t>
            </a:r>
            <a:r>
              <a:rPr lang="de-DE" sz="1000" dirty="0" err="1">
                <a:solidFill>
                  <a:srgbClr val="000000"/>
                </a:solidFill>
                <a:latin typeface="CIDFont+F2"/>
              </a:rPr>
              <a:t>Zub</a:t>
            </a:r>
            <a:r>
              <a:rPr lang="de-DE" sz="1000" dirty="0">
                <a:solidFill>
                  <a:srgbClr val="000000"/>
                </a:solidFill>
                <a:latin typeface="CIDFont+F2"/>
              </a:rPr>
              <a:t>	RELISTE </a:t>
            </a:r>
            <a:r>
              <a:rPr lang="de-DE" sz="1000" dirty="0" err="1">
                <a:solidFill>
                  <a:srgbClr val="000000"/>
                </a:solidFill>
                <a:latin typeface="CIDFont+F2"/>
              </a:rPr>
              <a:t>VisionController</a:t>
            </a:r>
            <a:r>
              <a:rPr lang="de-DE" sz="1000" dirty="0">
                <a:solidFill>
                  <a:srgbClr val="000000"/>
                </a:solidFill>
                <a:latin typeface="CIDFont+F2"/>
              </a:rPr>
              <a:t> + RELISTE </a:t>
            </a:r>
            <a:r>
              <a:rPr lang="de-DE" sz="1000" dirty="0" err="1">
                <a:solidFill>
                  <a:srgbClr val="000000"/>
                </a:solidFill>
                <a:latin typeface="CIDFont+F2"/>
              </a:rPr>
              <a:t>EasySightPro</a:t>
            </a:r>
            <a:r>
              <a:rPr lang="de-DE" sz="1000" dirty="0">
                <a:solidFill>
                  <a:srgbClr val="000000"/>
                </a:solidFill>
                <a:latin typeface="CIDFont+F2"/>
              </a:rPr>
              <a:t> + </a:t>
            </a:r>
            <a:r>
              <a:rPr lang="de-DE" sz="1000" dirty="0" err="1">
                <a:solidFill>
                  <a:srgbClr val="000000"/>
                </a:solidFill>
                <a:latin typeface="CIDFont+F2"/>
              </a:rPr>
              <a:t>Cognex</a:t>
            </a:r>
            <a:r>
              <a:rPr lang="de-DE" sz="1000" dirty="0">
                <a:solidFill>
                  <a:srgbClr val="000000"/>
                </a:solidFill>
                <a:latin typeface="CIDFont+F2"/>
              </a:rPr>
              <a:t> </a:t>
            </a:r>
            <a:r>
              <a:rPr lang="de-DE" sz="1000" dirty="0" err="1">
                <a:solidFill>
                  <a:srgbClr val="000000"/>
                </a:solidFill>
                <a:latin typeface="CIDFont+F2"/>
              </a:rPr>
              <a:t>VisionPro</a:t>
            </a:r>
            <a:r>
              <a:rPr lang="de-DE" sz="1000" dirty="0">
                <a:solidFill>
                  <a:srgbClr val="000000"/>
                </a:solidFill>
                <a:latin typeface="CIDFont+F2"/>
              </a:rPr>
              <a:t> + 24" Monitor + Keyboard/Mouse</a:t>
            </a: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Network </a:t>
            </a:r>
            <a:r>
              <a:rPr lang="de-DE" sz="1000" dirty="0" err="1">
                <a:solidFill>
                  <a:srgbClr val="000000"/>
                </a:solidFill>
                <a:latin typeface="CIDFont+F2"/>
              </a:rPr>
              <a:t>cards</a:t>
            </a:r>
            <a:r>
              <a:rPr lang="de-DE" sz="1000" dirty="0">
                <a:solidFill>
                  <a:srgbClr val="000000"/>
                </a:solidFill>
                <a:latin typeface="CIDFont+F2"/>
              </a:rPr>
              <a:t> </a:t>
            </a:r>
            <a:r>
              <a:rPr lang="de-DE" sz="1000" dirty="0" err="1">
                <a:solidFill>
                  <a:srgbClr val="000000"/>
                </a:solidFill>
                <a:latin typeface="CIDFont+F2"/>
              </a:rPr>
              <a:t>Camera</a:t>
            </a:r>
            <a:r>
              <a:rPr lang="de-DE" sz="1000" dirty="0">
                <a:solidFill>
                  <a:srgbClr val="000000"/>
                </a:solidFill>
                <a:latin typeface="CIDFont+F2"/>
              </a:rPr>
              <a:t> </a:t>
            </a:r>
            <a:r>
              <a:rPr lang="de-DE" sz="1000" dirty="0" err="1">
                <a:solidFill>
                  <a:srgbClr val="000000"/>
                </a:solidFill>
                <a:latin typeface="CIDFont+F2"/>
              </a:rPr>
              <a:t>integrated</a:t>
            </a:r>
            <a:r>
              <a:rPr lang="de-DE" sz="1000" dirty="0">
                <a:solidFill>
                  <a:srgbClr val="000000"/>
                </a:solidFill>
                <a:latin typeface="CIDFont+F2"/>
              </a:rPr>
              <a:t>	</a:t>
            </a:r>
          </a:p>
          <a:p>
            <a:pPr marL="628650" lvl="1" indent="-171450" defTabSz="457200">
              <a:spcBef>
                <a:spcPct val="20000"/>
              </a:spcBef>
              <a:buFont typeface="Symbol" panose="05050102010706020507" pitchFamily="18" charset="2"/>
              <a:buChar char="-"/>
            </a:pPr>
            <a:r>
              <a:rPr lang="de-DE" sz="1000" dirty="0" err="1">
                <a:solidFill>
                  <a:srgbClr val="000000"/>
                </a:solidFill>
                <a:latin typeface="CIDFont+F2"/>
              </a:rPr>
              <a:t>Profinet</a:t>
            </a:r>
            <a:r>
              <a:rPr lang="de-DE" sz="1000" dirty="0">
                <a:solidFill>
                  <a:srgbClr val="000000"/>
                </a:solidFill>
                <a:latin typeface="CIDFont+F2"/>
              </a:rPr>
              <a:t>-card 	</a:t>
            </a: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1x 8TB </a:t>
            </a:r>
            <a:r>
              <a:rPr lang="de-DE" sz="1000" dirty="0" err="1">
                <a:solidFill>
                  <a:srgbClr val="000000"/>
                </a:solidFill>
                <a:latin typeface="CIDFont+F2"/>
              </a:rPr>
              <a:t>hard</a:t>
            </a:r>
            <a:r>
              <a:rPr lang="de-DE" sz="1000" dirty="0">
                <a:solidFill>
                  <a:srgbClr val="000000"/>
                </a:solidFill>
                <a:latin typeface="CIDFont+F2"/>
              </a:rPr>
              <a:t> </a:t>
            </a:r>
            <a:r>
              <a:rPr lang="de-DE" sz="1000" dirty="0" err="1">
                <a:solidFill>
                  <a:srgbClr val="000000"/>
                </a:solidFill>
                <a:latin typeface="CIDFont+F2"/>
              </a:rPr>
              <a:t>disk</a:t>
            </a:r>
            <a:r>
              <a:rPr lang="de-DE" sz="1000" dirty="0">
                <a:solidFill>
                  <a:srgbClr val="000000"/>
                </a:solidFill>
                <a:latin typeface="CIDFont+F2"/>
              </a:rPr>
              <a:t> </a:t>
            </a:r>
            <a:r>
              <a:rPr lang="de-DE" sz="1000" dirty="0" err="1">
                <a:solidFill>
                  <a:srgbClr val="000000"/>
                </a:solidFill>
                <a:latin typeface="CIDFont+F2"/>
              </a:rPr>
              <a:t>integrated</a:t>
            </a:r>
            <a:r>
              <a:rPr lang="de-DE" sz="1000" dirty="0">
                <a:solidFill>
                  <a:srgbClr val="000000"/>
                </a:solidFill>
                <a:latin typeface="CIDFont+F2"/>
              </a:rPr>
              <a:t> in </a:t>
            </a:r>
            <a:r>
              <a:rPr lang="de-DE" sz="1000" dirty="0" err="1">
                <a:solidFill>
                  <a:srgbClr val="000000"/>
                </a:solidFill>
                <a:latin typeface="CIDFont+F2"/>
              </a:rPr>
              <a:t>controller</a:t>
            </a:r>
            <a:r>
              <a:rPr lang="de-DE" sz="1000" dirty="0">
                <a:solidFill>
                  <a:srgbClr val="000000"/>
                </a:solidFill>
                <a:latin typeface="CIDFont+F2"/>
              </a:rPr>
              <a:t>	</a:t>
            </a:r>
          </a:p>
          <a:p>
            <a:pPr marL="342900" lvl="1" indent="-342900" defTabSz="457200">
              <a:spcBef>
                <a:spcPct val="20000"/>
              </a:spcBef>
              <a:buFont typeface="Arial"/>
              <a:buChar char="•"/>
            </a:pPr>
            <a:r>
              <a:rPr lang="de-DE" sz="1000" dirty="0">
                <a:latin typeface="Calibri" panose="020F0502020204030204" pitchFamily="34" charset="0"/>
                <a:ea typeface="Calibri" panose="020F0502020204030204" pitchFamily="34" charset="0"/>
                <a:cs typeface="Calibri" panose="020F0502020204030204" pitchFamily="34" charset="0"/>
              </a:rPr>
              <a:t>Solid </a:t>
            </a:r>
            <a:r>
              <a:rPr lang="de-DE" sz="1000" dirty="0" err="1">
                <a:latin typeface="Calibri" panose="020F0502020204030204" pitchFamily="34" charset="0"/>
                <a:ea typeface="Calibri" panose="020F0502020204030204" pitchFamily="34" charset="0"/>
                <a:cs typeface="Calibri" panose="020F0502020204030204" pitchFamily="34" charset="0"/>
              </a:rPr>
              <a:t>camera</a:t>
            </a:r>
            <a:r>
              <a:rPr lang="de-DE" sz="1000" dirty="0">
                <a:latin typeface="Calibri" panose="020F0502020204030204" pitchFamily="34" charset="0"/>
                <a:ea typeface="Calibri" panose="020F0502020204030204" pitchFamily="34" charset="0"/>
                <a:cs typeface="Calibri" panose="020F0502020204030204" pitchFamily="34" charset="0"/>
              </a:rPr>
              <a:t> frame</a:t>
            </a:r>
          </a:p>
          <a:p>
            <a:pPr marL="628650" lvl="1" indent="-171450" defTabSz="457200">
              <a:spcBef>
                <a:spcPct val="20000"/>
              </a:spcBef>
              <a:buFont typeface="Symbol" panose="05050102010706020507" pitchFamily="18" charset="2"/>
              <a:buChar char="-"/>
            </a:pPr>
            <a:r>
              <a:rPr lang="de-DE" sz="1000" dirty="0" err="1">
                <a:solidFill>
                  <a:srgbClr val="000000"/>
                </a:solidFill>
                <a:latin typeface="CIDFont+F2"/>
              </a:rPr>
              <a:t>Decoupled</a:t>
            </a:r>
            <a:r>
              <a:rPr lang="de-DE" sz="1000" dirty="0">
                <a:solidFill>
                  <a:srgbClr val="000000"/>
                </a:solidFill>
                <a:latin typeface="CIDFont+F2"/>
              </a:rPr>
              <a:t> </a:t>
            </a:r>
            <a:r>
              <a:rPr lang="de-DE" sz="1000" dirty="0" err="1">
                <a:solidFill>
                  <a:srgbClr val="000000"/>
                </a:solidFill>
                <a:latin typeface="CIDFont+F2"/>
              </a:rPr>
              <a:t>from</a:t>
            </a:r>
            <a:r>
              <a:rPr lang="de-DE" sz="1000" dirty="0">
                <a:solidFill>
                  <a:srgbClr val="000000"/>
                </a:solidFill>
                <a:latin typeface="CIDFont+F2"/>
              </a:rPr>
              <a:t> </a:t>
            </a:r>
            <a:r>
              <a:rPr lang="de-DE" sz="1000" dirty="0" err="1">
                <a:solidFill>
                  <a:srgbClr val="000000"/>
                </a:solidFill>
                <a:latin typeface="CIDFont+F2"/>
              </a:rPr>
              <a:t>the</a:t>
            </a:r>
            <a:r>
              <a:rPr lang="de-DE" sz="1000" dirty="0">
                <a:solidFill>
                  <a:srgbClr val="000000"/>
                </a:solidFill>
                <a:latin typeface="CIDFont+F2"/>
              </a:rPr>
              <a:t> </a:t>
            </a:r>
            <a:r>
              <a:rPr lang="de-DE" sz="1000" dirty="0" err="1">
                <a:solidFill>
                  <a:srgbClr val="000000"/>
                </a:solidFill>
                <a:latin typeface="CIDFont+F2"/>
              </a:rPr>
              <a:t>machine</a:t>
            </a:r>
            <a:endParaRPr lang="de-DE" sz="10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CIDFont+F2"/>
              </a:rPr>
              <a:t>Firmly</a:t>
            </a:r>
            <a:r>
              <a:rPr lang="de-DE" sz="1000" dirty="0">
                <a:solidFill>
                  <a:srgbClr val="000000"/>
                </a:solidFill>
                <a:latin typeface="CIDFont+F2"/>
              </a:rPr>
              <a:t> </a:t>
            </a:r>
            <a:r>
              <a:rPr lang="de-DE" sz="1000" dirty="0" err="1">
                <a:solidFill>
                  <a:srgbClr val="000000"/>
                </a:solidFill>
                <a:latin typeface="CIDFont+F2"/>
              </a:rPr>
              <a:t>anchored</a:t>
            </a:r>
            <a:r>
              <a:rPr lang="de-DE" sz="1000" dirty="0">
                <a:solidFill>
                  <a:srgbClr val="000000"/>
                </a:solidFill>
                <a:latin typeface="CIDFont+F2"/>
              </a:rPr>
              <a:t> on </a:t>
            </a:r>
            <a:r>
              <a:rPr lang="de-DE" sz="1000" dirty="0" err="1">
                <a:solidFill>
                  <a:srgbClr val="000000"/>
                </a:solidFill>
                <a:latin typeface="CIDFont+F2"/>
              </a:rPr>
              <a:t>the</a:t>
            </a:r>
            <a:r>
              <a:rPr lang="de-DE" sz="1000" dirty="0">
                <a:solidFill>
                  <a:srgbClr val="000000"/>
                </a:solidFill>
                <a:latin typeface="CIDFont+F2"/>
              </a:rPr>
              <a:t> </a:t>
            </a:r>
            <a:r>
              <a:rPr lang="de-DE" sz="1000" dirty="0" err="1">
                <a:solidFill>
                  <a:srgbClr val="000000"/>
                </a:solidFill>
                <a:latin typeface="CIDFont+F2"/>
              </a:rPr>
              <a:t>floor</a:t>
            </a:r>
            <a:endParaRPr lang="de-DE" sz="1000" dirty="0">
              <a:solidFill>
                <a:srgbClr val="000000"/>
              </a:solidFill>
              <a:latin typeface="CIDFont+F2"/>
            </a:endParaRP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Electrical Pusher</a:t>
            </a: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Electrical cylinder for positioning </a:t>
            </a:r>
            <a:r>
              <a:rPr lang="en-US" sz="1000" dirty="0" err="1">
                <a:latin typeface="Calibri" panose="020F0502020204030204" pitchFamily="34" charset="0"/>
                <a:ea typeface="Calibri" panose="020F0502020204030204" pitchFamily="34" charset="0"/>
                <a:cs typeface="Calibri" panose="020F0502020204030204" pitchFamily="34" charset="0"/>
              </a:rPr>
              <a:t>cabel</a:t>
            </a:r>
            <a:endParaRPr lang="en-US" sz="10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en-US" sz="1000" dirty="0">
                <a:latin typeface="Calibri" panose="020F0502020204030204" pitchFamily="34" charset="0"/>
                <a:ea typeface="Calibri" panose="020F0502020204030204" pitchFamily="34" charset="0"/>
                <a:cs typeface="Calibri" panose="020F0502020204030204" pitchFamily="34" charset="0"/>
              </a:rPr>
              <a:t>freely adjustable in 0,1mm steps</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Housing (darkened chamber)</a:t>
            </a:r>
          </a:p>
          <a:p>
            <a:pPr marL="628650" lvl="1" indent="-171450" defTabSz="457200">
              <a:spcBef>
                <a:spcPct val="20000"/>
              </a:spcBef>
              <a:buFont typeface="Symbol" panose="05050102010706020507" pitchFamily="18" charset="2"/>
              <a:buChar char="-"/>
            </a:pPr>
            <a:r>
              <a:rPr lang="de-DE" sz="1000" strike="sngStrike" dirty="0" err="1">
                <a:latin typeface="Calibri" panose="020F0502020204030204" pitchFamily="34" charset="0"/>
                <a:ea typeface="Calibri" panose="020F0502020204030204" pitchFamily="34" charset="0"/>
                <a:cs typeface="Calibri" panose="020F0502020204030204" pitchFamily="34" charset="0"/>
              </a:rPr>
              <a:t>Currently</a:t>
            </a:r>
            <a:r>
              <a:rPr lang="de-DE" sz="1000" strike="sngStrike" dirty="0">
                <a:latin typeface="Calibri" panose="020F0502020204030204" pitchFamily="34" charset="0"/>
                <a:ea typeface="Calibri" panose="020F0502020204030204" pitchFamily="34" charset="0"/>
                <a:cs typeface="Calibri" panose="020F0502020204030204" pitchFamily="34" charset="0"/>
              </a:rPr>
              <a:t> not </a:t>
            </a:r>
            <a:r>
              <a:rPr lang="de-DE" sz="1000" strike="sngStrike" dirty="0" err="1">
                <a:latin typeface="Calibri" panose="020F0502020204030204" pitchFamily="34" charset="0"/>
                <a:ea typeface="Calibri" panose="020F0502020204030204" pitchFamily="34" charset="0"/>
                <a:cs typeface="Calibri" panose="020F0502020204030204" pitchFamily="34" charset="0"/>
              </a:rPr>
              <a:t>planned</a:t>
            </a:r>
            <a:r>
              <a:rPr lang="de-DE" sz="1000" strike="sngStrike" dirty="0">
                <a:latin typeface="Calibri" panose="020F0502020204030204" pitchFamily="34" charset="0"/>
                <a:ea typeface="Calibri" panose="020F0502020204030204" pitchFamily="34" charset="0"/>
                <a:cs typeface="Calibri" panose="020F0502020204030204" pitchFamily="34" charset="0"/>
              </a:rPr>
              <a:t> and </a:t>
            </a:r>
            <a:r>
              <a:rPr lang="de-DE" sz="1000" strike="sngStrike" dirty="0" err="1">
                <a:latin typeface="Calibri" panose="020F0502020204030204" pitchFamily="34" charset="0"/>
                <a:ea typeface="Calibri" panose="020F0502020204030204" pitchFamily="34" charset="0"/>
                <a:cs typeface="Calibri" panose="020F0502020204030204" pitchFamily="34" charset="0"/>
              </a:rPr>
              <a:t>therefore</a:t>
            </a:r>
            <a:r>
              <a:rPr lang="de-DE" sz="1000" strike="sngStrike" dirty="0">
                <a:latin typeface="Calibri" panose="020F0502020204030204" pitchFamily="34" charset="0"/>
                <a:ea typeface="Calibri" panose="020F0502020204030204" pitchFamily="34" charset="0"/>
                <a:cs typeface="Calibri" panose="020F0502020204030204" pitchFamily="34" charset="0"/>
              </a:rPr>
              <a:t> not </a:t>
            </a:r>
            <a:r>
              <a:rPr lang="de-DE" sz="1000" strike="sngStrike" dirty="0" err="1">
                <a:latin typeface="Calibri" panose="020F0502020204030204" pitchFamily="34" charset="0"/>
                <a:ea typeface="Calibri" panose="020F0502020204030204" pitchFamily="34" charset="0"/>
                <a:cs typeface="Calibri" panose="020F0502020204030204" pitchFamily="34" charset="0"/>
              </a:rPr>
              <a:t>included</a:t>
            </a:r>
            <a:r>
              <a:rPr lang="de-DE" sz="1000" strike="sngStrike" dirty="0">
                <a:latin typeface="Calibri" panose="020F0502020204030204" pitchFamily="34" charset="0"/>
                <a:ea typeface="Calibri" panose="020F0502020204030204" pitchFamily="34" charset="0"/>
                <a:cs typeface="Calibri" panose="020F0502020204030204" pitchFamily="34" charset="0"/>
              </a:rPr>
              <a:t> in </a:t>
            </a:r>
            <a:r>
              <a:rPr lang="de-DE" sz="1000" strike="sngStrike" dirty="0" err="1">
                <a:latin typeface="Calibri" panose="020F0502020204030204" pitchFamily="34" charset="0"/>
                <a:ea typeface="Calibri" panose="020F0502020204030204" pitchFamily="34" charset="0"/>
                <a:cs typeface="Calibri" panose="020F0502020204030204" pitchFamily="34" charset="0"/>
              </a:rPr>
              <a:t>the</a:t>
            </a:r>
            <a:r>
              <a:rPr lang="de-DE" sz="1000" strike="sngStrike" dirty="0">
                <a:latin typeface="Calibri" panose="020F0502020204030204" pitchFamily="34" charset="0"/>
                <a:ea typeface="Calibri" panose="020F0502020204030204" pitchFamily="34" charset="0"/>
                <a:cs typeface="Calibri" panose="020F0502020204030204" pitchFamily="34" charset="0"/>
              </a:rPr>
              <a:t> </a:t>
            </a:r>
            <a:r>
              <a:rPr lang="de-DE" sz="1000" strike="sngStrike" dirty="0" err="1">
                <a:latin typeface="Calibri" panose="020F0502020204030204" pitchFamily="34" charset="0"/>
                <a:ea typeface="Calibri" panose="020F0502020204030204" pitchFamily="34" charset="0"/>
                <a:cs typeface="Calibri" panose="020F0502020204030204" pitchFamily="34" charset="0"/>
              </a:rPr>
              <a:t>scope</a:t>
            </a:r>
            <a:r>
              <a:rPr lang="de-DE" sz="1000" strike="sngStrike" dirty="0">
                <a:latin typeface="Calibri" panose="020F0502020204030204" pitchFamily="34" charset="0"/>
                <a:ea typeface="Calibri" panose="020F0502020204030204" pitchFamily="34" charset="0"/>
                <a:cs typeface="Calibri" panose="020F0502020204030204" pitchFamily="34" charset="0"/>
              </a:rPr>
              <a:t> </a:t>
            </a:r>
            <a:r>
              <a:rPr lang="de-DE" sz="1000" strike="sngStrike" dirty="0" err="1">
                <a:latin typeface="Calibri" panose="020F0502020204030204" pitchFamily="34" charset="0"/>
                <a:ea typeface="Calibri" panose="020F0502020204030204" pitchFamily="34" charset="0"/>
                <a:cs typeface="Calibri" panose="020F0502020204030204" pitchFamily="34" charset="0"/>
              </a:rPr>
              <a:t>of</a:t>
            </a:r>
            <a:r>
              <a:rPr lang="de-DE" sz="1000" strike="sngStrike" dirty="0">
                <a:latin typeface="Calibri" panose="020F0502020204030204" pitchFamily="34" charset="0"/>
                <a:ea typeface="Calibri" panose="020F0502020204030204" pitchFamily="34" charset="0"/>
                <a:cs typeface="Calibri" panose="020F0502020204030204" pitchFamily="34" charset="0"/>
              </a:rPr>
              <a:t> </a:t>
            </a:r>
            <a:r>
              <a:rPr lang="de-DE" sz="1000" strike="sngStrike" dirty="0" err="1">
                <a:latin typeface="Calibri" panose="020F0502020204030204" pitchFamily="34" charset="0"/>
                <a:ea typeface="Calibri" panose="020F0502020204030204" pitchFamily="34" charset="0"/>
                <a:cs typeface="Calibri" panose="020F0502020204030204" pitchFamily="34" charset="0"/>
              </a:rPr>
              <a:t>delivery</a:t>
            </a:r>
            <a:r>
              <a:rPr lang="de-DE" sz="1000" strike="sngStrike" dirty="0">
                <a:latin typeface="Calibri" panose="020F0502020204030204" pitchFamily="34" charset="0"/>
                <a:ea typeface="Calibri" panose="020F0502020204030204" pitchFamily="34" charset="0"/>
                <a:cs typeface="Calibri" panose="020F0502020204030204" pitchFamily="34" charset="0"/>
              </a:rPr>
              <a:t> </a:t>
            </a:r>
          </a:p>
          <a:p>
            <a:pPr lvl="1" defTabSz="457200">
              <a:spcBef>
                <a:spcPct val="20000"/>
              </a:spcBef>
            </a:pPr>
            <a:r>
              <a:rPr lang="de-DE" sz="1000" strike="sngStrike" dirty="0">
                <a:latin typeface="Calibri" panose="020F0502020204030204" pitchFamily="34" charset="0"/>
                <a:ea typeface="Calibri" panose="020F0502020204030204" pitchFamily="34" charset="0"/>
                <a:cs typeface="Calibri" panose="020F0502020204030204" pitchFamily="34" charset="0"/>
              </a:rPr>
              <a:t>     (</a:t>
            </a:r>
            <a:r>
              <a:rPr lang="de-DE" sz="1000" strike="sngStrike" dirty="0" err="1">
                <a:latin typeface="Calibri" panose="020F0502020204030204" pitchFamily="34" charset="0"/>
                <a:ea typeface="Calibri" panose="020F0502020204030204" pitchFamily="34" charset="0"/>
                <a:cs typeface="Calibri" panose="020F0502020204030204" pitchFamily="34" charset="0"/>
              </a:rPr>
              <a:t>no</a:t>
            </a:r>
            <a:r>
              <a:rPr lang="de-DE" sz="1000" strike="sngStrike" dirty="0">
                <a:latin typeface="Calibri" panose="020F0502020204030204" pitchFamily="34" charset="0"/>
                <a:ea typeface="Calibri" panose="020F0502020204030204" pitchFamily="34" charset="0"/>
                <a:cs typeface="Calibri" panose="020F0502020204030204" pitchFamily="34" charset="0"/>
              </a:rPr>
              <a:t> sample </a:t>
            </a:r>
            <a:r>
              <a:rPr lang="de-DE" sz="1000" strike="sngStrike" dirty="0" err="1">
                <a:latin typeface="Calibri" panose="020F0502020204030204" pitchFamily="34" charset="0"/>
                <a:ea typeface="Calibri" panose="020F0502020204030204" pitchFamily="34" charset="0"/>
                <a:cs typeface="Calibri" panose="020F0502020204030204" pitchFamily="34" charset="0"/>
              </a:rPr>
              <a:t>parts</a:t>
            </a:r>
            <a:r>
              <a:rPr lang="de-DE" sz="1000" strike="sngStrike" dirty="0">
                <a:latin typeface="Calibri" panose="020F0502020204030204" pitchFamily="34" charset="0"/>
                <a:ea typeface="Calibri" panose="020F0502020204030204" pitchFamily="34" charset="0"/>
                <a:cs typeface="Calibri" panose="020F0502020204030204" pitchFamily="34" charset="0"/>
              </a:rPr>
              <a:t> </a:t>
            </a:r>
            <a:r>
              <a:rPr lang="de-DE" sz="1000" strike="sngStrike" dirty="0" err="1">
                <a:latin typeface="Calibri" panose="020F0502020204030204" pitchFamily="34" charset="0"/>
                <a:ea typeface="Calibri" panose="020F0502020204030204" pitchFamily="34" charset="0"/>
                <a:cs typeface="Calibri" panose="020F0502020204030204" pitchFamily="34" charset="0"/>
              </a:rPr>
              <a:t>available</a:t>
            </a:r>
            <a:r>
              <a:rPr lang="de-DE" sz="1000" strike="sngStrike" dirty="0">
                <a:latin typeface="Calibri" panose="020F0502020204030204" pitchFamily="34" charset="0"/>
                <a:ea typeface="Calibri" panose="020F0502020204030204" pitchFamily="34" charset="0"/>
                <a:cs typeface="Calibri" panose="020F0502020204030204" pitchFamily="34" charset="0"/>
              </a:rPr>
              <a:t> </a:t>
            </a:r>
            <a:r>
              <a:rPr lang="de-DE" sz="1000" strike="sngStrike" dirty="0" err="1">
                <a:latin typeface="Calibri" panose="020F0502020204030204" pitchFamily="34" charset="0"/>
                <a:ea typeface="Calibri" panose="020F0502020204030204" pitchFamily="34" charset="0"/>
                <a:cs typeface="Calibri" panose="020F0502020204030204" pitchFamily="34" charset="0"/>
              </a:rPr>
              <a:t>for</a:t>
            </a:r>
            <a:r>
              <a:rPr lang="de-DE" sz="1000" strike="sngStrike" dirty="0">
                <a:latin typeface="Calibri" panose="020F0502020204030204" pitchFamily="34" charset="0"/>
                <a:ea typeface="Calibri" panose="020F0502020204030204" pitchFamily="34" charset="0"/>
                <a:cs typeface="Calibri" panose="020F0502020204030204" pitchFamily="34" charset="0"/>
              </a:rPr>
              <a:t> </a:t>
            </a:r>
            <a:r>
              <a:rPr lang="de-DE" sz="1000" strike="sngStrike" dirty="0" err="1">
                <a:latin typeface="Calibri" panose="020F0502020204030204" pitchFamily="34" charset="0"/>
                <a:ea typeface="Calibri" panose="020F0502020204030204" pitchFamily="34" charset="0"/>
                <a:cs typeface="Calibri" panose="020F0502020204030204" pitchFamily="34" charset="0"/>
              </a:rPr>
              <a:t>quotation</a:t>
            </a:r>
            <a:r>
              <a:rPr lang="de-DE" sz="1000" strike="sngStrike" dirty="0">
                <a:latin typeface="Calibri" panose="020F0502020204030204" pitchFamily="34" charset="0"/>
                <a:ea typeface="Calibri" panose="020F0502020204030204" pitchFamily="34" charset="0"/>
                <a:cs typeface="Calibri" panose="020F0502020204030204" pitchFamily="34" charset="0"/>
              </a:rPr>
              <a:t>)</a:t>
            </a:r>
          </a:p>
          <a:p>
            <a:pPr lvl="1" defTabSz="457200">
              <a:spcBef>
                <a:spcPct val="20000"/>
              </a:spcBef>
            </a:pPr>
            <a:r>
              <a:rPr lang="de-DE" sz="1000" dirty="0" err="1">
                <a:latin typeface="Calibri" panose="020F0502020204030204" pitchFamily="34" charset="0"/>
                <a:ea typeface="Calibri" panose="020F0502020204030204" pitchFamily="34" charset="0"/>
                <a:cs typeface="Calibri" panose="020F0502020204030204" pitchFamily="34" charset="0"/>
              </a:rPr>
              <a:t>Darkened</a:t>
            </a: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chamber</a:t>
            </a:r>
            <a:r>
              <a:rPr lang="de-DE" sz="1000" dirty="0">
                <a:latin typeface="Calibri" panose="020F0502020204030204" pitchFamily="34" charset="0"/>
                <a:ea typeface="Calibri" panose="020F0502020204030204" pitchFamily="34" charset="0"/>
                <a:cs typeface="Calibri" panose="020F0502020204030204" pitchFamily="34" charset="0"/>
              </a:rPr>
              <a:t> </a:t>
            </a:r>
            <a:r>
              <a:rPr lang="de-DE" sz="1000" dirty="0" err="1">
                <a:latin typeface="Calibri" panose="020F0502020204030204" pitchFamily="34" charset="0"/>
                <a:ea typeface="Calibri" panose="020F0502020204030204" pitchFamily="34" charset="0"/>
                <a:cs typeface="Calibri" panose="020F0502020204030204" pitchFamily="34" charset="0"/>
              </a:rPr>
              <a:t>included</a:t>
            </a:r>
            <a:r>
              <a:rPr lang="de-DE" sz="1000" dirty="0">
                <a:latin typeface="Calibri" panose="020F0502020204030204" pitchFamily="34" charset="0"/>
                <a:ea typeface="Calibri" panose="020F0502020204030204" pitchFamily="34" charset="0"/>
                <a:cs typeface="Calibri" panose="020F0502020204030204" pitchFamily="34" charset="0"/>
              </a:rPr>
              <a:t>.</a:t>
            </a:r>
          </a:p>
          <a:p>
            <a:pPr lvl="1" defTabSz="457200">
              <a:spcBef>
                <a:spcPct val="20000"/>
              </a:spcBef>
            </a:pPr>
            <a:endParaRPr lang="de-DE" sz="1000" dirty="0">
              <a:latin typeface="Calibri" panose="020F0502020204030204" pitchFamily="34" charset="0"/>
              <a:ea typeface="Calibri" panose="020F0502020204030204" pitchFamily="34" charset="0"/>
              <a:cs typeface="Calibri" panose="020F0502020204030204" pitchFamily="34" charset="0"/>
            </a:endParaRPr>
          </a:p>
          <a:p>
            <a:pPr lvl="1" defTabSz="457200">
              <a:spcBef>
                <a:spcPct val="20000"/>
              </a:spcBef>
            </a:pPr>
            <a:endParaRPr lang="de-DE" sz="1000" dirty="0">
              <a:latin typeface="Calibri" panose="020F0502020204030204" pitchFamily="34" charset="0"/>
              <a:ea typeface="Calibri" panose="020F0502020204030204" pitchFamily="34" charset="0"/>
              <a:cs typeface="Calibri" panose="020F0502020204030204" pitchFamily="34" charset="0"/>
            </a:endParaRPr>
          </a:p>
          <a:p>
            <a:pPr lvl="1" defTabSz="457200">
              <a:spcBef>
                <a:spcPct val="20000"/>
              </a:spcBef>
            </a:pPr>
            <a:endParaRPr lang="de-DE" sz="1000" dirty="0">
              <a:latin typeface="Calibri" panose="020F0502020204030204" pitchFamily="34" charset="0"/>
              <a:ea typeface="Calibri" panose="020F0502020204030204" pitchFamily="34" charset="0"/>
              <a:cs typeface="Calibri" panose="020F0502020204030204" pitchFamily="34" charset="0"/>
            </a:endParaRPr>
          </a:p>
          <a:p>
            <a:r>
              <a:rPr lang="de-DE" altLang="de-DE" sz="1000" dirty="0"/>
              <a:t>Note: The </a:t>
            </a:r>
            <a:r>
              <a:rPr lang="de-DE" altLang="de-DE" sz="1000" dirty="0" err="1"/>
              <a:t>camera</a:t>
            </a:r>
            <a:r>
              <a:rPr lang="de-DE" altLang="de-DE" sz="1000" dirty="0"/>
              <a:t> </a:t>
            </a:r>
            <a:r>
              <a:rPr lang="de-DE" altLang="de-DE" sz="1000" dirty="0" err="1"/>
              <a:t>job</a:t>
            </a:r>
            <a:r>
              <a:rPr lang="de-DE" altLang="de-DE" sz="1000" dirty="0"/>
              <a:t> </a:t>
            </a:r>
            <a:r>
              <a:rPr lang="de-DE" altLang="de-DE" sz="1000" dirty="0" err="1"/>
              <a:t>could</a:t>
            </a:r>
            <a:r>
              <a:rPr lang="de-DE" altLang="de-DE" sz="1000" dirty="0"/>
              <a:t> not </a:t>
            </a:r>
            <a:r>
              <a:rPr lang="de-DE" altLang="de-DE" sz="1000" dirty="0" err="1"/>
              <a:t>yet</a:t>
            </a:r>
            <a:r>
              <a:rPr lang="de-DE" altLang="de-DE" sz="1000" dirty="0"/>
              <a:t> </a:t>
            </a:r>
            <a:r>
              <a:rPr lang="de-DE" altLang="de-DE" sz="1000" dirty="0" err="1"/>
              <a:t>be</a:t>
            </a:r>
            <a:r>
              <a:rPr lang="de-DE" altLang="de-DE" sz="1000" dirty="0"/>
              <a:t> </a:t>
            </a:r>
            <a:r>
              <a:rPr lang="de-DE" altLang="de-DE" sz="1000" dirty="0" err="1"/>
              <a:t>tested</a:t>
            </a:r>
            <a:r>
              <a:rPr lang="de-DE" altLang="de-DE" sz="1000" dirty="0"/>
              <a:t>, </a:t>
            </a:r>
            <a:r>
              <a:rPr lang="de-DE" altLang="de-DE" sz="1000" dirty="0" err="1"/>
              <a:t>as</a:t>
            </a:r>
            <a:r>
              <a:rPr lang="de-DE" altLang="de-DE" sz="1000" dirty="0"/>
              <a:t> </a:t>
            </a:r>
            <a:r>
              <a:rPr lang="de-DE" altLang="de-DE" sz="1000" dirty="0" err="1"/>
              <a:t>no</a:t>
            </a:r>
            <a:r>
              <a:rPr lang="de-DE" altLang="de-DE" sz="1000" dirty="0"/>
              <a:t> sample </a:t>
            </a:r>
            <a:r>
              <a:rPr lang="de-DE" altLang="de-DE" sz="1000" dirty="0" err="1"/>
              <a:t>parts</a:t>
            </a:r>
            <a:r>
              <a:rPr lang="de-DE" altLang="de-DE" sz="1000" dirty="0"/>
              <a:t> </a:t>
            </a:r>
            <a:r>
              <a:rPr lang="de-DE" altLang="de-DE" sz="1000" dirty="0" err="1"/>
              <a:t>are</a:t>
            </a:r>
            <a:r>
              <a:rPr lang="de-DE" altLang="de-DE" sz="1000" dirty="0"/>
              <a:t> </a:t>
            </a:r>
            <a:r>
              <a:rPr lang="de-DE" altLang="de-DE" sz="1000" dirty="0" err="1"/>
              <a:t>available</a:t>
            </a:r>
            <a:r>
              <a:rPr lang="de-DE" altLang="de-DE" sz="1000" dirty="0"/>
              <a:t> </a:t>
            </a:r>
            <a:r>
              <a:rPr lang="de-DE" altLang="de-DE" sz="1000" dirty="0" err="1"/>
              <a:t>yet</a:t>
            </a:r>
            <a:r>
              <a:rPr lang="de-DE" altLang="de-DE" sz="1000" dirty="0"/>
              <a:t>! </a:t>
            </a:r>
          </a:p>
          <a:p>
            <a:r>
              <a:rPr lang="de-DE" altLang="de-DE" sz="1000" dirty="0"/>
              <a:t>            </a:t>
            </a:r>
            <a:r>
              <a:rPr lang="de-DE" altLang="de-DE" sz="1000" dirty="0" err="1"/>
              <a:t>No</a:t>
            </a:r>
            <a:r>
              <a:rPr lang="de-DE" altLang="de-DE" sz="1000" dirty="0"/>
              <a:t> </a:t>
            </a:r>
            <a:r>
              <a:rPr lang="de-DE" altLang="de-DE" sz="1000" dirty="0" err="1"/>
              <a:t>statement</a:t>
            </a:r>
            <a:r>
              <a:rPr lang="de-DE" altLang="de-DE" sz="1000" dirty="0"/>
              <a:t> </a:t>
            </a:r>
            <a:r>
              <a:rPr lang="de-DE" altLang="de-DE" sz="1000" dirty="0" err="1"/>
              <a:t>can</a:t>
            </a:r>
            <a:r>
              <a:rPr lang="de-DE" altLang="de-DE" sz="1000" dirty="0"/>
              <a:t> </a:t>
            </a:r>
            <a:r>
              <a:rPr lang="de-DE" altLang="de-DE" sz="1000" dirty="0" err="1"/>
              <a:t>yet</a:t>
            </a:r>
            <a:r>
              <a:rPr lang="de-DE" altLang="de-DE" sz="1000" dirty="0"/>
              <a:t> </a:t>
            </a:r>
            <a:r>
              <a:rPr lang="de-DE" altLang="de-DE" sz="1000" dirty="0" err="1"/>
              <a:t>be</a:t>
            </a:r>
            <a:r>
              <a:rPr lang="de-DE" altLang="de-DE" sz="1000" dirty="0"/>
              <a:t> </a:t>
            </a:r>
            <a:r>
              <a:rPr lang="de-DE" altLang="de-DE" sz="1000" dirty="0" err="1"/>
              <a:t>made</a:t>
            </a:r>
            <a:r>
              <a:rPr lang="de-DE" altLang="de-DE" sz="1000" dirty="0"/>
              <a:t> </a:t>
            </a:r>
            <a:r>
              <a:rPr lang="de-DE" altLang="de-DE" sz="1000" dirty="0" err="1"/>
              <a:t>about</a:t>
            </a:r>
            <a:r>
              <a:rPr lang="de-DE" altLang="de-DE" sz="1000" dirty="0"/>
              <a:t> </a:t>
            </a:r>
            <a:r>
              <a:rPr lang="de-DE" altLang="de-DE" sz="1000" dirty="0" err="1"/>
              <a:t>the</a:t>
            </a:r>
            <a:r>
              <a:rPr lang="de-DE" altLang="de-DE" sz="1000" dirty="0"/>
              <a:t> </a:t>
            </a:r>
            <a:r>
              <a:rPr lang="de-DE" altLang="de-DE" sz="1000" dirty="0" err="1"/>
              <a:t>selectivity</a:t>
            </a:r>
            <a:r>
              <a:rPr lang="de-DE" altLang="de-DE" sz="1000" dirty="0"/>
              <a:t> </a:t>
            </a:r>
            <a:r>
              <a:rPr lang="de-DE" altLang="de-DE" sz="1000" dirty="0" err="1"/>
              <a:t>of</a:t>
            </a:r>
            <a:r>
              <a:rPr lang="de-DE" altLang="de-DE" sz="1000" dirty="0"/>
              <a:t> IO/NOK</a:t>
            </a:r>
          </a:p>
          <a:p>
            <a:r>
              <a:rPr lang="de-DE" altLang="de-DE" sz="1000" dirty="0"/>
              <a:t>            Dräxlmaier </a:t>
            </a:r>
            <a:r>
              <a:rPr lang="de-DE" altLang="de-DE" sz="1000" dirty="0" err="1"/>
              <a:t>has</a:t>
            </a:r>
            <a:r>
              <a:rPr lang="de-DE" altLang="de-DE" sz="1000" dirty="0"/>
              <a:t> not </a:t>
            </a:r>
            <a:r>
              <a:rPr lang="de-DE" altLang="de-DE" sz="1000" dirty="0" err="1"/>
              <a:t>yet</a:t>
            </a:r>
            <a:r>
              <a:rPr lang="de-DE" altLang="de-DE" sz="1000" dirty="0"/>
              <a:t> </a:t>
            </a:r>
            <a:r>
              <a:rPr lang="de-DE" altLang="de-DE" sz="1000" dirty="0" err="1"/>
              <a:t>provided</a:t>
            </a:r>
            <a:r>
              <a:rPr lang="de-DE" altLang="de-DE" sz="1000" dirty="0"/>
              <a:t> a </a:t>
            </a:r>
            <a:r>
              <a:rPr lang="de-DE" altLang="de-DE" sz="1000" dirty="0" err="1"/>
              <a:t>precise</a:t>
            </a:r>
            <a:r>
              <a:rPr lang="de-DE" altLang="de-DE" sz="1000" dirty="0"/>
              <a:t> </a:t>
            </a:r>
            <a:r>
              <a:rPr lang="de-DE" altLang="de-DE" sz="1000" dirty="0" err="1"/>
              <a:t>definition</a:t>
            </a:r>
            <a:r>
              <a:rPr lang="de-DE" altLang="de-DE" sz="1000" dirty="0"/>
              <a:t> </a:t>
            </a:r>
            <a:r>
              <a:rPr lang="de-DE" altLang="de-DE" sz="1000" dirty="0" err="1"/>
              <a:t>of</a:t>
            </a:r>
            <a:r>
              <a:rPr lang="de-DE" altLang="de-DE" sz="1000" dirty="0"/>
              <a:t> NOK</a:t>
            </a:r>
          </a:p>
          <a:p>
            <a:pPr lvl="1" defTabSz="457200">
              <a:spcBef>
                <a:spcPct val="20000"/>
              </a:spcBef>
            </a:pPr>
            <a:endParaRPr lang="de-DE" sz="1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7361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u="sng" dirty="0">
                <a:latin typeface="+mj-lt"/>
              </a:rPr>
              <a:t>Change Unit </a:t>
            </a:r>
            <a:r>
              <a:rPr lang="de-DE" sz="1400" b="1" u="sng" dirty="0" err="1">
                <a:latin typeface="+mj-lt"/>
              </a:rPr>
              <a:t>from</a:t>
            </a:r>
            <a:r>
              <a:rPr lang="de-DE" sz="1400" b="1" u="sng" dirty="0">
                <a:latin typeface="+mj-lt"/>
              </a:rPr>
              <a:t> Terminal 1 </a:t>
            </a:r>
            <a:r>
              <a:rPr lang="de-DE" sz="1400" b="1" u="sng" dirty="0" err="1">
                <a:latin typeface="+mj-lt"/>
              </a:rPr>
              <a:t>to</a:t>
            </a:r>
            <a:r>
              <a:rPr lang="de-DE" sz="1400" b="1" u="sng" dirty="0">
                <a:latin typeface="+mj-lt"/>
              </a:rPr>
              <a:t> Terminal 2</a:t>
            </a:r>
          </a:p>
        </p:txBody>
      </p:sp>
      <p:sp>
        <p:nvSpPr>
          <p:cNvPr id="3" name="Textfeld 2">
            <a:extLst>
              <a:ext uri="{FF2B5EF4-FFF2-40B4-BE49-F238E27FC236}">
                <a16:creationId xmlns:a16="http://schemas.microsoft.com/office/drawing/2014/main" id="{14284417-AC7A-3885-A731-6936AE7F7BFB}"/>
              </a:ext>
            </a:extLst>
          </p:cNvPr>
          <p:cNvSpPr txBox="1"/>
          <p:nvPr/>
        </p:nvSpPr>
        <p:spPr>
          <a:xfrm>
            <a:off x="5083805" y="939794"/>
            <a:ext cx="6618038" cy="2757678"/>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Support unit cable</a:t>
            </a: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2x </a:t>
            </a:r>
            <a:r>
              <a:rPr lang="de-DE" sz="900" dirty="0" err="1">
                <a:solidFill>
                  <a:srgbClr val="000000"/>
                </a:solidFill>
                <a:latin typeface="CIDFont+F2"/>
              </a:rPr>
              <a:t>roller</a:t>
            </a:r>
            <a:r>
              <a:rPr lang="de-DE" sz="900" dirty="0">
                <a:solidFill>
                  <a:srgbClr val="000000"/>
                </a:solidFill>
                <a:latin typeface="CIDFont+F2"/>
              </a:rPr>
              <a:t> </a:t>
            </a:r>
            <a:r>
              <a:rPr lang="de-DE" sz="900" dirty="0" err="1">
                <a:solidFill>
                  <a:srgbClr val="000000"/>
                </a:solidFill>
                <a:latin typeface="CIDFont+F2"/>
              </a:rPr>
              <a:t>guide</a:t>
            </a:r>
            <a:r>
              <a:rPr lang="de-DE" sz="900" dirty="0">
                <a:solidFill>
                  <a:srgbClr val="000000"/>
                </a:solidFill>
                <a:latin typeface="CIDFont+F2"/>
              </a:rPr>
              <a:t> </a:t>
            </a:r>
            <a:r>
              <a:rPr lang="de-DE" sz="900" dirty="0" err="1">
                <a:solidFill>
                  <a:srgbClr val="000000"/>
                </a:solidFill>
                <a:latin typeface="CIDFont+F2"/>
              </a:rPr>
              <a:t>units</a:t>
            </a:r>
            <a:r>
              <a:rPr lang="de-DE" sz="900" dirty="0">
                <a:solidFill>
                  <a:srgbClr val="000000"/>
                </a:solidFill>
                <a:latin typeface="CIDFont+F2"/>
              </a:rPr>
              <a:t> </a:t>
            </a:r>
            <a:r>
              <a:rPr lang="de-DE" sz="900" dirty="0" err="1">
                <a:solidFill>
                  <a:srgbClr val="000000"/>
                </a:solidFill>
                <a:latin typeface="CIDFont+F2"/>
              </a:rPr>
              <a:t>pneumatically</a:t>
            </a:r>
            <a:r>
              <a:rPr lang="de-DE" sz="900" dirty="0">
                <a:solidFill>
                  <a:srgbClr val="000000"/>
                </a:solidFill>
                <a:latin typeface="CIDFont+F2"/>
              </a:rPr>
              <a:t> </a:t>
            </a:r>
            <a:r>
              <a:rPr lang="de-DE" sz="900" dirty="0" err="1">
                <a:solidFill>
                  <a:srgbClr val="000000"/>
                </a:solidFill>
                <a:latin typeface="CIDFont+F2"/>
              </a:rPr>
              <a:t>delivered</a:t>
            </a:r>
            <a:endParaRPr lang="de-DE" sz="900" dirty="0">
              <a:solidFill>
                <a:srgbClr val="000000"/>
              </a:solidFill>
              <a:latin typeface="CIDFont+F2"/>
            </a:endParaRPr>
          </a:p>
          <a:p>
            <a:pPr marL="342900" lvl="1" indent="-342900" defTabSz="457200">
              <a:spcBef>
                <a:spcPct val="20000"/>
              </a:spcBef>
              <a:buFont typeface="Arial"/>
              <a:buChar char="•"/>
            </a:pPr>
            <a:r>
              <a:rPr lang="de-DE" sz="900" dirty="0">
                <a:latin typeface="Calibri" panose="020F0502020204030204" pitchFamily="34" charset="0"/>
                <a:ea typeface="Calibri" panose="020F0502020204030204" pitchFamily="34" charset="0"/>
                <a:cs typeface="Calibri" panose="020F0502020204030204" pitchFamily="34" charset="0"/>
              </a:rPr>
              <a:t>Pull </a:t>
            </a:r>
            <a:r>
              <a:rPr lang="de-DE" sz="900" dirty="0" err="1">
                <a:latin typeface="Calibri" panose="020F0502020204030204" pitchFamily="34" charset="0"/>
                <a:ea typeface="Calibri" panose="020F0502020204030204" pitchFamily="34" charset="0"/>
                <a:cs typeface="Calibri" panose="020F0502020204030204" pitchFamily="34" charset="0"/>
              </a:rPr>
              <a:t>unit</a:t>
            </a:r>
            <a:endParaRPr lang="de-DE"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Electric pull </a:t>
            </a:r>
            <a:r>
              <a:rPr lang="de-DE" sz="900" dirty="0" err="1">
                <a:solidFill>
                  <a:srgbClr val="000000"/>
                </a:solidFill>
                <a:latin typeface="CIDFont+F2"/>
              </a:rPr>
              <a:t>axis</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gripper</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en-US" sz="900" dirty="0">
                <a:solidFill>
                  <a:srgbClr val="000000"/>
                </a:solidFill>
                <a:latin typeface="CIDFont+F2"/>
              </a:rPr>
              <a:t>Universal Gripper fingers for all cable types</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Axis frame</a:t>
            </a:r>
          </a:p>
          <a:p>
            <a:pPr marL="342900" lvl="1" indent="-342900" defTabSz="457200">
              <a:spcBef>
                <a:spcPct val="20000"/>
              </a:spcBef>
              <a:buFont typeface="Arial"/>
              <a:buChar char="•"/>
            </a:pPr>
            <a:r>
              <a:rPr lang="de-DE" sz="900" dirty="0">
                <a:latin typeface="Calibri" panose="020F0502020204030204" pitchFamily="34" charset="0"/>
                <a:ea typeface="Calibri" panose="020F0502020204030204" pitchFamily="34" charset="0"/>
                <a:cs typeface="Calibri" panose="020F0502020204030204" pitchFamily="34" charset="0"/>
              </a:rPr>
              <a:t>Opener Unit </a:t>
            </a:r>
            <a:r>
              <a:rPr lang="de-DE" sz="900" dirty="0" err="1">
                <a:latin typeface="Calibri" panose="020F0502020204030204" pitchFamily="34" charset="0"/>
                <a:ea typeface="Calibri" panose="020F0502020204030204" pitchFamily="34" charset="0"/>
                <a:cs typeface="Calibri" panose="020F0502020204030204" pitchFamily="34" charset="0"/>
              </a:rPr>
              <a:t>for</a:t>
            </a:r>
            <a:r>
              <a:rPr lang="de-DE" sz="900" dirty="0">
                <a:latin typeface="Calibri" panose="020F0502020204030204" pitchFamily="34" charset="0"/>
                <a:ea typeface="Calibri" panose="020F0502020204030204" pitchFamily="34" charset="0"/>
                <a:cs typeface="Calibri" panose="020F0502020204030204" pitchFamily="34" charset="0"/>
              </a:rPr>
              <a:t> WPC</a:t>
            </a: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2x </a:t>
            </a: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cylinders</a:t>
            </a:r>
            <a:r>
              <a:rPr lang="de-DE" sz="900" dirty="0">
                <a:solidFill>
                  <a:srgbClr val="000000"/>
                </a:solidFill>
                <a:latin typeface="CIDFont+F2"/>
              </a:rPr>
              <a:t> </a:t>
            </a:r>
            <a:r>
              <a:rPr lang="de-DE" sz="900" dirty="0" err="1">
                <a:solidFill>
                  <a:srgbClr val="000000"/>
                </a:solidFill>
                <a:latin typeface="CIDFont+F2"/>
              </a:rPr>
              <a:t>to</a:t>
            </a:r>
            <a:r>
              <a:rPr lang="de-DE" sz="900" dirty="0">
                <a:solidFill>
                  <a:srgbClr val="000000"/>
                </a:solidFill>
                <a:latin typeface="CIDFont+F2"/>
              </a:rPr>
              <a:t> open </a:t>
            </a:r>
            <a:r>
              <a:rPr lang="de-DE" sz="900" dirty="0" err="1">
                <a:solidFill>
                  <a:srgbClr val="000000"/>
                </a:solidFill>
                <a:latin typeface="CIDFont+F2"/>
              </a:rPr>
              <a:t>the</a:t>
            </a:r>
            <a:r>
              <a:rPr lang="de-DE" sz="900" dirty="0">
                <a:solidFill>
                  <a:srgbClr val="000000"/>
                </a:solidFill>
                <a:latin typeface="CIDFont+F2"/>
              </a:rPr>
              <a:t> </a:t>
            </a:r>
            <a:r>
              <a:rPr lang="de-DE" sz="900" dirty="0" err="1">
                <a:solidFill>
                  <a:srgbClr val="000000"/>
                </a:solidFill>
                <a:latin typeface="CIDFont+F2"/>
              </a:rPr>
              <a:t>gripper</a:t>
            </a:r>
            <a:r>
              <a:rPr lang="de-DE" sz="900" dirty="0">
                <a:solidFill>
                  <a:srgbClr val="000000"/>
                </a:solidFill>
                <a:latin typeface="CIDFont+F2"/>
              </a:rPr>
              <a:t> </a:t>
            </a:r>
            <a:r>
              <a:rPr lang="de-DE" sz="900" dirty="0" err="1">
                <a:solidFill>
                  <a:srgbClr val="000000"/>
                </a:solidFill>
                <a:latin typeface="CIDFont+F2"/>
              </a:rPr>
              <a:t>jaws</a:t>
            </a:r>
            <a:r>
              <a:rPr lang="de-DE" sz="900" dirty="0">
                <a:solidFill>
                  <a:srgbClr val="000000"/>
                </a:solidFill>
                <a:latin typeface="CIDFont+F2"/>
              </a:rPr>
              <a:t> on </a:t>
            </a:r>
            <a:r>
              <a:rPr lang="de-DE" sz="900" dirty="0" err="1">
                <a:solidFill>
                  <a:srgbClr val="000000"/>
                </a:solidFill>
                <a:latin typeface="CIDFont+F2"/>
              </a:rPr>
              <a:t>the</a:t>
            </a:r>
            <a:r>
              <a:rPr lang="de-DE" sz="900" dirty="0">
                <a:solidFill>
                  <a:srgbClr val="000000"/>
                </a:solidFill>
                <a:latin typeface="CIDFont+F2"/>
              </a:rPr>
              <a:t> WPC</a:t>
            </a:r>
          </a:p>
          <a:p>
            <a:pPr marL="342900" lvl="1" indent="-342900" defTabSz="457200">
              <a:spcBef>
                <a:spcPct val="20000"/>
              </a:spcBef>
              <a:buFont typeface="Arial"/>
              <a:buChar char="•"/>
            </a:pPr>
            <a:r>
              <a:rPr lang="de-DE" sz="900" dirty="0" err="1">
                <a:latin typeface="Calibri" panose="020F0502020204030204" pitchFamily="34" charset="0"/>
                <a:ea typeface="Calibri" panose="020F0502020204030204" pitchFamily="34" charset="0"/>
                <a:cs typeface="Calibri" panose="020F0502020204030204" pitchFamily="34" charset="0"/>
              </a:rPr>
              <a:t>Pneumatic</a:t>
            </a:r>
            <a:r>
              <a:rPr lang="de-DE" sz="900" dirty="0">
                <a:latin typeface="Calibri" panose="020F0502020204030204" pitchFamily="34" charset="0"/>
                <a:ea typeface="Calibri" panose="020F0502020204030204" pitchFamily="34" charset="0"/>
                <a:cs typeface="Calibri" panose="020F0502020204030204" pitchFamily="34" charset="0"/>
              </a:rPr>
              <a:t> </a:t>
            </a:r>
            <a:r>
              <a:rPr lang="de-DE" sz="900" dirty="0" err="1">
                <a:latin typeface="Calibri" panose="020F0502020204030204" pitchFamily="34" charset="0"/>
                <a:ea typeface="Calibri" panose="020F0502020204030204" pitchFamily="34" charset="0"/>
                <a:cs typeface="Calibri" panose="020F0502020204030204" pitchFamily="34" charset="0"/>
              </a:rPr>
              <a:t>pusher</a:t>
            </a:r>
            <a:endParaRPr lang="de-DE"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altLang="de-DE" sz="900" dirty="0">
                <a:solidFill>
                  <a:srgbClr val="000000"/>
                </a:solidFill>
                <a:latin typeface="CIDFont+F2"/>
              </a:rPr>
              <a:t>2x </a:t>
            </a:r>
            <a:r>
              <a:rPr lang="de-DE" altLang="de-DE" sz="900" dirty="0" err="1">
                <a:solidFill>
                  <a:srgbClr val="000000"/>
                </a:solidFill>
                <a:latin typeface="CIDFont+F2"/>
              </a:rPr>
              <a:t>pneumatic</a:t>
            </a:r>
            <a:r>
              <a:rPr lang="de-DE" altLang="de-DE" sz="900" dirty="0">
                <a:solidFill>
                  <a:srgbClr val="000000"/>
                </a:solidFill>
                <a:latin typeface="CIDFont+F2"/>
              </a:rPr>
              <a:t> </a:t>
            </a:r>
            <a:r>
              <a:rPr lang="de-DE" altLang="de-DE" sz="900" dirty="0" err="1">
                <a:solidFill>
                  <a:srgbClr val="000000"/>
                </a:solidFill>
                <a:latin typeface="CIDFont+F2"/>
              </a:rPr>
              <a:t>pushers</a:t>
            </a:r>
            <a:r>
              <a:rPr lang="de-DE" altLang="de-DE" sz="900" dirty="0">
                <a:solidFill>
                  <a:srgbClr val="000000"/>
                </a:solidFill>
                <a:latin typeface="CIDFont+F2"/>
              </a:rPr>
              <a:t> </a:t>
            </a:r>
            <a:r>
              <a:rPr lang="de-DE" altLang="de-DE" sz="900" dirty="0" err="1">
                <a:solidFill>
                  <a:srgbClr val="000000"/>
                </a:solidFill>
                <a:latin typeface="CIDFont+F2"/>
              </a:rPr>
              <a:t>that</a:t>
            </a:r>
            <a:r>
              <a:rPr lang="de-DE" altLang="de-DE" sz="900" dirty="0">
                <a:solidFill>
                  <a:srgbClr val="000000"/>
                </a:solidFill>
                <a:latin typeface="CIDFont+F2"/>
              </a:rPr>
              <a:t> push </a:t>
            </a:r>
            <a:r>
              <a:rPr lang="de-DE" altLang="de-DE" sz="900" dirty="0" err="1">
                <a:solidFill>
                  <a:srgbClr val="000000"/>
                </a:solidFill>
                <a:latin typeface="CIDFont+F2"/>
              </a:rPr>
              <a:t>the</a:t>
            </a:r>
            <a:r>
              <a:rPr lang="de-DE" altLang="de-DE" sz="900" dirty="0">
                <a:solidFill>
                  <a:srgbClr val="000000"/>
                </a:solidFill>
                <a:latin typeface="CIDFont+F2"/>
              </a:rPr>
              <a:t> </a:t>
            </a:r>
            <a:r>
              <a:rPr lang="de-DE" altLang="de-DE" sz="900" dirty="0" err="1">
                <a:solidFill>
                  <a:srgbClr val="000000"/>
                </a:solidFill>
                <a:latin typeface="CIDFont+F2"/>
              </a:rPr>
              <a:t>cable</a:t>
            </a:r>
            <a:r>
              <a:rPr lang="de-DE" altLang="de-DE" sz="900" dirty="0">
                <a:solidFill>
                  <a:srgbClr val="000000"/>
                </a:solidFill>
                <a:latin typeface="CIDFont+F2"/>
              </a:rPr>
              <a:t> </a:t>
            </a:r>
            <a:r>
              <a:rPr lang="de-DE" altLang="de-DE" sz="900" dirty="0" err="1">
                <a:solidFill>
                  <a:srgbClr val="000000"/>
                </a:solidFill>
                <a:latin typeface="CIDFont+F2"/>
              </a:rPr>
              <a:t>to</a:t>
            </a:r>
            <a:r>
              <a:rPr lang="de-DE" altLang="de-DE" sz="900" dirty="0">
                <a:solidFill>
                  <a:srgbClr val="000000"/>
                </a:solidFill>
                <a:latin typeface="CIDFont+F2"/>
              </a:rPr>
              <a:t> </a:t>
            </a:r>
            <a:r>
              <a:rPr lang="de-DE" altLang="de-DE" sz="900" dirty="0" err="1">
                <a:solidFill>
                  <a:srgbClr val="000000"/>
                </a:solidFill>
                <a:latin typeface="CIDFont+F2"/>
              </a:rPr>
              <a:t>the</a:t>
            </a:r>
            <a:r>
              <a:rPr lang="de-DE" altLang="de-DE" sz="900" dirty="0">
                <a:solidFill>
                  <a:srgbClr val="000000"/>
                </a:solidFill>
                <a:latin typeface="CIDFont+F2"/>
              </a:rPr>
              <a:t> </a:t>
            </a:r>
            <a:r>
              <a:rPr lang="de-DE" altLang="de-DE" sz="900" dirty="0" err="1">
                <a:solidFill>
                  <a:srgbClr val="000000"/>
                </a:solidFill>
                <a:latin typeface="CIDFont+F2"/>
              </a:rPr>
              <a:t>side</a:t>
            </a:r>
            <a:r>
              <a:rPr lang="de-DE" altLang="de-DE" sz="900" dirty="0">
                <a:solidFill>
                  <a:srgbClr val="000000"/>
                </a:solidFill>
                <a:latin typeface="CIDFont+F2"/>
              </a:rPr>
              <a:t> </a:t>
            </a:r>
            <a:r>
              <a:rPr lang="de-DE" altLang="de-DE" sz="900" dirty="0" err="1">
                <a:solidFill>
                  <a:srgbClr val="000000"/>
                </a:solidFill>
                <a:latin typeface="CIDFont+F2"/>
              </a:rPr>
              <a:t>when</a:t>
            </a:r>
            <a:r>
              <a:rPr lang="de-DE" altLang="de-DE" sz="900" dirty="0">
                <a:solidFill>
                  <a:srgbClr val="000000"/>
                </a:solidFill>
                <a:latin typeface="CIDFont+F2"/>
              </a:rPr>
              <a:t> </a:t>
            </a:r>
            <a:r>
              <a:rPr lang="de-DE" altLang="de-DE" sz="900" dirty="0" err="1">
                <a:solidFill>
                  <a:srgbClr val="000000"/>
                </a:solidFill>
                <a:latin typeface="CIDFont+F2"/>
              </a:rPr>
              <a:t>conveying</a:t>
            </a:r>
            <a:r>
              <a:rPr lang="de-DE" altLang="de-DE" sz="900" dirty="0">
                <a:solidFill>
                  <a:srgbClr val="000000"/>
                </a:solidFill>
                <a:latin typeface="CIDFont+F2"/>
              </a:rPr>
              <a:t> </a:t>
            </a:r>
            <a:r>
              <a:rPr lang="de-DE" altLang="de-DE" sz="900" dirty="0" err="1">
                <a:solidFill>
                  <a:srgbClr val="000000"/>
                </a:solidFill>
                <a:latin typeface="CIDFont+F2"/>
              </a:rPr>
              <a:t>it</a:t>
            </a:r>
            <a:r>
              <a:rPr lang="de-DE" altLang="de-DE" sz="900" dirty="0">
                <a:solidFill>
                  <a:srgbClr val="000000"/>
                </a:solidFill>
                <a:latin typeface="CIDFont+F2"/>
              </a:rPr>
              <a:t> </a:t>
            </a:r>
            <a:r>
              <a:rPr lang="de-DE" altLang="de-DE" sz="900" dirty="0" err="1">
                <a:solidFill>
                  <a:srgbClr val="000000"/>
                </a:solidFill>
                <a:latin typeface="CIDFont+F2"/>
              </a:rPr>
              <a:t>to</a:t>
            </a:r>
            <a:r>
              <a:rPr lang="de-DE" altLang="de-DE" sz="900" dirty="0">
                <a:solidFill>
                  <a:srgbClr val="000000"/>
                </a:solidFill>
                <a:latin typeface="CIDFont+F2"/>
              </a:rPr>
              <a:t> </a:t>
            </a:r>
            <a:r>
              <a:rPr lang="de-DE" altLang="de-DE" sz="900" dirty="0" err="1">
                <a:solidFill>
                  <a:srgbClr val="000000"/>
                </a:solidFill>
                <a:latin typeface="CIDFont+F2"/>
              </a:rPr>
              <a:t>the</a:t>
            </a:r>
            <a:r>
              <a:rPr lang="de-DE" altLang="de-DE" sz="900" dirty="0">
                <a:solidFill>
                  <a:srgbClr val="000000"/>
                </a:solidFill>
                <a:latin typeface="CIDFont+F2"/>
              </a:rPr>
              <a:t> </a:t>
            </a:r>
            <a:r>
              <a:rPr lang="de-DE" altLang="de-DE" sz="900" dirty="0" err="1">
                <a:solidFill>
                  <a:srgbClr val="000000"/>
                </a:solidFill>
                <a:latin typeface="CIDFont+F2"/>
              </a:rPr>
              <a:t>next</a:t>
            </a:r>
            <a:r>
              <a:rPr lang="de-DE" altLang="de-DE" sz="900" dirty="0">
                <a:solidFill>
                  <a:srgbClr val="000000"/>
                </a:solidFill>
                <a:latin typeface="CIDFont+F2"/>
              </a:rPr>
              <a:t> </a:t>
            </a:r>
            <a:r>
              <a:rPr lang="de-DE" altLang="de-DE" sz="900" dirty="0" err="1">
                <a:solidFill>
                  <a:srgbClr val="000000"/>
                </a:solidFill>
                <a:latin typeface="CIDFont+F2"/>
              </a:rPr>
              <a:t>station</a:t>
            </a:r>
            <a:endParaRPr lang="de-DE" altLang="de-DE" sz="900" dirty="0">
              <a:solidFill>
                <a:srgbClr val="000000"/>
              </a:solidFill>
              <a:latin typeface="CIDFont+F2"/>
            </a:endParaRP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Base frame </a:t>
            </a:r>
          </a:p>
          <a:p>
            <a:pPr marL="628650" lvl="1" indent="-171450" defTabSz="457200">
              <a:spcBef>
                <a:spcPct val="20000"/>
              </a:spcBef>
              <a:buFont typeface="Symbol" panose="05050102010706020507" pitchFamily="18" charset="2"/>
              <a:buChar char="-"/>
            </a:pPr>
            <a:endParaRPr lang="de-DE" sz="900" dirty="0">
              <a:solidFill>
                <a:srgbClr val="000000"/>
              </a:solidFill>
              <a:latin typeface="CIDFont+F2"/>
            </a:endParaRPr>
          </a:p>
          <a:p>
            <a:pPr lvl="1" defTabSz="457200">
              <a:spcBef>
                <a:spcPct val="20000"/>
              </a:spcBef>
            </a:pPr>
            <a:r>
              <a:rPr lang="de-DE" sz="900" dirty="0">
                <a:solidFill>
                  <a:srgbClr val="000000"/>
                </a:solidFill>
                <a:latin typeface="CIDFont+F2"/>
              </a:rPr>
              <a:t>	</a:t>
            </a:r>
          </a:p>
        </p:txBody>
      </p:sp>
      <p:grpSp>
        <p:nvGrpSpPr>
          <p:cNvPr id="13" name="Gruppieren 12">
            <a:extLst>
              <a:ext uri="{FF2B5EF4-FFF2-40B4-BE49-F238E27FC236}">
                <a16:creationId xmlns:a16="http://schemas.microsoft.com/office/drawing/2014/main" id="{C0E8CEF5-1751-4A35-81AE-05E7519B0666}"/>
              </a:ext>
            </a:extLst>
          </p:cNvPr>
          <p:cNvGrpSpPr/>
          <p:nvPr/>
        </p:nvGrpSpPr>
        <p:grpSpPr>
          <a:xfrm>
            <a:off x="572837" y="761994"/>
            <a:ext cx="3160963" cy="3219456"/>
            <a:chOff x="433137" y="761994"/>
            <a:chExt cx="3426994" cy="3616502"/>
          </a:xfrm>
        </p:grpSpPr>
        <p:pic>
          <p:nvPicPr>
            <p:cNvPr id="17" name="Grafik 16">
              <a:extLst>
                <a:ext uri="{FF2B5EF4-FFF2-40B4-BE49-F238E27FC236}">
                  <a16:creationId xmlns:a16="http://schemas.microsoft.com/office/drawing/2014/main" id="{49D398BF-5372-09A2-2652-91F53E4EE060}"/>
                </a:ext>
              </a:extLst>
            </p:cNvPr>
            <p:cNvPicPr>
              <a:picLocks noChangeAspect="1"/>
            </p:cNvPicPr>
            <p:nvPr/>
          </p:nvPicPr>
          <p:blipFill>
            <a:blip r:embed="rId2"/>
            <a:stretch>
              <a:fillRect/>
            </a:stretch>
          </p:blipFill>
          <p:spPr>
            <a:xfrm>
              <a:off x="529389" y="761994"/>
              <a:ext cx="3330742" cy="1562717"/>
            </a:xfrm>
            <a:prstGeom prst="rect">
              <a:avLst/>
            </a:prstGeom>
          </p:spPr>
        </p:pic>
        <p:pic>
          <p:nvPicPr>
            <p:cNvPr id="19" name="Grafik 18">
              <a:extLst>
                <a:ext uri="{FF2B5EF4-FFF2-40B4-BE49-F238E27FC236}">
                  <a16:creationId xmlns:a16="http://schemas.microsoft.com/office/drawing/2014/main" id="{33C6693C-384F-9C47-7BF4-60D18F822C0E}"/>
                </a:ext>
              </a:extLst>
            </p:cNvPr>
            <p:cNvPicPr>
              <a:picLocks noChangeAspect="1"/>
            </p:cNvPicPr>
            <p:nvPr/>
          </p:nvPicPr>
          <p:blipFill>
            <a:blip r:embed="rId3"/>
            <a:stretch>
              <a:fillRect/>
            </a:stretch>
          </p:blipFill>
          <p:spPr>
            <a:xfrm>
              <a:off x="433137" y="2848387"/>
              <a:ext cx="3330743" cy="1530109"/>
            </a:xfrm>
            <a:prstGeom prst="rect">
              <a:avLst/>
            </a:prstGeom>
          </p:spPr>
        </p:pic>
        <p:sp>
          <p:nvSpPr>
            <p:cNvPr id="4" name="Rechteck 3">
              <a:extLst>
                <a:ext uri="{FF2B5EF4-FFF2-40B4-BE49-F238E27FC236}">
                  <a16:creationId xmlns:a16="http://schemas.microsoft.com/office/drawing/2014/main" id="{3A9C37E4-8342-E90F-59B8-DDE7666DCA62}"/>
                </a:ext>
              </a:extLst>
            </p:cNvPr>
            <p:cNvSpPr/>
            <p:nvPr/>
          </p:nvSpPr>
          <p:spPr>
            <a:xfrm>
              <a:off x="776286" y="3348037"/>
              <a:ext cx="154781" cy="11668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F696F72F-BCE1-F275-6C82-7E0BC787985A}"/>
                </a:ext>
              </a:extLst>
            </p:cNvPr>
            <p:cNvSpPr/>
            <p:nvPr/>
          </p:nvSpPr>
          <p:spPr>
            <a:xfrm>
              <a:off x="1559717" y="3348037"/>
              <a:ext cx="154781" cy="11668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6" name="Rechteck 5">
              <a:extLst>
                <a:ext uri="{FF2B5EF4-FFF2-40B4-BE49-F238E27FC236}">
                  <a16:creationId xmlns:a16="http://schemas.microsoft.com/office/drawing/2014/main" id="{29AA9FAC-5C6E-19AB-F84D-86C13EA8D95F}"/>
                </a:ext>
              </a:extLst>
            </p:cNvPr>
            <p:cNvSpPr/>
            <p:nvPr/>
          </p:nvSpPr>
          <p:spPr>
            <a:xfrm>
              <a:off x="828676" y="3269456"/>
              <a:ext cx="45719" cy="78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46DC3C41-BEFF-8BD4-6767-E3F3CF887E0E}"/>
                </a:ext>
              </a:extLst>
            </p:cNvPr>
            <p:cNvSpPr/>
            <p:nvPr/>
          </p:nvSpPr>
          <p:spPr>
            <a:xfrm>
              <a:off x="1614499" y="3269454"/>
              <a:ext cx="45719" cy="78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C930322D-AD63-50E2-E434-3E9010C2FF97}"/>
                </a:ext>
              </a:extLst>
            </p:cNvPr>
            <p:cNvSpPr/>
            <p:nvPr/>
          </p:nvSpPr>
          <p:spPr>
            <a:xfrm>
              <a:off x="776286" y="1243012"/>
              <a:ext cx="154781" cy="11668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2885BD0F-447B-A825-BD93-17E1AFB277FB}"/>
                </a:ext>
              </a:extLst>
            </p:cNvPr>
            <p:cNvSpPr/>
            <p:nvPr/>
          </p:nvSpPr>
          <p:spPr>
            <a:xfrm>
              <a:off x="1559717" y="1243012"/>
              <a:ext cx="154781" cy="11668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4E628FD5-9FF8-433F-8DDE-CFA3B62BD190}"/>
                </a:ext>
              </a:extLst>
            </p:cNvPr>
            <p:cNvSpPr/>
            <p:nvPr/>
          </p:nvSpPr>
          <p:spPr>
            <a:xfrm>
              <a:off x="828676" y="1164431"/>
              <a:ext cx="45719" cy="78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FC980EC3-9D83-36BE-5F3C-D9FF17FB1E74}"/>
                </a:ext>
              </a:extLst>
            </p:cNvPr>
            <p:cNvSpPr/>
            <p:nvPr/>
          </p:nvSpPr>
          <p:spPr>
            <a:xfrm>
              <a:off x="1614499" y="1164429"/>
              <a:ext cx="45719" cy="78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grpSp>
      <p:pic>
        <p:nvPicPr>
          <p:cNvPr id="15" name="Grafik 14">
            <a:extLst>
              <a:ext uri="{FF2B5EF4-FFF2-40B4-BE49-F238E27FC236}">
                <a16:creationId xmlns:a16="http://schemas.microsoft.com/office/drawing/2014/main" id="{B40BB910-063E-0829-F6E9-C9B65195E563}"/>
              </a:ext>
            </a:extLst>
          </p:cNvPr>
          <p:cNvPicPr>
            <a:picLocks noChangeAspect="1"/>
          </p:cNvPicPr>
          <p:nvPr/>
        </p:nvPicPr>
        <p:blipFill>
          <a:blip r:embed="rId4"/>
          <a:stretch>
            <a:fillRect/>
          </a:stretch>
        </p:blipFill>
        <p:spPr>
          <a:xfrm>
            <a:off x="572837" y="4920347"/>
            <a:ext cx="3185428" cy="1258204"/>
          </a:xfrm>
          <a:prstGeom prst="rect">
            <a:avLst/>
          </a:prstGeom>
        </p:spPr>
      </p:pic>
      <p:sp>
        <p:nvSpPr>
          <p:cNvPr id="16" name="Textfeld 15">
            <a:extLst>
              <a:ext uri="{FF2B5EF4-FFF2-40B4-BE49-F238E27FC236}">
                <a16:creationId xmlns:a16="http://schemas.microsoft.com/office/drawing/2014/main" id="{7F20ABFF-0594-130C-6157-C5812896FE56}"/>
              </a:ext>
            </a:extLst>
          </p:cNvPr>
          <p:cNvSpPr txBox="1"/>
          <p:nvPr/>
        </p:nvSpPr>
        <p:spPr>
          <a:xfrm>
            <a:off x="5083805" y="4841331"/>
            <a:ext cx="6618038" cy="1760482"/>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Turning unit</a:t>
            </a:r>
          </a:p>
          <a:p>
            <a:pPr marL="628650" lvl="1" indent="-171450" defTabSz="457200">
              <a:spcBef>
                <a:spcPct val="20000"/>
              </a:spcBef>
              <a:buFont typeface="Symbol" panose="05050102010706020507" pitchFamily="18" charset="2"/>
              <a:buChar char="-"/>
            </a:pP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turning</a:t>
            </a:r>
            <a:r>
              <a:rPr lang="de-DE" sz="900" dirty="0">
                <a:solidFill>
                  <a:srgbClr val="000000"/>
                </a:solidFill>
                <a:latin typeface="CIDFont+F2"/>
              </a:rPr>
              <a:t> </a:t>
            </a:r>
            <a:r>
              <a:rPr lang="de-DE" sz="900" dirty="0" err="1">
                <a:solidFill>
                  <a:srgbClr val="000000"/>
                </a:solidFill>
                <a:latin typeface="CIDFont+F2"/>
              </a:rPr>
              <a:t>unit</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gripper</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en-US" sz="900" dirty="0">
                <a:solidFill>
                  <a:srgbClr val="000000"/>
                </a:solidFill>
                <a:latin typeface="CIDFont+F2"/>
              </a:rPr>
              <a:t>Universal Gripper fingers for all cable types</a:t>
            </a:r>
            <a:endParaRPr lang="de-DE" sz="900" dirty="0">
              <a:solidFill>
                <a:srgbClr val="000000"/>
              </a:solidFill>
              <a:latin typeface="CIDFont+F2"/>
            </a:endParaRPr>
          </a:p>
          <a:p>
            <a:pPr marL="342900" lvl="1" indent="-342900" defTabSz="457200">
              <a:spcBef>
                <a:spcPct val="20000"/>
              </a:spcBef>
              <a:buFont typeface="Arial"/>
              <a:buChar char="•"/>
            </a:pPr>
            <a:r>
              <a:rPr lang="de-DE" sz="900" dirty="0">
                <a:latin typeface="Calibri" panose="020F0502020204030204" pitchFamily="34" charset="0"/>
                <a:ea typeface="Calibri" panose="020F0502020204030204" pitchFamily="34" charset="0"/>
                <a:cs typeface="Calibri" panose="020F0502020204030204" pitchFamily="34" charset="0"/>
              </a:rPr>
              <a:t>Opener Unit </a:t>
            </a:r>
            <a:r>
              <a:rPr lang="de-DE" sz="900" dirty="0" err="1">
                <a:latin typeface="Calibri" panose="020F0502020204030204" pitchFamily="34" charset="0"/>
                <a:ea typeface="Calibri" panose="020F0502020204030204" pitchFamily="34" charset="0"/>
                <a:cs typeface="Calibri" panose="020F0502020204030204" pitchFamily="34" charset="0"/>
              </a:rPr>
              <a:t>for</a:t>
            </a:r>
            <a:r>
              <a:rPr lang="de-DE" sz="900" dirty="0">
                <a:latin typeface="Calibri" panose="020F0502020204030204" pitchFamily="34" charset="0"/>
                <a:ea typeface="Calibri" panose="020F0502020204030204" pitchFamily="34" charset="0"/>
                <a:cs typeface="Calibri" panose="020F0502020204030204" pitchFamily="34" charset="0"/>
              </a:rPr>
              <a:t> WPC</a:t>
            </a: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2x </a:t>
            </a: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cylinders</a:t>
            </a:r>
            <a:r>
              <a:rPr lang="de-DE" sz="900" dirty="0">
                <a:solidFill>
                  <a:srgbClr val="000000"/>
                </a:solidFill>
                <a:latin typeface="CIDFont+F2"/>
              </a:rPr>
              <a:t> </a:t>
            </a:r>
            <a:r>
              <a:rPr lang="de-DE" sz="900" dirty="0" err="1">
                <a:solidFill>
                  <a:srgbClr val="000000"/>
                </a:solidFill>
                <a:latin typeface="CIDFont+F2"/>
              </a:rPr>
              <a:t>to</a:t>
            </a:r>
            <a:r>
              <a:rPr lang="de-DE" sz="900" dirty="0">
                <a:solidFill>
                  <a:srgbClr val="000000"/>
                </a:solidFill>
                <a:latin typeface="CIDFont+F2"/>
              </a:rPr>
              <a:t> open </a:t>
            </a:r>
            <a:r>
              <a:rPr lang="de-DE" sz="900" dirty="0" err="1">
                <a:solidFill>
                  <a:srgbClr val="000000"/>
                </a:solidFill>
                <a:latin typeface="CIDFont+F2"/>
              </a:rPr>
              <a:t>the</a:t>
            </a:r>
            <a:r>
              <a:rPr lang="de-DE" sz="900" dirty="0">
                <a:solidFill>
                  <a:srgbClr val="000000"/>
                </a:solidFill>
                <a:latin typeface="CIDFont+F2"/>
              </a:rPr>
              <a:t> </a:t>
            </a:r>
            <a:r>
              <a:rPr lang="de-DE" sz="900" dirty="0" err="1">
                <a:solidFill>
                  <a:srgbClr val="000000"/>
                </a:solidFill>
                <a:latin typeface="CIDFont+F2"/>
              </a:rPr>
              <a:t>gripper</a:t>
            </a:r>
            <a:r>
              <a:rPr lang="de-DE" sz="900" dirty="0">
                <a:solidFill>
                  <a:srgbClr val="000000"/>
                </a:solidFill>
                <a:latin typeface="CIDFont+F2"/>
              </a:rPr>
              <a:t> </a:t>
            </a:r>
            <a:r>
              <a:rPr lang="de-DE" sz="900" dirty="0" err="1">
                <a:solidFill>
                  <a:srgbClr val="000000"/>
                </a:solidFill>
                <a:latin typeface="CIDFont+F2"/>
              </a:rPr>
              <a:t>jaws</a:t>
            </a:r>
            <a:r>
              <a:rPr lang="de-DE" sz="900" dirty="0">
                <a:solidFill>
                  <a:srgbClr val="000000"/>
                </a:solidFill>
                <a:latin typeface="CIDFont+F2"/>
              </a:rPr>
              <a:t> on </a:t>
            </a:r>
            <a:r>
              <a:rPr lang="de-DE" sz="900" dirty="0" err="1">
                <a:solidFill>
                  <a:srgbClr val="000000"/>
                </a:solidFill>
                <a:latin typeface="CIDFont+F2"/>
              </a:rPr>
              <a:t>the</a:t>
            </a:r>
            <a:r>
              <a:rPr lang="de-DE" sz="900" dirty="0">
                <a:solidFill>
                  <a:srgbClr val="000000"/>
                </a:solidFill>
                <a:latin typeface="CIDFont+F2"/>
              </a:rPr>
              <a:t> WPC</a:t>
            </a:r>
          </a:p>
          <a:p>
            <a:pPr lvl="1" defTabSz="457200">
              <a:spcBef>
                <a:spcPct val="20000"/>
              </a:spcBef>
            </a:pPr>
            <a:endParaRPr lang="de-DE" sz="900" dirty="0">
              <a:solidFill>
                <a:srgbClr val="000000"/>
              </a:solidFill>
              <a:latin typeface="CIDFont+F2"/>
            </a:endParaRPr>
          </a:p>
          <a:p>
            <a:pPr lvl="1" defTabSz="457200">
              <a:spcBef>
                <a:spcPct val="20000"/>
              </a:spcBef>
            </a:pPr>
            <a:r>
              <a:rPr lang="de-DE" sz="900" dirty="0">
                <a:solidFill>
                  <a:srgbClr val="000000"/>
                </a:solidFill>
                <a:latin typeface="CIDFont+F2"/>
              </a:rPr>
              <a:t>	</a:t>
            </a:r>
          </a:p>
        </p:txBody>
      </p:sp>
      <p:sp>
        <p:nvSpPr>
          <p:cNvPr id="18" name="Titel 1">
            <a:extLst>
              <a:ext uri="{FF2B5EF4-FFF2-40B4-BE49-F238E27FC236}">
                <a16:creationId xmlns:a16="http://schemas.microsoft.com/office/drawing/2014/main" id="{D43DD11B-BD76-ECE3-01B9-82995A4AE941}"/>
              </a:ext>
            </a:extLst>
          </p:cNvPr>
          <p:cNvSpPr txBox="1">
            <a:spLocks/>
          </p:cNvSpPr>
          <p:nvPr/>
        </p:nvSpPr>
        <p:spPr>
          <a:xfrm>
            <a:off x="3117853" y="4106167"/>
            <a:ext cx="4656790" cy="265716"/>
          </a:xfrm>
          <a:prstGeom prst="rect">
            <a:avLst/>
          </a:prstGeom>
        </p:spPr>
        <p:txBody>
          <a:bodyPr anchor="t"/>
          <a:lstStyle>
            <a:lvl1pPr algn="ctr" defTabSz="457200" rtl="0" eaLnBrk="1" latinLnBrk="0" hangingPunct="1">
              <a:spcBef>
                <a:spcPct val="0"/>
              </a:spcBef>
              <a:buNone/>
              <a:defRPr lang="de-DE" sz="1000" kern="1200" dirty="0">
                <a:solidFill>
                  <a:srgbClr val="2C3F48"/>
                </a:solidFill>
                <a:latin typeface="Gilroy Light"/>
                <a:ea typeface="Gilroy Light"/>
                <a:cs typeface="Gilroy Light"/>
              </a:defRPr>
            </a:lvl1pPr>
          </a:lstStyle>
          <a:p>
            <a:r>
              <a:rPr lang="en-US" sz="1400" b="1" u="sng" dirty="0">
                <a:latin typeface="+mj-lt"/>
              </a:rPr>
              <a:t>Turning Unit for Terminal 2</a:t>
            </a:r>
          </a:p>
        </p:txBody>
      </p:sp>
    </p:spTree>
    <p:extLst>
      <p:ext uri="{BB962C8B-B14F-4D97-AF65-F5344CB8AC3E}">
        <p14:creationId xmlns:p14="http://schemas.microsoft.com/office/powerpoint/2010/main" val="4076613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u="sng" dirty="0">
                <a:latin typeface="+mj-lt"/>
              </a:rPr>
              <a:t>Insert </a:t>
            </a:r>
            <a:r>
              <a:rPr lang="de-DE" sz="1400" b="1" u="sng" dirty="0" err="1">
                <a:latin typeface="+mj-lt"/>
              </a:rPr>
              <a:t>Shrink</a:t>
            </a:r>
            <a:r>
              <a:rPr lang="de-DE" sz="1400" b="1" u="sng" dirty="0">
                <a:latin typeface="+mj-lt"/>
              </a:rPr>
              <a:t> </a:t>
            </a:r>
            <a:r>
              <a:rPr lang="de-DE" sz="1400" b="1" u="sng" dirty="0" err="1">
                <a:latin typeface="+mj-lt"/>
              </a:rPr>
              <a:t>Sleeve</a:t>
            </a:r>
            <a:endParaRPr lang="de-DE" sz="1400" b="1" u="sng" dirty="0">
              <a:latin typeface="+mj-lt"/>
            </a:endParaRPr>
          </a:p>
        </p:txBody>
      </p:sp>
      <p:sp>
        <p:nvSpPr>
          <p:cNvPr id="3" name="Textfeld 2">
            <a:extLst>
              <a:ext uri="{FF2B5EF4-FFF2-40B4-BE49-F238E27FC236}">
                <a16:creationId xmlns:a16="http://schemas.microsoft.com/office/drawing/2014/main" id="{14284417-AC7A-3885-A731-6936AE7F7BFB}"/>
              </a:ext>
            </a:extLst>
          </p:cNvPr>
          <p:cNvSpPr txBox="1"/>
          <p:nvPr/>
        </p:nvSpPr>
        <p:spPr>
          <a:xfrm>
            <a:off x="5083805" y="939794"/>
            <a:ext cx="6618038" cy="2065181"/>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err="1">
                <a:latin typeface="Calibri" panose="020F0502020204030204" pitchFamily="34" charset="0"/>
                <a:ea typeface="Calibri" panose="020F0502020204030204" pitchFamily="34" charset="0"/>
                <a:cs typeface="Calibri" panose="020F0502020204030204" pitchFamily="34" charset="0"/>
              </a:rPr>
              <a:t>Bowlfeeder</a:t>
            </a:r>
            <a:r>
              <a:rPr lang="en-US" sz="900" dirty="0">
                <a:latin typeface="Calibri" panose="020F0502020204030204" pitchFamily="34" charset="0"/>
                <a:ea typeface="Calibri" panose="020F0502020204030204" pitchFamily="34" charset="0"/>
                <a:cs typeface="Calibri" panose="020F0502020204030204" pitchFamily="34" charset="0"/>
              </a:rPr>
              <a:t> for shrink sleeve with separator for 1 </a:t>
            </a:r>
            <a:r>
              <a:rPr lang="en-US" sz="900" dirty="0" err="1">
                <a:latin typeface="Calibri" panose="020F0502020204030204" pitchFamily="34" charset="0"/>
                <a:ea typeface="Calibri" panose="020F0502020204030204" pitchFamily="34" charset="0"/>
                <a:cs typeface="Calibri" panose="020F0502020204030204" pitchFamily="34" charset="0"/>
              </a:rPr>
              <a:t>Typ</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Handling unit for shrink sleeve</a:t>
            </a:r>
          </a:p>
          <a:p>
            <a:pPr marL="8001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Pneumatic gripper for 1 Shrink sleeve type</a:t>
            </a:r>
          </a:p>
          <a:p>
            <a:pPr marL="8001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Y-axis electric</a:t>
            </a:r>
          </a:p>
          <a:p>
            <a:pPr marL="800100" lvl="1"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Z-Axis Pneumatic</a:t>
            </a: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Opening Unit for WPC</a:t>
            </a: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Fixing unit for Cable while Clamping unit is open</a:t>
            </a:r>
          </a:p>
          <a:p>
            <a:pPr marL="342900" indent="-342900" defTabSz="457200">
              <a:spcBef>
                <a:spcPct val="20000"/>
              </a:spcBef>
              <a:buFont typeface="Arial"/>
              <a:buChar char="•"/>
            </a:pPr>
            <a:endParaRPr lang="de-DE" altLang="de-DE" sz="900" dirty="0">
              <a:solidFill>
                <a:srgbClr val="000000"/>
              </a:solidFill>
              <a:latin typeface="CIDFont+F2"/>
              <a:ea typeface="Calibri" panose="020F0502020204030204" pitchFamily="34" charset="0"/>
              <a:cs typeface="Calibri" panose="020F0502020204030204" pitchFamily="34" charset="0"/>
            </a:endParaRPr>
          </a:p>
          <a:p>
            <a:r>
              <a:rPr lang="de-DE" altLang="de-DE" sz="900" dirty="0"/>
              <a:t>Note: </a:t>
            </a:r>
            <a:r>
              <a:rPr lang="de-DE" altLang="de-DE" sz="900" dirty="0" err="1"/>
              <a:t>Shrink</a:t>
            </a:r>
            <a:r>
              <a:rPr lang="de-DE" altLang="de-DE" sz="900" dirty="0"/>
              <a:t> </a:t>
            </a:r>
            <a:r>
              <a:rPr lang="de-DE" altLang="de-DE" sz="900" dirty="0" err="1"/>
              <a:t>sleeves</a:t>
            </a:r>
            <a:r>
              <a:rPr lang="de-DE" altLang="de-DE" sz="900" dirty="0"/>
              <a:t> </a:t>
            </a:r>
            <a:r>
              <a:rPr lang="de-DE" altLang="de-DE" sz="900" dirty="0" err="1"/>
              <a:t>are</a:t>
            </a:r>
            <a:r>
              <a:rPr lang="de-DE" altLang="de-DE" sz="900" dirty="0"/>
              <a:t> </a:t>
            </a:r>
            <a:r>
              <a:rPr lang="de-DE" altLang="de-DE" sz="900" dirty="0" err="1"/>
              <a:t>bulk</a:t>
            </a:r>
            <a:r>
              <a:rPr lang="de-DE" altLang="de-DE" sz="900" dirty="0"/>
              <a:t> material and have to </a:t>
            </a:r>
            <a:r>
              <a:rPr lang="de-DE" altLang="de-DE" sz="900" dirty="0" err="1"/>
              <a:t>be</a:t>
            </a:r>
            <a:r>
              <a:rPr lang="de-DE" altLang="de-DE" sz="900" dirty="0"/>
              <a:t> </a:t>
            </a:r>
            <a:r>
              <a:rPr lang="de-DE" altLang="de-DE" sz="900" dirty="0" err="1"/>
              <a:t>stable</a:t>
            </a:r>
            <a:r>
              <a:rPr lang="de-DE" altLang="de-DE" sz="900" dirty="0"/>
              <a:t> and </a:t>
            </a:r>
            <a:r>
              <a:rPr lang="de-DE" altLang="de-DE" sz="900" dirty="0" err="1"/>
              <a:t>ready</a:t>
            </a:r>
            <a:r>
              <a:rPr lang="de-DE" altLang="de-DE" sz="900" dirty="0"/>
              <a:t> </a:t>
            </a:r>
            <a:r>
              <a:rPr lang="de-DE" altLang="de-DE" sz="900" dirty="0" err="1"/>
              <a:t>for</a:t>
            </a:r>
            <a:r>
              <a:rPr lang="de-DE" altLang="de-DE" sz="900" dirty="0"/>
              <a:t> </a:t>
            </a:r>
            <a:r>
              <a:rPr lang="de-DE" altLang="de-DE" sz="900" dirty="0" err="1"/>
              <a:t>automated</a:t>
            </a:r>
            <a:r>
              <a:rPr lang="de-DE" altLang="de-DE" sz="900" dirty="0"/>
              <a:t> </a:t>
            </a:r>
            <a:r>
              <a:rPr lang="de-DE" altLang="de-DE" sz="900" dirty="0" err="1"/>
              <a:t>feeding</a:t>
            </a:r>
            <a:r>
              <a:rPr lang="de-DE" altLang="de-DE" sz="900" dirty="0"/>
              <a:t>.</a:t>
            </a:r>
          </a:p>
          <a:p>
            <a:pPr marL="0" lvl="1" defTabSz="457200">
              <a:spcBef>
                <a:spcPct val="20000"/>
              </a:spcBef>
            </a:pPr>
            <a:endParaRPr lang="de-DE" altLang="de-DE" sz="900" dirty="0">
              <a:latin typeface="Calibri" panose="020F0502020204030204" pitchFamily="34" charset="0"/>
              <a:ea typeface="Calibri" panose="020F0502020204030204" pitchFamily="34" charset="0"/>
              <a:cs typeface="Calibri" panose="020F0502020204030204" pitchFamily="34" charset="0"/>
            </a:endParaRPr>
          </a:p>
        </p:txBody>
      </p:sp>
      <p:pic>
        <p:nvPicPr>
          <p:cNvPr id="6" name="Grafik 5">
            <a:extLst>
              <a:ext uri="{FF2B5EF4-FFF2-40B4-BE49-F238E27FC236}">
                <a16:creationId xmlns:a16="http://schemas.microsoft.com/office/drawing/2014/main" id="{92FE9327-F851-9A4B-2CAB-A23CE3938F27}"/>
              </a:ext>
            </a:extLst>
          </p:cNvPr>
          <p:cNvPicPr>
            <a:picLocks noChangeAspect="1"/>
          </p:cNvPicPr>
          <p:nvPr/>
        </p:nvPicPr>
        <p:blipFill>
          <a:blip r:embed="rId2"/>
          <a:stretch>
            <a:fillRect/>
          </a:stretch>
        </p:blipFill>
        <p:spPr>
          <a:xfrm>
            <a:off x="713799" y="1324105"/>
            <a:ext cx="1202924" cy="3737657"/>
          </a:xfrm>
          <a:prstGeom prst="rect">
            <a:avLst/>
          </a:prstGeom>
        </p:spPr>
      </p:pic>
    </p:spTree>
    <p:extLst>
      <p:ext uri="{BB962C8B-B14F-4D97-AF65-F5344CB8AC3E}">
        <p14:creationId xmlns:p14="http://schemas.microsoft.com/office/powerpoint/2010/main" val="15532295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u="sng" dirty="0" err="1">
                <a:latin typeface="+mj-lt"/>
              </a:rPr>
              <a:t>Labeling</a:t>
            </a:r>
            <a:endParaRPr lang="de-DE" sz="1400" b="1" u="sng" dirty="0">
              <a:latin typeface="+mj-lt"/>
            </a:endParaRPr>
          </a:p>
        </p:txBody>
      </p:sp>
      <p:sp>
        <p:nvSpPr>
          <p:cNvPr id="3" name="Textfeld 2">
            <a:extLst>
              <a:ext uri="{FF2B5EF4-FFF2-40B4-BE49-F238E27FC236}">
                <a16:creationId xmlns:a16="http://schemas.microsoft.com/office/drawing/2014/main" id="{14284417-AC7A-3885-A731-6936AE7F7BFB}"/>
              </a:ext>
            </a:extLst>
          </p:cNvPr>
          <p:cNvSpPr txBox="1"/>
          <p:nvPr/>
        </p:nvSpPr>
        <p:spPr>
          <a:xfrm>
            <a:off x="5083805" y="939794"/>
            <a:ext cx="6618038" cy="1428083"/>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Label printer </a:t>
            </a:r>
            <a:r>
              <a:rPr lang="en-US" sz="900" dirty="0" err="1">
                <a:latin typeface="Calibri" panose="020F0502020204030204" pitchFamily="34" charset="0"/>
                <a:ea typeface="Calibri" panose="020F0502020204030204" pitchFamily="34" charset="0"/>
                <a:cs typeface="Calibri" panose="020F0502020204030204" pitchFamily="34" charset="0"/>
              </a:rPr>
              <a:t>Typ</a:t>
            </a:r>
            <a:r>
              <a:rPr lang="en-US" sz="900" dirty="0">
                <a:latin typeface="Calibri" panose="020F0502020204030204" pitchFamily="34" charset="0"/>
                <a:ea typeface="Calibri" panose="020F0502020204030204" pitchFamily="34" charset="0"/>
                <a:cs typeface="Calibri" panose="020F0502020204030204" pitchFamily="34" charset="0"/>
              </a:rPr>
              <a:t> HERMES for 1 label </a:t>
            </a:r>
            <a:r>
              <a:rPr lang="en-US" sz="900" dirty="0" err="1">
                <a:latin typeface="Calibri" panose="020F0502020204030204" pitchFamily="34" charset="0"/>
                <a:ea typeface="Calibri" panose="020F0502020204030204" pitchFamily="34" charset="0"/>
                <a:cs typeface="Calibri" panose="020F0502020204030204" pitchFamily="34" charset="0"/>
              </a:rPr>
              <a:t>typ</a:t>
            </a:r>
            <a:endParaRPr lang="en-US" sz="9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Flag applicator</a:t>
            </a:r>
          </a:p>
          <a:p>
            <a:pPr marL="342900" indent="-342900" defTabSz="457200">
              <a:spcBef>
                <a:spcPct val="20000"/>
              </a:spcBef>
              <a:buFont typeface="Arial"/>
              <a:buChar char="•"/>
            </a:pPr>
            <a:endParaRPr lang="en-US" sz="900" dirty="0">
              <a:latin typeface="Calibri" panose="020F0502020204030204" pitchFamily="34" charset="0"/>
              <a:ea typeface="Calibri" panose="020F0502020204030204" pitchFamily="34" charset="0"/>
              <a:cs typeface="Calibri" panose="020F0502020204030204" pitchFamily="34" charset="0"/>
            </a:endParaRPr>
          </a:p>
          <a:p>
            <a:pPr defTabSz="457200">
              <a:spcBef>
                <a:spcPct val="20000"/>
              </a:spcBef>
            </a:pPr>
            <a:endParaRPr lang="en-US" sz="900" dirty="0">
              <a:latin typeface="Calibri" panose="020F0502020204030204" pitchFamily="34" charset="0"/>
              <a:ea typeface="Calibri" panose="020F0502020204030204" pitchFamily="34" charset="0"/>
              <a:cs typeface="Calibri" panose="020F0502020204030204" pitchFamily="34" charset="0"/>
            </a:endParaRPr>
          </a:p>
          <a:p>
            <a:pPr marL="0" lvl="1" defTabSz="457200">
              <a:spcBef>
                <a:spcPct val="20000"/>
              </a:spcBef>
            </a:pPr>
            <a:r>
              <a:rPr lang="de-DE" altLang="de-DE" sz="900" dirty="0">
                <a:latin typeface="Calibri" panose="020F0502020204030204" pitchFamily="34" charset="0"/>
                <a:ea typeface="Calibri" panose="020F0502020204030204" pitchFamily="34" charset="0"/>
                <a:cs typeface="Calibri" panose="020F0502020204030204" pitchFamily="34" charset="0"/>
              </a:rPr>
              <a:t>Note: 1 fix </a:t>
            </a:r>
            <a:r>
              <a:rPr lang="de-DE" altLang="de-DE" sz="900" dirty="0" err="1">
                <a:latin typeface="Calibri" panose="020F0502020204030204" pitchFamily="34" charset="0"/>
                <a:ea typeface="Calibri" panose="020F0502020204030204" pitchFamily="34" charset="0"/>
                <a:cs typeface="Calibri" panose="020F0502020204030204" pitchFamily="34" charset="0"/>
              </a:rPr>
              <a:t>position</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for</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label</a:t>
            </a:r>
            <a:r>
              <a:rPr lang="de-DE" altLang="de-DE" sz="900" dirty="0">
                <a:latin typeface="Calibri" panose="020F0502020204030204" pitchFamily="34" charset="0"/>
                <a:ea typeface="Calibri" panose="020F0502020204030204" pitchFamily="34" charset="0"/>
                <a:cs typeface="Calibri" panose="020F0502020204030204" pitchFamily="34" charset="0"/>
              </a:rPr>
              <a:t> on </a:t>
            </a:r>
            <a:r>
              <a:rPr lang="de-DE" altLang="de-DE" sz="900" dirty="0" err="1">
                <a:latin typeface="Calibri" panose="020F0502020204030204" pitchFamily="34" charset="0"/>
                <a:ea typeface="Calibri" panose="020F0502020204030204" pitchFamily="34" charset="0"/>
                <a:cs typeface="Calibri" panose="020F0502020204030204" pitchFamily="34" charset="0"/>
              </a:rPr>
              <a:t>the</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cable</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for</a:t>
            </a:r>
            <a:r>
              <a:rPr lang="de-DE" altLang="de-DE" sz="900" dirty="0">
                <a:latin typeface="Calibri" panose="020F0502020204030204" pitchFamily="34" charset="0"/>
                <a:ea typeface="Calibri" panose="020F0502020204030204" pitchFamily="34" charset="0"/>
                <a:cs typeface="Calibri" panose="020F0502020204030204" pitchFamily="34" charset="0"/>
              </a:rPr>
              <a:t> all </a:t>
            </a:r>
            <a:r>
              <a:rPr lang="de-DE" altLang="de-DE" sz="900" dirty="0" err="1">
                <a:latin typeface="Calibri" panose="020F0502020204030204" pitchFamily="34" charset="0"/>
                <a:ea typeface="Calibri" panose="020F0502020204030204" pitchFamily="34" charset="0"/>
                <a:cs typeface="Calibri" panose="020F0502020204030204" pitchFamily="34" charset="0"/>
              </a:rPr>
              <a:t>typs</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has</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to</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be</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defined</a:t>
            </a:r>
            <a:r>
              <a:rPr lang="de-DE" altLang="de-DE" sz="900" dirty="0">
                <a:latin typeface="Calibri" panose="020F0502020204030204" pitchFamily="34" charset="0"/>
                <a:ea typeface="Calibri" panose="020F0502020204030204" pitchFamily="34" charset="0"/>
                <a:cs typeface="Calibri" panose="020F0502020204030204" pitchFamily="34" charset="0"/>
              </a:rPr>
              <a:t>!</a:t>
            </a:r>
          </a:p>
          <a:p>
            <a:pPr marL="0" lvl="1" defTabSz="457200">
              <a:spcBef>
                <a:spcPct val="20000"/>
              </a:spcBef>
            </a:pPr>
            <a:r>
              <a:rPr lang="de-DE" altLang="de-DE" sz="900" dirty="0">
                <a:latin typeface="Calibri" panose="020F0502020204030204" pitchFamily="34" charset="0"/>
                <a:ea typeface="Calibri" panose="020F0502020204030204" pitchFamily="34" charset="0"/>
                <a:cs typeface="Calibri" panose="020F0502020204030204" pitchFamily="34" charset="0"/>
              </a:rPr>
              <a:t> </a:t>
            </a:r>
          </a:p>
        </p:txBody>
      </p:sp>
      <p:pic>
        <p:nvPicPr>
          <p:cNvPr id="5" name="Grafik 4">
            <a:extLst>
              <a:ext uri="{FF2B5EF4-FFF2-40B4-BE49-F238E27FC236}">
                <a16:creationId xmlns:a16="http://schemas.microsoft.com/office/drawing/2014/main" id="{73C7FE8E-2787-1CEE-FC93-966CFC6936CE}"/>
              </a:ext>
            </a:extLst>
          </p:cNvPr>
          <p:cNvPicPr>
            <a:picLocks noChangeAspect="1"/>
          </p:cNvPicPr>
          <p:nvPr/>
        </p:nvPicPr>
        <p:blipFill>
          <a:blip r:embed="rId2"/>
          <a:stretch>
            <a:fillRect/>
          </a:stretch>
        </p:blipFill>
        <p:spPr>
          <a:xfrm>
            <a:off x="819490" y="1067383"/>
            <a:ext cx="1220325" cy="2972584"/>
          </a:xfrm>
          <a:prstGeom prst="rect">
            <a:avLst/>
          </a:prstGeom>
        </p:spPr>
      </p:pic>
    </p:spTree>
    <p:extLst>
      <p:ext uri="{BB962C8B-B14F-4D97-AF65-F5344CB8AC3E}">
        <p14:creationId xmlns:p14="http://schemas.microsoft.com/office/powerpoint/2010/main" val="2986145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03DE95-FB7E-022C-D2AB-41D002A4A1AD}"/>
              </a:ext>
            </a:extLst>
          </p:cNvPr>
          <p:cNvSpPr>
            <a:spLocks noGrp="1"/>
          </p:cNvSpPr>
          <p:nvPr>
            <p:ph type="title"/>
          </p:nvPr>
        </p:nvSpPr>
        <p:spPr>
          <a:xfrm>
            <a:off x="3416303" y="95369"/>
            <a:ext cx="4656790" cy="265716"/>
          </a:xfrm>
        </p:spPr>
        <p:txBody>
          <a:bodyPr/>
          <a:lstStyle/>
          <a:p>
            <a:r>
              <a:rPr lang="de-DE" sz="1400" b="1" u="sng" dirty="0">
                <a:latin typeface="+mj-lt"/>
              </a:rPr>
              <a:t>Output Cable</a:t>
            </a:r>
          </a:p>
        </p:txBody>
      </p:sp>
      <p:sp>
        <p:nvSpPr>
          <p:cNvPr id="3" name="Textfeld 2">
            <a:extLst>
              <a:ext uri="{FF2B5EF4-FFF2-40B4-BE49-F238E27FC236}">
                <a16:creationId xmlns:a16="http://schemas.microsoft.com/office/drawing/2014/main" id="{14284417-AC7A-3885-A731-6936AE7F7BFB}"/>
              </a:ext>
            </a:extLst>
          </p:cNvPr>
          <p:cNvSpPr txBox="1"/>
          <p:nvPr/>
        </p:nvSpPr>
        <p:spPr>
          <a:xfrm>
            <a:off x="5083805" y="939794"/>
            <a:ext cx="6618038" cy="3865674"/>
          </a:xfrm>
          <a:prstGeom prst="rect">
            <a:avLst/>
          </a:prstGeom>
          <a:noFill/>
        </p:spPr>
        <p:txBody>
          <a:bodyPr wrap="square" rtlCol="0">
            <a:spAutoFit/>
          </a:bodyPr>
          <a:lstStyle/>
          <a:p>
            <a:r>
              <a:rPr lang="de-DE" sz="1400" b="1" u="sng" dirty="0">
                <a:latin typeface="Calibri" panose="020F0502020204030204" pitchFamily="34" charset="0"/>
                <a:ea typeface="Calibri" panose="020F0502020204030204" pitchFamily="34" charset="0"/>
                <a:cs typeface="Calibri" panose="020F0502020204030204" pitchFamily="34" charset="0"/>
              </a:rPr>
              <a:t>Station </a:t>
            </a:r>
            <a:r>
              <a:rPr lang="de-DE" sz="1400" b="1" u="sng" dirty="0" err="1">
                <a:latin typeface="Calibri" panose="020F0502020204030204" pitchFamily="34" charset="0"/>
                <a:ea typeface="Calibri" panose="020F0502020204030204" pitchFamily="34" charset="0"/>
                <a:cs typeface="Calibri" panose="020F0502020204030204" pitchFamily="34" charset="0"/>
              </a:rPr>
              <a:t>consisting</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of</a:t>
            </a:r>
            <a:r>
              <a:rPr lang="de-DE" sz="1400" b="1" u="sng" dirty="0">
                <a:latin typeface="Calibri" panose="020F0502020204030204" pitchFamily="34" charset="0"/>
                <a:ea typeface="Calibri" panose="020F0502020204030204" pitchFamily="34" charset="0"/>
                <a:cs typeface="Calibri" panose="020F0502020204030204" pitchFamily="34" charset="0"/>
              </a:rPr>
              <a:t>:</a:t>
            </a:r>
          </a:p>
          <a:p>
            <a:endParaRPr lang="de-DE" sz="8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900" dirty="0">
                <a:latin typeface="Calibri" panose="020F0502020204030204" pitchFamily="34" charset="0"/>
                <a:ea typeface="Calibri" panose="020F0502020204030204" pitchFamily="34" charset="0"/>
                <a:cs typeface="Calibri" panose="020F0502020204030204" pitchFamily="34" charset="0"/>
              </a:rPr>
              <a:t>Support unit cable</a:t>
            </a: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2x </a:t>
            </a:r>
            <a:r>
              <a:rPr lang="de-DE" sz="900" dirty="0" err="1">
                <a:solidFill>
                  <a:srgbClr val="000000"/>
                </a:solidFill>
                <a:latin typeface="CIDFont+F2"/>
              </a:rPr>
              <a:t>roller</a:t>
            </a:r>
            <a:r>
              <a:rPr lang="de-DE" sz="900" dirty="0">
                <a:solidFill>
                  <a:srgbClr val="000000"/>
                </a:solidFill>
                <a:latin typeface="CIDFont+F2"/>
              </a:rPr>
              <a:t> </a:t>
            </a:r>
            <a:r>
              <a:rPr lang="de-DE" sz="900" dirty="0" err="1">
                <a:solidFill>
                  <a:srgbClr val="000000"/>
                </a:solidFill>
                <a:latin typeface="CIDFont+F2"/>
              </a:rPr>
              <a:t>guide</a:t>
            </a:r>
            <a:r>
              <a:rPr lang="de-DE" sz="900" dirty="0">
                <a:solidFill>
                  <a:srgbClr val="000000"/>
                </a:solidFill>
                <a:latin typeface="CIDFont+F2"/>
              </a:rPr>
              <a:t> </a:t>
            </a:r>
            <a:r>
              <a:rPr lang="de-DE" sz="900" dirty="0" err="1">
                <a:solidFill>
                  <a:srgbClr val="000000"/>
                </a:solidFill>
                <a:latin typeface="CIDFont+F2"/>
              </a:rPr>
              <a:t>units</a:t>
            </a:r>
            <a:r>
              <a:rPr lang="de-DE" sz="900" dirty="0">
                <a:solidFill>
                  <a:srgbClr val="000000"/>
                </a:solidFill>
                <a:latin typeface="CIDFont+F2"/>
              </a:rPr>
              <a:t> </a:t>
            </a:r>
            <a:r>
              <a:rPr lang="de-DE" sz="900" dirty="0" err="1">
                <a:solidFill>
                  <a:srgbClr val="000000"/>
                </a:solidFill>
                <a:latin typeface="CIDFont+F2"/>
              </a:rPr>
              <a:t>pneumatically</a:t>
            </a:r>
            <a:r>
              <a:rPr lang="de-DE" sz="900" dirty="0">
                <a:solidFill>
                  <a:srgbClr val="000000"/>
                </a:solidFill>
                <a:latin typeface="CIDFont+F2"/>
              </a:rPr>
              <a:t> </a:t>
            </a:r>
            <a:r>
              <a:rPr lang="de-DE" sz="900" dirty="0" err="1">
                <a:solidFill>
                  <a:srgbClr val="000000"/>
                </a:solidFill>
                <a:latin typeface="CIDFont+F2"/>
              </a:rPr>
              <a:t>delivered</a:t>
            </a:r>
            <a:endParaRPr lang="de-DE" sz="900" dirty="0">
              <a:solidFill>
                <a:srgbClr val="000000"/>
              </a:solidFill>
              <a:latin typeface="CIDFont+F2"/>
            </a:endParaRPr>
          </a:p>
          <a:p>
            <a:pPr marL="342900" lvl="1" indent="-342900" defTabSz="457200">
              <a:spcBef>
                <a:spcPct val="20000"/>
              </a:spcBef>
              <a:buFont typeface="Arial"/>
              <a:buChar char="•"/>
            </a:pPr>
            <a:r>
              <a:rPr lang="de-DE" sz="900" dirty="0">
                <a:latin typeface="Calibri" panose="020F0502020204030204" pitchFamily="34" charset="0"/>
                <a:ea typeface="Calibri" panose="020F0502020204030204" pitchFamily="34" charset="0"/>
                <a:cs typeface="Calibri" panose="020F0502020204030204" pitchFamily="34" charset="0"/>
              </a:rPr>
              <a:t>Pull </a:t>
            </a:r>
            <a:r>
              <a:rPr lang="de-DE" sz="900" dirty="0" err="1">
                <a:latin typeface="Calibri" panose="020F0502020204030204" pitchFamily="34" charset="0"/>
                <a:ea typeface="Calibri" panose="020F0502020204030204" pitchFamily="34" charset="0"/>
                <a:cs typeface="Calibri" panose="020F0502020204030204" pitchFamily="34" charset="0"/>
              </a:rPr>
              <a:t>unit</a:t>
            </a:r>
            <a:endParaRPr lang="de-DE" sz="9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6-axis Robot with </a:t>
            </a:r>
            <a:r>
              <a:rPr lang="de-DE" sz="900" dirty="0" err="1">
                <a:solidFill>
                  <a:srgbClr val="000000"/>
                </a:solidFill>
                <a:latin typeface="CIDFont+F2"/>
              </a:rPr>
              <a:t>base</a:t>
            </a:r>
            <a:r>
              <a:rPr lang="de-DE" sz="900" dirty="0">
                <a:solidFill>
                  <a:srgbClr val="000000"/>
                </a:solidFill>
                <a:latin typeface="CIDFont+F2"/>
              </a:rPr>
              <a:t> frame</a:t>
            </a:r>
          </a:p>
          <a:p>
            <a:pPr marL="628650" lvl="1" indent="-171450" defTabSz="457200">
              <a:spcBef>
                <a:spcPct val="20000"/>
              </a:spcBef>
              <a:buFont typeface="Symbol" panose="05050102010706020507" pitchFamily="18" charset="2"/>
              <a:buChar char="-"/>
            </a:pP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gripper</a:t>
            </a:r>
            <a:endParaRPr lang="de-DE" sz="900" dirty="0">
              <a:solidFill>
                <a:srgbClr val="000000"/>
              </a:solidFill>
              <a:latin typeface="CIDFont+F2"/>
            </a:endParaRPr>
          </a:p>
          <a:p>
            <a:pPr marL="628650" lvl="1" indent="-171450" defTabSz="457200">
              <a:spcBef>
                <a:spcPct val="20000"/>
              </a:spcBef>
              <a:buFont typeface="Symbol" panose="05050102010706020507" pitchFamily="18" charset="2"/>
              <a:buChar char="-"/>
            </a:pPr>
            <a:r>
              <a:rPr lang="en-US" sz="900" dirty="0">
                <a:solidFill>
                  <a:srgbClr val="000000"/>
                </a:solidFill>
                <a:latin typeface="CIDFont+F2"/>
              </a:rPr>
              <a:t>Universal Gripper fingers for all cable types</a:t>
            </a:r>
            <a:endParaRPr lang="de-DE" sz="900" dirty="0">
              <a:solidFill>
                <a:srgbClr val="000000"/>
              </a:solidFill>
              <a:latin typeface="CIDFont+F2"/>
            </a:endParaRPr>
          </a:p>
          <a:p>
            <a:pPr marL="342900" lvl="1" indent="-342900" defTabSz="457200">
              <a:spcBef>
                <a:spcPct val="20000"/>
              </a:spcBef>
              <a:buFont typeface="Arial"/>
              <a:buChar char="•"/>
            </a:pPr>
            <a:r>
              <a:rPr lang="de-DE" sz="900" dirty="0">
                <a:latin typeface="Calibri" panose="020F0502020204030204" pitchFamily="34" charset="0"/>
                <a:ea typeface="Calibri" panose="020F0502020204030204" pitchFamily="34" charset="0"/>
                <a:cs typeface="Calibri" panose="020F0502020204030204" pitchFamily="34" charset="0"/>
              </a:rPr>
              <a:t>Opener Unit </a:t>
            </a:r>
            <a:r>
              <a:rPr lang="de-DE" sz="900" dirty="0" err="1">
                <a:latin typeface="Calibri" panose="020F0502020204030204" pitchFamily="34" charset="0"/>
                <a:ea typeface="Calibri" panose="020F0502020204030204" pitchFamily="34" charset="0"/>
                <a:cs typeface="Calibri" panose="020F0502020204030204" pitchFamily="34" charset="0"/>
              </a:rPr>
              <a:t>for</a:t>
            </a:r>
            <a:r>
              <a:rPr lang="de-DE" sz="900" dirty="0">
                <a:latin typeface="Calibri" panose="020F0502020204030204" pitchFamily="34" charset="0"/>
                <a:ea typeface="Calibri" panose="020F0502020204030204" pitchFamily="34" charset="0"/>
                <a:cs typeface="Calibri" panose="020F0502020204030204" pitchFamily="34" charset="0"/>
              </a:rPr>
              <a:t> WPC</a:t>
            </a:r>
          </a:p>
          <a:p>
            <a:pPr marL="628650" lvl="1" indent="-171450" defTabSz="457200">
              <a:spcBef>
                <a:spcPct val="20000"/>
              </a:spcBef>
              <a:buFont typeface="Symbol" panose="05050102010706020507" pitchFamily="18" charset="2"/>
              <a:buChar char="-"/>
            </a:pPr>
            <a:r>
              <a:rPr lang="de-DE" sz="900" dirty="0">
                <a:solidFill>
                  <a:srgbClr val="000000"/>
                </a:solidFill>
                <a:latin typeface="CIDFont+F2"/>
              </a:rPr>
              <a:t>2x </a:t>
            </a:r>
            <a:r>
              <a:rPr lang="de-DE" sz="900" dirty="0" err="1">
                <a:solidFill>
                  <a:srgbClr val="000000"/>
                </a:solidFill>
                <a:latin typeface="CIDFont+F2"/>
              </a:rPr>
              <a:t>pneumatic</a:t>
            </a:r>
            <a:r>
              <a:rPr lang="de-DE" sz="900" dirty="0">
                <a:solidFill>
                  <a:srgbClr val="000000"/>
                </a:solidFill>
                <a:latin typeface="CIDFont+F2"/>
              </a:rPr>
              <a:t> </a:t>
            </a:r>
            <a:r>
              <a:rPr lang="de-DE" sz="900" dirty="0" err="1">
                <a:solidFill>
                  <a:srgbClr val="000000"/>
                </a:solidFill>
                <a:latin typeface="CIDFont+F2"/>
              </a:rPr>
              <a:t>cylinders</a:t>
            </a:r>
            <a:r>
              <a:rPr lang="de-DE" sz="900" dirty="0">
                <a:solidFill>
                  <a:srgbClr val="000000"/>
                </a:solidFill>
                <a:latin typeface="CIDFont+F2"/>
              </a:rPr>
              <a:t> </a:t>
            </a:r>
            <a:r>
              <a:rPr lang="de-DE" sz="900" dirty="0" err="1">
                <a:solidFill>
                  <a:srgbClr val="000000"/>
                </a:solidFill>
                <a:latin typeface="CIDFont+F2"/>
              </a:rPr>
              <a:t>to</a:t>
            </a:r>
            <a:r>
              <a:rPr lang="de-DE" sz="900" dirty="0">
                <a:solidFill>
                  <a:srgbClr val="000000"/>
                </a:solidFill>
                <a:latin typeface="CIDFont+F2"/>
              </a:rPr>
              <a:t> open </a:t>
            </a:r>
            <a:r>
              <a:rPr lang="de-DE" sz="900" dirty="0" err="1">
                <a:solidFill>
                  <a:srgbClr val="000000"/>
                </a:solidFill>
                <a:latin typeface="CIDFont+F2"/>
              </a:rPr>
              <a:t>the</a:t>
            </a:r>
            <a:r>
              <a:rPr lang="de-DE" sz="900" dirty="0">
                <a:solidFill>
                  <a:srgbClr val="000000"/>
                </a:solidFill>
                <a:latin typeface="CIDFont+F2"/>
              </a:rPr>
              <a:t> </a:t>
            </a:r>
            <a:r>
              <a:rPr lang="de-DE" sz="900" dirty="0" err="1">
                <a:solidFill>
                  <a:srgbClr val="000000"/>
                </a:solidFill>
                <a:latin typeface="CIDFont+F2"/>
              </a:rPr>
              <a:t>gripper</a:t>
            </a:r>
            <a:r>
              <a:rPr lang="de-DE" sz="900" dirty="0">
                <a:solidFill>
                  <a:srgbClr val="000000"/>
                </a:solidFill>
                <a:latin typeface="CIDFont+F2"/>
              </a:rPr>
              <a:t> </a:t>
            </a:r>
            <a:r>
              <a:rPr lang="de-DE" sz="900" dirty="0" err="1">
                <a:solidFill>
                  <a:srgbClr val="000000"/>
                </a:solidFill>
                <a:latin typeface="CIDFont+F2"/>
              </a:rPr>
              <a:t>jaws</a:t>
            </a:r>
            <a:r>
              <a:rPr lang="de-DE" sz="900" dirty="0">
                <a:solidFill>
                  <a:srgbClr val="000000"/>
                </a:solidFill>
                <a:latin typeface="CIDFont+F2"/>
              </a:rPr>
              <a:t> on </a:t>
            </a:r>
            <a:r>
              <a:rPr lang="de-DE" sz="900" dirty="0" err="1">
                <a:solidFill>
                  <a:srgbClr val="000000"/>
                </a:solidFill>
                <a:latin typeface="CIDFont+F2"/>
              </a:rPr>
              <a:t>the</a:t>
            </a:r>
            <a:r>
              <a:rPr lang="de-DE" sz="900" dirty="0">
                <a:solidFill>
                  <a:srgbClr val="000000"/>
                </a:solidFill>
                <a:latin typeface="CIDFont+F2"/>
              </a:rPr>
              <a:t> WPC</a:t>
            </a: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Catch Tray NOK </a:t>
            </a:r>
            <a:r>
              <a:rPr lang="de-DE" altLang="de-DE" sz="900" dirty="0" err="1">
                <a:latin typeface="Calibri" panose="020F0502020204030204" pitchFamily="34" charset="0"/>
                <a:ea typeface="Calibri" panose="020F0502020204030204" pitchFamily="34" charset="0"/>
                <a:cs typeface="Calibri" panose="020F0502020204030204" pitchFamily="34" charset="0"/>
              </a:rPr>
              <a:t>cable</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Catch Tray OK </a:t>
            </a:r>
            <a:r>
              <a:rPr lang="de-DE" altLang="de-DE" sz="900" dirty="0" err="1">
                <a:latin typeface="Calibri" panose="020F0502020204030204" pitchFamily="34" charset="0"/>
                <a:ea typeface="Calibri" panose="020F0502020204030204" pitchFamily="34" charset="0"/>
                <a:cs typeface="Calibri" panose="020F0502020204030204" pitchFamily="34" charset="0"/>
              </a:rPr>
              <a:t>cable</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for</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cable</a:t>
            </a:r>
            <a:r>
              <a:rPr lang="de-DE" altLang="de-DE" sz="900" dirty="0">
                <a:latin typeface="Calibri" panose="020F0502020204030204" pitchFamily="34" charset="0"/>
                <a:ea typeface="Calibri" panose="020F0502020204030204" pitchFamily="34" charset="0"/>
                <a:cs typeface="Calibri" panose="020F0502020204030204" pitchFamily="34" charset="0"/>
              </a:rPr>
              <a:t> &gt; 350mm</a:t>
            </a:r>
          </a:p>
          <a:p>
            <a:pPr marL="342900" lvl="1" indent="-342900" defTabSz="457200">
              <a:spcBef>
                <a:spcPct val="20000"/>
              </a:spcBef>
              <a:buFont typeface="Arial"/>
              <a:buChar char="•"/>
            </a:pPr>
            <a:r>
              <a:rPr lang="de-DE" altLang="de-DE" sz="900" dirty="0" err="1">
                <a:latin typeface="Calibri" panose="020F0502020204030204" pitchFamily="34" charset="0"/>
                <a:ea typeface="Calibri" panose="020F0502020204030204" pitchFamily="34" charset="0"/>
                <a:cs typeface="Calibri" panose="020F0502020204030204" pitchFamily="34" charset="0"/>
              </a:rPr>
              <a:t>Conveyor</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system</a:t>
            </a:r>
            <a:r>
              <a:rPr lang="de-DE" altLang="de-DE" sz="900" dirty="0">
                <a:latin typeface="Calibri" panose="020F0502020204030204" pitchFamily="34" charset="0"/>
                <a:ea typeface="Calibri" panose="020F0502020204030204" pitchFamily="34" charset="0"/>
                <a:cs typeface="Calibri" panose="020F0502020204030204" pitchFamily="34" charset="0"/>
              </a:rPr>
              <a:t> </a:t>
            </a:r>
          </a:p>
          <a:p>
            <a:pPr marL="800100" lvl="2" indent="-342900" defTabSz="457200">
              <a:spcBef>
                <a:spcPct val="20000"/>
              </a:spcBef>
              <a:buFont typeface="Arial"/>
              <a:buChar char="•"/>
            </a:pPr>
            <a:r>
              <a:rPr lang="de-DE" altLang="de-DE" sz="900" dirty="0" err="1">
                <a:latin typeface="Calibri" panose="020F0502020204030204" pitchFamily="34" charset="0"/>
                <a:ea typeface="Calibri" panose="020F0502020204030204" pitchFamily="34" charset="0"/>
                <a:cs typeface="Calibri" panose="020F0502020204030204" pitchFamily="34" charset="0"/>
              </a:rPr>
              <a:t>for</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standard</a:t>
            </a:r>
            <a:r>
              <a:rPr lang="de-DE" altLang="de-DE" sz="900" dirty="0">
                <a:latin typeface="Calibri" panose="020F0502020204030204" pitchFamily="34" charset="0"/>
                <a:ea typeface="Calibri" panose="020F0502020204030204" pitchFamily="34" charset="0"/>
                <a:cs typeface="Calibri" panose="020F0502020204030204" pitchFamily="34" charset="0"/>
              </a:rPr>
              <a:t> KLT </a:t>
            </a:r>
            <a:r>
              <a:rPr lang="de-DE" altLang="de-DE" sz="900" dirty="0" err="1">
                <a:latin typeface="Calibri" panose="020F0502020204030204" pitchFamily="34" charset="0"/>
                <a:ea typeface="Calibri" panose="020F0502020204030204" pitchFamily="34" charset="0"/>
                <a:cs typeface="Calibri" panose="020F0502020204030204" pitchFamily="34" charset="0"/>
              </a:rPr>
              <a:t>containers</a:t>
            </a:r>
            <a:r>
              <a:rPr lang="de-DE" altLang="de-DE" sz="900" dirty="0">
                <a:latin typeface="Calibri" panose="020F0502020204030204" pitchFamily="34" charset="0"/>
                <a:ea typeface="Calibri" panose="020F0502020204030204" pitchFamily="34" charset="0"/>
                <a:cs typeface="Calibri" panose="020F0502020204030204" pitchFamily="34" charset="0"/>
              </a:rPr>
              <a:t> with a </a:t>
            </a:r>
            <a:r>
              <a:rPr lang="de-DE" altLang="de-DE" sz="900" dirty="0" err="1">
                <a:latin typeface="Calibri" panose="020F0502020204030204" pitchFamily="34" charset="0"/>
                <a:ea typeface="Calibri" panose="020F0502020204030204" pitchFamily="34" charset="0"/>
                <a:cs typeface="Calibri" panose="020F0502020204030204" pitchFamily="34" charset="0"/>
              </a:rPr>
              <a:t>size</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of</a:t>
            </a:r>
            <a:r>
              <a:rPr lang="de-DE" altLang="de-DE" sz="900" dirty="0">
                <a:latin typeface="Calibri" panose="020F0502020204030204" pitchFamily="34" charset="0"/>
                <a:ea typeface="Calibri" panose="020F0502020204030204" pitchFamily="34" charset="0"/>
                <a:cs typeface="Calibri" panose="020F0502020204030204" pitchFamily="34" charset="0"/>
              </a:rPr>
              <a:t>  300x400x300mm</a:t>
            </a:r>
          </a:p>
          <a:p>
            <a:pPr marL="800100" lvl="2"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4 </a:t>
            </a:r>
            <a:r>
              <a:rPr lang="de-DE" altLang="de-DE" sz="900" dirty="0" err="1">
                <a:latin typeface="Calibri" panose="020F0502020204030204" pitchFamily="34" charset="0"/>
                <a:ea typeface="Calibri" panose="020F0502020204030204" pitchFamily="34" charset="0"/>
                <a:cs typeface="Calibri" panose="020F0502020204030204" pitchFamily="34" charset="0"/>
              </a:rPr>
              <a:t>empty</a:t>
            </a:r>
            <a:r>
              <a:rPr lang="de-DE" altLang="de-DE" sz="900" dirty="0">
                <a:latin typeface="Calibri" panose="020F0502020204030204" pitchFamily="34" charset="0"/>
                <a:ea typeface="Calibri" panose="020F0502020204030204" pitchFamily="34" charset="0"/>
                <a:cs typeface="Calibri" panose="020F0502020204030204" pitchFamily="34" charset="0"/>
              </a:rPr>
              <a:t> KLTs </a:t>
            </a:r>
            <a:r>
              <a:rPr lang="de-DE" altLang="de-DE" sz="900" dirty="0" err="1">
                <a:latin typeface="Calibri" panose="020F0502020204030204" pitchFamily="34" charset="0"/>
                <a:ea typeface="Calibri" panose="020F0502020204030204" pitchFamily="34" charset="0"/>
                <a:cs typeface="Calibri" panose="020F0502020204030204" pitchFamily="34" charset="0"/>
              </a:rPr>
              <a:t>before</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the</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loading</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station</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a:p>
            <a:pPr marL="800100" lvl="2"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4 </a:t>
            </a:r>
            <a:r>
              <a:rPr lang="de-DE" altLang="de-DE" sz="900" dirty="0" err="1">
                <a:latin typeface="Calibri" panose="020F0502020204030204" pitchFamily="34" charset="0"/>
                <a:ea typeface="Calibri" panose="020F0502020204030204" pitchFamily="34" charset="0"/>
                <a:cs typeface="Calibri" panose="020F0502020204030204" pitchFamily="34" charset="0"/>
              </a:rPr>
              <a:t>full</a:t>
            </a:r>
            <a:r>
              <a:rPr lang="de-DE" altLang="de-DE" sz="900" dirty="0">
                <a:latin typeface="Calibri" panose="020F0502020204030204" pitchFamily="34" charset="0"/>
                <a:ea typeface="Calibri" panose="020F0502020204030204" pitchFamily="34" charset="0"/>
                <a:cs typeface="Calibri" panose="020F0502020204030204" pitchFamily="34" charset="0"/>
              </a:rPr>
              <a:t> KLTs after </a:t>
            </a:r>
            <a:r>
              <a:rPr lang="de-DE" altLang="de-DE" sz="900" dirty="0" err="1">
                <a:latin typeface="Calibri" panose="020F0502020204030204" pitchFamily="34" charset="0"/>
                <a:ea typeface="Calibri" panose="020F0502020204030204" pitchFamily="34" charset="0"/>
                <a:cs typeface="Calibri" panose="020F0502020204030204" pitchFamily="34" charset="0"/>
              </a:rPr>
              <a:t>the</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loading</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station</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a:p>
            <a:pPr marL="800100" lvl="2"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KLTs </a:t>
            </a:r>
            <a:r>
              <a:rPr lang="de-DE" altLang="de-DE" sz="900" dirty="0" err="1">
                <a:latin typeface="Calibri" panose="020F0502020204030204" pitchFamily="34" charset="0"/>
                <a:ea typeface="Calibri" panose="020F0502020204030204" pitchFamily="34" charset="0"/>
                <a:cs typeface="Calibri" panose="020F0502020204030204" pitchFamily="34" charset="0"/>
              </a:rPr>
              <a:t>must</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be</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removed</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from</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the</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transfer</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belt</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by</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hand</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a:p>
            <a:pPr marL="800100" lvl="2"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Stopp </a:t>
            </a:r>
            <a:r>
              <a:rPr lang="de-DE" altLang="de-DE" sz="900" dirty="0" err="1">
                <a:latin typeface="Calibri" panose="020F0502020204030204" pitchFamily="34" charset="0"/>
                <a:ea typeface="Calibri" panose="020F0502020204030204" pitchFamily="34" charset="0"/>
                <a:cs typeface="Calibri" panose="020F0502020204030204" pitchFamily="34" charset="0"/>
              </a:rPr>
              <a:t>position</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for</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the</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loading</a:t>
            </a:r>
            <a:r>
              <a:rPr lang="de-DE" altLang="de-DE" sz="900" dirty="0">
                <a:latin typeface="Calibri" panose="020F0502020204030204" pitchFamily="34" charset="0"/>
                <a:ea typeface="Calibri" panose="020F0502020204030204" pitchFamily="34" charset="0"/>
                <a:cs typeface="Calibri" panose="020F0502020204030204" pitchFamily="34" charset="0"/>
              </a:rPr>
              <a:t> </a:t>
            </a:r>
            <a:r>
              <a:rPr lang="de-DE" altLang="de-DE" sz="900" dirty="0" err="1">
                <a:latin typeface="Calibri" panose="020F0502020204030204" pitchFamily="34" charset="0"/>
                <a:ea typeface="Calibri" panose="020F0502020204030204" pitchFamily="34" charset="0"/>
                <a:cs typeface="Calibri" panose="020F0502020204030204" pitchFamily="34" charset="0"/>
              </a:rPr>
              <a:t>station</a:t>
            </a:r>
            <a:endParaRPr lang="de-DE" altLang="de-DE" sz="900" dirty="0">
              <a:latin typeface="Calibri" panose="020F0502020204030204" pitchFamily="34" charset="0"/>
              <a:ea typeface="Calibri" panose="020F0502020204030204" pitchFamily="34" charset="0"/>
              <a:cs typeface="Calibri" panose="020F0502020204030204" pitchFamily="34" charset="0"/>
            </a:endParaRPr>
          </a:p>
          <a:p>
            <a:pPr marL="342900" lvl="1" indent="-342900" defTabSz="457200">
              <a:spcBef>
                <a:spcPct val="20000"/>
              </a:spcBef>
              <a:buFont typeface="Arial"/>
              <a:buChar char="•"/>
            </a:pPr>
            <a:r>
              <a:rPr lang="de-DE" altLang="de-DE" sz="900" dirty="0">
                <a:latin typeface="Calibri" panose="020F0502020204030204" pitchFamily="34" charset="0"/>
                <a:ea typeface="Calibri" panose="020F0502020204030204" pitchFamily="34" charset="0"/>
                <a:cs typeface="Calibri" panose="020F0502020204030204" pitchFamily="34" charset="0"/>
              </a:rPr>
              <a:t>Base frame </a:t>
            </a:r>
            <a:endParaRPr lang="de-DE" altLang="de-DE" sz="900" dirty="0">
              <a:solidFill>
                <a:srgbClr val="000000"/>
              </a:solidFill>
              <a:latin typeface="CIDFont+F2"/>
              <a:ea typeface="Calibri" panose="020F0502020204030204" pitchFamily="34" charset="0"/>
              <a:cs typeface="Calibri" panose="020F0502020204030204" pitchFamily="34" charset="0"/>
            </a:endParaRPr>
          </a:p>
          <a:p>
            <a:pPr marL="0" lvl="1" defTabSz="457200">
              <a:spcBef>
                <a:spcPct val="20000"/>
              </a:spcBef>
            </a:pPr>
            <a:endParaRPr lang="de-DE" altLang="de-DE" sz="900" dirty="0">
              <a:solidFill>
                <a:srgbClr val="000000"/>
              </a:solidFill>
              <a:latin typeface="CIDFont+F2"/>
              <a:ea typeface="Calibri" panose="020F0502020204030204" pitchFamily="34" charset="0"/>
              <a:cs typeface="Calibri" panose="020F0502020204030204" pitchFamily="34" charset="0"/>
            </a:endParaRPr>
          </a:p>
          <a:p>
            <a:r>
              <a:rPr lang="de-DE" altLang="de-DE" sz="900" dirty="0"/>
              <a:t>Note: Cables </a:t>
            </a:r>
            <a:r>
              <a:rPr lang="de-DE" altLang="de-DE" sz="900" dirty="0" err="1"/>
              <a:t>up</a:t>
            </a:r>
            <a:r>
              <a:rPr lang="de-DE" altLang="de-DE" sz="900" dirty="0"/>
              <a:t> to </a:t>
            </a:r>
            <a:r>
              <a:rPr lang="de-DE" altLang="de-DE" sz="900" dirty="0" err="1"/>
              <a:t>about</a:t>
            </a:r>
            <a:r>
              <a:rPr lang="de-DE" altLang="de-DE" sz="900" dirty="0"/>
              <a:t> 350mm </a:t>
            </a:r>
            <a:r>
              <a:rPr lang="de-DE" altLang="de-DE" sz="900" dirty="0" err="1"/>
              <a:t>are</a:t>
            </a:r>
            <a:r>
              <a:rPr lang="de-DE" altLang="de-DE" sz="900" dirty="0"/>
              <a:t> </a:t>
            </a:r>
            <a:r>
              <a:rPr lang="de-DE" altLang="de-DE" sz="900" dirty="0" err="1"/>
              <a:t>delivered</a:t>
            </a:r>
            <a:r>
              <a:rPr lang="de-DE" altLang="de-DE" sz="900" dirty="0"/>
              <a:t> to </a:t>
            </a:r>
            <a:r>
              <a:rPr lang="de-DE" altLang="de-DE" sz="900" dirty="0" err="1"/>
              <a:t>the</a:t>
            </a:r>
            <a:r>
              <a:rPr lang="de-DE" altLang="de-DE" sz="900" dirty="0"/>
              <a:t> KTL </a:t>
            </a:r>
            <a:r>
              <a:rPr lang="de-DE" altLang="de-DE" sz="900" dirty="0" err="1"/>
              <a:t>containers</a:t>
            </a:r>
            <a:r>
              <a:rPr lang="de-DE" altLang="de-DE" sz="900" dirty="0"/>
              <a:t>. </a:t>
            </a:r>
            <a:r>
              <a:rPr lang="de-DE" altLang="de-DE" sz="900" dirty="0" err="1"/>
              <a:t>Longer</a:t>
            </a:r>
            <a:r>
              <a:rPr lang="de-DE" altLang="de-DE" sz="900" dirty="0"/>
              <a:t> </a:t>
            </a:r>
            <a:r>
              <a:rPr lang="de-DE" altLang="de-DE" sz="900" dirty="0" err="1"/>
              <a:t>cables</a:t>
            </a:r>
            <a:r>
              <a:rPr lang="de-DE" altLang="de-DE" sz="900" dirty="0"/>
              <a:t> </a:t>
            </a:r>
            <a:r>
              <a:rPr lang="de-DE" altLang="de-DE" sz="900" dirty="0" err="1"/>
              <a:t>are</a:t>
            </a:r>
            <a:r>
              <a:rPr lang="de-DE" altLang="de-DE" sz="900" dirty="0"/>
              <a:t> </a:t>
            </a:r>
            <a:r>
              <a:rPr lang="de-DE" altLang="de-DE" sz="900" dirty="0" err="1"/>
              <a:t>delivered</a:t>
            </a:r>
            <a:r>
              <a:rPr lang="de-DE" altLang="de-DE" sz="900" dirty="0"/>
              <a:t> to </a:t>
            </a:r>
            <a:r>
              <a:rPr lang="de-DE" altLang="de-DE" sz="900" dirty="0" err="1"/>
              <a:t>the</a:t>
            </a:r>
            <a:r>
              <a:rPr lang="de-DE" altLang="de-DE" sz="900" dirty="0"/>
              <a:t> </a:t>
            </a:r>
            <a:r>
              <a:rPr lang="de-DE" altLang="de-DE" sz="900" dirty="0" err="1"/>
              <a:t>cable</a:t>
            </a:r>
            <a:r>
              <a:rPr lang="de-DE" altLang="de-DE" sz="900" dirty="0"/>
              <a:t> catch </a:t>
            </a:r>
            <a:r>
              <a:rPr lang="de-DE" altLang="de-DE" sz="900" dirty="0" err="1"/>
              <a:t>tray</a:t>
            </a:r>
            <a:r>
              <a:rPr lang="de-DE" altLang="de-DE" sz="900" dirty="0"/>
              <a:t> and have to </a:t>
            </a:r>
            <a:r>
              <a:rPr lang="de-DE" altLang="de-DE" sz="900" dirty="0" err="1"/>
              <a:t>be</a:t>
            </a:r>
            <a:r>
              <a:rPr lang="de-DE" altLang="de-DE" sz="900" dirty="0"/>
              <a:t> </a:t>
            </a:r>
            <a:r>
              <a:rPr lang="de-DE" altLang="de-DE" sz="900" dirty="0" err="1"/>
              <a:t>unloaded</a:t>
            </a:r>
            <a:r>
              <a:rPr lang="de-DE" altLang="de-DE" sz="900" dirty="0"/>
              <a:t> </a:t>
            </a:r>
            <a:r>
              <a:rPr lang="de-DE" altLang="de-DE" sz="900" dirty="0" err="1"/>
              <a:t>manually</a:t>
            </a:r>
            <a:r>
              <a:rPr lang="de-DE" altLang="de-DE" sz="900" dirty="0"/>
              <a:t>. </a:t>
            </a:r>
          </a:p>
          <a:p>
            <a:pPr marL="0" lvl="1" defTabSz="457200">
              <a:spcBef>
                <a:spcPct val="20000"/>
              </a:spcBef>
            </a:pPr>
            <a:endParaRPr lang="de-DE" altLang="de-DE" sz="900" dirty="0">
              <a:latin typeface="Calibri" panose="020F0502020204030204" pitchFamily="34" charset="0"/>
              <a:ea typeface="Calibri" panose="020F0502020204030204" pitchFamily="34" charset="0"/>
              <a:cs typeface="Calibri" panose="020F0502020204030204" pitchFamily="34" charset="0"/>
            </a:endParaRPr>
          </a:p>
        </p:txBody>
      </p:sp>
      <p:pic>
        <p:nvPicPr>
          <p:cNvPr id="5" name="Grafik 4">
            <a:extLst>
              <a:ext uri="{FF2B5EF4-FFF2-40B4-BE49-F238E27FC236}">
                <a16:creationId xmlns:a16="http://schemas.microsoft.com/office/drawing/2014/main" id="{D0A713BE-176E-136C-55F7-D9AB441E2107}"/>
              </a:ext>
            </a:extLst>
          </p:cNvPr>
          <p:cNvPicPr>
            <a:picLocks noChangeAspect="1"/>
          </p:cNvPicPr>
          <p:nvPr/>
        </p:nvPicPr>
        <p:blipFill>
          <a:blip r:embed="rId2"/>
          <a:stretch>
            <a:fillRect/>
          </a:stretch>
        </p:blipFill>
        <p:spPr>
          <a:xfrm>
            <a:off x="1052144" y="872288"/>
            <a:ext cx="2573550" cy="4999121"/>
          </a:xfrm>
          <a:prstGeom prst="rect">
            <a:avLst/>
          </a:prstGeom>
        </p:spPr>
      </p:pic>
    </p:spTree>
    <p:extLst>
      <p:ext uri="{BB962C8B-B14F-4D97-AF65-F5344CB8AC3E}">
        <p14:creationId xmlns:p14="http://schemas.microsoft.com/office/powerpoint/2010/main" val="2035680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DCE21EE6-9BB4-1BAA-E01C-61FF9631B007}"/>
              </a:ext>
            </a:extLst>
          </p:cNvPr>
          <p:cNvPicPr>
            <a:picLocks noChangeAspect="1"/>
          </p:cNvPicPr>
          <p:nvPr/>
        </p:nvPicPr>
        <p:blipFill>
          <a:blip r:embed="rId2"/>
          <a:stretch>
            <a:fillRect/>
          </a:stretch>
        </p:blipFill>
        <p:spPr>
          <a:xfrm>
            <a:off x="7905750" y="2019730"/>
            <a:ext cx="3561278" cy="1681877"/>
          </a:xfrm>
          <a:prstGeom prst="rect">
            <a:avLst/>
          </a:prstGeom>
        </p:spPr>
      </p:pic>
      <p:sp>
        <p:nvSpPr>
          <p:cNvPr id="7" name="Textfeld 6">
            <a:extLst>
              <a:ext uri="{FF2B5EF4-FFF2-40B4-BE49-F238E27FC236}">
                <a16:creationId xmlns:a16="http://schemas.microsoft.com/office/drawing/2014/main" id="{21ED8AA6-BA06-3078-2F8D-67392B0E732A}"/>
              </a:ext>
            </a:extLst>
          </p:cNvPr>
          <p:cNvSpPr txBox="1"/>
          <p:nvPr/>
        </p:nvSpPr>
        <p:spPr>
          <a:xfrm>
            <a:off x="5162998" y="910345"/>
            <a:ext cx="6618038" cy="4170372"/>
          </a:xfrm>
          <a:prstGeom prst="rect">
            <a:avLst/>
          </a:prstGeom>
          <a:noFill/>
        </p:spPr>
        <p:txBody>
          <a:bodyPr wrap="square" rtlCol="0">
            <a:spAutoFit/>
          </a:bodyPr>
          <a:lstStyle/>
          <a:p>
            <a:r>
              <a:rPr lang="de-DE" sz="1600" b="1" u="sng" dirty="0">
                <a:latin typeface="Calibri" panose="020F0502020204030204" pitchFamily="34" charset="0"/>
                <a:ea typeface="Calibri" panose="020F0502020204030204" pitchFamily="34" charset="0"/>
                <a:cs typeface="Calibri" panose="020F0502020204030204" pitchFamily="34" charset="0"/>
              </a:rPr>
              <a:t>Station </a:t>
            </a:r>
            <a:r>
              <a:rPr lang="de-DE" sz="1600" b="1" u="sng" dirty="0" err="1">
                <a:latin typeface="Calibri" panose="020F0502020204030204" pitchFamily="34" charset="0"/>
                <a:ea typeface="Calibri" panose="020F0502020204030204" pitchFamily="34" charset="0"/>
                <a:cs typeface="Calibri" panose="020F0502020204030204" pitchFamily="34" charset="0"/>
              </a:rPr>
              <a:t>consisting</a:t>
            </a:r>
            <a:r>
              <a:rPr lang="de-DE" sz="1600" b="1" u="sng" dirty="0">
                <a:latin typeface="Calibri" panose="020F0502020204030204" pitchFamily="34" charset="0"/>
                <a:ea typeface="Calibri" panose="020F0502020204030204" pitchFamily="34" charset="0"/>
                <a:cs typeface="Calibri" panose="020F0502020204030204" pitchFamily="34" charset="0"/>
              </a:rPr>
              <a:t> </a:t>
            </a:r>
            <a:r>
              <a:rPr lang="de-DE" sz="1600" b="1" u="sng" dirty="0" err="1">
                <a:latin typeface="Calibri" panose="020F0502020204030204" pitchFamily="34" charset="0"/>
                <a:ea typeface="Calibri" panose="020F0502020204030204" pitchFamily="34" charset="0"/>
                <a:cs typeface="Calibri" panose="020F0502020204030204" pitchFamily="34" charset="0"/>
              </a:rPr>
              <a:t>of</a:t>
            </a:r>
            <a:r>
              <a:rPr lang="de-DE" sz="1600" b="1" u="sng" dirty="0">
                <a:latin typeface="Calibri" panose="020F0502020204030204" pitchFamily="34" charset="0"/>
                <a:ea typeface="Calibri" panose="020F0502020204030204" pitchFamily="34" charset="0"/>
                <a:cs typeface="Calibri" panose="020F0502020204030204" pitchFamily="34" charset="0"/>
              </a:rPr>
              <a:t>:</a:t>
            </a:r>
          </a:p>
          <a:p>
            <a:endParaRPr lang="de-DE" sz="900" dirty="0">
              <a:latin typeface="Calibri" panose="020F0502020204030204" pitchFamily="34" charset="0"/>
              <a:ea typeface="Calibri" panose="020F0502020204030204" pitchFamily="34" charset="0"/>
              <a:cs typeface="Calibri" panose="020F0502020204030204" pitchFamily="34" charset="0"/>
            </a:endParaRPr>
          </a:p>
          <a:p>
            <a:pPr marL="342900"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Transfer system</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Linear conveyor system</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21 process points</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Siemens SINAMICS S120</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Gear PSC_080H</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300mm stroke</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600ms cycle time</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Vertical orientation</a:t>
            </a:r>
          </a:p>
          <a:p>
            <a:pPr marL="628650" lvl="1" indent="-171450" defTabSz="457200">
              <a:spcBef>
                <a:spcPct val="20000"/>
              </a:spcBef>
              <a:buFont typeface="Symbol" panose="05050102010706020507" pitchFamily="18" charset="2"/>
              <a:buChar char="-"/>
            </a:pPr>
            <a:r>
              <a:rPr lang="en-US" sz="1000" dirty="0">
                <a:solidFill>
                  <a:srgbClr val="000000"/>
                </a:solidFill>
                <a:latin typeface="CIDFont+F2"/>
              </a:rPr>
              <a:t>Mounting bracket for vertical installation</a:t>
            </a:r>
          </a:p>
          <a:p>
            <a:pPr marL="342900" lvl="1" indent="-342900" defTabSz="457200">
              <a:spcBef>
                <a:spcPct val="20000"/>
              </a:spcBef>
              <a:buFont typeface="Arial"/>
              <a:buChar char="•"/>
            </a:pPr>
            <a:r>
              <a:rPr lang="en-US" sz="1000" dirty="0">
                <a:latin typeface="Calibri" panose="020F0502020204030204" pitchFamily="34" charset="0"/>
                <a:ea typeface="Calibri" panose="020F0502020204030204" pitchFamily="34" charset="0"/>
                <a:cs typeface="Calibri" panose="020F0502020204030204" pitchFamily="34" charset="0"/>
              </a:rPr>
              <a:t>Base frame</a:t>
            </a:r>
          </a:p>
          <a:p>
            <a:pPr marL="628650" lvl="1" indent="-171450" defTabSz="457200">
              <a:spcBef>
                <a:spcPct val="20000"/>
              </a:spcBef>
              <a:buFont typeface="Symbol" panose="05050102010706020507" pitchFamily="18" charset="2"/>
              <a:buChar char="-"/>
            </a:pPr>
            <a:r>
              <a:rPr lang="de-DE" altLang="de-DE" sz="1000" dirty="0">
                <a:solidFill>
                  <a:srgbClr val="000000"/>
                </a:solidFill>
                <a:latin typeface="CIDFont+F2"/>
              </a:rPr>
              <a:t>Welding </a:t>
            </a:r>
            <a:r>
              <a:rPr lang="de-DE" altLang="de-DE" sz="1000" dirty="0" err="1">
                <a:solidFill>
                  <a:srgbClr val="000000"/>
                </a:solidFill>
                <a:latin typeface="CIDFont+F2"/>
              </a:rPr>
              <a:t>console</a:t>
            </a:r>
            <a:endParaRPr lang="de-DE" altLang="de-DE" sz="10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1000" dirty="0" err="1">
                <a:solidFill>
                  <a:srgbClr val="000000"/>
                </a:solidFill>
                <a:latin typeface="CIDFont+F2"/>
              </a:rPr>
              <a:t>Firmly</a:t>
            </a:r>
            <a:r>
              <a:rPr lang="de-DE" sz="1000" dirty="0">
                <a:solidFill>
                  <a:srgbClr val="000000"/>
                </a:solidFill>
                <a:latin typeface="CIDFont+F2"/>
              </a:rPr>
              <a:t> </a:t>
            </a:r>
            <a:r>
              <a:rPr lang="de-DE" sz="1000" dirty="0" err="1">
                <a:solidFill>
                  <a:srgbClr val="000000"/>
                </a:solidFill>
                <a:latin typeface="CIDFont+F2"/>
              </a:rPr>
              <a:t>anchored</a:t>
            </a:r>
            <a:r>
              <a:rPr lang="de-DE" sz="1000" dirty="0">
                <a:solidFill>
                  <a:srgbClr val="000000"/>
                </a:solidFill>
                <a:latin typeface="CIDFont+F2"/>
              </a:rPr>
              <a:t> on </a:t>
            </a:r>
            <a:r>
              <a:rPr lang="de-DE" sz="1000" dirty="0" err="1">
                <a:solidFill>
                  <a:srgbClr val="000000"/>
                </a:solidFill>
                <a:latin typeface="CIDFont+F2"/>
              </a:rPr>
              <a:t>the</a:t>
            </a:r>
            <a:r>
              <a:rPr lang="de-DE" sz="1000" dirty="0">
                <a:solidFill>
                  <a:srgbClr val="000000"/>
                </a:solidFill>
                <a:latin typeface="CIDFont+F2"/>
              </a:rPr>
              <a:t> </a:t>
            </a:r>
            <a:r>
              <a:rPr lang="de-DE" sz="1000" dirty="0" err="1">
                <a:solidFill>
                  <a:srgbClr val="000000"/>
                </a:solidFill>
                <a:latin typeface="CIDFont+F2"/>
              </a:rPr>
              <a:t>floor</a:t>
            </a:r>
            <a:endParaRPr lang="de-DE" sz="1000" dirty="0">
              <a:solidFill>
                <a:srgbClr val="000000"/>
              </a:solidFill>
              <a:latin typeface="CIDFont+F2"/>
            </a:endParaRPr>
          </a:p>
          <a:p>
            <a:pPr marL="628650" lvl="1" indent="-171450" defTabSz="457200">
              <a:spcBef>
                <a:spcPct val="20000"/>
              </a:spcBef>
              <a:buFont typeface="Symbol" panose="05050102010706020507" pitchFamily="18" charset="2"/>
              <a:buChar char="-"/>
            </a:pPr>
            <a:r>
              <a:rPr lang="de-DE" sz="1000" dirty="0">
                <a:solidFill>
                  <a:srgbClr val="000000"/>
                </a:solidFill>
                <a:latin typeface="CIDFont+F2"/>
              </a:rPr>
              <a:t>Slide </a:t>
            </a:r>
            <a:r>
              <a:rPr lang="de-DE" sz="1000" dirty="0" err="1">
                <a:solidFill>
                  <a:srgbClr val="000000"/>
                </a:solidFill>
                <a:latin typeface="CIDFont+F2"/>
              </a:rPr>
              <a:t>plates</a:t>
            </a:r>
            <a:r>
              <a:rPr lang="de-DE" sz="1000" dirty="0">
                <a:solidFill>
                  <a:srgbClr val="000000"/>
                </a:solidFill>
                <a:latin typeface="CIDFont+F2"/>
              </a:rPr>
              <a:t> </a:t>
            </a:r>
            <a:r>
              <a:rPr lang="de-DE" sz="1000" dirty="0" err="1">
                <a:solidFill>
                  <a:srgbClr val="000000"/>
                </a:solidFill>
                <a:latin typeface="CIDFont+F2"/>
              </a:rPr>
              <a:t>for</a:t>
            </a:r>
            <a:r>
              <a:rPr lang="de-DE" sz="1000" dirty="0">
                <a:solidFill>
                  <a:srgbClr val="000000"/>
                </a:solidFill>
                <a:latin typeface="CIDFont+F2"/>
              </a:rPr>
              <a:t> Cable</a:t>
            </a:r>
          </a:p>
          <a:p>
            <a:pPr marL="342900" lvl="1" indent="-342900" defTabSz="457200">
              <a:spcBef>
                <a:spcPct val="20000"/>
              </a:spcBef>
              <a:buFont typeface="Arial"/>
              <a:buChar char="•"/>
            </a:pPr>
            <a:r>
              <a:rPr lang="de-DE" altLang="de-DE" sz="1000" dirty="0">
                <a:latin typeface="Calibri" panose="020F0502020204030204" pitchFamily="34" charset="0"/>
                <a:ea typeface="Calibri" panose="020F0502020204030204" pitchFamily="34" charset="0"/>
                <a:cs typeface="Calibri" panose="020F0502020204030204" pitchFamily="34" charset="0"/>
              </a:rPr>
              <a:t>WPC (48 </a:t>
            </a:r>
            <a:r>
              <a:rPr lang="de-DE" altLang="de-DE" sz="1000" dirty="0" err="1">
                <a:latin typeface="Calibri" panose="020F0502020204030204" pitchFamily="34" charset="0"/>
                <a:ea typeface="Calibri" panose="020F0502020204030204" pitchFamily="34" charset="0"/>
                <a:cs typeface="Calibri" panose="020F0502020204030204" pitchFamily="34" charset="0"/>
              </a:rPr>
              <a:t>pieces</a:t>
            </a:r>
            <a:r>
              <a:rPr lang="de-DE" altLang="de-DE" sz="1000" dirty="0">
                <a:latin typeface="Calibri" panose="020F0502020204030204" pitchFamily="34" charset="0"/>
                <a:ea typeface="Calibri" panose="020F0502020204030204" pitchFamily="34" charset="0"/>
                <a:cs typeface="Calibri" panose="020F0502020204030204" pitchFamily="34" charset="0"/>
              </a:rPr>
              <a:t>)</a:t>
            </a:r>
          </a:p>
          <a:p>
            <a:pPr marL="342900" lvl="1" indent="-342900" defTabSz="457200">
              <a:spcBef>
                <a:spcPct val="20000"/>
              </a:spcBef>
              <a:buFont typeface="Arial"/>
              <a:buChar char="•"/>
            </a:pPr>
            <a:r>
              <a:rPr lang="de-DE" altLang="de-DE" sz="1000" dirty="0" err="1">
                <a:latin typeface="Calibri" panose="020F0502020204030204" pitchFamily="34" charset="0"/>
                <a:ea typeface="Calibri" panose="020F0502020204030204" pitchFamily="34" charset="0"/>
                <a:cs typeface="Calibri" panose="020F0502020204030204" pitchFamily="34" charset="0"/>
              </a:rPr>
              <a:t>Component</a:t>
            </a:r>
            <a:r>
              <a:rPr lang="de-DE" altLang="de-DE" sz="1000" dirty="0">
                <a:latin typeface="Calibri" panose="020F0502020204030204" pitchFamily="34" charset="0"/>
                <a:ea typeface="Calibri" panose="020F0502020204030204" pitchFamily="34" charset="0"/>
                <a:cs typeface="Calibri" panose="020F0502020204030204" pitchFamily="34" charset="0"/>
              </a:rPr>
              <a:t> </a:t>
            </a:r>
            <a:r>
              <a:rPr lang="de-DE" altLang="de-DE" sz="1000" dirty="0" err="1">
                <a:latin typeface="Calibri" panose="020F0502020204030204" pitchFamily="34" charset="0"/>
                <a:ea typeface="Calibri" panose="020F0502020204030204" pitchFamily="34" charset="0"/>
                <a:cs typeface="Calibri" panose="020F0502020204030204" pitchFamily="34" charset="0"/>
              </a:rPr>
              <a:t>query</a:t>
            </a:r>
            <a:endParaRPr lang="de-DE" altLang="de-DE" sz="1000" dirty="0">
              <a:latin typeface="Calibri" panose="020F0502020204030204" pitchFamily="34" charset="0"/>
              <a:ea typeface="Calibri" panose="020F0502020204030204" pitchFamily="34" charset="0"/>
              <a:cs typeface="Calibri" panose="020F0502020204030204" pitchFamily="34" charset="0"/>
            </a:endParaRPr>
          </a:p>
          <a:p>
            <a:pPr marL="628650" lvl="1" indent="-171450" defTabSz="457200">
              <a:spcBef>
                <a:spcPct val="20000"/>
              </a:spcBef>
              <a:buFont typeface="Symbol" panose="05050102010706020507" pitchFamily="18" charset="2"/>
              <a:buChar char="-"/>
            </a:pPr>
            <a:r>
              <a:rPr lang="de-DE" altLang="de-DE" sz="1000" dirty="0">
                <a:solidFill>
                  <a:srgbClr val="000000"/>
                </a:solidFill>
                <a:latin typeface="CIDFont+F2"/>
              </a:rPr>
              <a:t>At </a:t>
            </a:r>
            <a:r>
              <a:rPr lang="de-DE" altLang="de-DE" sz="1000" dirty="0" err="1">
                <a:solidFill>
                  <a:srgbClr val="000000"/>
                </a:solidFill>
                <a:latin typeface="CIDFont+F2"/>
              </a:rPr>
              <a:t>each</a:t>
            </a:r>
            <a:r>
              <a:rPr lang="de-DE" altLang="de-DE" sz="1000" dirty="0">
                <a:solidFill>
                  <a:srgbClr val="000000"/>
                </a:solidFill>
                <a:latin typeface="CIDFont+F2"/>
              </a:rPr>
              <a:t> </a:t>
            </a:r>
            <a:r>
              <a:rPr lang="de-DE" altLang="de-DE" sz="1000" dirty="0" err="1">
                <a:solidFill>
                  <a:srgbClr val="000000"/>
                </a:solidFill>
                <a:latin typeface="CIDFont+F2"/>
              </a:rPr>
              <a:t>process</a:t>
            </a:r>
            <a:r>
              <a:rPr lang="de-DE" altLang="de-DE" sz="1000" dirty="0">
                <a:solidFill>
                  <a:srgbClr val="000000"/>
                </a:solidFill>
                <a:latin typeface="CIDFont+F2"/>
              </a:rPr>
              <a:t> </a:t>
            </a:r>
            <a:r>
              <a:rPr lang="de-DE" altLang="de-DE" sz="1000" dirty="0" err="1">
                <a:solidFill>
                  <a:srgbClr val="000000"/>
                </a:solidFill>
                <a:latin typeface="CIDFont+F2"/>
              </a:rPr>
              <a:t>point</a:t>
            </a:r>
            <a:r>
              <a:rPr lang="de-DE" altLang="de-DE" sz="1000" dirty="0">
                <a:solidFill>
                  <a:srgbClr val="000000"/>
                </a:solidFill>
                <a:latin typeface="CIDFont+F2"/>
              </a:rPr>
              <a:t> light </a:t>
            </a:r>
            <a:r>
              <a:rPr lang="de-DE" altLang="de-DE" sz="1000" dirty="0" err="1">
                <a:solidFill>
                  <a:srgbClr val="000000"/>
                </a:solidFill>
                <a:latin typeface="CIDFont+F2"/>
              </a:rPr>
              <a:t>barrier</a:t>
            </a:r>
            <a:r>
              <a:rPr lang="de-DE" altLang="de-DE" sz="1000" dirty="0">
                <a:solidFill>
                  <a:srgbClr val="000000"/>
                </a:solidFill>
                <a:latin typeface="CIDFont+F2"/>
              </a:rPr>
              <a:t> „Part </a:t>
            </a:r>
            <a:r>
              <a:rPr lang="de-DE" altLang="de-DE" sz="1000" dirty="0" err="1">
                <a:solidFill>
                  <a:srgbClr val="000000"/>
                </a:solidFill>
                <a:latin typeface="CIDFont+F2"/>
              </a:rPr>
              <a:t>available</a:t>
            </a:r>
            <a:r>
              <a:rPr lang="de-DE" altLang="de-DE" sz="1000" dirty="0">
                <a:solidFill>
                  <a:srgbClr val="000000"/>
                </a:solidFill>
                <a:latin typeface="CIDFont+F2"/>
              </a:rPr>
              <a:t>“</a:t>
            </a:r>
          </a:p>
          <a:p>
            <a:pPr marL="342900" lvl="1" indent="-342900" defTabSz="457200">
              <a:spcBef>
                <a:spcPct val="20000"/>
              </a:spcBef>
              <a:buFont typeface="Arial"/>
              <a:buChar char="•"/>
            </a:pPr>
            <a:endParaRPr lang="de-DE" altLang="de-DE" sz="1000" dirty="0">
              <a:latin typeface="Calibri" panose="020F0502020204030204" pitchFamily="34" charset="0"/>
              <a:ea typeface="Calibri" panose="020F0502020204030204" pitchFamily="34" charset="0"/>
              <a:cs typeface="Calibri" panose="020F0502020204030204" pitchFamily="34" charset="0"/>
            </a:endParaRPr>
          </a:p>
          <a:p>
            <a:pPr lvl="1" defTabSz="457200">
              <a:spcBef>
                <a:spcPct val="20000"/>
              </a:spcBef>
            </a:pPr>
            <a:endParaRPr lang="en-US" sz="1000" dirty="0">
              <a:latin typeface="Calibri" panose="020F0502020204030204" pitchFamily="34" charset="0"/>
              <a:ea typeface="Calibri" panose="020F0502020204030204" pitchFamily="34" charset="0"/>
              <a:cs typeface="Calibri" panose="020F0502020204030204" pitchFamily="34" charset="0"/>
            </a:endParaRPr>
          </a:p>
          <a:p>
            <a:pPr lvl="1" defTabSz="457200">
              <a:spcBef>
                <a:spcPct val="20000"/>
              </a:spcBef>
            </a:pPr>
            <a:endParaRPr lang="de-DE" sz="1000" dirty="0">
              <a:solidFill>
                <a:srgbClr val="000000"/>
              </a:solidFill>
              <a:latin typeface="CIDFont+F2"/>
            </a:endParaRPr>
          </a:p>
          <a:p>
            <a:pPr lvl="1" defTabSz="457200">
              <a:spcBef>
                <a:spcPct val="20000"/>
              </a:spcBef>
            </a:pPr>
            <a:r>
              <a:rPr lang="de-DE" sz="1000" dirty="0">
                <a:solidFill>
                  <a:srgbClr val="000000"/>
                </a:solidFill>
                <a:latin typeface="CIDFont+F2"/>
              </a:rPr>
              <a:t>	</a:t>
            </a:r>
          </a:p>
        </p:txBody>
      </p:sp>
      <p:sp>
        <p:nvSpPr>
          <p:cNvPr id="2" name="Titel 1">
            <a:extLst>
              <a:ext uri="{FF2B5EF4-FFF2-40B4-BE49-F238E27FC236}">
                <a16:creationId xmlns:a16="http://schemas.microsoft.com/office/drawing/2014/main" id="{5CCCA3CB-4676-8516-D0D4-4CA30B5F3CFB}"/>
              </a:ext>
            </a:extLst>
          </p:cNvPr>
          <p:cNvSpPr>
            <a:spLocks noGrp="1"/>
          </p:cNvSpPr>
          <p:nvPr>
            <p:ph type="title"/>
          </p:nvPr>
        </p:nvSpPr>
        <p:spPr/>
        <p:txBody>
          <a:bodyPr anchor="t"/>
          <a:lstStyle/>
          <a:p>
            <a:r>
              <a:rPr lang="de-DE" sz="1400" b="1" dirty="0">
                <a:latin typeface="+mj-lt"/>
              </a:rPr>
              <a:t>Transfer </a:t>
            </a:r>
            <a:r>
              <a:rPr lang="de-DE" sz="1400" b="1" dirty="0" err="1">
                <a:latin typeface="+mj-lt"/>
              </a:rPr>
              <a:t>system</a:t>
            </a:r>
            <a:endParaRPr lang="de-DE" sz="1400" b="1" dirty="0">
              <a:latin typeface="+mj-lt"/>
            </a:endParaRPr>
          </a:p>
        </p:txBody>
      </p:sp>
      <p:pic>
        <p:nvPicPr>
          <p:cNvPr id="4" name="Grafik 3">
            <a:extLst>
              <a:ext uri="{FF2B5EF4-FFF2-40B4-BE49-F238E27FC236}">
                <a16:creationId xmlns:a16="http://schemas.microsoft.com/office/drawing/2014/main" id="{5F579958-1A4F-B853-62AA-1C48DDB51A56}"/>
              </a:ext>
            </a:extLst>
          </p:cNvPr>
          <p:cNvPicPr>
            <a:picLocks noChangeAspect="1"/>
          </p:cNvPicPr>
          <p:nvPr/>
        </p:nvPicPr>
        <p:blipFill>
          <a:blip r:embed="rId3"/>
          <a:stretch>
            <a:fillRect/>
          </a:stretch>
        </p:blipFill>
        <p:spPr>
          <a:xfrm>
            <a:off x="461310" y="971074"/>
            <a:ext cx="3818590" cy="837410"/>
          </a:xfrm>
          <a:prstGeom prst="rect">
            <a:avLst/>
          </a:prstGeom>
        </p:spPr>
      </p:pic>
      <p:pic>
        <p:nvPicPr>
          <p:cNvPr id="6" name="Grafik 5">
            <a:extLst>
              <a:ext uri="{FF2B5EF4-FFF2-40B4-BE49-F238E27FC236}">
                <a16:creationId xmlns:a16="http://schemas.microsoft.com/office/drawing/2014/main" id="{A3FC07AE-A671-5E3E-9BD5-D38CF66DBD6B}"/>
              </a:ext>
            </a:extLst>
          </p:cNvPr>
          <p:cNvPicPr>
            <a:picLocks noChangeAspect="1"/>
          </p:cNvPicPr>
          <p:nvPr/>
        </p:nvPicPr>
        <p:blipFill>
          <a:blip r:embed="rId4"/>
          <a:stretch>
            <a:fillRect/>
          </a:stretch>
        </p:blipFill>
        <p:spPr>
          <a:xfrm>
            <a:off x="582414" y="2000250"/>
            <a:ext cx="1536499" cy="2273300"/>
          </a:xfrm>
          <a:prstGeom prst="rect">
            <a:avLst/>
          </a:prstGeom>
        </p:spPr>
      </p:pic>
    </p:spTree>
    <p:extLst>
      <p:ext uri="{BB962C8B-B14F-4D97-AF65-F5344CB8AC3E}">
        <p14:creationId xmlns:p14="http://schemas.microsoft.com/office/powerpoint/2010/main" val="3110363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7BABE9A0-9270-6F11-C4E5-C2D0CD8BBC7B}"/>
              </a:ext>
            </a:extLst>
          </p:cNvPr>
          <p:cNvSpPr txBox="1">
            <a:spLocks/>
          </p:cNvSpPr>
          <p:nvPr/>
        </p:nvSpPr>
        <p:spPr>
          <a:xfrm>
            <a:off x="2663687" y="121782"/>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a:solidFill>
                  <a:srgbClr val="2C3F48"/>
                </a:solidFill>
              </a:rPr>
              <a:t>Control System</a:t>
            </a:r>
          </a:p>
        </p:txBody>
      </p:sp>
      <p:sp>
        <p:nvSpPr>
          <p:cNvPr id="6" name="Textfeld 5">
            <a:extLst>
              <a:ext uri="{FF2B5EF4-FFF2-40B4-BE49-F238E27FC236}">
                <a16:creationId xmlns:a16="http://schemas.microsoft.com/office/drawing/2014/main" id="{97522261-8A83-B503-01D7-277D7E7C1E1D}"/>
              </a:ext>
            </a:extLst>
          </p:cNvPr>
          <p:cNvSpPr txBox="1"/>
          <p:nvPr/>
        </p:nvSpPr>
        <p:spPr>
          <a:xfrm>
            <a:off x="1244601" y="762000"/>
            <a:ext cx="9801970" cy="5047536"/>
          </a:xfrm>
          <a:prstGeom prst="rect">
            <a:avLst/>
          </a:prstGeom>
          <a:noFill/>
        </p:spPr>
        <p:txBody>
          <a:bodyPr wrap="square" rtlCol="0">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Control System</a:t>
            </a:r>
          </a:p>
          <a:p>
            <a:r>
              <a:rPr lang="en-US" sz="1000" u="sng" dirty="0">
                <a:solidFill>
                  <a:srgbClr val="25363E"/>
                </a:solidFill>
                <a:latin typeface="Calibri" panose="020F0502020204030204" pitchFamily="34" charset="0"/>
                <a:ea typeface="Calibri" panose="020F0502020204030204" pitchFamily="34" charset="0"/>
                <a:cs typeface="Calibri" panose="020F0502020204030204" pitchFamily="34" charset="0"/>
              </a:rPr>
              <a:t>The control system essentially consists of the following components:</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HMI: 			19" Operator Center</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Mobile Panel: 		KTP700F</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Controller (PLC): 	CPU 151xF</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Software: 		TIA Portal V17</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Communication: 	</a:t>
            </a:r>
            <a:r>
              <a:rPr lang="en-US" sz="1000" dirty="0" err="1">
                <a:solidFill>
                  <a:srgbClr val="25363E"/>
                </a:solidFill>
                <a:latin typeface="Calibri" panose="020F0502020204030204" pitchFamily="34" charset="0"/>
                <a:ea typeface="Calibri" panose="020F0502020204030204" pitchFamily="34" charset="0"/>
                <a:cs typeface="Calibri" panose="020F0502020204030204" pitchFamily="34" charset="0"/>
              </a:rPr>
              <a:t>Profinet</a:t>
            </a:r>
            <a:endPar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Decentralized Peripherals: 	MURR MVK</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Centralized Peripherals: 	ET200SP</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Servo Motor:		SEW</a:t>
            </a:r>
          </a:p>
          <a:p>
            <a:pPr marL="171450" indent="-171450" eaLnBrk="0" fontAlgn="base" hangingPunct="0">
              <a:spcBef>
                <a:spcPct val="0"/>
              </a:spcBef>
              <a:spcAft>
                <a:spcPct val="0"/>
              </a:spcAft>
              <a:buFont typeface="Arial" panose="020B0604020202020204" pitchFamily="34" charset="0"/>
              <a:buChar char="•"/>
              <a:tabLst>
                <a:tab pos="679450" algn="l"/>
              </a:tabLst>
            </a:pPr>
            <a:r>
              <a:rPr lang="en-US" sz="1000" dirty="0">
                <a:solidFill>
                  <a:srgbClr val="25363E"/>
                </a:solidFill>
                <a:latin typeface="Calibri" panose="020F0502020204030204" pitchFamily="34" charset="0"/>
                <a:ea typeface="Calibri" panose="020F0502020204030204" pitchFamily="34" charset="0"/>
                <a:cs typeface="Calibri" panose="020F0502020204030204" pitchFamily="34" charset="0"/>
              </a:rPr>
              <a:t>Pneumatics: 		FESTO</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Software</a:t>
            </a:r>
            <a:endParaRPr lang="en-US" sz="1050" b="1" u="sng" dirty="0">
              <a:latin typeface="Calibri" panose="020F0502020204030204" pitchFamily="34" charset="0"/>
              <a:ea typeface="Calibri" panose="020F0502020204030204" pitchFamily="34" charset="0"/>
              <a:cs typeface="Calibri" panose="020F0502020204030204" pitchFamily="34" charset="0"/>
            </a:endParaRPr>
          </a:p>
          <a:p>
            <a:r>
              <a:rPr lang="en-US" sz="1000" dirty="0">
                <a:latin typeface="Calibri" panose="020F0502020204030204" pitchFamily="34" charset="0"/>
                <a:ea typeface="Calibri" panose="020F0502020204030204" pitchFamily="34" charset="0"/>
                <a:cs typeface="Calibri" panose="020F0502020204030204" pitchFamily="34" charset="0"/>
              </a:rPr>
              <a:t>The PLC and control panels are programmed according to the Gluth standard.</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Operation</a:t>
            </a:r>
          </a:p>
          <a:p>
            <a:r>
              <a:rPr lang="en-US" sz="1000" dirty="0">
                <a:latin typeface="Calibri" panose="020F0502020204030204" pitchFamily="34" charset="0"/>
                <a:ea typeface="Calibri" panose="020F0502020204030204" pitchFamily="34" charset="0"/>
                <a:cs typeface="Calibri" panose="020F0502020204030204" pitchFamily="34" charset="0"/>
              </a:rPr>
              <a:t>The station is operated via a 19" touchscreen Operator Center panel.</a:t>
            </a:r>
          </a:p>
          <a:p>
            <a:r>
              <a:rPr lang="en-US" sz="1000" dirty="0">
                <a:latin typeface="Calibri" panose="020F0502020204030204" pitchFamily="34" charset="0"/>
                <a:ea typeface="Calibri" panose="020F0502020204030204" pitchFamily="34" charset="0"/>
                <a:cs typeface="Calibri" panose="020F0502020204030204" pitchFamily="34" charset="0"/>
              </a:rPr>
              <a:t>One mobile panel is also provided.</a:t>
            </a:r>
          </a:p>
          <a:p>
            <a:r>
              <a:rPr lang="en-US" sz="1000" dirty="0">
                <a:latin typeface="Calibri" panose="020F0502020204030204" pitchFamily="34" charset="0"/>
                <a:ea typeface="Calibri" panose="020F0502020204030204" pitchFamily="34" charset="0"/>
                <a:cs typeface="Calibri" panose="020F0502020204030204" pitchFamily="34" charset="0"/>
              </a:rPr>
              <a:t>Operator guidance is provided in German and Romanian.</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Installation</a:t>
            </a:r>
          </a:p>
          <a:p>
            <a:r>
              <a:rPr lang="en-US" sz="1000" dirty="0">
                <a:latin typeface="Calibri" panose="020F0502020204030204" pitchFamily="34" charset="0"/>
                <a:ea typeface="Calibri" panose="020F0502020204030204" pitchFamily="34" charset="0"/>
                <a:cs typeface="Calibri" panose="020F0502020204030204" pitchFamily="34" charset="0"/>
              </a:rPr>
              <a:t>The system is installed using the PROFINET Safety bus system.</a:t>
            </a:r>
          </a:p>
          <a:p>
            <a:r>
              <a:rPr lang="en-US" sz="1000" dirty="0">
                <a:latin typeface="Calibri" panose="020F0502020204030204" pitchFamily="34" charset="0"/>
                <a:ea typeface="Calibri" panose="020F0502020204030204" pitchFamily="34" charset="0"/>
                <a:cs typeface="Calibri" panose="020F0502020204030204" pitchFamily="34" charset="0"/>
              </a:rPr>
              <a:t>Careful installation, especially of moving cables, is ensured.</a:t>
            </a:r>
          </a:p>
          <a:p>
            <a:endParaRPr lang="en-US" dirty="0"/>
          </a:p>
          <a:p>
            <a:r>
              <a:rPr lang="en-US" sz="1400" b="1" u="sng" dirty="0">
                <a:latin typeface="Calibri" panose="020F0502020204030204" pitchFamily="34" charset="0"/>
                <a:ea typeface="Calibri" panose="020F0502020204030204" pitchFamily="34" charset="0"/>
                <a:cs typeface="Calibri" panose="020F0502020204030204" pitchFamily="34" charset="0"/>
              </a:rPr>
              <a:t>Cables in Cable Carriers</a:t>
            </a:r>
          </a:p>
          <a:p>
            <a:r>
              <a:rPr lang="en-US" sz="1000" dirty="0">
                <a:latin typeface="Calibri" panose="020F0502020204030204" pitchFamily="34" charset="0"/>
                <a:ea typeface="Calibri" panose="020F0502020204030204" pitchFamily="34" charset="0"/>
                <a:cs typeface="Calibri" panose="020F0502020204030204" pitchFamily="34" charset="0"/>
              </a:rPr>
              <a:t>In our experience, cables in cable carriers are subject to varying degrees of wear, depending on speed, acceleration, and frequency of movement. For this reason, these cables are designed to be plug-in or quickly replaceable. Regular system maintenance requires inspection and, if necessary, replacement.</a:t>
            </a:r>
            <a:endParaRPr lang="de-DE" sz="1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3806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97AA5337-8BC5-5726-CF7A-E0F87A67E7AE}"/>
              </a:ext>
            </a:extLst>
          </p:cNvPr>
          <p:cNvSpPr txBox="1"/>
          <p:nvPr/>
        </p:nvSpPr>
        <p:spPr>
          <a:xfrm>
            <a:off x="618806" y="911547"/>
            <a:ext cx="6850108" cy="3493264"/>
          </a:xfrm>
          <a:prstGeom prst="rect">
            <a:avLst/>
          </a:prstGeom>
          <a:noFill/>
        </p:spPr>
        <p:txBody>
          <a:bodyPr wrap="square" rtlCol="0">
            <a:spAutoFit/>
          </a:bodyPr>
          <a:lstStyle/>
          <a:p>
            <a:pPr marL="0" lvl="1"/>
            <a:r>
              <a:rPr lang="en-US" sz="1400" b="1" u="sng" dirty="0">
                <a:latin typeface="Calibri" panose="020F0502020204030204" pitchFamily="34" charset="0"/>
                <a:ea typeface="Calibri" panose="020F0502020204030204" pitchFamily="34" charset="0"/>
                <a:cs typeface="Calibri" panose="020F0502020204030204" pitchFamily="34" charset="0"/>
              </a:rPr>
              <a:t>Performance criteria - cycle time and output</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To determine the cycle time, a cable with a 16mm² cross-section and 170mm length is used.</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The station that is critical for the cycle time is the tinning of the cable ends.</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We are currently assuming a heating time of 2 seconds and a tinning time of 2 seconds.</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This gives us a cycle time of 6.5 seconds.</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If the current tests result in shorter or longer times for heating and tinning, we reserve the right to adjust the cycle time accordingly.</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400" b="1" u="sng" dirty="0">
                <a:latin typeface="Calibri" panose="020F0502020204030204" pitchFamily="34" charset="0"/>
                <a:ea typeface="Calibri" panose="020F0502020204030204" pitchFamily="34" charset="0"/>
                <a:cs typeface="Calibri" panose="020F0502020204030204" pitchFamily="34" charset="0"/>
              </a:rPr>
              <a:t>Technical availability</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Technical availability: 98%</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400" b="1" u="sng" dirty="0">
                <a:latin typeface="Calibri" panose="020F0502020204030204" pitchFamily="34" charset="0"/>
                <a:ea typeface="Calibri" panose="020F0502020204030204" pitchFamily="34" charset="0"/>
                <a:cs typeface="Calibri" panose="020F0502020204030204" pitchFamily="34" charset="0"/>
              </a:rPr>
              <a:t>Preliminary acceptance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The preliminary acceptance of the system is carried out in </a:t>
            </a:r>
            <a:r>
              <a:rPr lang="en-US" sz="1100" dirty="0" err="1">
                <a:solidFill>
                  <a:srgbClr val="000000"/>
                </a:solidFill>
                <a:latin typeface="Calibri" panose="020F0502020204030204" pitchFamily="34" charset="0"/>
                <a:ea typeface="Calibri" panose="020F0502020204030204" pitchFamily="34" charset="0"/>
                <a:cs typeface="Calibri" panose="020F0502020204030204" pitchFamily="34" charset="0"/>
              </a:rPr>
              <a:t>Straubing</a:t>
            </a:r>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In a time window of 4 hours, one type each with 16mm², 25mm² and 32mm² is manufactured.</a:t>
            </a:r>
          </a:p>
          <a:p>
            <a:pPr marL="0" lvl="1"/>
            <a:endPar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a:r>
              <a:rPr lang="en-US" sz="1400" b="1" u="sng" dirty="0">
                <a:latin typeface="Calibri" panose="020F0502020204030204" pitchFamily="34" charset="0"/>
                <a:ea typeface="Calibri" panose="020F0502020204030204" pitchFamily="34" charset="0"/>
                <a:cs typeface="Calibri" panose="020F0502020204030204" pitchFamily="34" charset="0"/>
              </a:rPr>
              <a:t>Final acceptance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The final acceptance of the system is carried out in Satu Mare. </a:t>
            </a:r>
          </a:p>
          <a:p>
            <a:pPr marL="0" lvl="1"/>
            <a:r>
              <a:rPr lang="en-US" sz="1100" dirty="0">
                <a:solidFill>
                  <a:srgbClr val="000000"/>
                </a:solidFill>
                <a:latin typeface="Calibri" panose="020F0502020204030204" pitchFamily="34" charset="0"/>
                <a:ea typeface="Calibri" panose="020F0502020204030204" pitchFamily="34" charset="0"/>
                <a:cs typeface="Calibri" panose="020F0502020204030204" pitchFamily="34" charset="0"/>
              </a:rPr>
              <a:t>In a time window of 8 hours, one type each with 16mm², 25mm² and 32mm² is manufactured.</a:t>
            </a:r>
            <a:endParaRPr lang="de-DE" sz="1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itel 1">
            <a:extLst>
              <a:ext uri="{FF2B5EF4-FFF2-40B4-BE49-F238E27FC236}">
                <a16:creationId xmlns:a16="http://schemas.microsoft.com/office/drawing/2014/main" id="{7BABE9A0-9270-6F11-C4E5-C2D0CD8BBC7B}"/>
              </a:ext>
            </a:extLst>
          </p:cNvPr>
          <p:cNvSpPr txBox="1">
            <a:spLocks/>
          </p:cNvSpPr>
          <p:nvPr/>
        </p:nvSpPr>
        <p:spPr>
          <a:xfrm>
            <a:off x="2663687" y="121782"/>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u="sng" dirty="0">
                <a:latin typeface="Calibri" panose="020F0502020204030204" pitchFamily="34" charset="0"/>
                <a:ea typeface="Calibri" panose="020F0502020204030204" pitchFamily="34" charset="0"/>
                <a:cs typeface="Calibri" panose="020F0502020204030204" pitchFamily="34" charset="0"/>
              </a:rPr>
              <a:t>Performance </a:t>
            </a:r>
            <a:r>
              <a:rPr lang="de-DE" sz="1400" b="1" u="sng" dirty="0" err="1">
                <a:latin typeface="Calibri" panose="020F0502020204030204" pitchFamily="34" charset="0"/>
                <a:ea typeface="Calibri" panose="020F0502020204030204" pitchFamily="34" charset="0"/>
                <a:cs typeface="Calibri" panose="020F0502020204030204" pitchFamily="34" charset="0"/>
              </a:rPr>
              <a:t>criteria</a:t>
            </a:r>
            <a:r>
              <a:rPr lang="de-DE" sz="1400" b="1" u="sng" dirty="0">
                <a:latin typeface="Calibri" panose="020F0502020204030204" pitchFamily="34" charset="0"/>
                <a:ea typeface="Calibri" panose="020F0502020204030204" pitchFamily="34" charset="0"/>
                <a:cs typeface="Calibri" panose="020F0502020204030204" pitchFamily="34" charset="0"/>
              </a:rPr>
              <a:t> – </a:t>
            </a:r>
            <a:r>
              <a:rPr lang="de-DE" sz="1400" b="1" u="sng" dirty="0" err="1">
                <a:latin typeface="Calibri" panose="020F0502020204030204" pitchFamily="34" charset="0"/>
                <a:ea typeface="Calibri" panose="020F0502020204030204" pitchFamily="34" charset="0"/>
                <a:cs typeface="Calibri" panose="020F0502020204030204" pitchFamily="34" charset="0"/>
              </a:rPr>
              <a:t>technical</a:t>
            </a:r>
            <a:r>
              <a:rPr lang="de-DE" sz="1400" b="1" u="sng" dirty="0">
                <a:latin typeface="Calibri" panose="020F0502020204030204" pitchFamily="34" charset="0"/>
                <a:ea typeface="Calibri" panose="020F0502020204030204" pitchFamily="34" charset="0"/>
                <a:cs typeface="Calibri" panose="020F0502020204030204" pitchFamily="34" charset="0"/>
              </a:rPr>
              <a:t> </a:t>
            </a:r>
            <a:r>
              <a:rPr lang="de-DE" sz="1400" b="1" u="sng" dirty="0" err="1">
                <a:latin typeface="Calibri" panose="020F0502020204030204" pitchFamily="34" charset="0"/>
                <a:ea typeface="Calibri" panose="020F0502020204030204" pitchFamily="34" charset="0"/>
                <a:cs typeface="Calibri" panose="020F0502020204030204" pitchFamily="34" charset="0"/>
              </a:rPr>
              <a:t>data</a:t>
            </a:r>
            <a:endParaRPr lang="de-DE" sz="1400" b="1" dirty="0">
              <a:solidFill>
                <a:srgbClr val="2C3F48"/>
              </a:solidFill>
            </a:endParaRPr>
          </a:p>
        </p:txBody>
      </p:sp>
    </p:spTree>
    <p:extLst>
      <p:ext uri="{BB962C8B-B14F-4D97-AF65-F5344CB8AC3E}">
        <p14:creationId xmlns:p14="http://schemas.microsoft.com/office/powerpoint/2010/main" val="97691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8FADAC94-E284-3009-0680-7E6C4EFA9371}"/>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err="1">
                <a:solidFill>
                  <a:srgbClr val="2C3F48"/>
                </a:solidFill>
              </a:rPr>
              <a:t>Scope</a:t>
            </a:r>
            <a:r>
              <a:rPr lang="de-DE" sz="1400" b="1" dirty="0">
                <a:solidFill>
                  <a:srgbClr val="2C3F48"/>
                </a:solidFill>
              </a:rPr>
              <a:t> </a:t>
            </a:r>
            <a:r>
              <a:rPr lang="de-DE" sz="1400" b="1" dirty="0" err="1">
                <a:solidFill>
                  <a:srgbClr val="2C3F48"/>
                </a:solidFill>
              </a:rPr>
              <a:t>of</a:t>
            </a:r>
            <a:r>
              <a:rPr lang="de-DE" sz="1400" b="1" dirty="0">
                <a:solidFill>
                  <a:srgbClr val="2C3F48"/>
                </a:solidFill>
              </a:rPr>
              <a:t> </a:t>
            </a:r>
            <a:r>
              <a:rPr lang="de-DE" sz="1400" b="1" dirty="0" err="1">
                <a:solidFill>
                  <a:srgbClr val="2C3F48"/>
                </a:solidFill>
              </a:rPr>
              <a:t>Delivery</a:t>
            </a:r>
            <a:endParaRPr lang="de-DE" sz="1400" b="1" dirty="0">
              <a:solidFill>
                <a:srgbClr val="2C3F48"/>
              </a:solidFill>
            </a:endParaRPr>
          </a:p>
        </p:txBody>
      </p:sp>
      <p:sp>
        <p:nvSpPr>
          <p:cNvPr id="6" name="Textfeld 5">
            <a:extLst>
              <a:ext uri="{FF2B5EF4-FFF2-40B4-BE49-F238E27FC236}">
                <a16:creationId xmlns:a16="http://schemas.microsoft.com/office/drawing/2014/main" id="{DE6F98D2-6AEE-0599-D501-04CCFCC8A029}"/>
              </a:ext>
            </a:extLst>
          </p:cNvPr>
          <p:cNvSpPr txBox="1"/>
          <p:nvPr/>
        </p:nvSpPr>
        <p:spPr>
          <a:xfrm>
            <a:off x="463554" y="4214542"/>
            <a:ext cx="8925980" cy="1415772"/>
          </a:xfrm>
          <a:prstGeom prst="rect">
            <a:avLst/>
          </a:prstGeom>
          <a:noFill/>
        </p:spPr>
        <p:txBody>
          <a:bodyPr wrap="square">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The scope of delivery does not include:</a:t>
            </a:r>
          </a:p>
          <a:p>
            <a:pPr marL="285750" indent="-285750">
              <a:buFont typeface="Arial" panose="020B0604020202020204" pitchFamily="34" charset="0"/>
              <a:buChar char="•"/>
            </a:pPr>
            <a:r>
              <a:rPr lang="en-US" sz="900" dirty="0">
                <a:latin typeface="Calibri" panose="020F0502020204030204" pitchFamily="34" charset="0"/>
              </a:rPr>
              <a:t>Procurement of supplies</a:t>
            </a:r>
          </a:p>
          <a:p>
            <a:pPr marL="285750" indent="-285750">
              <a:buFont typeface="Arial" panose="020B0604020202020204" pitchFamily="34" charset="0"/>
              <a:buChar char="•"/>
            </a:pPr>
            <a:r>
              <a:rPr lang="en-US" sz="900" dirty="0">
                <a:latin typeface="Calibri" panose="020F0502020204030204" pitchFamily="34" charset="0"/>
              </a:rPr>
              <a:t>Spare and replacement parts</a:t>
            </a:r>
          </a:p>
          <a:p>
            <a:pPr marL="285750" indent="-285750">
              <a:buFont typeface="Arial" panose="020B0604020202020204" pitchFamily="34" charset="0"/>
              <a:buChar char="•"/>
            </a:pPr>
            <a:r>
              <a:rPr lang="en-US" sz="900" dirty="0">
                <a:latin typeface="Calibri" panose="020F0502020204030204" pitchFamily="34" charset="0"/>
              </a:rPr>
              <a:t>Connection of the system to your internal power supply</a:t>
            </a:r>
          </a:p>
          <a:p>
            <a:pPr marL="742950" lvl="1" indent="-285750">
              <a:buFont typeface="Arial" panose="020B0604020202020204" pitchFamily="34" charset="0"/>
              <a:buChar char="•"/>
            </a:pPr>
            <a:r>
              <a:rPr lang="en-US" sz="900" dirty="0">
                <a:latin typeface="Calibri" panose="020F0502020204030204" pitchFamily="34" charset="0"/>
              </a:rPr>
              <a:t>Pneumatics</a:t>
            </a:r>
          </a:p>
          <a:p>
            <a:pPr marL="742950" lvl="1" indent="-285750">
              <a:buFont typeface="Arial" panose="020B0604020202020204" pitchFamily="34" charset="0"/>
              <a:buChar char="•"/>
            </a:pPr>
            <a:r>
              <a:rPr lang="en-US" sz="900" dirty="0">
                <a:latin typeface="Calibri" panose="020F0502020204030204" pitchFamily="34" charset="0"/>
              </a:rPr>
              <a:t>Electrical supply</a:t>
            </a:r>
          </a:p>
          <a:p>
            <a:pPr marL="742950" lvl="1" indent="-285750">
              <a:buFont typeface="Arial" panose="020B0604020202020204" pitchFamily="34" charset="0"/>
              <a:buChar char="•"/>
            </a:pPr>
            <a:r>
              <a:rPr lang="en-US" sz="900" dirty="0">
                <a:latin typeface="Calibri" panose="020F0502020204030204" pitchFamily="34" charset="0"/>
              </a:rPr>
              <a:t>Facility suction</a:t>
            </a:r>
          </a:p>
          <a:p>
            <a:pPr marL="285750" indent="-285750">
              <a:buFont typeface="Arial" panose="020B0604020202020204" pitchFamily="34" charset="0"/>
              <a:buChar char="•"/>
            </a:pPr>
            <a:r>
              <a:rPr lang="en-US" sz="900" dirty="0">
                <a:latin typeface="Calibri" panose="020F0502020204030204" pitchFamily="34" charset="0"/>
              </a:rPr>
              <a:t>Installation and commissioning of types beyond the scope of delivery</a:t>
            </a:r>
          </a:p>
          <a:p>
            <a:pPr marL="285750" indent="-285750">
              <a:buFont typeface="Arial" panose="020B0604020202020204" pitchFamily="34" charset="0"/>
              <a:buChar char="•"/>
            </a:pPr>
            <a:r>
              <a:rPr lang="en-US" sz="900" dirty="0">
                <a:latin typeface="Calibri" panose="020F0502020204030204" pitchFamily="34" charset="0"/>
              </a:rPr>
              <a:t>ESD-compliant design</a:t>
            </a:r>
            <a:endParaRPr lang="de-DE" sz="900" dirty="0">
              <a:latin typeface="Calibri" panose="020F0502020204030204" pitchFamily="34" charset="0"/>
            </a:endParaRPr>
          </a:p>
        </p:txBody>
      </p:sp>
      <p:sp>
        <p:nvSpPr>
          <p:cNvPr id="9" name="Textfeld 8">
            <a:extLst>
              <a:ext uri="{FF2B5EF4-FFF2-40B4-BE49-F238E27FC236}">
                <a16:creationId xmlns:a16="http://schemas.microsoft.com/office/drawing/2014/main" id="{5BB25941-E853-7CD8-8416-2D0BAF642646}"/>
              </a:ext>
            </a:extLst>
          </p:cNvPr>
          <p:cNvSpPr txBox="1"/>
          <p:nvPr/>
        </p:nvSpPr>
        <p:spPr>
          <a:xfrm>
            <a:off x="463554" y="725938"/>
            <a:ext cx="6866467" cy="2939266"/>
          </a:xfrm>
          <a:prstGeom prst="rect">
            <a:avLst/>
          </a:prstGeom>
          <a:noFill/>
        </p:spPr>
        <p:txBody>
          <a:bodyPr wrap="square" rtlCol="0">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The scope of delivery includes:</a:t>
            </a:r>
          </a:p>
          <a:p>
            <a:pPr marL="171450" indent="-171450">
              <a:buFont typeface="Arial" panose="020B0604020202020204" pitchFamily="34" charset="0"/>
              <a:buChar char="•"/>
            </a:pPr>
            <a:r>
              <a:rPr lang="en-US" sz="900" dirty="0">
                <a:latin typeface="Calibri" panose="020F0502020204030204" pitchFamily="34" charset="0"/>
              </a:rPr>
              <a:t>Creation of the mechanical design</a:t>
            </a:r>
          </a:p>
          <a:p>
            <a:pPr marL="628650" lvl="1" indent="-171450">
              <a:buFont typeface="Arial" panose="020B0604020202020204" pitchFamily="34" charset="0"/>
              <a:buChar char="•"/>
            </a:pPr>
            <a:r>
              <a:rPr lang="en-US" sz="900" dirty="0">
                <a:latin typeface="Calibri" panose="020F0502020204030204" pitchFamily="34" charset="0"/>
              </a:rPr>
              <a:t>Mechanical design is carried out using Autodesk Inventor</a:t>
            </a:r>
          </a:p>
          <a:p>
            <a:pPr marL="628650" lvl="1" indent="-171450">
              <a:buFont typeface="Arial" panose="020B0604020202020204" pitchFamily="34" charset="0"/>
              <a:buChar char="•"/>
            </a:pPr>
            <a:r>
              <a:rPr lang="en-US" sz="900" dirty="0">
                <a:latin typeface="Calibri" panose="020F0502020204030204" pitchFamily="34" charset="0"/>
              </a:rPr>
              <a:t>Initial meeting in Satu Mare, as well as necessary clarifications and design discussions in </a:t>
            </a:r>
            <a:r>
              <a:rPr lang="en-US" sz="900" dirty="0" err="1">
                <a:latin typeface="Calibri" panose="020F0502020204030204" pitchFamily="34" charset="0"/>
              </a:rPr>
              <a:t>Straubing</a:t>
            </a:r>
            <a:r>
              <a:rPr lang="en-US" sz="900" dirty="0">
                <a:latin typeface="Calibri" panose="020F0502020204030204" pitchFamily="34" charset="0"/>
              </a:rPr>
              <a:t> or via Teams</a:t>
            </a:r>
          </a:p>
          <a:p>
            <a:pPr marL="628650" lvl="1" indent="-171450">
              <a:buFont typeface="Arial" panose="020B0604020202020204" pitchFamily="34" charset="0"/>
              <a:buChar char="•"/>
            </a:pPr>
            <a:r>
              <a:rPr lang="en-US" sz="900" dirty="0">
                <a:latin typeface="Calibri" panose="020F0502020204030204" pitchFamily="34" charset="0"/>
              </a:rPr>
              <a:t>Internal clarifications and support expenses</a:t>
            </a:r>
          </a:p>
          <a:p>
            <a:pPr marL="171450" indent="-171450">
              <a:buFont typeface="Arial" panose="020B0604020202020204" pitchFamily="34" charset="0"/>
              <a:buChar char="•"/>
            </a:pPr>
            <a:r>
              <a:rPr lang="en-US" sz="900" dirty="0">
                <a:latin typeface="Calibri" panose="020F0502020204030204" pitchFamily="34" charset="0"/>
              </a:rPr>
              <a:t>Creation of the hardware and software planning</a:t>
            </a:r>
          </a:p>
          <a:p>
            <a:pPr marL="628650" lvl="1" indent="-171450">
              <a:buFont typeface="Arial" panose="020B0604020202020204" pitchFamily="34" charset="0"/>
              <a:buChar char="•"/>
            </a:pPr>
            <a:r>
              <a:rPr lang="en-US" sz="900" dirty="0">
                <a:latin typeface="Calibri" panose="020F0502020204030204" pitchFamily="34" charset="0"/>
              </a:rPr>
              <a:t>Hardware planning is carried out using EPLAN</a:t>
            </a:r>
          </a:p>
          <a:p>
            <a:pPr marL="628650" lvl="1" indent="-171450">
              <a:buFont typeface="Arial" panose="020B0604020202020204" pitchFamily="34" charset="0"/>
              <a:buChar char="•"/>
            </a:pPr>
            <a:r>
              <a:rPr lang="en-US" sz="900" dirty="0">
                <a:latin typeface="Calibri" panose="020F0502020204030204" pitchFamily="34" charset="0"/>
              </a:rPr>
              <a:t>Software programming is carried out using Siemens TIA Portal</a:t>
            </a:r>
          </a:p>
          <a:p>
            <a:pPr marL="171450" indent="-171450">
              <a:buFont typeface="Arial" panose="020B0604020202020204" pitchFamily="34" charset="0"/>
              <a:buChar char="•"/>
            </a:pPr>
            <a:r>
              <a:rPr lang="en-US" sz="900" dirty="0">
                <a:latin typeface="Calibri" panose="020F0502020204030204" pitchFamily="34" charset="0"/>
              </a:rPr>
              <a:t>Procurement of purchased and manufactured parts (mechanical and electrical)</a:t>
            </a:r>
          </a:p>
          <a:p>
            <a:pPr marL="171450" indent="-171450">
              <a:buFont typeface="Arial" panose="020B0604020202020204" pitchFamily="34" charset="0"/>
              <a:buChar char="•"/>
            </a:pPr>
            <a:r>
              <a:rPr lang="en-US" sz="900" dirty="0">
                <a:latin typeface="Calibri" panose="020F0502020204030204" pitchFamily="34" charset="0"/>
              </a:rPr>
              <a:t>Assembly with electrical and pneumatic installation in-house</a:t>
            </a:r>
          </a:p>
          <a:p>
            <a:pPr marL="171450" indent="-171450">
              <a:buFont typeface="Arial" panose="020B0604020202020204" pitchFamily="34" charset="0"/>
              <a:buChar char="•"/>
            </a:pPr>
            <a:r>
              <a:rPr lang="en-US" sz="900" dirty="0">
                <a:latin typeface="Calibri" panose="020F0502020204030204" pitchFamily="34" charset="0"/>
              </a:rPr>
              <a:t>Final assembly and commissioning as well as preliminary acceptance of the system in-house</a:t>
            </a:r>
          </a:p>
          <a:p>
            <a:pPr marL="171450" indent="-171450">
              <a:buFont typeface="Arial" panose="020B0604020202020204" pitchFamily="34" charset="0"/>
              <a:buChar char="•"/>
            </a:pPr>
            <a:r>
              <a:rPr lang="en-US" sz="900" dirty="0">
                <a:latin typeface="Calibri" panose="020F0502020204030204" pitchFamily="34" charset="0"/>
              </a:rPr>
              <a:t>Disassembly, loading, and transport</a:t>
            </a:r>
          </a:p>
          <a:p>
            <a:pPr marL="628650" lvl="1" indent="-171450">
              <a:buFont typeface="Arial" panose="020B0604020202020204" pitchFamily="34" charset="0"/>
              <a:buChar char="•"/>
            </a:pPr>
            <a:r>
              <a:rPr lang="en-US" sz="900" dirty="0">
                <a:latin typeface="Calibri" panose="020F0502020204030204" pitchFamily="34" charset="0"/>
              </a:rPr>
              <a:t>Transport to Satu Mare, Romania</a:t>
            </a:r>
          </a:p>
          <a:p>
            <a:pPr marL="171450" indent="-171450">
              <a:buFont typeface="Arial" panose="020B0604020202020204" pitchFamily="34" charset="0"/>
              <a:buChar char="•"/>
            </a:pPr>
            <a:r>
              <a:rPr lang="en-US" sz="900" dirty="0">
                <a:latin typeface="Calibri" panose="020F0502020204030204" pitchFamily="34" charset="0"/>
              </a:rPr>
              <a:t>Reassembly and commissioning at your factory</a:t>
            </a:r>
          </a:p>
          <a:p>
            <a:pPr marL="628650" lvl="1" indent="-171450">
              <a:buFont typeface="Arial" panose="020B0604020202020204" pitchFamily="34" charset="0"/>
              <a:buChar char="•"/>
            </a:pPr>
            <a:r>
              <a:rPr lang="en-US" sz="900" dirty="0">
                <a:latin typeface="Calibri" panose="020F0502020204030204" pitchFamily="34" charset="0"/>
              </a:rPr>
              <a:t>Planned duration for reconstruction and commissioning: approximately 4 weeks</a:t>
            </a:r>
          </a:p>
          <a:p>
            <a:pPr marL="171450" indent="-171450">
              <a:buFont typeface="Arial" panose="020B0604020202020204" pitchFamily="34" charset="0"/>
              <a:buChar char="•"/>
            </a:pPr>
            <a:r>
              <a:rPr lang="en-US" sz="900" dirty="0">
                <a:latin typeface="Calibri" panose="020F0502020204030204" pitchFamily="34" charset="0"/>
              </a:rPr>
              <a:t>Training/instruction of your employees</a:t>
            </a:r>
          </a:p>
          <a:p>
            <a:pPr marL="171450" indent="-171450">
              <a:buFont typeface="Arial" panose="020B0604020202020204" pitchFamily="34" charset="0"/>
              <a:buChar char="•"/>
            </a:pPr>
            <a:r>
              <a:rPr lang="en-US" sz="900" dirty="0">
                <a:latin typeface="Calibri" panose="020F0502020204030204" pitchFamily="34" charset="0"/>
              </a:rPr>
              <a:t>Preparation of documentation</a:t>
            </a:r>
          </a:p>
          <a:p>
            <a:pPr marL="171450" indent="-171450">
              <a:buFont typeface="Arial" panose="020B0604020202020204" pitchFamily="34" charset="0"/>
              <a:buChar char="•"/>
            </a:pPr>
            <a:r>
              <a:rPr lang="en-US" sz="900" dirty="0">
                <a:latin typeface="Calibri" panose="020F0502020204030204" pitchFamily="34" charset="0"/>
              </a:rPr>
              <a:t>Project management</a:t>
            </a:r>
          </a:p>
          <a:p>
            <a:pPr marL="171450" indent="-171450">
              <a:buFont typeface="Arial" panose="020B0604020202020204" pitchFamily="34" charset="0"/>
              <a:buChar char="•"/>
            </a:pPr>
            <a:r>
              <a:rPr lang="en-US" sz="900" dirty="0">
                <a:latin typeface="Calibri" panose="020F0502020204030204" pitchFamily="34" charset="0"/>
              </a:rPr>
              <a:t>Weekly project meetings between Gluth and </a:t>
            </a:r>
            <a:r>
              <a:rPr lang="en-US" sz="900" dirty="0" err="1">
                <a:latin typeface="Calibri" panose="020F0502020204030204" pitchFamily="34" charset="0"/>
              </a:rPr>
              <a:t>Dräxlmaier</a:t>
            </a:r>
            <a:endParaRPr lang="en-US" sz="900" dirty="0">
              <a:latin typeface="Calibri" panose="020F0502020204030204" pitchFamily="34" charset="0"/>
            </a:endParaRPr>
          </a:p>
          <a:p>
            <a:pPr marL="171450" indent="-171450">
              <a:buFont typeface="Arial" panose="020B0604020202020204" pitchFamily="34" charset="0"/>
              <a:buChar char="•"/>
            </a:pPr>
            <a:r>
              <a:rPr lang="en-US" sz="900" dirty="0">
                <a:latin typeface="Calibri" panose="020F0502020204030204" pitchFamily="34" charset="0"/>
              </a:rPr>
              <a:t>Setting up and creating type data for two types each with a cross-section of 16 mm² 25mm², 32mm²</a:t>
            </a:r>
            <a:endParaRPr lang="de-DE" sz="900" dirty="0">
              <a:latin typeface="Calibri" panose="020F0502020204030204" pitchFamily="34" charset="0"/>
            </a:endParaRPr>
          </a:p>
        </p:txBody>
      </p:sp>
    </p:spTree>
    <p:extLst>
      <p:ext uri="{BB962C8B-B14F-4D97-AF65-F5344CB8AC3E}">
        <p14:creationId xmlns:p14="http://schemas.microsoft.com/office/powerpoint/2010/main" val="1122238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C5ECCF-0DD2-B8C7-6D98-7FF136AB5D05}"/>
              </a:ext>
            </a:extLst>
          </p:cNvPr>
          <p:cNvSpPr>
            <a:spLocks noChangeArrowheads="1"/>
          </p:cNvSpPr>
          <p:nvPr/>
        </p:nvSpPr>
        <p:spPr bwMode="auto">
          <a:xfrm>
            <a:off x="633388" y="958231"/>
            <a:ext cx="5867312" cy="2623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1" fontAlgn="ctr">
              <a:spcBef>
                <a:spcPts val="1200"/>
              </a:spcBef>
              <a:spcAft>
                <a:spcPts val="900"/>
              </a:spcAft>
            </a:pPr>
            <a:r>
              <a:rPr lang="de-DE" sz="1400" b="1" u="sng" dirty="0" err="1">
                <a:latin typeface="Calibri" panose="020F0502020204030204" pitchFamily="34" charset="0"/>
                <a:ea typeface="Calibri" panose="020F0502020204030204" pitchFamily="34" charset="0"/>
                <a:cs typeface="Calibri" panose="020F0502020204030204" pitchFamily="34" charset="0"/>
              </a:rPr>
              <a:t>Supplies</a:t>
            </a:r>
            <a:r>
              <a:rPr lang="de-DE" sz="1400" b="1" u="sng" dirty="0">
                <a:latin typeface="Calibri" panose="020F0502020204030204" pitchFamily="34" charset="0"/>
                <a:ea typeface="Calibri" panose="020F0502020204030204" pitchFamily="34" charset="0"/>
                <a:cs typeface="Calibri" panose="020F0502020204030204" pitchFamily="34" charset="0"/>
              </a:rPr>
              <a:t> from Dräxlmeier</a:t>
            </a:r>
          </a:p>
          <a:p>
            <a:pPr marL="742950" lvl="1" indent="-285750" fontAlgn="base">
              <a:spcBef>
                <a:spcPct val="0"/>
              </a:spcBef>
              <a:spcAft>
                <a:spcPct val="0"/>
              </a:spcAft>
              <a:buFont typeface="Arial" panose="020B0604020202020204" pitchFamily="34" charset="0"/>
              <a:buChar char="•"/>
              <a:tabLst>
                <a:tab pos="695325" algn="l"/>
              </a:tabLst>
            </a:pPr>
            <a:endParaRPr lang="de-DE" sz="1100" dirty="0">
              <a:latin typeface="Calibri" panose="020F0502020204030204" pitchFamily="34" charset="0"/>
            </a:endParaRPr>
          </a:p>
          <a:p>
            <a:pPr fontAlgn="base">
              <a:spcBef>
                <a:spcPct val="0"/>
              </a:spcBef>
              <a:spcAft>
                <a:spcPct val="0"/>
              </a:spcAft>
              <a:tabLst>
                <a:tab pos="695325" algn="l"/>
              </a:tabLst>
            </a:pPr>
            <a:r>
              <a:rPr lang="en-US" sz="1100" dirty="0">
                <a:solidFill>
                  <a:srgbClr val="25363E"/>
                </a:solidFill>
                <a:latin typeface="Arial" panose="020B0604020202020204" pitchFamily="34" charset="0"/>
                <a:cs typeface="Arial" panose="020B0604020202020204" pitchFamily="34" charset="0"/>
              </a:rPr>
              <a:t>When placing an order, we request the following free of charge and on time:</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Current drawings of all component variants</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Samples of all individual parts and cable variants on coils</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Consumables (e.g., solder)</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Samples in the as-manufactured state, crimped and unsoldered</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Pass/fail samples for camera selection</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Pass/fail evaluation catalog for camera selection</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Two crimping tools per type, based on design and coordination between Gluth and </a:t>
            </a:r>
            <a:r>
              <a:rPr lang="en-US" sz="1100" dirty="0" err="1">
                <a:latin typeface="Calibri" panose="020F0502020204030204" pitchFamily="34" charset="0"/>
              </a:rPr>
              <a:t>Dräxlmeier</a:t>
            </a:r>
            <a:endParaRPr lang="en-US" sz="1100" dirty="0">
              <a:latin typeface="Calibri" panose="020F0502020204030204" pitchFamily="34" charset="0"/>
            </a:endParaRP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MES test system or online access</a:t>
            </a:r>
          </a:p>
          <a:p>
            <a:pPr marL="285750"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Provision of the necessary power connections for the systems in your facility</a:t>
            </a:r>
          </a:p>
          <a:p>
            <a:pPr marL="742950" lvl="1"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for pneumatics supply</a:t>
            </a:r>
          </a:p>
          <a:p>
            <a:pPr marL="742950" lvl="1" indent="-285750" fontAlgn="base">
              <a:spcBef>
                <a:spcPct val="0"/>
              </a:spcBef>
              <a:spcAft>
                <a:spcPct val="0"/>
              </a:spcAft>
              <a:buFont typeface="Arial" panose="020B0604020202020204" pitchFamily="34" charset="0"/>
              <a:buChar char="•"/>
              <a:tabLst>
                <a:tab pos="695325" algn="l"/>
              </a:tabLst>
            </a:pPr>
            <a:r>
              <a:rPr lang="en-US" sz="1100" dirty="0">
                <a:latin typeface="Calibri" panose="020F0502020204030204" pitchFamily="34" charset="0"/>
              </a:rPr>
              <a:t>for electrical supply</a:t>
            </a:r>
            <a:endParaRPr lang="de-DE" sz="1100" dirty="0">
              <a:latin typeface="Calibri" panose="020F0502020204030204" pitchFamily="34" charset="0"/>
            </a:endParaRPr>
          </a:p>
        </p:txBody>
      </p:sp>
      <p:sp>
        <p:nvSpPr>
          <p:cNvPr id="3" name="Titel 1">
            <a:extLst>
              <a:ext uri="{FF2B5EF4-FFF2-40B4-BE49-F238E27FC236}">
                <a16:creationId xmlns:a16="http://schemas.microsoft.com/office/drawing/2014/main" id="{2CDCC81D-3889-0F77-BFD2-94410A6A664D}"/>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err="1">
                <a:solidFill>
                  <a:srgbClr val="2C3F48"/>
                </a:solidFill>
              </a:rPr>
              <a:t>Supplies</a:t>
            </a:r>
            <a:endParaRPr lang="de-DE" sz="1400" b="1" dirty="0">
              <a:solidFill>
                <a:srgbClr val="2C3F48"/>
              </a:solidFill>
            </a:endParaRPr>
          </a:p>
        </p:txBody>
      </p:sp>
    </p:spTree>
    <p:extLst>
      <p:ext uri="{BB962C8B-B14F-4D97-AF65-F5344CB8AC3E}">
        <p14:creationId xmlns:p14="http://schemas.microsoft.com/office/powerpoint/2010/main" val="333188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C5ECCF-0DD2-B8C7-6D98-7FF136AB5D05}"/>
              </a:ext>
            </a:extLst>
          </p:cNvPr>
          <p:cNvSpPr>
            <a:spLocks noChangeArrowheads="1"/>
          </p:cNvSpPr>
          <p:nvPr/>
        </p:nvSpPr>
        <p:spPr bwMode="auto">
          <a:xfrm>
            <a:off x="226820" y="786710"/>
            <a:ext cx="5403125" cy="4262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None/>
              <a:tabLst/>
            </a:pPr>
            <a:r>
              <a:rPr lang="en-US" altLang="de-DE" sz="1400" b="1" u="sng" dirty="0">
                <a:latin typeface="Calibri" panose="020F0502020204030204" pitchFamily="34" charset="0"/>
                <a:ea typeface="Calibri" panose="020F0502020204030204" pitchFamily="34" charset="0"/>
                <a:cs typeface="Calibri" panose="020F0502020204030204" pitchFamily="34" charset="0"/>
              </a:rPr>
              <a:t>Scope of Documentation: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mechanical documentation is delivered once on a data storage medium in PDF format and consists of the following documents: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Assembly drawings with parts lists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Spare and wear parts lists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Pneumatic and hydraulic diagrams with parts lists</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electrical documentation is delivered once on a data storage medium (CD) and consists of the following documents: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Electrical diagram (EPLAN) with parts lists (additionally once in paper form for the control cabinet)</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software documentation is delivered once on a data storage medium (CD) and consists of:</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Program source code</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software documentation does not include: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Program printout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Data flow diagram</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general documentation consists of the following documents: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Operating instructions with EC Declaration of Conformity (1x on paper in a folder)</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Accessory documentation as standard documentation from the respective suppliers (1x in PDF)</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de-DE" sz="900" dirty="0">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1400" b="1" u="sng" dirty="0">
                <a:latin typeface="Calibri" panose="020F0502020204030204" pitchFamily="34" charset="0"/>
                <a:ea typeface="Calibri" panose="020F0502020204030204" pitchFamily="34" charset="0"/>
                <a:cs typeface="Calibri" panose="020F0502020204030204" pitchFamily="34" charset="0"/>
              </a:rPr>
              <a:t>Training/Instruction: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The instruction of your employees takes place as part of the commissioning over two days at your factory and includes: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Instruction on safety functions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Operation of the system</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Instruction on the Testing procedures...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Troubleshooting</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de-DE" sz="900" dirty="0">
                <a:latin typeface="Calibri" panose="020F0502020204030204" pitchFamily="34" charset="0"/>
              </a:rPr>
              <a:t>Maintenance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de-DE" sz="900" dirty="0">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de-DE" sz="900" dirty="0">
                <a:latin typeface="Calibri" panose="020F0502020204030204" pitchFamily="34" charset="0"/>
              </a:rPr>
              <a:t>We ask that you release your designated specialist personnel and provide support from a German or English speaking employee.</a:t>
            </a:r>
            <a:endParaRPr lang="de-DE" altLang="de-DE" sz="900" dirty="0">
              <a:latin typeface="Calibri" panose="020F0502020204030204" pitchFamily="34" charset="0"/>
            </a:endParaRPr>
          </a:p>
        </p:txBody>
      </p:sp>
      <p:sp>
        <p:nvSpPr>
          <p:cNvPr id="3" name="Titel 1">
            <a:extLst>
              <a:ext uri="{FF2B5EF4-FFF2-40B4-BE49-F238E27FC236}">
                <a16:creationId xmlns:a16="http://schemas.microsoft.com/office/drawing/2014/main" id="{2CDCC81D-3889-0F77-BFD2-94410A6A664D}"/>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err="1">
                <a:solidFill>
                  <a:srgbClr val="2C3F48"/>
                </a:solidFill>
              </a:rPr>
              <a:t>Miscellaneous</a:t>
            </a:r>
            <a:endParaRPr lang="de-DE" sz="1400" b="1" dirty="0">
              <a:solidFill>
                <a:srgbClr val="2C3F48"/>
              </a:solidFill>
            </a:endParaRPr>
          </a:p>
        </p:txBody>
      </p:sp>
      <p:sp>
        <p:nvSpPr>
          <p:cNvPr id="5" name="Rectangle 1">
            <a:extLst>
              <a:ext uri="{FF2B5EF4-FFF2-40B4-BE49-F238E27FC236}">
                <a16:creationId xmlns:a16="http://schemas.microsoft.com/office/drawing/2014/main" id="{28202D2B-36EA-94D5-0D05-27AD823CD881}"/>
              </a:ext>
            </a:extLst>
          </p:cNvPr>
          <p:cNvSpPr>
            <a:spLocks noChangeArrowheads="1"/>
          </p:cNvSpPr>
          <p:nvPr/>
        </p:nvSpPr>
        <p:spPr bwMode="auto">
          <a:xfrm>
            <a:off x="6168479" y="786710"/>
            <a:ext cx="5403125"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ctr"/>
            <a:r>
              <a:rPr lang="en-US" sz="1400" b="1" u="sng" dirty="0">
                <a:latin typeface="Calibri" panose="020F0502020204030204" pitchFamily="34" charset="0"/>
                <a:ea typeface="Calibri" panose="020F0502020204030204" pitchFamily="34" charset="0"/>
                <a:cs typeface="Calibri" panose="020F0502020204030204" pitchFamily="34" charset="0"/>
              </a:rPr>
              <a:t>Language</a:t>
            </a:r>
          </a:p>
          <a:p>
            <a:pPr fontAlgn="ctr"/>
            <a:r>
              <a:rPr lang="en-US" sz="900" dirty="0">
                <a:latin typeface="Calibri" panose="020F0502020204030204" pitchFamily="34" charset="0"/>
                <a:ea typeface="Calibri" panose="020F0502020204030204" pitchFamily="34" charset="0"/>
                <a:cs typeface="Calibri" panose="020F0502020204030204" pitchFamily="34" charset="0"/>
              </a:rPr>
              <a:t>The system is available in German.</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The following documents/components are available in Romanian:</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Operating instructions</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Operating and display texts</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Accessory documentation (where available)</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Electrical diagram (path designations)</a:t>
            </a:r>
          </a:p>
          <a:p>
            <a:pPr marL="171450" indent="-171450" fontAlgn="ctr">
              <a:buFont typeface="Arial" panose="020B0604020202020204" pitchFamily="34" charset="0"/>
              <a:buChar char="•"/>
            </a:pPr>
            <a:r>
              <a:rPr lang="en-US" sz="900" dirty="0">
                <a:latin typeface="Calibri" panose="020F0502020204030204" pitchFamily="34" charset="0"/>
                <a:ea typeface="Calibri" panose="020F0502020204030204" pitchFamily="34" charset="0"/>
                <a:cs typeface="Calibri" panose="020F0502020204030204" pitchFamily="34" charset="0"/>
              </a:rPr>
              <a:t>Signage (where international symbols are not possible)</a:t>
            </a:r>
          </a:p>
          <a:p>
            <a:pPr fontAlgn="ctr"/>
            <a:endParaRPr lang="en-US" sz="900" dirty="0">
              <a:latin typeface="Calibri" panose="020F0502020204030204" pitchFamily="34" charset="0"/>
              <a:ea typeface="Calibri" panose="020F0502020204030204" pitchFamily="34" charset="0"/>
              <a:cs typeface="Calibri" panose="020F0502020204030204" pitchFamily="34" charset="0"/>
            </a:endParaRPr>
          </a:p>
          <a:p>
            <a:pPr fontAlgn="ctr"/>
            <a:r>
              <a:rPr lang="en-US" sz="900" dirty="0">
                <a:latin typeface="Calibri" panose="020F0502020204030204" pitchFamily="34" charset="0"/>
                <a:ea typeface="Calibri" panose="020F0502020204030204" pitchFamily="34" charset="0"/>
                <a:cs typeface="Calibri" panose="020F0502020204030204" pitchFamily="34" charset="0"/>
              </a:rPr>
              <a:t>We ask for the assistance of your specialists  to review or complete the translation.</a:t>
            </a:r>
            <a:endParaRPr lang="de-DE" sz="900" dirty="0">
              <a:latin typeface="Calibri" panose="020F0502020204030204" pitchFamily="34" charset="0"/>
              <a:ea typeface="Calibri" panose="020F0502020204030204" pitchFamily="34" charset="0"/>
              <a:cs typeface="Calibri" panose="020F0502020204030204" pitchFamily="34" charset="0"/>
            </a:endParaRPr>
          </a:p>
          <a:p>
            <a:pPr fontAlgn="ctr"/>
            <a:endParaRPr lang="de-DE" sz="900" dirty="0">
              <a:latin typeface="Calibri" panose="020F0502020204030204" pitchFamily="34" charset="0"/>
              <a:ea typeface="Calibri" panose="020F0502020204030204" pitchFamily="34" charset="0"/>
              <a:cs typeface="Calibri" panose="020F0502020204030204" pitchFamily="34" charset="0"/>
            </a:endParaRPr>
          </a:p>
          <a:p>
            <a:r>
              <a:rPr lang="en-US" sz="1400" b="1" u="sng" dirty="0">
                <a:latin typeface="Calibri" panose="020F0502020204030204" pitchFamily="34" charset="0"/>
                <a:ea typeface="Calibri" panose="020F0502020204030204" pitchFamily="34" charset="0"/>
                <a:cs typeface="Calibri" panose="020F0502020204030204" pitchFamily="34" charset="0"/>
              </a:rPr>
              <a:t>Project Management</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We appoint a primary project manager who will primarily be responsible for the following tasks: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Central contact for our customer, Gluth internally, and for the suppliers of components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Regular project status reports, as required by the project</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Planning, implementation, and moderation of design FMEAs, as well as software concept discussions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Control of costs and deadlines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Clarification of interfaces for components, in particular</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Support in conducting acceptance tests for components (especially interface reviews)</a:t>
            </a:r>
          </a:p>
          <a:p>
            <a:pPr marL="171450" indent="-171450">
              <a:buFont typeface="Arial" panose="020B0604020202020204" pitchFamily="34" charset="0"/>
              <a:buChar char="•"/>
            </a:pP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Clarification and recording of any changes (change management)</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However, we request support from the relevant departments, particularly with regard to existing process and product experience. This experience should be incorporated, especially in the early project phase. We would also like to point out that the customer is responsible for deadlines for components.</a:t>
            </a:r>
            <a:endParaRPr lang="de-DE"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fontAlgn="ctr"/>
            <a:r>
              <a:rPr lang="en-US" sz="1400" b="1" u="sng" dirty="0">
                <a:latin typeface="Calibri" panose="020F0502020204030204" pitchFamily="34" charset="0"/>
                <a:ea typeface="Calibri" panose="020F0502020204030204" pitchFamily="34" charset="0"/>
                <a:cs typeface="Calibri" panose="020F0502020204030204" pitchFamily="34" charset="0"/>
              </a:rPr>
              <a:t>Technical and organizational changes during the project</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If the customer subsequently requests technical or organizational changes that result in an additional charge or a delay in delivery, Gluth will provide a cost estimate or specify the delay.</a:t>
            </a:r>
          </a:p>
          <a:p>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Implementation of technical changes requires that the customer has placed an order for them and that Gluth has confirmed this with a corresponding order confirmation or project plan.</a:t>
            </a:r>
            <a:endParaRPr lang="de-DE"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6212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BD632A91-C088-789E-E9BF-4F0EAB0048C4}"/>
              </a:ext>
            </a:extLst>
          </p:cNvPr>
          <p:cNvSpPr txBox="1"/>
          <p:nvPr/>
        </p:nvSpPr>
        <p:spPr>
          <a:xfrm>
            <a:off x="635000" y="755740"/>
            <a:ext cx="5730966" cy="4524315"/>
          </a:xfrm>
          <a:prstGeom prst="rect">
            <a:avLst/>
          </a:prstGeom>
          <a:noFill/>
        </p:spPr>
        <p:txBody>
          <a:bodyPr wrap="square">
            <a:spAutoFit/>
          </a:bodyPr>
          <a:lstStyle/>
          <a:p>
            <a:pPr fontAlgn="ctr"/>
            <a:r>
              <a:rPr lang="en-US" sz="1400" b="1" u="sng" dirty="0">
                <a:latin typeface="Calibri" panose="020F0502020204030204" pitchFamily="34" charset="0"/>
                <a:ea typeface="Calibri" panose="020F0502020204030204" pitchFamily="34" charset="0"/>
                <a:cs typeface="Calibri" panose="020F0502020204030204" pitchFamily="34" charset="0"/>
              </a:rPr>
              <a:t>Service – Maintenance – Liability</a:t>
            </a:r>
          </a:p>
          <a:p>
            <a:pPr marL="180000"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Service Response Time</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Our qualified specialists will be available on-site within </a:t>
            </a:r>
            <a:r>
              <a:rPr lang="en-US" sz="900" b="1"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two days </a:t>
            </a: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to return the system to production status as quickly as possible. This policy applies if the request is received Monday through Thursday between 7:00 am and 4:00 pm. For service calls received after 4:00 pm, the above-mentioned deadline begins at 7:00 am on the following business day. For service calls received on Fridays after 12:15 pm., the above-mentioned deadline begins at 7:00 am on the following Monday, or by arrangement via permanent service telephone numbers.</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This response time is only valid for the Satu Mare location.</a:t>
            </a:r>
          </a:p>
          <a:p>
            <a:pPr marL="180000"/>
            <a:endPar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Our company is also available on weekends and public holidays via permanent service telephone numbers. In an </a:t>
            </a:r>
            <a:r>
              <a:rPr lang="en-US" sz="900" u="sng"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emergency</a:t>
            </a: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 we will try to organize the appropriate staff to ensure you receive professional support. If telephone support is not successful, we are also available to carry out emergency service calls on weekends. Necessary, foreseeable assignments on weekends or holidays will be carried out after consultation with you.</a:t>
            </a:r>
          </a:p>
          <a:p>
            <a:pPr marL="180000"/>
            <a:endPar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180000"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Liability for Material Defects</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Liability for material defects is 24 months, without shift restrictions, beginning on the day of handover to your premises, but no later than four weeks after delivery. For purchased parts, the period begins upon receipt at our premises. Excluded are spare and wear parts, as well as components supplied by the supplier.</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Liability for material defects applies only to newly delivered components.</a:t>
            </a:r>
          </a:p>
          <a:p>
            <a:pPr marL="180000"/>
            <a:endPar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marL="180000"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Liability for Assembly Work</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We are liable for damages caused by us, our vicarious agents, or our subcontractors within the scope of the statutory provisions with the following liability insurance policies (maximum coverage amounts):</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Business and product liability insurance:</a:t>
            </a:r>
          </a:p>
          <a:p>
            <a:pPr marL="351450" indent="-171450">
              <a:buFont typeface="Arial" panose="020B0604020202020204" pitchFamily="34" charset="0"/>
              <a:buChar char="•"/>
            </a:pPr>
            <a:r>
              <a:rPr lang="en-US" sz="900" dirty="0" err="1">
                <a:solidFill>
                  <a:srgbClr val="25363E"/>
                </a:solidFill>
                <a:latin typeface="Calibri" panose="020F0502020204030204" pitchFamily="34" charset="0"/>
                <a:ea typeface="Calibri" panose="020F0502020204030204" pitchFamily="34" charset="0"/>
                <a:cs typeface="Calibri" panose="020F0502020204030204" pitchFamily="34" charset="0"/>
              </a:rPr>
              <a:t>Persoinjury</a:t>
            </a: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 and property damage (flat rate) 	EUR 10.000.000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Fire and explosion damage 		EUR   5.000.000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Industrial damage 		EUR      100.000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Financial loss		EUR      100.000</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Environmental liability insurance</a:t>
            </a:r>
          </a:p>
          <a:p>
            <a:pPr marL="351450" indent="-171450">
              <a:buFont typeface="Arial" panose="020B0604020202020204" pitchFamily="34" charset="0"/>
              <a:buChar char="•"/>
            </a:pP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Personal injury and property damage </a:t>
            </a:r>
            <a:r>
              <a:rPr lang="en-US" sz="900" dirty="0" err="1">
                <a:solidFill>
                  <a:srgbClr val="25363E"/>
                </a:solidFill>
                <a:latin typeface="Calibri" panose="020F0502020204030204" pitchFamily="34" charset="0"/>
                <a:ea typeface="Calibri" panose="020F0502020204030204" pitchFamily="34" charset="0"/>
                <a:cs typeface="Calibri" panose="020F0502020204030204" pitchFamily="34" charset="0"/>
              </a:rPr>
              <a:t>nal</a:t>
            </a:r>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 (</a:t>
            </a:r>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flat rate) EUR 1.500.000</a:t>
            </a:r>
          </a:p>
          <a:p>
            <a:pPr marL="180000"/>
            <a:r>
              <a:rPr lang="en-US"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rPr>
              <a:t>We cannot accept liability for amounts exceeding this amount.</a:t>
            </a:r>
            <a:endParaRPr lang="de-DE" sz="9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a:p>
            <a:pPr indent="450215"/>
            <a:endParaRPr lang="de-DE" sz="400" dirty="0">
              <a:solidFill>
                <a:srgbClr val="25363E"/>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itel 1">
            <a:extLst>
              <a:ext uri="{FF2B5EF4-FFF2-40B4-BE49-F238E27FC236}">
                <a16:creationId xmlns:a16="http://schemas.microsoft.com/office/drawing/2014/main" id="{33691390-4D44-3063-5500-0C29006C4A30}"/>
              </a:ext>
            </a:extLst>
          </p:cNvPr>
          <p:cNvSpPr txBox="1">
            <a:spLocks/>
          </p:cNvSpPr>
          <p:nvPr/>
        </p:nvSpPr>
        <p:spPr>
          <a:xfrm>
            <a:off x="2368113" y="69915"/>
            <a:ext cx="6909683" cy="284849"/>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de-DE" sz="1400" b="1" dirty="0" err="1">
                <a:solidFill>
                  <a:srgbClr val="2C3F48"/>
                </a:solidFill>
              </a:rPr>
              <a:t>Miscellaneous</a:t>
            </a:r>
            <a:endParaRPr lang="de-DE" sz="1400" b="1" dirty="0">
              <a:solidFill>
                <a:srgbClr val="2C3F48"/>
              </a:solidFill>
            </a:endParaRPr>
          </a:p>
        </p:txBody>
      </p:sp>
      <p:sp>
        <p:nvSpPr>
          <p:cNvPr id="2" name="Textfeld 1">
            <a:extLst>
              <a:ext uri="{FF2B5EF4-FFF2-40B4-BE49-F238E27FC236}">
                <a16:creationId xmlns:a16="http://schemas.microsoft.com/office/drawing/2014/main" id="{6747AC91-79EE-9381-5658-A4791E06BE3F}"/>
              </a:ext>
            </a:extLst>
          </p:cNvPr>
          <p:cNvSpPr txBox="1"/>
          <p:nvPr/>
        </p:nvSpPr>
        <p:spPr>
          <a:xfrm>
            <a:off x="6461034" y="973455"/>
            <a:ext cx="5095966" cy="1692771"/>
          </a:xfrm>
          <a:prstGeom prst="rect">
            <a:avLst/>
          </a:prstGeom>
          <a:noFill/>
        </p:spPr>
        <p:txBody>
          <a:bodyPr wrap="square">
            <a:spAutoFit/>
          </a:bodyPr>
          <a:lstStyle/>
          <a:p>
            <a:pPr marL="180000" lvl="1" indent="-180000" fontAlgn="base">
              <a:spcBef>
                <a:spcPct val="0"/>
              </a:spcBef>
              <a:spcAft>
                <a:spcPct val="0"/>
              </a:spcAft>
              <a:buFont typeface="Arial" panose="020B0604020202020204" pitchFamily="34" charset="0"/>
              <a:buChar char="•"/>
            </a:pPr>
            <a:r>
              <a:rPr lang="en-US" sz="900" b="1" dirty="0">
                <a:latin typeface="Calibri" panose="020F0502020204030204" pitchFamily="34" charset="0"/>
              </a:rPr>
              <a:t>Disclaimer </a:t>
            </a:r>
          </a:p>
          <a:p>
            <a:pPr marL="180000" algn="just"/>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We cannot accept liability for damages and consequential damages caused by improper use or tampering with our equipment by the operator. We also generally exclude liability if products manufactured on our equipment do not comply with legal regulations or if their use violates legal regulations.</a:t>
            </a:r>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80000" algn="just"/>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80000" algn="just"/>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a:p>
            <a:pPr marL="180000" algn="just"/>
            <a:r>
              <a:rPr lang="en-US" sz="1400" b="1" u="sng" dirty="0">
                <a:latin typeface="Calibri" panose="020F0502020204030204" pitchFamily="34" charset="0"/>
                <a:ea typeface="Calibri" panose="020F0502020204030204" pitchFamily="34" charset="0"/>
                <a:cs typeface="Calibri" panose="020F0502020204030204" pitchFamily="34" charset="0"/>
              </a:rPr>
              <a:t>Offer Documents </a:t>
            </a:r>
          </a:p>
          <a:p>
            <a:pPr marL="180000" algn="just"/>
            <a:r>
              <a:rPr lang="en-US" sz="900" dirty="0">
                <a:solidFill>
                  <a:srgbClr val="25363E"/>
                </a:solidFill>
                <a:latin typeface="Calibri" panose="020F0502020204030204" pitchFamily="34" charset="0"/>
                <a:ea typeface="Calibri" panose="020F0502020204030204" pitchFamily="34" charset="0"/>
                <a:cs typeface="Calibri" panose="020F0502020204030204" pitchFamily="34" charset="0"/>
              </a:rPr>
              <a:t>All documents provided as part of the offer process remain our property. This applies in particular to layout and concept proposals, as well as presentation materials. Any other use or disclosure to third parties requires our written consent.</a:t>
            </a:r>
            <a:endParaRPr lang="de-DE" sz="900" dirty="0">
              <a:solidFill>
                <a:srgbClr val="25363E"/>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0514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B2710CF3-13A0-BAC4-307D-1F9FAE60C76E}"/>
              </a:ext>
            </a:extLst>
          </p:cNvPr>
          <p:cNvSpPr>
            <a:spLocks noGrp="1"/>
          </p:cNvSpPr>
          <p:nvPr>
            <p:ph type="title"/>
          </p:nvPr>
        </p:nvSpPr>
        <p:spPr>
          <a:xfrm>
            <a:off x="3500524" y="161538"/>
            <a:ext cx="4656790" cy="265716"/>
          </a:xfrm>
        </p:spPr>
        <p:txBody>
          <a:bodyPr/>
          <a:lstStyle/>
          <a:p>
            <a:r>
              <a:rPr lang="de-DE" sz="1400" b="1" dirty="0">
                <a:latin typeface="+mj-lt"/>
              </a:rPr>
              <a:t>Project Schedule</a:t>
            </a:r>
          </a:p>
        </p:txBody>
      </p:sp>
      <p:pic>
        <p:nvPicPr>
          <p:cNvPr id="7" name="Grafik 6">
            <a:extLst>
              <a:ext uri="{FF2B5EF4-FFF2-40B4-BE49-F238E27FC236}">
                <a16:creationId xmlns:a16="http://schemas.microsoft.com/office/drawing/2014/main" id="{04E9F535-BDF8-3762-54A5-4F8C76911094}"/>
              </a:ext>
            </a:extLst>
          </p:cNvPr>
          <p:cNvPicPr>
            <a:picLocks noChangeAspect="1"/>
          </p:cNvPicPr>
          <p:nvPr/>
        </p:nvPicPr>
        <p:blipFill>
          <a:blip r:embed="rId2"/>
          <a:stretch>
            <a:fillRect/>
          </a:stretch>
        </p:blipFill>
        <p:spPr>
          <a:xfrm>
            <a:off x="552450" y="1836304"/>
            <a:ext cx="10871200" cy="2964873"/>
          </a:xfrm>
          <a:prstGeom prst="rect">
            <a:avLst/>
          </a:prstGeom>
        </p:spPr>
      </p:pic>
    </p:spTree>
    <p:extLst>
      <p:ext uri="{BB962C8B-B14F-4D97-AF65-F5344CB8AC3E}">
        <p14:creationId xmlns:p14="http://schemas.microsoft.com/office/powerpoint/2010/main" val="1778672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B2710CF3-13A0-BAC4-307D-1F9FAE60C76E}"/>
              </a:ext>
            </a:extLst>
          </p:cNvPr>
          <p:cNvSpPr>
            <a:spLocks noGrp="1"/>
          </p:cNvSpPr>
          <p:nvPr>
            <p:ph type="title"/>
          </p:nvPr>
        </p:nvSpPr>
        <p:spPr>
          <a:xfrm>
            <a:off x="3500524" y="161538"/>
            <a:ext cx="4656790" cy="265716"/>
          </a:xfrm>
        </p:spPr>
        <p:txBody>
          <a:bodyPr/>
          <a:lstStyle/>
          <a:p>
            <a:r>
              <a:rPr lang="de-DE" sz="1400" b="1" dirty="0">
                <a:latin typeface="+mj-lt"/>
              </a:rPr>
              <a:t>Project Prices</a:t>
            </a:r>
            <a:br>
              <a:rPr lang="de-DE" sz="2000" b="1" dirty="0"/>
            </a:br>
            <a:endParaRPr lang="de-DE" sz="2000" b="1" dirty="0"/>
          </a:p>
        </p:txBody>
      </p:sp>
      <p:sp>
        <p:nvSpPr>
          <p:cNvPr id="4" name="Textfeld 3">
            <a:extLst>
              <a:ext uri="{FF2B5EF4-FFF2-40B4-BE49-F238E27FC236}">
                <a16:creationId xmlns:a16="http://schemas.microsoft.com/office/drawing/2014/main" id="{72C62C39-D6FE-D60B-12E1-5EA4211584E2}"/>
              </a:ext>
            </a:extLst>
          </p:cNvPr>
          <p:cNvSpPr txBox="1"/>
          <p:nvPr/>
        </p:nvSpPr>
        <p:spPr>
          <a:xfrm>
            <a:off x="611014" y="1140069"/>
            <a:ext cx="6647974" cy="3293209"/>
          </a:xfrm>
          <a:prstGeom prst="rect">
            <a:avLst/>
          </a:prstGeom>
          <a:noFill/>
        </p:spPr>
        <p:txBody>
          <a:bodyPr wrap="none" rtlCol="0">
            <a:spAutoFit/>
          </a:bodyPr>
          <a:lstStyle/>
          <a:p>
            <a:pPr>
              <a:tabLst>
                <a:tab pos="5400000" algn="r"/>
              </a:tabLst>
            </a:pPr>
            <a:r>
              <a:rPr lang="de-DE" sz="1600" b="1" dirty="0"/>
              <a:t>Basic </a:t>
            </a:r>
            <a:r>
              <a:rPr lang="de-DE" sz="1600" b="1" dirty="0" err="1"/>
              <a:t>Scope</a:t>
            </a:r>
            <a:r>
              <a:rPr lang="de-DE" sz="1600" b="1" dirty="0"/>
              <a:t> „</a:t>
            </a:r>
            <a:r>
              <a:rPr lang="de-DE" sz="1600" b="1" dirty="0" err="1"/>
              <a:t>Automatic</a:t>
            </a:r>
            <a:r>
              <a:rPr lang="de-DE" sz="1600" b="1" dirty="0"/>
              <a:t> Production Line“	1.764.000 €		</a:t>
            </a:r>
          </a:p>
          <a:p>
            <a:pPr>
              <a:tabLst>
                <a:tab pos="5400000" algn="r"/>
              </a:tabLst>
            </a:pPr>
            <a:r>
              <a:rPr lang="de-DE" sz="1600" dirty="0"/>
              <a:t>Transport and </a:t>
            </a:r>
            <a:r>
              <a:rPr lang="de-DE" sz="1600" dirty="0" err="1"/>
              <a:t>Comissioning</a:t>
            </a:r>
            <a:r>
              <a:rPr lang="de-DE" sz="1600" dirty="0"/>
              <a:t> in Satu Mare	109.000 €</a:t>
            </a:r>
          </a:p>
          <a:p>
            <a:pPr>
              <a:tabLst>
                <a:tab pos="5400000" algn="r"/>
              </a:tabLst>
            </a:pPr>
            <a:r>
              <a:rPr lang="de-DE" sz="1600" dirty="0" err="1"/>
              <a:t>Instruction</a:t>
            </a:r>
            <a:r>
              <a:rPr lang="de-DE" sz="1600" dirty="0"/>
              <a:t> and Training	11.000 €</a:t>
            </a:r>
          </a:p>
          <a:p>
            <a:pPr>
              <a:tabLst>
                <a:tab pos="5400000" algn="r"/>
              </a:tabLst>
            </a:pPr>
            <a:r>
              <a:rPr lang="de-DE" sz="1600" dirty="0" err="1"/>
              <a:t>Documentation</a:t>
            </a:r>
            <a:r>
              <a:rPr lang="de-DE" sz="1600" dirty="0"/>
              <a:t>	23.000 €</a:t>
            </a:r>
          </a:p>
          <a:p>
            <a:pPr>
              <a:tabLst>
                <a:tab pos="5400000" algn="r"/>
              </a:tabLst>
            </a:pPr>
            <a:r>
              <a:rPr lang="de-DE" sz="1600" u="sng" dirty="0"/>
              <a:t>Project Management	88.000 €</a:t>
            </a:r>
          </a:p>
          <a:p>
            <a:pPr>
              <a:tabLst>
                <a:tab pos="5400000" algn="r"/>
              </a:tabLst>
            </a:pPr>
            <a:r>
              <a:rPr lang="de-DE" sz="1600" dirty="0" err="1"/>
              <a:t>Sum</a:t>
            </a:r>
            <a:r>
              <a:rPr lang="de-DE" sz="1600" dirty="0"/>
              <a:t> total „Automatik Production Line“	1.995.000 €</a:t>
            </a:r>
          </a:p>
          <a:p>
            <a:pPr>
              <a:tabLst>
                <a:tab pos="5400000" algn="r"/>
              </a:tabLst>
            </a:pPr>
            <a:endParaRPr lang="de-DE" sz="1600" dirty="0"/>
          </a:p>
          <a:p>
            <a:pPr>
              <a:tabLst>
                <a:tab pos="5400000" algn="r"/>
              </a:tabLst>
            </a:pPr>
            <a:r>
              <a:rPr lang="de-DE" sz="1600" dirty="0"/>
              <a:t>Option 1: Insert </a:t>
            </a:r>
            <a:r>
              <a:rPr lang="de-DE" sz="1600" dirty="0" err="1"/>
              <a:t>Shrink</a:t>
            </a:r>
            <a:r>
              <a:rPr lang="de-DE" sz="1600" dirty="0"/>
              <a:t> </a:t>
            </a:r>
            <a:r>
              <a:rPr lang="de-DE" sz="1600" dirty="0" err="1"/>
              <a:t>Sleeve</a:t>
            </a:r>
            <a:r>
              <a:rPr lang="de-DE" sz="1600" dirty="0"/>
              <a:t>	85.500 €</a:t>
            </a:r>
          </a:p>
          <a:p>
            <a:pPr>
              <a:tabLst>
                <a:tab pos="5400000" algn="r"/>
              </a:tabLst>
            </a:pPr>
            <a:r>
              <a:rPr lang="de-DE" sz="1600" dirty="0"/>
              <a:t>Option 3: </a:t>
            </a:r>
            <a:r>
              <a:rPr lang="de-DE" sz="1600" dirty="0" err="1"/>
              <a:t>Labeling</a:t>
            </a:r>
            <a:r>
              <a:rPr lang="de-DE" sz="1600" dirty="0"/>
              <a:t>	60.500 €</a:t>
            </a:r>
          </a:p>
          <a:p>
            <a:pPr>
              <a:tabLst>
                <a:tab pos="5400000" algn="r"/>
              </a:tabLst>
            </a:pPr>
            <a:r>
              <a:rPr lang="de-DE" sz="1600" u="sng" dirty="0"/>
              <a:t>Option 4: Output with </a:t>
            </a:r>
            <a:r>
              <a:rPr lang="de-DE" sz="1600" u="sng" dirty="0" err="1"/>
              <a:t>buffer</a:t>
            </a:r>
            <a:r>
              <a:rPr lang="de-DE" sz="1600" u="sng" dirty="0"/>
              <a:t> </a:t>
            </a:r>
            <a:r>
              <a:rPr lang="de-DE" sz="1600" u="sng" dirty="0" err="1"/>
              <a:t>for</a:t>
            </a:r>
            <a:r>
              <a:rPr lang="de-DE" sz="1600" u="sng" dirty="0"/>
              <a:t> Boxes	76.000 €</a:t>
            </a:r>
          </a:p>
          <a:p>
            <a:pPr>
              <a:tabLst>
                <a:tab pos="5400000" algn="r"/>
              </a:tabLst>
            </a:pPr>
            <a:r>
              <a:rPr lang="de-DE" sz="1600" b="1" dirty="0"/>
              <a:t>Project </a:t>
            </a:r>
            <a:r>
              <a:rPr lang="de-DE" sz="1600" b="1" dirty="0" err="1"/>
              <a:t>sum</a:t>
            </a:r>
            <a:r>
              <a:rPr lang="de-DE" sz="1600" b="1" dirty="0"/>
              <a:t>:	2.217.000 €</a:t>
            </a:r>
          </a:p>
          <a:p>
            <a:pPr>
              <a:tabLst>
                <a:tab pos="5400000" algn="r"/>
              </a:tabLst>
            </a:pPr>
            <a:endParaRPr lang="de-DE" sz="1600" b="1" dirty="0"/>
          </a:p>
          <a:p>
            <a:pPr>
              <a:tabLst>
                <a:tab pos="5400000" algn="r"/>
              </a:tabLst>
            </a:pPr>
            <a:r>
              <a:rPr lang="de-DE" sz="1600" b="1" dirty="0" err="1"/>
              <a:t>Reduced</a:t>
            </a:r>
            <a:r>
              <a:rPr lang="de-DE" sz="1600" b="1" dirty="0"/>
              <a:t> Project Price:	1.818.000 €</a:t>
            </a:r>
            <a:endParaRPr lang="de-DE" sz="1600" dirty="0"/>
          </a:p>
        </p:txBody>
      </p:sp>
      <p:sp>
        <p:nvSpPr>
          <p:cNvPr id="6" name="Textfeld 5">
            <a:extLst>
              <a:ext uri="{FF2B5EF4-FFF2-40B4-BE49-F238E27FC236}">
                <a16:creationId xmlns:a16="http://schemas.microsoft.com/office/drawing/2014/main" id="{13B837E8-93F7-9979-EA25-66D0BD5593A3}"/>
              </a:ext>
            </a:extLst>
          </p:cNvPr>
          <p:cNvSpPr txBox="1"/>
          <p:nvPr/>
        </p:nvSpPr>
        <p:spPr>
          <a:xfrm>
            <a:off x="6755757" y="1140069"/>
            <a:ext cx="4970585" cy="4739759"/>
          </a:xfrm>
          <a:prstGeom prst="rect">
            <a:avLst/>
          </a:prstGeom>
          <a:noFill/>
        </p:spPr>
        <p:txBody>
          <a:bodyPr wrap="square" rtlCol="0">
            <a:spAutoFit/>
          </a:bodyPr>
          <a:lstStyle/>
          <a:p>
            <a:r>
              <a:rPr lang="en-US" sz="1400" b="1" u="sng" dirty="0">
                <a:latin typeface="Calibri" panose="020F0502020204030204" pitchFamily="34" charset="0"/>
                <a:ea typeface="Calibri" panose="020F0502020204030204" pitchFamily="34" charset="0"/>
                <a:cs typeface="Calibri" panose="020F0502020204030204" pitchFamily="34" charset="0"/>
              </a:rPr>
              <a:t>Pricing</a:t>
            </a:r>
          </a:p>
          <a:p>
            <a:r>
              <a:rPr lang="en-US" sz="1200" dirty="0"/>
              <a:t>All prices in euros and subject to statutory VAT.</a:t>
            </a:r>
          </a:p>
          <a:p>
            <a:endParaRPr lang="en-US" sz="1400" dirty="0"/>
          </a:p>
          <a:p>
            <a:r>
              <a:rPr lang="en-US" sz="1400" b="1" u="sng" dirty="0">
                <a:latin typeface="Calibri" panose="020F0502020204030204" pitchFamily="34" charset="0"/>
                <a:ea typeface="Calibri" panose="020F0502020204030204" pitchFamily="34" charset="0"/>
                <a:cs typeface="Calibri" panose="020F0502020204030204" pitchFamily="34" charset="0"/>
              </a:rPr>
              <a:t>Payment</a:t>
            </a:r>
          </a:p>
          <a:p>
            <a:r>
              <a:rPr lang="en-US" sz="1200" dirty="0"/>
              <a:t>30% upon order placement, against deposit</a:t>
            </a:r>
          </a:p>
          <a:p>
            <a:r>
              <a:rPr lang="en-US" sz="1200" dirty="0"/>
              <a:t>60% upon delivery </a:t>
            </a:r>
          </a:p>
          <a:p>
            <a:r>
              <a:rPr lang="en-US" sz="1200" dirty="0"/>
              <a:t>5% upon handover in a ready-to-use condition </a:t>
            </a:r>
          </a:p>
          <a:p>
            <a:r>
              <a:rPr lang="en-US" sz="1200" dirty="0"/>
              <a:t>5% upon acceptance, but no later than 4 weeks after the handover if final acceptance is delayed for reasons attributable to the customer. </a:t>
            </a:r>
          </a:p>
          <a:p>
            <a:r>
              <a:rPr lang="en-US" sz="1200" dirty="0"/>
              <a:t>Note: Upon delivery, we will issue a final invoice for 100% with the corresponding payment terms.</a:t>
            </a:r>
          </a:p>
          <a:p>
            <a:endParaRPr lang="en-US" sz="1200" dirty="0"/>
          </a:p>
          <a:p>
            <a:r>
              <a:rPr lang="en-US" sz="1400" b="1" u="sng" dirty="0">
                <a:latin typeface="Calibri" panose="020F0502020204030204" pitchFamily="34" charset="0"/>
                <a:ea typeface="Calibri" panose="020F0502020204030204" pitchFamily="34" charset="0"/>
                <a:cs typeface="Calibri" panose="020F0502020204030204" pitchFamily="34" charset="0"/>
              </a:rPr>
              <a:t>Payment term: </a:t>
            </a:r>
          </a:p>
          <a:p>
            <a:r>
              <a:rPr lang="en-US" sz="1200" dirty="0"/>
              <a:t>Down payment: </a:t>
            </a:r>
          </a:p>
          <a:p>
            <a:r>
              <a:rPr lang="en-US" sz="1200" dirty="0"/>
              <a:t>   - Invoicing upon order</a:t>
            </a:r>
          </a:p>
          <a:p>
            <a:r>
              <a:rPr lang="en-US" sz="1200" dirty="0"/>
              <a:t>   - due date and deposit:  05.01.2026</a:t>
            </a:r>
          </a:p>
          <a:p>
            <a:r>
              <a:rPr lang="en-US" sz="1200" dirty="0"/>
              <a:t>Others:</a:t>
            </a:r>
          </a:p>
          <a:p>
            <a:r>
              <a:rPr lang="en-US" sz="1200" dirty="0"/>
              <a:t>   - 45 days</a:t>
            </a:r>
          </a:p>
          <a:p>
            <a:endParaRPr lang="en-US" sz="1200" dirty="0"/>
          </a:p>
          <a:p>
            <a:r>
              <a:rPr lang="en-US" sz="1400" b="1" u="sng" dirty="0">
                <a:latin typeface="Calibri" panose="020F0502020204030204" pitchFamily="34" charset="0"/>
                <a:ea typeface="Calibri" panose="020F0502020204030204" pitchFamily="34" charset="0"/>
                <a:cs typeface="Calibri" panose="020F0502020204030204" pitchFamily="34" charset="0"/>
              </a:rPr>
              <a:t>Offer validity: </a:t>
            </a:r>
          </a:p>
          <a:p>
            <a:r>
              <a:rPr lang="en-US" sz="1200" dirty="0"/>
              <a:t>Our prices have a validity period of 60 days, calculated from the date of offer. </a:t>
            </a:r>
          </a:p>
          <a:p>
            <a:endParaRPr lang="en-US" sz="1400" dirty="0"/>
          </a:p>
          <a:p>
            <a:r>
              <a:rPr lang="en-US" sz="1400" b="1" u="sng" dirty="0">
                <a:latin typeface="Calibri" panose="020F0502020204030204" pitchFamily="34" charset="0"/>
                <a:ea typeface="Calibri" panose="020F0502020204030204" pitchFamily="34" charset="0"/>
                <a:cs typeface="Calibri" panose="020F0502020204030204" pitchFamily="34" charset="0"/>
              </a:rPr>
              <a:t>Delivery:</a:t>
            </a:r>
          </a:p>
          <a:p>
            <a:r>
              <a:rPr lang="en-US" sz="1200" dirty="0"/>
              <a:t>DAP Satu Mare plant</a:t>
            </a:r>
            <a:endParaRPr lang="de-DE" sz="1200" dirty="0"/>
          </a:p>
        </p:txBody>
      </p:sp>
      <p:sp>
        <p:nvSpPr>
          <p:cNvPr id="5" name="Textfeld 4">
            <a:extLst>
              <a:ext uri="{FF2B5EF4-FFF2-40B4-BE49-F238E27FC236}">
                <a16:creationId xmlns:a16="http://schemas.microsoft.com/office/drawing/2014/main" id="{265817E8-0654-D390-A5F2-18B649E3DA31}"/>
              </a:ext>
            </a:extLst>
          </p:cNvPr>
          <p:cNvSpPr txBox="1"/>
          <p:nvPr/>
        </p:nvSpPr>
        <p:spPr>
          <a:xfrm>
            <a:off x="680864" y="5117767"/>
            <a:ext cx="4515390" cy="938719"/>
          </a:xfrm>
          <a:prstGeom prst="rect">
            <a:avLst/>
          </a:prstGeom>
          <a:noFill/>
        </p:spPr>
        <p:txBody>
          <a:bodyPr wrap="square" rtlCol="0">
            <a:spAutoFit/>
          </a:bodyPr>
          <a:lstStyle/>
          <a:p>
            <a:r>
              <a:rPr lang="en-US" sz="1100" dirty="0"/>
              <a:t>We would be pleased to receive your valued order and </a:t>
            </a:r>
          </a:p>
          <a:p>
            <a:r>
              <a:rPr lang="en-US" sz="1100" dirty="0"/>
              <a:t>remain with kind regards</a:t>
            </a:r>
          </a:p>
          <a:p>
            <a:endParaRPr lang="en-US" sz="1100" dirty="0"/>
          </a:p>
          <a:p>
            <a:endParaRPr lang="en-US" sz="1100" dirty="0"/>
          </a:p>
          <a:p>
            <a:endParaRPr lang="de-DE" sz="1100" dirty="0"/>
          </a:p>
        </p:txBody>
      </p:sp>
      <p:pic>
        <p:nvPicPr>
          <p:cNvPr id="7" name="Grafik 6">
            <a:extLst>
              <a:ext uri="{FF2B5EF4-FFF2-40B4-BE49-F238E27FC236}">
                <a16:creationId xmlns:a16="http://schemas.microsoft.com/office/drawing/2014/main" id="{72D4205E-FB01-207A-3DAE-1544D7C283E4}"/>
              </a:ext>
            </a:extLst>
          </p:cNvPr>
          <p:cNvPicPr>
            <a:picLocks noChangeAspect="1"/>
          </p:cNvPicPr>
          <p:nvPr/>
        </p:nvPicPr>
        <p:blipFill>
          <a:blip r:embed="rId2"/>
          <a:stretch>
            <a:fillRect/>
          </a:stretch>
        </p:blipFill>
        <p:spPr>
          <a:xfrm rot="5400000">
            <a:off x="2812956" y="3563697"/>
            <a:ext cx="1150952" cy="5415136"/>
          </a:xfrm>
          <a:prstGeom prst="rect">
            <a:avLst/>
          </a:prstGeom>
        </p:spPr>
      </p:pic>
    </p:spTree>
    <p:extLst>
      <p:ext uri="{BB962C8B-B14F-4D97-AF65-F5344CB8AC3E}">
        <p14:creationId xmlns:p14="http://schemas.microsoft.com/office/powerpoint/2010/main" val="838176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126BDD4-5DB3-4687-8192-942F6B154928}"/>
              </a:ext>
            </a:extLst>
          </p:cNvPr>
          <p:cNvSpPr/>
          <p:nvPr/>
        </p:nvSpPr>
        <p:spPr>
          <a:xfrm>
            <a:off x="0" y="45822"/>
            <a:ext cx="12192000" cy="399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2000">
              <a:solidFill>
                <a:schemeClr val="tx1">
                  <a:lumMod val="65000"/>
                  <a:lumOff val="35000"/>
                </a:schemeClr>
              </a:solidFill>
            </a:endParaRPr>
          </a:p>
        </p:txBody>
      </p:sp>
      <p:sp>
        <p:nvSpPr>
          <p:cNvPr id="7" name="Rechteck 6">
            <a:extLst>
              <a:ext uri="{FF2B5EF4-FFF2-40B4-BE49-F238E27FC236}">
                <a16:creationId xmlns:a16="http://schemas.microsoft.com/office/drawing/2014/main" id="{9464AB80-4145-4D82-826E-0B9A549CC717}"/>
              </a:ext>
            </a:extLst>
          </p:cNvPr>
          <p:cNvSpPr/>
          <p:nvPr/>
        </p:nvSpPr>
        <p:spPr>
          <a:xfrm>
            <a:off x="0" y="45822"/>
            <a:ext cx="12192000" cy="3990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2000">
              <a:solidFill>
                <a:schemeClr val="tx1">
                  <a:lumMod val="65000"/>
                  <a:lumOff val="35000"/>
                </a:schemeClr>
              </a:solidFill>
            </a:endParaRPr>
          </a:p>
        </p:txBody>
      </p:sp>
      <p:sp>
        <p:nvSpPr>
          <p:cNvPr id="2" name="Wir sagen…">
            <a:extLst>
              <a:ext uri="{FF2B5EF4-FFF2-40B4-BE49-F238E27FC236}">
                <a16:creationId xmlns:a16="http://schemas.microsoft.com/office/drawing/2014/main" id="{5B1447A0-5512-6461-2ECB-DC74C3C52059}"/>
              </a:ext>
            </a:extLst>
          </p:cNvPr>
          <p:cNvSpPr txBox="1"/>
          <p:nvPr/>
        </p:nvSpPr>
        <p:spPr>
          <a:xfrm>
            <a:off x="1123604" y="2252144"/>
            <a:ext cx="54166" cy="6220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6789" tIns="26789" rIns="26789" bIns="26789" anchor="ctr">
            <a:spAutoFit/>
          </a:bodyPr>
          <a:lstStyle/>
          <a:p>
            <a:pPr algn="l">
              <a:defRPr sz="7000">
                <a:solidFill>
                  <a:srgbClr val="FFFFFF"/>
                </a:solidFill>
                <a:latin typeface="Gilroy ExtraBold"/>
                <a:ea typeface="Gilroy ExtraBold"/>
                <a:cs typeface="Gilroy ExtraBold"/>
                <a:sym typeface="Gilroy ExtraBold"/>
              </a:defRPr>
            </a:pPr>
            <a:endParaRPr sz="3691" dirty="0">
              <a:solidFill>
                <a:srgbClr val="4DB8A0"/>
              </a:solidFill>
            </a:endParaRPr>
          </a:p>
        </p:txBody>
      </p:sp>
    </p:spTree>
    <p:extLst>
      <p:ext uri="{BB962C8B-B14F-4D97-AF65-F5344CB8AC3E}">
        <p14:creationId xmlns:p14="http://schemas.microsoft.com/office/powerpoint/2010/main" val="1597474846"/>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3-03-06 Präsentation_Vorlage_neu.pptx" id="{0D1DCC39-9FAD-4378-9BC8-F5A16F8B67D6}" vid="{B59B905E-AC12-4106-9A9F-63C4A4241572}"/>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2023_Präsentation_Vorlage_neu_SCR</Template>
  <TotalTime>0</TotalTime>
  <Words>3400</Words>
  <Application>Microsoft Office PowerPoint</Application>
  <PresentationFormat>Breitbild</PresentationFormat>
  <Paragraphs>578</Paragraphs>
  <Slides>29</Slides>
  <Notes>5</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29</vt:i4>
      </vt:variant>
    </vt:vector>
  </HeadingPairs>
  <TitlesOfParts>
    <vt:vector size="37" baseType="lpstr">
      <vt:lpstr>Arial</vt:lpstr>
      <vt:lpstr>Calibri</vt:lpstr>
      <vt:lpstr>CIDFont+F2</vt:lpstr>
      <vt:lpstr>Gilroy ExtraBold</vt:lpstr>
      <vt:lpstr>Gilroy Light</vt:lpstr>
      <vt:lpstr>Symbol</vt:lpstr>
      <vt:lpstr>Wingdings</vt:lpstr>
      <vt:lpstr>Office-Design</vt:lpstr>
      <vt:lpstr>PowerPoint-Präsentation</vt:lpstr>
      <vt:lpstr>PowerPoint-Präsentation</vt:lpstr>
      <vt:lpstr>Basics</vt:lpstr>
      <vt:lpstr>Basics</vt:lpstr>
      <vt:lpstr>PowerPoint-Präsentation</vt:lpstr>
      <vt:lpstr>Task description</vt:lpstr>
      <vt:lpstr>PowerPoint-Präsentation</vt:lpstr>
      <vt:lpstr>PowerPoint-Präsentation</vt:lpstr>
      <vt:lpstr>PowerPoint-Präsentation</vt:lpstr>
      <vt:lpstr>Insert and cutting Cable</vt:lpstr>
      <vt:lpstr>PowerPoint-Präsentation</vt:lpstr>
      <vt:lpstr>Crimping Unit</vt:lpstr>
      <vt:lpstr>Bending Unit</vt:lpstr>
      <vt:lpstr>Tinning Unit</vt:lpstr>
      <vt:lpstr>Visual Inspection Terminal</vt:lpstr>
      <vt:lpstr>Change Unit from Terminal 1 to Terminal 2</vt:lpstr>
      <vt:lpstr>Insert Shrink Sleeve</vt:lpstr>
      <vt:lpstr>Labeling</vt:lpstr>
      <vt:lpstr>Output Cable</vt:lpstr>
      <vt:lpstr>Transfer system</vt:lpstr>
      <vt:lpstr>PowerPoint-Präsentation</vt:lpstr>
      <vt:lpstr>PowerPoint-Präsentation</vt:lpstr>
      <vt:lpstr>PowerPoint-Präsentation</vt:lpstr>
      <vt:lpstr>PowerPoint-Präsentation</vt:lpstr>
      <vt:lpstr>PowerPoint-Präsentation</vt:lpstr>
      <vt:lpstr>PowerPoint-Präsentation</vt:lpstr>
      <vt:lpstr>Project Schedule</vt:lpstr>
      <vt:lpstr>Project Prices </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Schano Rudolf</dc:creator>
  <cp:lastModifiedBy>Radlbeck Ulrich</cp:lastModifiedBy>
  <cp:revision>262</cp:revision>
  <cp:lastPrinted>2025-07-01T15:04:23Z</cp:lastPrinted>
  <dcterms:created xsi:type="dcterms:W3CDTF">2024-09-30T08:13:36Z</dcterms:created>
  <dcterms:modified xsi:type="dcterms:W3CDTF">2025-07-02T08:17:26Z</dcterms:modified>
</cp:coreProperties>
</file>