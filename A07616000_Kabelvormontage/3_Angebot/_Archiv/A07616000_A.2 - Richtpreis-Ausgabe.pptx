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5"/>
  </p:notesMasterIdLst>
  <p:sldIdLst>
    <p:sldId id="256" r:id="rId2"/>
    <p:sldId id="1110" r:id="rId3"/>
    <p:sldId id="1308" r:id="rId4"/>
  </p:sldIdLst>
  <p:sldSz cx="12192000" cy="6858000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D2C3"/>
    <a:srgbClr val="4F81BD"/>
    <a:srgbClr val="FF6600"/>
    <a:srgbClr val="64CF95"/>
    <a:srgbClr val="009900"/>
    <a:srgbClr val="16B75F"/>
    <a:srgbClr val="FF7C80"/>
    <a:srgbClr val="CDC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59" autoAdjust="0"/>
    <p:restoredTop sz="92597" autoAdjust="0"/>
  </p:normalViewPr>
  <p:slideViewPr>
    <p:cSldViewPr snapToGrid="0">
      <p:cViewPr varScale="1">
        <p:scale>
          <a:sx n="109" d="100"/>
          <a:sy n="109" d="100"/>
        </p:scale>
        <p:origin x="132" y="12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27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BB9D02-9FFC-4758-9EDA-EB9E451655DE}" type="datetimeFigureOut">
              <a:rPr lang="de-DE" smtClean="0"/>
              <a:t>17.06.2025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EED572-F9A9-4535-91E4-E5029B1F52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1002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00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70948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0024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/>
          <p:cNvSpPr txBox="1"/>
          <p:nvPr userDrawn="1"/>
        </p:nvSpPr>
        <p:spPr>
          <a:xfrm>
            <a:off x="10653604" y="3676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9151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C58B094-7CBF-54A5-9666-8866CAB58C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0" y="0"/>
            <a:ext cx="12161520" cy="6858000"/>
          </a:xfrm>
          <a:prstGeom prst="rect">
            <a:avLst/>
          </a:prstGeom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2F39248C-D8A6-F031-8798-D29183DFB5FF}"/>
              </a:ext>
            </a:extLst>
          </p:cNvPr>
          <p:cNvSpPr/>
          <p:nvPr userDrawn="1"/>
        </p:nvSpPr>
        <p:spPr>
          <a:xfrm>
            <a:off x="10695822" y="-2557"/>
            <a:ext cx="288000" cy="360000"/>
          </a:xfrm>
          <a:prstGeom prst="rect">
            <a:avLst/>
          </a:prstGeom>
          <a:solidFill>
            <a:srgbClr val="4DB8A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pPr algn="ctr"/>
            <a:endParaRPr sz="800"/>
          </a:p>
        </p:txBody>
      </p:sp>
      <p:sp>
        <p:nvSpPr>
          <p:cNvPr id="4" name="01">
            <a:extLst>
              <a:ext uri="{FF2B5EF4-FFF2-40B4-BE49-F238E27FC236}">
                <a16:creationId xmlns:a16="http://schemas.microsoft.com/office/drawing/2014/main" id="{E9EA7661-F82F-9971-5416-981AA6F8B8B4}"/>
              </a:ext>
            </a:extLst>
          </p:cNvPr>
          <p:cNvSpPr>
            <a:spLocks noChangeAspect="1"/>
          </p:cNvSpPr>
          <p:nvPr userDrawn="1"/>
        </p:nvSpPr>
        <p:spPr>
          <a:xfrm>
            <a:off x="10701770" y="0"/>
            <a:ext cx="273668" cy="360000"/>
          </a:xfrm>
          <a:prstGeom prst="rect">
            <a:avLst/>
          </a:prstGeom>
          <a:solidFill>
            <a:srgbClr val="2C3F48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endParaRPr sz="633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FE58063-0C68-1D89-C8D4-695FEC8E4558}"/>
              </a:ext>
            </a:extLst>
          </p:cNvPr>
          <p:cNvSpPr txBox="1"/>
          <p:nvPr userDrawn="1"/>
        </p:nvSpPr>
        <p:spPr>
          <a:xfrm>
            <a:off x="10709502" y="54332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92209CA-EFDE-4AB8-9222-590C7472CDAB}" type="slidenum">
              <a:rPr lang="de-DE" sz="1000" smtClean="0">
                <a:solidFill>
                  <a:schemeClr val="bg1"/>
                </a:solidFill>
                <a:latin typeface="Gilroy ExtraBold"/>
              </a:rPr>
              <a:t>‹Nr.›</a:t>
            </a:fld>
            <a:endParaRPr lang="de-DE" sz="1000">
              <a:solidFill>
                <a:schemeClr val="bg1"/>
              </a:solidFill>
              <a:latin typeface="Gilroy ExtraBold"/>
            </a:endParaRPr>
          </a:p>
        </p:txBody>
      </p:sp>
      <p:sp>
        <p:nvSpPr>
          <p:cNvPr id="2" name="Projektbezeichnung | Titel">
            <a:extLst>
              <a:ext uri="{FF2B5EF4-FFF2-40B4-BE49-F238E27FC236}">
                <a16:creationId xmlns:a16="http://schemas.microsoft.com/office/drawing/2014/main" id="{7EB79AE8-0D8C-C49B-AFA0-2C9B5F4077EF}"/>
              </a:ext>
            </a:extLst>
          </p:cNvPr>
          <p:cNvSpPr txBox="1"/>
          <p:nvPr userDrawn="1"/>
        </p:nvSpPr>
        <p:spPr>
          <a:xfrm>
            <a:off x="549566" y="161538"/>
            <a:ext cx="3209523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de-DE" sz="1000" dirty="0">
                <a:solidFill>
                  <a:srgbClr val="2C3F48"/>
                </a:solidFill>
                <a:latin typeface="Gilroy ExtraBold"/>
                <a:ea typeface="Gilroy ExtraBold"/>
                <a:cs typeface="Gilroy ExtraBold"/>
                <a:sym typeface="Gilroy ExtraBold"/>
              </a:rPr>
              <a:t>A07616000_A</a:t>
            </a:r>
            <a:endParaRPr sz="1000" dirty="0">
              <a:solidFill>
                <a:schemeClr val="bg1"/>
              </a:solidFill>
              <a:latin typeface="Gilroy ExtraBold"/>
              <a:ea typeface="Gilroy ExtraBold"/>
              <a:cs typeface="Gilroy ExtraBold"/>
              <a:sym typeface="Gilroy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954211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luth-dots_turkis-hell.png" descr="gluth-dots_turkis-hell.png">
            <a:extLst>
              <a:ext uri="{FF2B5EF4-FFF2-40B4-BE49-F238E27FC236}">
                <a16:creationId xmlns:a16="http://schemas.microsoft.com/office/drawing/2014/main" id="{BD59312F-90B1-9FC7-468F-6B81B8C0A1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4367" r="16055"/>
          <a:stretch/>
        </p:blipFill>
        <p:spPr>
          <a:xfrm>
            <a:off x="9430344" y="-2558"/>
            <a:ext cx="2761656" cy="1501267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pic>
        <p:nvPicPr>
          <p:cNvPr id="6" name="gluth-logo_RZ_rgb.png" descr="gluth-logo_RZ_rgb.png">
            <a:extLst>
              <a:ext uri="{FF2B5EF4-FFF2-40B4-BE49-F238E27FC236}">
                <a16:creationId xmlns:a16="http://schemas.microsoft.com/office/drawing/2014/main" id="{09991ADD-9B75-7CDB-BE00-7F86E7AA4B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14208" y="6169583"/>
            <a:ext cx="1853667" cy="555054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Projektbezeichnung | Titel">
            <a:extLst>
              <a:ext uri="{FF2B5EF4-FFF2-40B4-BE49-F238E27FC236}">
                <a16:creationId xmlns:a16="http://schemas.microsoft.com/office/drawing/2014/main" id="{6FBCAB55-7A36-744A-313E-F701D83C3678}"/>
              </a:ext>
            </a:extLst>
          </p:cNvPr>
          <p:cNvSpPr txBox="1"/>
          <p:nvPr userDrawn="1"/>
        </p:nvSpPr>
        <p:spPr>
          <a:xfrm>
            <a:off x="549566" y="161538"/>
            <a:ext cx="3209523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de-DE" sz="1000" dirty="0">
                <a:solidFill>
                  <a:srgbClr val="2C3F48"/>
                </a:solidFill>
              </a:rPr>
              <a:t>A07616000_A</a:t>
            </a:r>
            <a:r>
              <a:rPr sz="1000" dirty="0">
                <a:solidFill>
                  <a:srgbClr val="2C3F48"/>
                </a:solidFill>
              </a:rPr>
              <a:t> | </a:t>
            </a:r>
            <a:fld id="{3C0A5C85-D6AC-4518-BE8C-D4372821F754}" type="datetime1">
              <a:rPr lang="de-DE" sz="1000" smtClean="0">
                <a:solidFill>
                  <a:srgbClr val="4DB8A0"/>
                </a:solidFill>
                <a:latin typeface="Gilroy ExtraBold"/>
                <a:ea typeface="Gilroy ExtraBold"/>
                <a:cs typeface="Gilroy ExtraBold"/>
                <a:sym typeface="Gilroy ExtraBold"/>
              </a:rPr>
              <a:t>17.06.2025</a:t>
            </a:fld>
            <a:endParaRPr sz="1000" dirty="0">
              <a:solidFill>
                <a:srgbClr val="4DB8A0"/>
              </a:solidFill>
              <a:latin typeface="Gilroy ExtraBold"/>
              <a:ea typeface="Gilroy ExtraBold"/>
              <a:cs typeface="Gilroy ExtraBold"/>
              <a:sym typeface="Gilroy ExtraBold"/>
            </a:endParaRPr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2F39248C-D8A6-F031-8798-D29183DFB5FF}"/>
              </a:ext>
            </a:extLst>
          </p:cNvPr>
          <p:cNvSpPr/>
          <p:nvPr userDrawn="1"/>
        </p:nvSpPr>
        <p:spPr>
          <a:xfrm>
            <a:off x="10695822" y="-2557"/>
            <a:ext cx="288000" cy="360000"/>
          </a:xfrm>
          <a:prstGeom prst="rect">
            <a:avLst/>
          </a:prstGeom>
          <a:solidFill>
            <a:srgbClr val="4DB8A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pPr algn="ctr"/>
            <a:endParaRPr sz="80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FE58063-0C68-1D89-C8D4-695FEC8E4558}"/>
              </a:ext>
            </a:extLst>
          </p:cNvPr>
          <p:cNvSpPr txBox="1"/>
          <p:nvPr userDrawn="1"/>
        </p:nvSpPr>
        <p:spPr>
          <a:xfrm>
            <a:off x="10709502" y="54332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92209CA-EFDE-4AB8-9222-590C7472CDAB}" type="slidenum">
              <a:rPr lang="de-DE" sz="1000" smtClean="0">
                <a:solidFill>
                  <a:schemeClr val="tx1"/>
                </a:solidFill>
                <a:latin typeface="Gilroy ExtraBold"/>
              </a:rPr>
              <a:t>‹Nr.›</a:t>
            </a:fld>
            <a:endParaRPr lang="de-DE" sz="1000">
              <a:solidFill>
                <a:schemeClr val="tx1"/>
              </a:solidFill>
              <a:latin typeface="Gilroy ExtraBold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B7EDDE7-1837-9DEF-31C0-8531113810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0524" y="161538"/>
            <a:ext cx="4656790" cy="265716"/>
          </a:xfrm>
          <a:prstGeom prst="rect">
            <a:avLst/>
          </a:prstGeom>
        </p:spPr>
        <p:txBody>
          <a:bodyPr anchor="t"/>
          <a:lstStyle>
            <a:lvl1pPr algn="ctr">
              <a:defRPr lang="de-DE" sz="1000" kern="1200" dirty="0">
                <a:solidFill>
                  <a:srgbClr val="2C3F48"/>
                </a:solidFill>
                <a:latin typeface="Gilroy Light"/>
                <a:ea typeface="Gilroy Light"/>
                <a:cs typeface="Gilroy Light"/>
              </a:defRPr>
            </a:lvl1pPr>
          </a:lstStyle>
          <a:p>
            <a:r>
              <a:rPr lang="de-DE" dirty="0"/>
              <a:t>Folientitel</a:t>
            </a:r>
          </a:p>
        </p:txBody>
      </p:sp>
    </p:spTree>
    <p:extLst>
      <p:ext uri="{BB962C8B-B14F-4D97-AF65-F5344CB8AC3E}">
        <p14:creationId xmlns:p14="http://schemas.microsoft.com/office/powerpoint/2010/main" val="1181577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nk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CF6A121-117E-2360-103B-99EDB01E80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8994"/>
            <a:ext cx="12192000" cy="682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485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1548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7" r:id="rId2"/>
    <p:sldLayoutId id="2147483656" r:id="rId3"/>
    <p:sldLayoutId id="2147483658" r:id="rId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zlich Willkommen…">
            <a:extLst>
              <a:ext uri="{FF2B5EF4-FFF2-40B4-BE49-F238E27FC236}">
                <a16:creationId xmlns:a16="http://schemas.microsoft.com/office/drawing/2014/main" id="{31991B22-ADE8-1F96-4A16-CC0F3362E09B}"/>
              </a:ext>
            </a:extLst>
          </p:cNvPr>
          <p:cNvSpPr txBox="1"/>
          <p:nvPr/>
        </p:nvSpPr>
        <p:spPr>
          <a:xfrm>
            <a:off x="569950" y="749685"/>
            <a:ext cx="6875456" cy="915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2800" dirty="0" err="1"/>
              <a:t>Our</a:t>
            </a:r>
            <a:r>
              <a:rPr lang="de-DE" sz="2800" dirty="0"/>
              <a:t> </a:t>
            </a:r>
            <a:r>
              <a:rPr lang="de-DE" sz="2800" dirty="0" err="1"/>
              <a:t>price</a:t>
            </a:r>
            <a:r>
              <a:rPr lang="de-DE" sz="2800" dirty="0"/>
              <a:t> </a:t>
            </a:r>
            <a:r>
              <a:rPr lang="de-DE" sz="2800" dirty="0" err="1"/>
              <a:t>offer</a:t>
            </a:r>
            <a:r>
              <a:rPr lang="de-DE" sz="2800" dirty="0"/>
              <a:t>: </a:t>
            </a:r>
            <a:r>
              <a:rPr lang="de-DE" sz="2000" dirty="0"/>
              <a:t>A07616000_A</a:t>
            </a:r>
          </a:p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2800" b="1" dirty="0" err="1">
                <a:solidFill>
                  <a:srgbClr val="8ED2C3"/>
                </a:solidFill>
                <a:latin typeface="Calibri" panose="020F0502020204030204" pitchFamily="34" charset="0"/>
              </a:rPr>
              <a:t>Automatic</a:t>
            </a:r>
            <a:r>
              <a:rPr lang="de-DE" sz="2800" b="1" dirty="0">
                <a:solidFill>
                  <a:srgbClr val="8ED2C3"/>
                </a:solidFill>
                <a:latin typeface="Calibri" panose="020F0502020204030204" pitchFamily="34" charset="0"/>
              </a:rPr>
              <a:t> </a:t>
            </a:r>
            <a:r>
              <a:rPr lang="de-DE" sz="2800" b="1" dirty="0" err="1">
                <a:solidFill>
                  <a:srgbClr val="8ED2C3"/>
                </a:solidFill>
                <a:latin typeface="Calibri" panose="020F0502020204030204" pitchFamily="34" charset="0"/>
              </a:rPr>
              <a:t>production</a:t>
            </a:r>
            <a:r>
              <a:rPr lang="de-DE" sz="2800" b="1" dirty="0">
                <a:solidFill>
                  <a:srgbClr val="8ED2C3"/>
                </a:solidFill>
                <a:latin typeface="Calibri" panose="020F0502020204030204" pitchFamily="34" charset="0"/>
              </a:rPr>
              <a:t> </a:t>
            </a:r>
            <a:r>
              <a:rPr lang="de-DE" sz="2800" b="1" dirty="0" err="1">
                <a:solidFill>
                  <a:srgbClr val="8ED2C3"/>
                </a:solidFill>
                <a:latin typeface="Calibri" panose="020F0502020204030204" pitchFamily="34" charset="0"/>
              </a:rPr>
              <a:t>line</a:t>
            </a:r>
            <a:r>
              <a:rPr lang="de-DE" sz="2800" b="1" dirty="0">
                <a:solidFill>
                  <a:srgbClr val="8ED2C3"/>
                </a:solidFill>
                <a:latin typeface="Calibri" panose="020F0502020204030204" pitchFamily="34" charset="0"/>
              </a:rPr>
              <a:t> </a:t>
            </a:r>
            <a:r>
              <a:rPr lang="de-DE" sz="2800" b="1" dirty="0" err="1">
                <a:solidFill>
                  <a:srgbClr val="8ED2C3"/>
                </a:solidFill>
                <a:latin typeface="Calibri" panose="020F0502020204030204" pitchFamily="34" charset="0"/>
              </a:rPr>
              <a:t>for</a:t>
            </a:r>
            <a:r>
              <a:rPr lang="de-DE" sz="2800" b="1" dirty="0">
                <a:solidFill>
                  <a:srgbClr val="8ED2C3"/>
                </a:solidFill>
                <a:latin typeface="Calibri" panose="020F0502020204030204" pitchFamily="34" charset="0"/>
              </a:rPr>
              <a:t> </a:t>
            </a:r>
            <a:r>
              <a:rPr lang="de-DE" sz="2800" b="1" dirty="0" err="1">
                <a:solidFill>
                  <a:srgbClr val="8ED2C3"/>
                </a:solidFill>
                <a:latin typeface="Calibri" panose="020F0502020204030204" pitchFamily="34" charset="0"/>
              </a:rPr>
              <a:t>wire</a:t>
            </a:r>
            <a:r>
              <a:rPr lang="de-DE" sz="2800" b="1" dirty="0">
                <a:solidFill>
                  <a:srgbClr val="8ED2C3"/>
                </a:solidFill>
                <a:latin typeface="Calibri" panose="020F0502020204030204" pitchFamily="34" charset="0"/>
              </a:rPr>
              <a:t> </a:t>
            </a:r>
            <a:r>
              <a:rPr lang="de-DE" sz="2800" b="1" dirty="0" err="1">
                <a:solidFill>
                  <a:srgbClr val="8ED2C3"/>
                </a:solidFill>
                <a:latin typeface="Calibri" panose="020F0502020204030204" pitchFamily="34" charset="0"/>
              </a:rPr>
              <a:t>processing</a:t>
            </a:r>
            <a:endParaRPr sz="2800" b="1" dirty="0">
              <a:solidFill>
                <a:srgbClr val="8ED2C3"/>
              </a:solidFill>
              <a:latin typeface="Calibri" panose="020F0502020204030204" pitchFamily="34" charset="0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EDE69DE-B997-DB3A-3B0C-1CA79381F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821" y="4702275"/>
            <a:ext cx="2027414" cy="859264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2E2CE726-E39A-5B62-2050-009A0C486E8B}"/>
              </a:ext>
            </a:extLst>
          </p:cNvPr>
          <p:cNvSpPr txBox="1"/>
          <p:nvPr/>
        </p:nvSpPr>
        <p:spPr>
          <a:xfrm>
            <a:off x="519150" y="2978234"/>
            <a:ext cx="2062219" cy="11026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582"/>
              </a:lnSpc>
            </a:pPr>
            <a:r>
              <a:rPr lang="de-DE" sz="1055" b="1" dirty="0">
                <a:solidFill>
                  <a:srgbClr val="FFFFFF"/>
                </a:solidFill>
                <a:latin typeface="Gilroy Light" pitchFamily="2" charset="77"/>
              </a:rPr>
              <a:t>Florian Schötz</a:t>
            </a:r>
          </a:p>
          <a:p>
            <a:pPr algn="l">
              <a:lnSpc>
                <a:spcPts val="1582"/>
              </a:lnSpc>
            </a:pP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Technical </a:t>
            </a:r>
            <a:r>
              <a:rPr lang="de-DE" sz="1055" dirty="0" err="1">
                <a:solidFill>
                  <a:srgbClr val="FFFFFF"/>
                </a:solidFill>
                <a:latin typeface="Gilroy Light" pitchFamily="2" charset="77"/>
              </a:rPr>
              <a:t>sales</a:t>
            </a:r>
            <a:br>
              <a:rPr lang="de-DE" sz="1055" dirty="0">
                <a:solidFill>
                  <a:srgbClr val="FFFFFF"/>
                </a:solidFill>
                <a:latin typeface="Gilroy Light" pitchFamily="2" charset="77"/>
              </a:rPr>
            </a:b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E-Mail: schoetz.florian@gluth.eu </a:t>
            </a:r>
          </a:p>
          <a:p>
            <a:pPr algn="l">
              <a:lnSpc>
                <a:spcPts val="1582"/>
              </a:lnSpc>
            </a:pP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Tel      : +49 9421 / 544-965</a:t>
            </a:r>
          </a:p>
          <a:p>
            <a:pPr algn="l">
              <a:lnSpc>
                <a:spcPts val="1582"/>
              </a:lnSpc>
            </a:pP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Mobil : +49 151 / 20832983  	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780E428-333A-7D4B-0846-7661E8B7BE24}"/>
              </a:ext>
            </a:extLst>
          </p:cNvPr>
          <p:cNvSpPr txBox="1"/>
          <p:nvPr/>
        </p:nvSpPr>
        <p:spPr>
          <a:xfrm>
            <a:off x="500987" y="2615256"/>
            <a:ext cx="3203859" cy="29751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582"/>
              </a:lnSpc>
            </a:pPr>
            <a:r>
              <a:rPr lang="de-DE" sz="1400" b="1" dirty="0">
                <a:solidFill>
                  <a:srgbClr val="FFFFFF"/>
                </a:solidFill>
                <a:latin typeface="Gilroy Light" pitchFamily="2" charset="77"/>
              </a:rPr>
              <a:t>Contact person Gluth:</a:t>
            </a:r>
            <a:endParaRPr lang="de-DE" sz="1400" dirty="0">
              <a:solidFill>
                <a:srgbClr val="FFFFFF"/>
              </a:solidFill>
              <a:latin typeface="Gilroy Light" pitchFamily="2" charset="77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579452B-B259-2EBE-EFFE-65181C573B7B}"/>
              </a:ext>
            </a:extLst>
          </p:cNvPr>
          <p:cNvSpPr txBox="1"/>
          <p:nvPr/>
        </p:nvSpPr>
        <p:spPr>
          <a:xfrm>
            <a:off x="5020256" y="2621606"/>
            <a:ext cx="3203859" cy="29751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582"/>
              </a:lnSpc>
            </a:pPr>
            <a:r>
              <a:rPr lang="de-DE" sz="1400" b="1" dirty="0">
                <a:solidFill>
                  <a:srgbClr val="FFFFFF"/>
                </a:solidFill>
                <a:latin typeface="Gilroy Light" pitchFamily="2" charset="77"/>
              </a:rPr>
              <a:t>Contact person Dräxlmaier:</a:t>
            </a:r>
            <a:endParaRPr lang="de-DE" sz="1400" dirty="0">
              <a:solidFill>
                <a:srgbClr val="FFFFFF"/>
              </a:solidFill>
              <a:latin typeface="Gilroy Light" pitchFamily="2" charset="77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B288582-564D-D396-BA47-547C5A2271D6}"/>
              </a:ext>
            </a:extLst>
          </p:cNvPr>
          <p:cNvSpPr txBox="1"/>
          <p:nvPr/>
        </p:nvSpPr>
        <p:spPr>
          <a:xfrm>
            <a:off x="5039054" y="2986605"/>
            <a:ext cx="2652171" cy="11026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>
            <a:defPPr>
              <a:defRPr lang="de-DE"/>
            </a:defPPr>
            <a:lvl1pPr>
              <a:lnSpc>
                <a:spcPts val="1582"/>
              </a:lnSpc>
              <a:defRPr sz="1055">
                <a:solidFill>
                  <a:srgbClr val="FFFFFF"/>
                </a:solidFill>
                <a:latin typeface="Gilroy Light" pitchFamily="2" charset="77"/>
                <a:cs typeface="Arial" panose="020B0604020202020204" pitchFamily="34" charset="0"/>
              </a:defRPr>
            </a:lvl1pPr>
            <a:lvl2pPr marL="742950" indent="-285750"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de-DE" dirty="0"/>
              <a:t>Thomas </a:t>
            </a:r>
            <a:r>
              <a:rPr lang="de-DE" dirty="0" err="1"/>
              <a:t>Eglseder</a:t>
            </a:r>
            <a:endParaRPr lang="de-DE" dirty="0"/>
          </a:p>
          <a:p>
            <a:r>
              <a:rPr lang="de-DE" dirty="0" err="1"/>
              <a:t>Purchase</a:t>
            </a:r>
            <a:endParaRPr lang="de-DE" dirty="0"/>
          </a:p>
          <a:p>
            <a:r>
              <a:rPr lang="de-DE" dirty="0"/>
              <a:t>E-Mail:  Thomas.eglseder@draexlmaier.com </a:t>
            </a:r>
            <a:br>
              <a:rPr lang="de-DE" dirty="0"/>
            </a:br>
            <a:r>
              <a:rPr lang="de-DE" dirty="0"/>
              <a:t>Tel      : +49 8741 / 47 3574</a:t>
            </a:r>
          </a:p>
          <a:p>
            <a:r>
              <a:rPr lang="de-DE" dirty="0"/>
              <a:t>Mobil : +49 152 / 2800 4115	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2FD4F6A-34E6-C771-E9F0-56937E415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6948" y="2976959"/>
            <a:ext cx="2592388" cy="11026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1582"/>
              </a:lnSpc>
            </a:pPr>
            <a:r>
              <a:rPr lang="de-DE" altLang="de-DE" sz="1055" dirty="0">
                <a:solidFill>
                  <a:srgbClr val="FFFFFF"/>
                </a:solidFill>
                <a:latin typeface="Gilroy Light" pitchFamily="2" charset="77"/>
              </a:rPr>
              <a:t>Radlbeck Ulrich</a:t>
            </a:r>
            <a:br>
              <a:rPr lang="de-DE" altLang="de-DE" sz="1055" dirty="0">
                <a:solidFill>
                  <a:srgbClr val="FFFFFF"/>
                </a:solidFill>
                <a:latin typeface="Gilroy Light" pitchFamily="2" charset="77"/>
              </a:rPr>
            </a:br>
            <a:r>
              <a:rPr lang="de-DE" altLang="de-DE" sz="1055" dirty="0">
                <a:solidFill>
                  <a:srgbClr val="FFFFFF"/>
                </a:solidFill>
                <a:latin typeface="Gilroy Light" pitchFamily="2" charset="77"/>
              </a:rPr>
              <a:t>Technical </a:t>
            </a:r>
            <a:r>
              <a:rPr lang="de-DE" altLang="de-DE" sz="1055" dirty="0" err="1">
                <a:solidFill>
                  <a:srgbClr val="FFFFFF"/>
                </a:solidFill>
                <a:latin typeface="Gilroy Light" pitchFamily="2" charset="77"/>
              </a:rPr>
              <a:t>sales</a:t>
            </a:r>
            <a:br>
              <a:rPr lang="de-DE" altLang="de-DE" sz="1055" dirty="0">
                <a:solidFill>
                  <a:srgbClr val="FFFFFF"/>
                </a:solidFill>
                <a:latin typeface="Gilroy Light" pitchFamily="2" charset="77"/>
              </a:rPr>
            </a:br>
            <a:r>
              <a:rPr lang="de-DE" altLang="de-DE" sz="1055" dirty="0">
                <a:solidFill>
                  <a:srgbClr val="FFFFFF"/>
                </a:solidFill>
                <a:latin typeface="Gilroy Light" pitchFamily="2" charset="77"/>
              </a:rPr>
              <a:t>E-Mail: radlbeck.ulrich@gluth.eu</a:t>
            </a:r>
          </a:p>
          <a:p>
            <a:pPr>
              <a:lnSpc>
                <a:spcPts val="1582"/>
              </a:lnSpc>
            </a:pPr>
            <a:r>
              <a:rPr lang="de-DE" altLang="de-DE" sz="1055" dirty="0">
                <a:solidFill>
                  <a:srgbClr val="FFFFFF"/>
                </a:solidFill>
                <a:latin typeface="Gilroy Light" pitchFamily="2" charset="77"/>
              </a:rPr>
              <a:t>Tel:      +49 9421 / 544-56</a:t>
            </a:r>
            <a:br>
              <a:rPr lang="de-DE" altLang="de-DE" sz="1055" dirty="0">
                <a:solidFill>
                  <a:srgbClr val="FFFFFF"/>
                </a:solidFill>
                <a:latin typeface="Gilroy Light" pitchFamily="2" charset="77"/>
              </a:rPr>
            </a:br>
            <a:r>
              <a:rPr lang="de-DE" altLang="de-DE" sz="1055" dirty="0">
                <a:solidFill>
                  <a:srgbClr val="FFFFFF"/>
                </a:solidFill>
                <a:latin typeface="Gilroy Light" pitchFamily="2" charset="77"/>
              </a:rPr>
              <a:t>Mobil: +49 </a:t>
            </a: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171 / 9493494</a:t>
            </a:r>
            <a:endParaRPr lang="de-DE" altLang="de-DE" sz="1055" dirty="0">
              <a:solidFill>
                <a:srgbClr val="FFFFFF"/>
              </a:solidFill>
              <a:latin typeface="Gilroy Light" pitchFamily="2" charset="77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B9274EE-5C3C-97D7-AB08-63C957E66085}"/>
              </a:ext>
            </a:extLst>
          </p:cNvPr>
          <p:cNvSpPr txBox="1"/>
          <p:nvPr/>
        </p:nvSpPr>
        <p:spPr>
          <a:xfrm>
            <a:off x="504919" y="1709802"/>
            <a:ext cx="5747769" cy="5027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582"/>
              </a:lnSpc>
            </a:pPr>
            <a:r>
              <a:rPr lang="de-DE" sz="1400" b="1" dirty="0">
                <a:solidFill>
                  <a:srgbClr val="FFFFFF"/>
                </a:solidFill>
                <a:latin typeface="+mj-lt"/>
              </a:rPr>
              <a:t>17.06.2025</a:t>
            </a:r>
            <a:endParaRPr lang="de-DE" sz="1400" dirty="0">
              <a:solidFill>
                <a:srgbClr val="FFFFFF"/>
              </a:solidFill>
              <a:latin typeface="+mj-lt"/>
            </a:endParaRPr>
          </a:p>
          <a:p>
            <a:pPr algn="l">
              <a:lnSpc>
                <a:spcPts val="1582"/>
              </a:lnSpc>
            </a:pPr>
            <a:r>
              <a:rPr lang="de-DE" sz="1400" dirty="0">
                <a:solidFill>
                  <a:srgbClr val="FFFFFF"/>
                </a:solidFill>
                <a:latin typeface="+mj-lt"/>
              </a:rPr>
              <a:t>A07616000_A  </a:t>
            </a:r>
            <a:r>
              <a:rPr lang="de-DE" sz="1400" dirty="0" err="1">
                <a:solidFill>
                  <a:srgbClr val="FFFFFF"/>
                </a:solidFill>
                <a:latin typeface="+mj-lt"/>
              </a:rPr>
              <a:t>for</a:t>
            </a:r>
            <a:r>
              <a:rPr lang="de-DE" sz="1400" dirty="0">
                <a:solidFill>
                  <a:srgbClr val="FFFFFF"/>
                </a:solidFill>
                <a:latin typeface="+mj-lt"/>
              </a:rPr>
              <a:t> Lisa Dräxlmaier / Satu Mare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0BAF098-62C9-7526-5792-71D834C6AB29}"/>
              </a:ext>
            </a:extLst>
          </p:cNvPr>
          <p:cNvSpPr txBox="1"/>
          <p:nvPr/>
        </p:nvSpPr>
        <p:spPr>
          <a:xfrm>
            <a:off x="7691225" y="2998010"/>
            <a:ext cx="2798975" cy="11026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>
            <a:defPPr>
              <a:defRPr lang="de-DE"/>
            </a:defPPr>
            <a:lvl1pPr>
              <a:lnSpc>
                <a:spcPts val="1582"/>
              </a:lnSpc>
              <a:defRPr sz="1055">
                <a:solidFill>
                  <a:srgbClr val="FFFFFF"/>
                </a:solidFill>
                <a:latin typeface="Gilroy Light" pitchFamily="2" charset="77"/>
                <a:cs typeface="Arial" panose="020B0604020202020204" pitchFamily="34" charset="0"/>
              </a:defRPr>
            </a:lvl1pPr>
            <a:lvl2pPr marL="742950" indent="-285750"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de-DE" dirty="0"/>
              <a:t>Juhasz </a:t>
            </a:r>
            <a:r>
              <a:rPr lang="de-DE" dirty="0" err="1"/>
              <a:t>Levente</a:t>
            </a:r>
            <a:endParaRPr lang="de-DE" dirty="0"/>
          </a:p>
          <a:p>
            <a:r>
              <a:rPr lang="de-DE" dirty="0"/>
              <a:t>Engineering</a:t>
            </a:r>
          </a:p>
          <a:p>
            <a:r>
              <a:rPr lang="de-DE" dirty="0"/>
              <a:t>E-Mail: Levente-istvan.juhasz@draexlmaier.com </a:t>
            </a:r>
          </a:p>
          <a:p>
            <a:r>
              <a:rPr lang="de-DE" dirty="0"/>
              <a:t>Tel      : +40 723 / 100 146</a:t>
            </a:r>
          </a:p>
          <a:p>
            <a:r>
              <a:rPr lang="de-DE" dirty="0"/>
              <a:t>Mobil : </a:t>
            </a:r>
          </a:p>
        </p:txBody>
      </p:sp>
    </p:spTree>
    <p:extLst>
      <p:ext uri="{BB962C8B-B14F-4D97-AF65-F5344CB8AC3E}">
        <p14:creationId xmlns:p14="http://schemas.microsoft.com/office/powerpoint/2010/main" val="2703321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s ist eine Folie…">
            <a:extLst>
              <a:ext uri="{FF2B5EF4-FFF2-40B4-BE49-F238E27FC236}">
                <a16:creationId xmlns:a16="http://schemas.microsoft.com/office/drawing/2014/main" id="{18640E34-30E8-A217-0FA4-5EE22F045C96}"/>
              </a:ext>
            </a:extLst>
          </p:cNvPr>
          <p:cNvSpPr txBox="1"/>
          <p:nvPr/>
        </p:nvSpPr>
        <p:spPr>
          <a:xfrm>
            <a:off x="1952837" y="955127"/>
            <a:ext cx="5430006" cy="4825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6789" tIns="26789" rIns="26789" bIns="26789" anchor="t">
            <a:spAutoFit/>
          </a:bodyPr>
          <a:lstStyle/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 </a:t>
            </a:r>
            <a:r>
              <a:rPr lang="de-DE" sz="369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369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369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lang="de-DE" sz="369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endParaRPr lang="de-DE" sz="2800" dirty="0">
              <a:solidFill>
                <a:srgbClr val="2C3F4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1500" dirty="0">
                <a:solidFill>
                  <a:srgbClr val="2C3F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Basics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1500" dirty="0">
                <a:solidFill>
                  <a:srgbClr val="2C3F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Description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1500" dirty="0">
                <a:solidFill>
                  <a:srgbClr val="2C3F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Layout/Concept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1500" dirty="0">
                <a:solidFill>
                  <a:srgbClr val="2C3F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Description </a:t>
            </a:r>
            <a:r>
              <a:rPr lang="de-DE" sz="1500" dirty="0" err="1">
                <a:solidFill>
                  <a:srgbClr val="2C3F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500" dirty="0">
                <a:solidFill>
                  <a:srgbClr val="2C3F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500" dirty="0" err="1">
                <a:solidFill>
                  <a:srgbClr val="2C3F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stations</a:t>
            </a:r>
            <a:endParaRPr lang="de-DE" sz="1500" dirty="0">
              <a:solidFill>
                <a:srgbClr val="2C3F4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1500" dirty="0">
                <a:solidFill>
                  <a:srgbClr val="2C3F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 System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1500" dirty="0">
                <a:solidFill>
                  <a:srgbClr val="2C3F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 </a:t>
            </a:r>
            <a:r>
              <a:rPr lang="de-DE" sz="1500" dirty="0" err="1">
                <a:solidFill>
                  <a:srgbClr val="2C3F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Criteria</a:t>
            </a:r>
            <a:endParaRPr lang="de-DE" sz="1500" dirty="0">
              <a:solidFill>
                <a:srgbClr val="2C3F4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1500" dirty="0" err="1">
                <a:solidFill>
                  <a:srgbClr val="2C3F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Scope</a:t>
            </a:r>
            <a:r>
              <a:rPr lang="de-DE" sz="1500" dirty="0">
                <a:solidFill>
                  <a:srgbClr val="2C3F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500" dirty="0" err="1">
                <a:solidFill>
                  <a:srgbClr val="2C3F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500" dirty="0">
                <a:solidFill>
                  <a:srgbClr val="2C3F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500" dirty="0" err="1">
                <a:solidFill>
                  <a:srgbClr val="2C3F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Delivery</a:t>
            </a:r>
            <a:endParaRPr lang="de-DE" sz="1500" dirty="0">
              <a:solidFill>
                <a:srgbClr val="2C3F4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1500" dirty="0" err="1">
                <a:solidFill>
                  <a:srgbClr val="2C3F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Supplies</a:t>
            </a:r>
            <a:endParaRPr lang="de-DE" sz="1500" dirty="0">
              <a:solidFill>
                <a:srgbClr val="2C3F4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1500" dirty="0" err="1">
                <a:solidFill>
                  <a:srgbClr val="2C3F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Miscellaneous</a:t>
            </a:r>
            <a:endParaRPr lang="de-DE" sz="1500" dirty="0">
              <a:solidFill>
                <a:srgbClr val="2C3F4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1500" dirty="0">
                <a:solidFill>
                  <a:srgbClr val="2C3F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Schedule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1500" dirty="0">
                <a:solidFill>
                  <a:srgbClr val="2C3F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Prices</a:t>
            </a:r>
          </a:p>
        </p:txBody>
      </p:sp>
    </p:spTree>
    <p:extLst>
      <p:ext uri="{BB962C8B-B14F-4D97-AF65-F5344CB8AC3E}">
        <p14:creationId xmlns:p14="http://schemas.microsoft.com/office/powerpoint/2010/main" val="2669796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03DE95-FB7E-022C-D2AB-41D002A4A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6303" y="95369"/>
            <a:ext cx="4656790" cy="265716"/>
          </a:xfrm>
        </p:spPr>
        <p:txBody>
          <a:bodyPr/>
          <a:lstStyle/>
          <a:p>
            <a:r>
              <a:rPr lang="de-DE" sz="1400" b="1" u="sng" dirty="0">
                <a:latin typeface="+mj-lt"/>
              </a:rPr>
              <a:t>Output Cable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4284417-AC7A-3885-A731-6936AE7F7BFB}"/>
              </a:ext>
            </a:extLst>
          </p:cNvPr>
          <p:cNvSpPr txBox="1"/>
          <p:nvPr/>
        </p:nvSpPr>
        <p:spPr>
          <a:xfrm>
            <a:off x="5083805" y="939794"/>
            <a:ext cx="6618038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Station </a:t>
            </a:r>
            <a:r>
              <a:rPr lang="de-DE" sz="1400" b="1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consisting</a:t>
            </a:r>
            <a:r>
              <a:rPr lang="de-DE" sz="1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400" b="1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endParaRPr lang="de-DE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defTabSz="457200">
              <a:spcBef>
                <a:spcPct val="20000"/>
              </a:spcBef>
              <a:buFont typeface="Arial"/>
              <a:buChar char="•"/>
            </a:pPr>
            <a:r>
              <a:rPr lang="en-US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 unit cable</a:t>
            </a:r>
          </a:p>
          <a:p>
            <a:pPr marL="628650" lvl="1" indent="-171450" defTabSz="457200">
              <a:spcBef>
                <a:spcPct val="20000"/>
              </a:spcBef>
              <a:buFont typeface="Symbol" panose="05050102010706020507" pitchFamily="18" charset="2"/>
              <a:buChar char="-"/>
            </a:pPr>
            <a:r>
              <a:rPr lang="de-DE" sz="900" dirty="0">
                <a:solidFill>
                  <a:srgbClr val="000000"/>
                </a:solidFill>
                <a:latin typeface="CIDFont+F2"/>
              </a:rPr>
              <a:t>2x </a:t>
            </a:r>
            <a:r>
              <a:rPr lang="de-DE" sz="900" dirty="0" err="1">
                <a:solidFill>
                  <a:srgbClr val="000000"/>
                </a:solidFill>
                <a:latin typeface="CIDFont+F2"/>
              </a:rPr>
              <a:t>roller</a:t>
            </a:r>
            <a:r>
              <a:rPr lang="de-DE" sz="900" dirty="0">
                <a:solidFill>
                  <a:srgbClr val="000000"/>
                </a:solidFill>
                <a:latin typeface="CIDFont+F2"/>
              </a:rPr>
              <a:t> </a:t>
            </a:r>
            <a:r>
              <a:rPr lang="de-DE" sz="900" dirty="0" err="1">
                <a:solidFill>
                  <a:srgbClr val="000000"/>
                </a:solidFill>
                <a:latin typeface="CIDFont+F2"/>
              </a:rPr>
              <a:t>guide</a:t>
            </a:r>
            <a:r>
              <a:rPr lang="de-DE" sz="900" dirty="0">
                <a:solidFill>
                  <a:srgbClr val="000000"/>
                </a:solidFill>
                <a:latin typeface="CIDFont+F2"/>
              </a:rPr>
              <a:t> </a:t>
            </a:r>
            <a:r>
              <a:rPr lang="de-DE" sz="900" dirty="0" err="1">
                <a:solidFill>
                  <a:srgbClr val="000000"/>
                </a:solidFill>
                <a:latin typeface="CIDFont+F2"/>
              </a:rPr>
              <a:t>units</a:t>
            </a:r>
            <a:r>
              <a:rPr lang="de-DE" sz="900" dirty="0">
                <a:solidFill>
                  <a:srgbClr val="000000"/>
                </a:solidFill>
                <a:latin typeface="CIDFont+F2"/>
              </a:rPr>
              <a:t> </a:t>
            </a:r>
            <a:r>
              <a:rPr lang="de-DE" sz="900" dirty="0" err="1">
                <a:solidFill>
                  <a:srgbClr val="000000"/>
                </a:solidFill>
                <a:latin typeface="CIDFont+F2"/>
              </a:rPr>
              <a:t>pneumatically</a:t>
            </a:r>
            <a:r>
              <a:rPr lang="de-DE" sz="900" dirty="0">
                <a:solidFill>
                  <a:srgbClr val="000000"/>
                </a:solidFill>
                <a:latin typeface="CIDFont+F2"/>
              </a:rPr>
              <a:t> </a:t>
            </a:r>
            <a:r>
              <a:rPr lang="de-DE" sz="900" dirty="0" err="1">
                <a:solidFill>
                  <a:srgbClr val="000000"/>
                </a:solidFill>
                <a:latin typeface="CIDFont+F2"/>
              </a:rPr>
              <a:t>delivered</a:t>
            </a:r>
            <a:endParaRPr lang="de-DE" sz="900" dirty="0">
              <a:solidFill>
                <a:srgbClr val="000000"/>
              </a:solidFill>
              <a:latin typeface="CIDFont+F2"/>
            </a:endParaRPr>
          </a:p>
          <a:p>
            <a:pPr marL="342900" lvl="1" indent="-342900" defTabSz="457200">
              <a:spcBef>
                <a:spcPct val="20000"/>
              </a:spcBef>
              <a:buFont typeface="Arial"/>
              <a:buChar char="•"/>
            </a:pPr>
            <a:r>
              <a:rPr lang="de-DE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Pull </a:t>
            </a:r>
            <a:r>
              <a:rPr lang="de-DE" sz="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</a:t>
            </a:r>
            <a:endParaRPr lang="de-DE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28650" lvl="1" indent="-171450" defTabSz="457200">
              <a:spcBef>
                <a:spcPct val="20000"/>
              </a:spcBef>
              <a:buFont typeface="Symbol" panose="05050102010706020507" pitchFamily="18" charset="2"/>
              <a:buChar char="-"/>
            </a:pPr>
            <a:r>
              <a:rPr lang="de-DE" sz="900" dirty="0">
                <a:solidFill>
                  <a:srgbClr val="000000"/>
                </a:solidFill>
                <a:latin typeface="CIDFont+F2"/>
              </a:rPr>
              <a:t>Electric pull </a:t>
            </a:r>
            <a:r>
              <a:rPr lang="de-DE" sz="900" dirty="0" err="1">
                <a:solidFill>
                  <a:srgbClr val="000000"/>
                </a:solidFill>
                <a:latin typeface="CIDFont+F2"/>
              </a:rPr>
              <a:t>axis</a:t>
            </a:r>
            <a:endParaRPr lang="de-DE" sz="900" dirty="0">
              <a:solidFill>
                <a:srgbClr val="000000"/>
              </a:solidFill>
              <a:latin typeface="CIDFont+F2"/>
            </a:endParaRPr>
          </a:p>
          <a:p>
            <a:pPr marL="628650" lvl="1" indent="-171450" defTabSz="457200">
              <a:spcBef>
                <a:spcPct val="20000"/>
              </a:spcBef>
              <a:buFont typeface="Symbol" panose="05050102010706020507" pitchFamily="18" charset="2"/>
              <a:buChar char="-"/>
            </a:pPr>
            <a:r>
              <a:rPr lang="de-DE" sz="900" dirty="0" err="1">
                <a:solidFill>
                  <a:srgbClr val="000000"/>
                </a:solidFill>
                <a:latin typeface="CIDFont+F2"/>
              </a:rPr>
              <a:t>Pneumatic</a:t>
            </a:r>
            <a:r>
              <a:rPr lang="de-DE" sz="900" dirty="0">
                <a:solidFill>
                  <a:srgbClr val="000000"/>
                </a:solidFill>
                <a:latin typeface="CIDFont+F2"/>
              </a:rPr>
              <a:t> </a:t>
            </a:r>
            <a:r>
              <a:rPr lang="de-DE" sz="900" dirty="0" err="1">
                <a:solidFill>
                  <a:srgbClr val="000000"/>
                </a:solidFill>
                <a:latin typeface="CIDFont+F2"/>
              </a:rPr>
              <a:t>gripper</a:t>
            </a:r>
            <a:endParaRPr lang="de-DE" sz="900" dirty="0">
              <a:solidFill>
                <a:srgbClr val="000000"/>
              </a:solidFill>
              <a:latin typeface="CIDFont+F2"/>
            </a:endParaRPr>
          </a:p>
          <a:p>
            <a:pPr marL="628650" lvl="1" indent="-171450" defTabSz="457200">
              <a:spcBef>
                <a:spcPct val="20000"/>
              </a:spcBef>
              <a:buFont typeface="Symbol" panose="05050102010706020507" pitchFamily="18" charset="2"/>
              <a:buChar char="-"/>
            </a:pPr>
            <a:r>
              <a:rPr lang="en-US" sz="900" dirty="0">
                <a:solidFill>
                  <a:srgbClr val="000000"/>
                </a:solidFill>
                <a:latin typeface="CIDFont+F2"/>
              </a:rPr>
              <a:t>Universal Gripper fingers for all cable types</a:t>
            </a:r>
            <a:endParaRPr lang="de-DE" sz="900" dirty="0">
              <a:solidFill>
                <a:srgbClr val="000000"/>
              </a:solidFill>
              <a:latin typeface="CIDFont+F2"/>
            </a:endParaRPr>
          </a:p>
          <a:p>
            <a:pPr marL="628650" lvl="1" indent="-171450" defTabSz="457200">
              <a:spcBef>
                <a:spcPct val="20000"/>
              </a:spcBef>
              <a:buFont typeface="Symbol" panose="05050102010706020507" pitchFamily="18" charset="2"/>
              <a:buChar char="-"/>
            </a:pPr>
            <a:r>
              <a:rPr lang="de-DE" sz="900" dirty="0">
                <a:solidFill>
                  <a:srgbClr val="000000"/>
                </a:solidFill>
                <a:latin typeface="CIDFont+F2"/>
              </a:rPr>
              <a:t>Axis frame</a:t>
            </a:r>
          </a:p>
          <a:p>
            <a:pPr marL="342900" lvl="1" indent="-342900" defTabSz="457200">
              <a:spcBef>
                <a:spcPct val="20000"/>
              </a:spcBef>
              <a:buFont typeface="Arial"/>
              <a:buChar char="•"/>
            </a:pPr>
            <a:r>
              <a:rPr lang="de-DE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Opener Unit </a:t>
            </a:r>
            <a:r>
              <a:rPr lang="de-DE" sz="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DE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WPC</a:t>
            </a:r>
          </a:p>
          <a:p>
            <a:pPr marL="628650" lvl="1" indent="-171450" defTabSz="457200">
              <a:spcBef>
                <a:spcPct val="20000"/>
              </a:spcBef>
              <a:buFont typeface="Symbol" panose="05050102010706020507" pitchFamily="18" charset="2"/>
              <a:buChar char="-"/>
            </a:pPr>
            <a:r>
              <a:rPr lang="de-DE" sz="900" dirty="0">
                <a:solidFill>
                  <a:srgbClr val="000000"/>
                </a:solidFill>
                <a:latin typeface="CIDFont+F2"/>
              </a:rPr>
              <a:t>2x </a:t>
            </a:r>
            <a:r>
              <a:rPr lang="de-DE" sz="900" dirty="0" err="1">
                <a:solidFill>
                  <a:srgbClr val="000000"/>
                </a:solidFill>
                <a:latin typeface="CIDFont+F2"/>
              </a:rPr>
              <a:t>pneumatic</a:t>
            </a:r>
            <a:r>
              <a:rPr lang="de-DE" sz="900" dirty="0">
                <a:solidFill>
                  <a:srgbClr val="000000"/>
                </a:solidFill>
                <a:latin typeface="CIDFont+F2"/>
              </a:rPr>
              <a:t> </a:t>
            </a:r>
            <a:r>
              <a:rPr lang="de-DE" sz="900" dirty="0" err="1">
                <a:solidFill>
                  <a:srgbClr val="000000"/>
                </a:solidFill>
                <a:latin typeface="CIDFont+F2"/>
              </a:rPr>
              <a:t>cylinders</a:t>
            </a:r>
            <a:r>
              <a:rPr lang="de-DE" sz="900" dirty="0">
                <a:solidFill>
                  <a:srgbClr val="000000"/>
                </a:solidFill>
                <a:latin typeface="CIDFont+F2"/>
              </a:rPr>
              <a:t> </a:t>
            </a:r>
            <a:r>
              <a:rPr lang="de-DE" sz="900" dirty="0" err="1">
                <a:solidFill>
                  <a:srgbClr val="000000"/>
                </a:solidFill>
                <a:latin typeface="CIDFont+F2"/>
              </a:rPr>
              <a:t>to</a:t>
            </a:r>
            <a:r>
              <a:rPr lang="de-DE" sz="900" dirty="0">
                <a:solidFill>
                  <a:srgbClr val="000000"/>
                </a:solidFill>
                <a:latin typeface="CIDFont+F2"/>
              </a:rPr>
              <a:t> open </a:t>
            </a:r>
            <a:r>
              <a:rPr lang="de-DE" sz="900" dirty="0" err="1">
                <a:solidFill>
                  <a:srgbClr val="000000"/>
                </a:solidFill>
                <a:latin typeface="CIDFont+F2"/>
              </a:rPr>
              <a:t>the</a:t>
            </a:r>
            <a:r>
              <a:rPr lang="de-DE" sz="900" dirty="0">
                <a:solidFill>
                  <a:srgbClr val="000000"/>
                </a:solidFill>
                <a:latin typeface="CIDFont+F2"/>
              </a:rPr>
              <a:t> </a:t>
            </a:r>
            <a:r>
              <a:rPr lang="de-DE" sz="900" dirty="0" err="1">
                <a:solidFill>
                  <a:srgbClr val="000000"/>
                </a:solidFill>
                <a:latin typeface="CIDFont+F2"/>
              </a:rPr>
              <a:t>gripper</a:t>
            </a:r>
            <a:r>
              <a:rPr lang="de-DE" sz="900" dirty="0">
                <a:solidFill>
                  <a:srgbClr val="000000"/>
                </a:solidFill>
                <a:latin typeface="CIDFont+F2"/>
              </a:rPr>
              <a:t> </a:t>
            </a:r>
            <a:r>
              <a:rPr lang="de-DE" sz="900" dirty="0" err="1">
                <a:solidFill>
                  <a:srgbClr val="000000"/>
                </a:solidFill>
                <a:latin typeface="CIDFont+F2"/>
              </a:rPr>
              <a:t>jaws</a:t>
            </a:r>
            <a:r>
              <a:rPr lang="de-DE" sz="900" dirty="0">
                <a:solidFill>
                  <a:srgbClr val="000000"/>
                </a:solidFill>
                <a:latin typeface="CIDFont+F2"/>
              </a:rPr>
              <a:t> on </a:t>
            </a:r>
            <a:r>
              <a:rPr lang="de-DE" sz="900" dirty="0" err="1">
                <a:solidFill>
                  <a:srgbClr val="000000"/>
                </a:solidFill>
                <a:latin typeface="CIDFont+F2"/>
              </a:rPr>
              <a:t>the</a:t>
            </a:r>
            <a:r>
              <a:rPr lang="de-DE" sz="900" dirty="0">
                <a:solidFill>
                  <a:srgbClr val="000000"/>
                </a:solidFill>
                <a:latin typeface="CIDFont+F2"/>
              </a:rPr>
              <a:t> WPC</a:t>
            </a:r>
          </a:p>
          <a:p>
            <a:pPr marL="342900" lvl="1" indent="-342900" defTabSz="457200">
              <a:spcBef>
                <a:spcPct val="20000"/>
              </a:spcBef>
              <a:buFont typeface="Arial"/>
              <a:buChar char="•"/>
            </a:pPr>
            <a:r>
              <a:rPr lang="de-DE" altLang="de-DE" sz="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Turnout</a:t>
            </a:r>
            <a:r>
              <a:rPr lang="de-DE" altLang="de-DE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OK-NOK</a:t>
            </a:r>
          </a:p>
          <a:p>
            <a:pPr marL="342900" lvl="1" indent="-342900" defTabSz="457200">
              <a:spcBef>
                <a:spcPct val="20000"/>
              </a:spcBef>
              <a:buFont typeface="Arial"/>
              <a:buChar char="•"/>
            </a:pPr>
            <a:r>
              <a:rPr lang="de-DE" altLang="de-DE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Catch Tray OK</a:t>
            </a:r>
          </a:p>
          <a:p>
            <a:pPr marL="342900" lvl="1" indent="-342900" defTabSz="457200">
              <a:spcBef>
                <a:spcPct val="20000"/>
              </a:spcBef>
              <a:buFont typeface="Arial"/>
              <a:buChar char="•"/>
            </a:pPr>
            <a:r>
              <a:rPr lang="de-DE" altLang="de-DE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Catch Tray NOK</a:t>
            </a:r>
          </a:p>
          <a:p>
            <a:pPr marL="342900" lvl="1" indent="-342900" defTabSz="457200">
              <a:spcBef>
                <a:spcPct val="20000"/>
              </a:spcBef>
              <a:buFont typeface="Arial"/>
              <a:buChar char="•"/>
            </a:pPr>
            <a:r>
              <a:rPr lang="de-DE" altLang="de-DE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 frame </a:t>
            </a:r>
          </a:p>
          <a:p>
            <a:pPr marL="628650" lvl="1" indent="-171450" defTabSz="457200">
              <a:spcBef>
                <a:spcPct val="20000"/>
              </a:spcBef>
              <a:buFont typeface="Symbol" panose="05050102010706020507" pitchFamily="18" charset="2"/>
              <a:buChar char="-"/>
            </a:pPr>
            <a:endParaRPr lang="de-DE" sz="900" dirty="0">
              <a:solidFill>
                <a:srgbClr val="000000"/>
              </a:solidFill>
              <a:latin typeface="CIDFont+F2"/>
            </a:endParaRPr>
          </a:p>
          <a:p>
            <a:pPr lvl="1" defTabSz="457200">
              <a:spcBef>
                <a:spcPct val="20000"/>
              </a:spcBef>
            </a:pPr>
            <a:r>
              <a:rPr lang="de-DE" sz="900" dirty="0">
                <a:solidFill>
                  <a:srgbClr val="000000"/>
                </a:solidFill>
                <a:latin typeface="CIDFont+F2"/>
              </a:rPr>
              <a:t>	</a:t>
            </a:r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E879A651-3041-6B6E-3549-34E537A34F5A}"/>
              </a:ext>
            </a:extLst>
          </p:cNvPr>
          <p:cNvGrpSpPr/>
          <p:nvPr/>
        </p:nvGrpSpPr>
        <p:grpSpPr>
          <a:xfrm>
            <a:off x="661617" y="761995"/>
            <a:ext cx="3180622" cy="3294034"/>
            <a:chOff x="661617" y="761995"/>
            <a:chExt cx="3180622" cy="3294034"/>
          </a:xfrm>
        </p:grpSpPr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8238E778-80E2-5525-0EB7-4A400FABE1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1617" y="2608921"/>
              <a:ext cx="2998045" cy="1447108"/>
            </a:xfrm>
            <a:prstGeom prst="rect">
              <a:avLst/>
            </a:prstGeom>
          </p:spPr>
        </p:pic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68F6D7E6-FDE7-CB61-8987-A199593B0D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1617" y="761995"/>
              <a:ext cx="2998045" cy="1418718"/>
            </a:xfrm>
            <a:prstGeom prst="rect">
              <a:avLst/>
            </a:prstGeom>
          </p:spPr>
        </p:pic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DE3ABBC3-A388-B68F-F748-723C05ED1B31}"/>
                </a:ext>
              </a:extLst>
            </p:cNvPr>
            <p:cNvSpPr/>
            <p:nvPr/>
          </p:nvSpPr>
          <p:spPr>
            <a:xfrm>
              <a:off x="3200400" y="3938953"/>
              <a:ext cx="641839" cy="117076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26BBB55D-316D-C3FF-DA7C-DDF551EB33BD}"/>
                </a:ext>
              </a:extLst>
            </p:cNvPr>
            <p:cNvSpPr/>
            <p:nvPr/>
          </p:nvSpPr>
          <p:spPr>
            <a:xfrm>
              <a:off x="3200400" y="2063637"/>
              <a:ext cx="641839" cy="117076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035680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23-03-06 Präsentation_Vorlage_neu.pptx" id="{0D1DCC39-9FAD-4378-9BC8-F5A16F8B67D6}" vid="{B59B905E-AC12-4106-9A9F-63C4A424157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2023_Präsentation_Vorlage_neu_SCR</Template>
  <TotalTime>0</TotalTime>
  <Words>226</Words>
  <Application>Microsoft Office PowerPoint</Application>
  <PresentationFormat>Breitbild</PresentationFormat>
  <Paragraphs>54</Paragraphs>
  <Slides>3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10" baseType="lpstr">
      <vt:lpstr>Arial</vt:lpstr>
      <vt:lpstr>Calibri</vt:lpstr>
      <vt:lpstr>CIDFont+F2</vt:lpstr>
      <vt:lpstr>Gilroy ExtraBold</vt:lpstr>
      <vt:lpstr>Gilroy Light</vt:lpstr>
      <vt:lpstr>Symbol</vt:lpstr>
      <vt:lpstr>Office-Design</vt:lpstr>
      <vt:lpstr>PowerPoint-Präsentation</vt:lpstr>
      <vt:lpstr>PowerPoint-Präsentation</vt:lpstr>
      <vt:lpstr>Output Cable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Schano Rudolf</dc:creator>
  <cp:lastModifiedBy>Radlbeck Ulrich</cp:lastModifiedBy>
  <cp:revision>226</cp:revision>
  <cp:lastPrinted>2025-05-22T13:30:21Z</cp:lastPrinted>
  <dcterms:created xsi:type="dcterms:W3CDTF">2024-09-30T08:13:36Z</dcterms:created>
  <dcterms:modified xsi:type="dcterms:W3CDTF">2025-06-17T15:18:46Z</dcterms:modified>
</cp:coreProperties>
</file>