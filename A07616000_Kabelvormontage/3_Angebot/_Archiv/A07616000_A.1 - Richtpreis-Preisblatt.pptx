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10"/>
  </p:notesMasterIdLst>
  <p:sldIdLst>
    <p:sldId id="1293" r:id="rId2"/>
    <p:sldId id="1281" r:id="rId3"/>
    <p:sldId id="1245" r:id="rId4"/>
    <p:sldId id="1283" r:id="rId5"/>
    <p:sldId id="1284" r:id="rId6"/>
    <p:sldId id="1285" r:id="rId7"/>
    <p:sldId id="1199" r:id="rId8"/>
    <p:sldId id="1198" r:id="rId9"/>
  </p:sldIdLst>
  <p:sldSz cx="12192000" cy="6858000"/>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D2C3"/>
    <a:srgbClr val="4F81BD"/>
    <a:srgbClr val="FF6600"/>
    <a:srgbClr val="64CF95"/>
    <a:srgbClr val="009900"/>
    <a:srgbClr val="16B75F"/>
    <a:srgbClr val="FF7C80"/>
    <a:srgbClr val="CDC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75" autoAdjust="0"/>
    <p:restoredTop sz="92597" autoAdjust="0"/>
  </p:normalViewPr>
  <p:slideViewPr>
    <p:cSldViewPr snapToGrid="0">
      <p:cViewPr>
        <p:scale>
          <a:sx n="100" d="100"/>
          <a:sy n="100" d="100"/>
        </p:scale>
        <p:origin x="594" y="1392"/>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60" d="100"/>
          <a:sy n="60" d="100"/>
        </p:scale>
        <p:origin x="327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BB9D02-9FFC-4758-9EDA-EB9E451655DE}" type="datetimeFigureOut">
              <a:rPr lang="de-DE" smtClean="0"/>
              <a:t>17.06.2025</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EED572-F9A9-4535-91E4-E5029B1F52C2}" type="slidenum">
              <a:rPr lang="de-DE" smtClean="0"/>
              <a:t>‹Nr.›</a:t>
            </a:fld>
            <a:endParaRPr lang="de-DE"/>
          </a:p>
        </p:txBody>
      </p:sp>
    </p:spTree>
    <p:extLst>
      <p:ext uri="{BB962C8B-B14F-4D97-AF65-F5344CB8AC3E}">
        <p14:creationId xmlns:p14="http://schemas.microsoft.com/office/powerpoint/2010/main" val="1941002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feld 9"/>
          <p:cNvSpPr txBox="1"/>
          <p:nvPr userDrawn="1"/>
        </p:nvSpPr>
        <p:spPr>
          <a:xfrm>
            <a:off x="10653604" y="36763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91519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C58B094-7CBF-54A5-9666-8866CAB58CEC}"/>
              </a:ext>
            </a:extLst>
          </p:cNvPr>
          <p:cNvPicPr>
            <a:picLocks noChangeAspect="1"/>
          </p:cNvPicPr>
          <p:nvPr userDrawn="1"/>
        </p:nvPicPr>
        <p:blipFill>
          <a:blip r:embed="rId2"/>
          <a:stretch>
            <a:fillRect/>
          </a:stretch>
        </p:blipFill>
        <p:spPr>
          <a:xfrm>
            <a:off x="15240" y="0"/>
            <a:ext cx="12161520" cy="6858000"/>
          </a:xfrm>
          <a:prstGeom prst="rect">
            <a:avLst/>
          </a:prstGeom>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4" name="01">
            <a:extLst>
              <a:ext uri="{FF2B5EF4-FFF2-40B4-BE49-F238E27FC236}">
                <a16:creationId xmlns:a16="http://schemas.microsoft.com/office/drawing/2014/main" id="{E9EA7661-F82F-9971-5416-981AA6F8B8B4}"/>
              </a:ext>
            </a:extLst>
          </p:cNvPr>
          <p:cNvSpPr>
            <a:spLocks noChangeAspect="1"/>
          </p:cNvSpPr>
          <p:nvPr userDrawn="1"/>
        </p:nvSpPr>
        <p:spPr>
          <a:xfrm>
            <a:off x="10701770" y="0"/>
            <a:ext cx="273668" cy="360000"/>
          </a:xfrm>
          <a:prstGeom prst="rect">
            <a:avLst/>
          </a:prstGeom>
          <a:solidFill>
            <a:srgbClr val="2C3F48"/>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endParaRPr sz="633" dirty="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bg1"/>
                </a:solidFill>
                <a:latin typeface="Gilroy ExtraBold"/>
              </a:rPr>
              <a:t>‹Nr.›</a:t>
            </a:fld>
            <a:endParaRPr lang="de-DE" sz="1000">
              <a:solidFill>
                <a:schemeClr val="bg1"/>
              </a:solidFill>
              <a:latin typeface="Gilroy ExtraBold"/>
            </a:endParaRPr>
          </a:p>
        </p:txBody>
      </p:sp>
      <p:sp>
        <p:nvSpPr>
          <p:cNvPr id="2" name="Projektbezeichnung | Titel">
            <a:extLst>
              <a:ext uri="{FF2B5EF4-FFF2-40B4-BE49-F238E27FC236}">
                <a16:creationId xmlns:a16="http://schemas.microsoft.com/office/drawing/2014/main" id="{7EB79AE8-0D8C-C49B-AFA0-2C9B5F4077EF}"/>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Gilroy ExtraBold"/>
                <a:ea typeface="Gilroy ExtraBold"/>
                <a:cs typeface="Gilroy ExtraBold"/>
                <a:sym typeface="Gilroy ExtraBold"/>
              </a:rPr>
              <a:t>A07616000_A</a:t>
            </a:r>
            <a:endParaRPr sz="1000" dirty="0">
              <a:solidFill>
                <a:schemeClr val="bg1"/>
              </a:solidFill>
              <a:latin typeface="Gilroy ExtraBold"/>
              <a:ea typeface="Gilroy ExtraBold"/>
              <a:cs typeface="Gilroy ExtraBold"/>
              <a:sym typeface="Gilroy ExtraBold"/>
            </a:endParaRPr>
          </a:p>
        </p:txBody>
      </p:sp>
    </p:spTree>
    <p:extLst>
      <p:ext uri="{BB962C8B-B14F-4D97-AF65-F5344CB8AC3E}">
        <p14:creationId xmlns:p14="http://schemas.microsoft.com/office/powerpoint/2010/main" val="2954211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8"/>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rPr>
              <a:t>A07616000_A</a:t>
            </a:r>
            <a:r>
              <a:rPr sz="1000" dirty="0">
                <a:solidFill>
                  <a:srgbClr val="2C3F48"/>
                </a:solidFill>
              </a:rPr>
              <a:t> | </a:t>
            </a:r>
            <a:fld id="{3C0A5C85-D6AC-4518-BE8C-D4372821F754}" type="datetime1">
              <a:rPr lang="de-DE" sz="1000" smtClean="0">
                <a:solidFill>
                  <a:srgbClr val="4DB8A0"/>
                </a:solidFill>
                <a:latin typeface="Gilroy ExtraBold"/>
                <a:ea typeface="Gilroy ExtraBold"/>
                <a:cs typeface="Gilroy ExtraBold"/>
                <a:sym typeface="Gilroy ExtraBold"/>
              </a:rPr>
              <a:t>17.06.2025</a:t>
            </a:fld>
            <a:endParaRPr sz="1000" dirty="0">
              <a:solidFill>
                <a:srgbClr val="4DB8A0"/>
              </a:solidFill>
              <a:latin typeface="Gilroy ExtraBold"/>
              <a:ea typeface="Gilroy ExtraBold"/>
              <a:cs typeface="Gilroy ExtraBold"/>
              <a:sym typeface="Gilroy ExtraBold"/>
            </a:endParaRP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tx1"/>
                </a:solidFill>
                <a:latin typeface="Gilroy ExtraBold"/>
              </a:rPr>
              <a:t>‹Nr.›</a:t>
            </a:fld>
            <a:endParaRPr lang="de-DE" sz="1000">
              <a:solidFill>
                <a:schemeClr val="tx1"/>
              </a:solidFill>
              <a:latin typeface="Gilroy ExtraBold"/>
            </a:endParaRPr>
          </a:p>
        </p:txBody>
      </p:sp>
      <p:sp>
        <p:nvSpPr>
          <p:cNvPr id="2" name="Titel 1">
            <a:extLst>
              <a:ext uri="{FF2B5EF4-FFF2-40B4-BE49-F238E27FC236}">
                <a16:creationId xmlns:a16="http://schemas.microsoft.com/office/drawing/2014/main" id="{BB7EDDE7-1837-9DEF-31C0-853111381097}"/>
              </a:ext>
            </a:extLst>
          </p:cNvPr>
          <p:cNvSpPr>
            <a:spLocks noGrp="1"/>
          </p:cNvSpPr>
          <p:nvPr>
            <p:ph type="title" hasCustomPrompt="1"/>
          </p:nvPr>
        </p:nvSpPr>
        <p:spPr>
          <a:xfrm>
            <a:off x="3500524" y="161538"/>
            <a:ext cx="4656790" cy="265716"/>
          </a:xfrm>
          <a:prstGeom prst="rect">
            <a:avLst/>
          </a:prstGeom>
        </p:spPr>
        <p:txBody>
          <a:bodyPr anchor="t"/>
          <a:lstStyle>
            <a:lvl1pPr algn="ctr">
              <a:defRPr lang="de-DE" sz="1000" kern="1200" dirty="0">
                <a:solidFill>
                  <a:srgbClr val="2C3F48"/>
                </a:solidFill>
                <a:latin typeface="Gilroy Light"/>
                <a:ea typeface="Gilroy Light"/>
                <a:cs typeface="Gilroy Light"/>
              </a:defRPr>
            </a:lvl1pPr>
          </a:lstStyle>
          <a:p>
            <a:r>
              <a:rPr lang="de-DE" dirty="0"/>
              <a:t>Folientitel</a:t>
            </a:r>
          </a:p>
        </p:txBody>
      </p:sp>
    </p:spTree>
    <p:extLst>
      <p:ext uri="{BB962C8B-B14F-4D97-AF65-F5344CB8AC3E}">
        <p14:creationId xmlns:p14="http://schemas.microsoft.com/office/powerpoint/2010/main" val="1181577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nke">
    <p:bg>
      <p:bgPr>
        <a:solidFill>
          <a:schemeClr val="bg1"/>
        </a:solidFill>
        <a:effectLst/>
      </p:bgPr>
    </p:bg>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3" name="Grafik 2">
            <a:extLst>
              <a:ext uri="{FF2B5EF4-FFF2-40B4-BE49-F238E27FC236}">
                <a16:creationId xmlns:a16="http://schemas.microsoft.com/office/drawing/2014/main" id="{9CF6A121-117E-2360-103B-99EDB01E807A}"/>
              </a:ext>
            </a:extLst>
          </p:cNvPr>
          <p:cNvPicPr>
            <a:picLocks noChangeAspect="1"/>
          </p:cNvPicPr>
          <p:nvPr userDrawn="1"/>
        </p:nvPicPr>
        <p:blipFill>
          <a:blip r:embed="rId2"/>
          <a:stretch>
            <a:fillRect/>
          </a:stretch>
        </p:blipFill>
        <p:spPr>
          <a:xfrm>
            <a:off x="0" y="18994"/>
            <a:ext cx="12192000" cy="6820012"/>
          </a:xfrm>
          <a:prstGeom prst="rect">
            <a:avLst/>
          </a:prstGeom>
        </p:spPr>
      </p:pic>
    </p:spTree>
    <p:extLst>
      <p:ext uri="{BB962C8B-B14F-4D97-AF65-F5344CB8AC3E}">
        <p14:creationId xmlns:p14="http://schemas.microsoft.com/office/powerpoint/2010/main" val="19754858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7"/>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mj-lt"/>
              </a:rPr>
              <a:t>A07643000_B – Angebot </a:t>
            </a:r>
            <a:r>
              <a:rPr sz="1000" dirty="0">
                <a:solidFill>
                  <a:srgbClr val="2C3F48"/>
                </a:solidFill>
                <a:latin typeface="+mj-lt"/>
              </a:rPr>
              <a:t>| </a:t>
            </a:r>
            <a:r>
              <a:rPr lang="de-DE" sz="1000" dirty="0">
                <a:solidFill>
                  <a:srgbClr val="4DB8A0"/>
                </a:solidFill>
                <a:latin typeface="+mj-lt"/>
                <a:sym typeface="Gilroy ExtraBold"/>
              </a:rPr>
              <a:t>08.04.2025</a:t>
            </a:r>
            <a:endParaRPr sz="1000" dirty="0">
              <a:solidFill>
                <a:srgbClr val="4DB8A0"/>
              </a:solidFill>
              <a:latin typeface="+mj-lt"/>
              <a:ea typeface="Gilroy ExtraBold"/>
              <a:cs typeface="Gilroy ExtraBold"/>
              <a:sym typeface="Gilroy ExtraBold"/>
            </a:endParaRPr>
          </a:p>
        </p:txBody>
      </p:sp>
      <p:sp>
        <p:nvSpPr>
          <p:cNvPr id="4" name="Textfeld 3">
            <a:extLst>
              <a:ext uri="{FF2B5EF4-FFF2-40B4-BE49-F238E27FC236}">
                <a16:creationId xmlns:a16="http://schemas.microsoft.com/office/drawing/2014/main" id="{11647A44-1BE1-D8C4-64E2-48910E5FC2F7}"/>
              </a:ext>
            </a:extLst>
          </p:cNvPr>
          <p:cNvSpPr txBox="1"/>
          <p:nvPr userDrawn="1"/>
        </p:nvSpPr>
        <p:spPr>
          <a:xfrm>
            <a:off x="10710154" y="-2557"/>
            <a:ext cx="273668" cy="3441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18000" tIns="18000" rIns="18000" bIns="18000" rtlCol="0" anchor="ctr" anchorCtr="0">
            <a:spAutoFit/>
          </a:bodyPr>
          <a:lstStyle/>
          <a:p>
            <a:pPr algn="ctr"/>
            <a:fld id="{A92209CA-EFDE-4AB8-9222-590C7472CDAB}" type="slidenum">
              <a:rPr lang="de-DE" sz="1000" smtClean="0">
                <a:solidFill>
                  <a:schemeClr val="bg1"/>
                </a:solidFill>
                <a:latin typeface="+mj-lt"/>
              </a:rPr>
              <a:pPr algn="ctr"/>
              <a:t>‹Nr.›</a:t>
            </a:fld>
            <a:endParaRPr lang="de-DE" sz="1000" dirty="0">
              <a:solidFill>
                <a:schemeClr val="bg1"/>
              </a:solidFill>
              <a:latin typeface="+mj-lt"/>
            </a:endParaRPr>
          </a:p>
        </p:txBody>
      </p:sp>
    </p:spTree>
    <p:extLst>
      <p:ext uri="{BB962C8B-B14F-4D97-AF65-F5344CB8AC3E}">
        <p14:creationId xmlns:p14="http://schemas.microsoft.com/office/powerpoint/2010/main" val="682063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48960"/>
      </p:ext>
    </p:extLst>
  </p:cSld>
  <p:clrMap bg1="lt1" tx1="dk1" bg2="lt2" tx2="dk2" accent1="accent1" accent2="accent2" accent3="accent3" accent4="accent4" accent5="accent5" accent6="accent6" hlink="hlink" folHlink="folHlink"/>
  <p:sldLayoutIdLst>
    <p:sldLayoutId id="2147483654" r:id="rId1"/>
    <p:sldLayoutId id="2147483657" r:id="rId2"/>
    <p:sldLayoutId id="2147483656" r:id="rId3"/>
    <p:sldLayoutId id="2147483658" r:id="rId4"/>
    <p:sldLayoutId id="214748365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Control System</a:t>
            </a:r>
          </a:p>
        </p:txBody>
      </p:sp>
      <p:sp>
        <p:nvSpPr>
          <p:cNvPr id="6" name="Textfeld 5">
            <a:extLst>
              <a:ext uri="{FF2B5EF4-FFF2-40B4-BE49-F238E27FC236}">
                <a16:creationId xmlns:a16="http://schemas.microsoft.com/office/drawing/2014/main" id="{97522261-8A83-B503-01D7-277D7E7C1E1D}"/>
              </a:ext>
            </a:extLst>
          </p:cNvPr>
          <p:cNvSpPr txBox="1"/>
          <p:nvPr/>
        </p:nvSpPr>
        <p:spPr>
          <a:xfrm>
            <a:off x="1244601" y="762000"/>
            <a:ext cx="9801970" cy="504753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Control System</a:t>
            </a:r>
          </a:p>
          <a:p>
            <a:r>
              <a:rPr lang="en-US" sz="1000" u="sng" dirty="0">
                <a:solidFill>
                  <a:srgbClr val="25363E"/>
                </a:solidFill>
                <a:latin typeface="Calibri" panose="020F0502020204030204" pitchFamily="34" charset="0"/>
                <a:ea typeface="Calibri" panose="020F0502020204030204" pitchFamily="34" charset="0"/>
                <a:cs typeface="Calibri" panose="020F0502020204030204" pitchFamily="34" charset="0"/>
              </a:rPr>
              <a:t>The control system essentially consists of the following components:</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HMI: 			19" Operator Center</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Mobile Panel: 		KTP700F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Controller (PLC): 	CPU 151xF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Software: 		TIA Portal V17</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Communication: 	</a:t>
            </a:r>
            <a:r>
              <a:rPr lang="en-US" sz="1000" dirty="0" err="1">
                <a:solidFill>
                  <a:srgbClr val="25363E"/>
                </a:solidFill>
                <a:latin typeface="Calibri" panose="020F0502020204030204" pitchFamily="34" charset="0"/>
                <a:ea typeface="Calibri" panose="020F0502020204030204" pitchFamily="34" charset="0"/>
                <a:cs typeface="Calibri" panose="020F0502020204030204" pitchFamily="34" charset="0"/>
              </a:rPr>
              <a:t>Profinet</a:t>
            </a:r>
            <a:endPar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Decentralized Peripherals: 	MURR MVK</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Centralized Peripherals: 	ET200SP</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Servo Motor:		SEW</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Pneumatics: 		FESTO</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Software</a:t>
            </a:r>
            <a:endParaRPr lang="en-US" sz="1050" b="1" u="sng" dirty="0">
              <a:latin typeface="Calibri" panose="020F0502020204030204" pitchFamily="34" charset="0"/>
              <a:ea typeface="Calibri" panose="020F0502020204030204" pitchFamily="34" charset="0"/>
              <a:cs typeface="Calibri" panose="020F0502020204030204" pitchFamily="34" charset="0"/>
            </a:endParaRPr>
          </a:p>
          <a:p>
            <a:r>
              <a:rPr lang="en-US" sz="1000" dirty="0">
                <a:latin typeface="Calibri" panose="020F0502020204030204" pitchFamily="34" charset="0"/>
                <a:ea typeface="Calibri" panose="020F0502020204030204" pitchFamily="34" charset="0"/>
                <a:cs typeface="Calibri" panose="020F0502020204030204" pitchFamily="34" charset="0"/>
              </a:rPr>
              <a:t>The PLC and control panels are programmed according to the Gluth standard.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Operation</a:t>
            </a:r>
          </a:p>
          <a:p>
            <a:r>
              <a:rPr lang="en-US" sz="1000" dirty="0">
                <a:latin typeface="Calibri" panose="020F0502020204030204" pitchFamily="34" charset="0"/>
                <a:ea typeface="Calibri" panose="020F0502020204030204" pitchFamily="34" charset="0"/>
                <a:cs typeface="Calibri" panose="020F0502020204030204" pitchFamily="34" charset="0"/>
              </a:rPr>
              <a:t>The station is operated via a 19" touchscreen Operator Center panel.</a:t>
            </a:r>
          </a:p>
          <a:p>
            <a:r>
              <a:rPr lang="en-US" sz="1000" dirty="0">
                <a:latin typeface="Calibri" panose="020F0502020204030204" pitchFamily="34" charset="0"/>
                <a:ea typeface="Calibri" panose="020F0502020204030204" pitchFamily="34" charset="0"/>
                <a:cs typeface="Calibri" panose="020F0502020204030204" pitchFamily="34" charset="0"/>
              </a:rPr>
              <a:t>One mobile panel is also provided.</a:t>
            </a:r>
          </a:p>
          <a:p>
            <a:r>
              <a:rPr lang="en-US" sz="1000" dirty="0">
                <a:latin typeface="Calibri" panose="020F0502020204030204" pitchFamily="34" charset="0"/>
                <a:ea typeface="Calibri" panose="020F0502020204030204" pitchFamily="34" charset="0"/>
                <a:cs typeface="Calibri" panose="020F0502020204030204" pitchFamily="34" charset="0"/>
              </a:rPr>
              <a:t>Operator guidance is provided in German and Romanian.</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Installation</a:t>
            </a:r>
          </a:p>
          <a:p>
            <a:r>
              <a:rPr lang="en-US" sz="1000" dirty="0">
                <a:latin typeface="Calibri" panose="020F0502020204030204" pitchFamily="34" charset="0"/>
                <a:ea typeface="Calibri" panose="020F0502020204030204" pitchFamily="34" charset="0"/>
                <a:cs typeface="Calibri" panose="020F0502020204030204" pitchFamily="34" charset="0"/>
              </a:rPr>
              <a:t>The system is installed using the PROFINET Safety bus system.</a:t>
            </a:r>
          </a:p>
          <a:p>
            <a:r>
              <a:rPr lang="en-US" sz="1000" dirty="0">
                <a:latin typeface="Calibri" panose="020F0502020204030204" pitchFamily="34" charset="0"/>
                <a:ea typeface="Calibri" panose="020F0502020204030204" pitchFamily="34" charset="0"/>
                <a:cs typeface="Calibri" panose="020F0502020204030204" pitchFamily="34" charset="0"/>
              </a:rPr>
              <a:t>Careful installation, especially of moving cables, is ensured.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Cables in Cable Carriers</a:t>
            </a:r>
          </a:p>
          <a:p>
            <a:r>
              <a:rPr lang="en-US" sz="1000" dirty="0">
                <a:latin typeface="Calibri" panose="020F0502020204030204" pitchFamily="34" charset="0"/>
                <a:ea typeface="Calibri" panose="020F0502020204030204" pitchFamily="34" charset="0"/>
                <a:cs typeface="Calibri" panose="020F0502020204030204" pitchFamily="34" charset="0"/>
              </a:rPr>
              <a:t>In our experience, cables in cable carriers are subject to varying degrees of wear, depending on speed, acceleration, and frequency of movement. For this reason, these cables are designed to be plug-in or quickly replaceable. Regular system maintenance requires inspection and, if necessary, replacement.</a:t>
            </a: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806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97AA5337-8BC5-5726-CF7A-E0F87A67E7AE}"/>
              </a:ext>
            </a:extLst>
          </p:cNvPr>
          <p:cNvSpPr txBox="1"/>
          <p:nvPr/>
        </p:nvSpPr>
        <p:spPr>
          <a:xfrm>
            <a:off x="618806" y="911547"/>
            <a:ext cx="6850108" cy="3493264"/>
          </a:xfrm>
          <a:prstGeom prst="rect">
            <a:avLst/>
          </a:prstGeom>
          <a:noFill/>
        </p:spPr>
        <p:txBody>
          <a:bodyPr wrap="square" rtlCol="0">
            <a:spAutoFit/>
          </a:bodyPr>
          <a:lstStyle/>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Performance criteria - cycle time and output</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To determine the cycle time, a cable with a 16mm² cross-section and 170mm length is used.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station that is critical for the cycle time is the tinning of the cable ends.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We are currently assuming a heating time of 2 seconds and a tinning time of 2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This gives us a cycle time of 6.5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If the current tests result in shorter or longer times for heating and tinning, we reserve the right to adjust the cycle time accordingly.</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Technical availability</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Technical availability: 98%</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Preliminary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preliminary acceptance of the system is carried out in </a:t>
            </a:r>
            <a:r>
              <a:rPr 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Straubing</a:t>
            </a:r>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4 hours, one type each with 16mm², 25mm² and 32mm² is manufactured.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Final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final acceptance of the system is carried out in Satu Mare.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8 hours, one type each with 16mm², 25mm² and 32mm² is manufactured.</a:t>
            </a:r>
            <a:endParaRPr lang="de-DE"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u="sng" dirty="0">
                <a:latin typeface="Calibri" panose="020F0502020204030204" pitchFamily="34" charset="0"/>
                <a:ea typeface="Calibri" panose="020F0502020204030204" pitchFamily="34" charset="0"/>
                <a:cs typeface="Calibri" panose="020F0502020204030204" pitchFamily="34" charset="0"/>
              </a:rPr>
              <a:t>Performance </a:t>
            </a:r>
            <a:r>
              <a:rPr lang="de-DE" sz="1400" b="1" u="sng" dirty="0" err="1">
                <a:latin typeface="Calibri" panose="020F0502020204030204" pitchFamily="34" charset="0"/>
                <a:ea typeface="Calibri" panose="020F0502020204030204" pitchFamily="34" charset="0"/>
                <a:cs typeface="Calibri" panose="020F0502020204030204" pitchFamily="34" charset="0"/>
              </a:rPr>
              <a:t>criteria</a:t>
            </a:r>
            <a:r>
              <a:rPr lang="de-DE" sz="1400" b="1" u="sng" dirty="0">
                <a:latin typeface="Calibri" panose="020F0502020204030204" pitchFamily="34" charset="0"/>
                <a:ea typeface="Calibri" panose="020F0502020204030204" pitchFamily="34" charset="0"/>
                <a:cs typeface="Calibri" panose="020F0502020204030204" pitchFamily="34" charset="0"/>
              </a:rPr>
              <a:t> – </a:t>
            </a:r>
            <a:r>
              <a:rPr lang="de-DE" sz="1400" b="1" u="sng" dirty="0" err="1">
                <a:latin typeface="Calibri" panose="020F0502020204030204" pitchFamily="34" charset="0"/>
                <a:ea typeface="Calibri" panose="020F0502020204030204" pitchFamily="34" charset="0"/>
                <a:cs typeface="Calibri" panose="020F0502020204030204" pitchFamily="34" charset="0"/>
              </a:rPr>
              <a:t>technical</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data</a:t>
            </a:r>
            <a:endParaRPr lang="de-DE" sz="1400" b="1" dirty="0">
              <a:solidFill>
                <a:srgbClr val="2C3F48"/>
              </a:solidFill>
            </a:endParaRPr>
          </a:p>
        </p:txBody>
      </p:sp>
    </p:spTree>
    <p:extLst>
      <p:ext uri="{BB962C8B-B14F-4D97-AF65-F5344CB8AC3E}">
        <p14:creationId xmlns:p14="http://schemas.microsoft.com/office/powerpoint/2010/main" val="9769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8FADAC94-E284-3009-0680-7E6C4EFA9371}"/>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Lieferumfang / Ausnahmen</a:t>
            </a:r>
          </a:p>
        </p:txBody>
      </p:sp>
      <p:sp>
        <p:nvSpPr>
          <p:cNvPr id="6" name="Textfeld 5">
            <a:extLst>
              <a:ext uri="{FF2B5EF4-FFF2-40B4-BE49-F238E27FC236}">
                <a16:creationId xmlns:a16="http://schemas.microsoft.com/office/drawing/2014/main" id="{DE6F98D2-6AEE-0599-D501-04CCFCC8A029}"/>
              </a:ext>
            </a:extLst>
          </p:cNvPr>
          <p:cNvSpPr txBox="1"/>
          <p:nvPr/>
        </p:nvSpPr>
        <p:spPr>
          <a:xfrm>
            <a:off x="463554" y="4214542"/>
            <a:ext cx="8925980" cy="1415772"/>
          </a:xfrm>
          <a:prstGeom prst="rect">
            <a:avLst/>
          </a:prstGeom>
          <a:noFill/>
        </p:spPr>
        <p:txBody>
          <a:bodyPr wrap="square">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does not include:</a:t>
            </a:r>
          </a:p>
          <a:p>
            <a:pPr marL="285750" indent="-285750">
              <a:buFont typeface="Arial" panose="020B0604020202020204" pitchFamily="34" charset="0"/>
              <a:buChar char="•"/>
            </a:pPr>
            <a:r>
              <a:rPr lang="en-US" sz="900" dirty="0">
                <a:latin typeface="Calibri" panose="020F0502020204030204" pitchFamily="34" charset="0"/>
              </a:rPr>
              <a:t>Procurement of supplies</a:t>
            </a:r>
          </a:p>
          <a:p>
            <a:pPr marL="285750" indent="-285750">
              <a:buFont typeface="Arial" panose="020B0604020202020204" pitchFamily="34" charset="0"/>
              <a:buChar char="•"/>
            </a:pPr>
            <a:r>
              <a:rPr lang="en-US" sz="900" dirty="0">
                <a:latin typeface="Calibri" panose="020F0502020204030204" pitchFamily="34" charset="0"/>
              </a:rPr>
              <a:t>Spare and replacement parts</a:t>
            </a:r>
          </a:p>
          <a:p>
            <a:pPr marL="285750" indent="-285750">
              <a:buFont typeface="Arial" panose="020B0604020202020204" pitchFamily="34" charset="0"/>
              <a:buChar char="•"/>
            </a:pPr>
            <a:r>
              <a:rPr lang="en-US" sz="900" dirty="0">
                <a:latin typeface="Calibri" panose="020F0502020204030204" pitchFamily="34" charset="0"/>
              </a:rPr>
              <a:t>Connection of the system to your internal power supply</a:t>
            </a:r>
          </a:p>
          <a:p>
            <a:pPr marL="742950" lvl="1" indent="-285750">
              <a:buFont typeface="Arial" panose="020B0604020202020204" pitchFamily="34" charset="0"/>
              <a:buChar char="•"/>
            </a:pPr>
            <a:r>
              <a:rPr lang="en-US" sz="900" dirty="0">
                <a:latin typeface="Calibri" panose="020F0502020204030204" pitchFamily="34" charset="0"/>
              </a:rPr>
              <a:t>Pneumatics</a:t>
            </a:r>
          </a:p>
          <a:p>
            <a:pPr marL="742950" lvl="1" indent="-285750">
              <a:buFont typeface="Arial" panose="020B0604020202020204" pitchFamily="34" charset="0"/>
              <a:buChar char="•"/>
            </a:pPr>
            <a:r>
              <a:rPr lang="en-US" sz="900" dirty="0">
                <a:latin typeface="Calibri" panose="020F0502020204030204" pitchFamily="34" charset="0"/>
              </a:rPr>
              <a:t>Electrical supply</a:t>
            </a:r>
          </a:p>
          <a:p>
            <a:pPr marL="742950" lvl="1" indent="-285750">
              <a:buFont typeface="Arial" panose="020B0604020202020204" pitchFamily="34" charset="0"/>
              <a:buChar char="•"/>
            </a:pPr>
            <a:r>
              <a:rPr lang="en-US" sz="900" dirty="0">
                <a:latin typeface="Calibri" panose="020F0502020204030204" pitchFamily="34" charset="0"/>
              </a:rPr>
              <a:t>Extraction</a:t>
            </a:r>
          </a:p>
          <a:p>
            <a:pPr marL="285750" indent="-285750">
              <a:buFont typeface="Arial" panose="020B0604020202020204" pitchFamily="34" charset="0"/>
              <a:buChar char="•"/>
            </a:pPr>
            <a:r>
              <a:rPr lang="en-US" sz="900" dirty="0">
                <a:latin typeface="Calibri" panose="020F0502020204030204" pitchFamily="34" charset="0"/>
              </a:rPr>
              <a:t>Installation and commissioning of types beyond the scope of delivery</a:t>
            </a:r>
          </a:p>
          <a:p>
            <a:pPr marL="285750" indent="-285750">
              <a:buFont typeface="Arial" panose="020B0604020202020204" pitchFamily="34" charset="0"/>
              <a:buChar char="•"/>
            </a:pPr>
            <a:r>
              <a:rPr lang="en-US" sz="900" dirty="0">
                <a:latin typeface="Calibri" panose="020F0502020204030204" pitchFamily="34" charset="0"/>
              </a:rPr>
              <a:t>ESD-compliant design</a:t>
            </a:r>
            <a:endParaRPr lang="de-DE" sz="900" dirty="0">
              <a:latin typeface="Calibri" panose="020F0502020204030204" pitchFamily="34" charset="0"/>
            </a:endParaRPr>
          </a:p>
        </p:txBody>
      </p:sp>
      <p:sp>
        <p:nvSpPr>
          <p:cNvPr id="9" name="Textfeld 8">
            <a:extLst>
              <a:ext uri="{FF2B5EF4-FFF2-40B4-BE49-F238E27FC236}">
                <a16:creationId xmlns:a16="http://schemas.microsoft.com/office/drawing/2014/main" id="{5BB25941-E853-7CD8-8416-2D0BAF642646}"/>
              </a:ext>
            </a:extLst>
          </p:cNvPr>
          <p:cNvSpPr txBox="1"/>
          <p:nvPr/>
        </p:nvSpPr>
        <p:spPr>
          <a:xfrm>
            <a:off x="463554" y="725938"/>
            <a:ext cx="6866467" cy="293926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includes:</a:t>
            </a:r>
          </a:p>
          <a:p>
            <a:pPr marL="171450" indent="-171450">
              <a:buFont typeface="Arial" panose="020B0604020202020204" pitchFamily="34" charset="0"/>
              <a:buChar char="•"/>
            </a:pPr>
            <a:r>
              <a:rPr lang="en-US" sz="900" dirty="0">
                <a:latin typeface="Calibri" panose="020F0502020204030204" pitchFamily="34" charset="0"/>
              </a:rPr>
              <a:t>Creation of the mechanical design</a:t>
            </a:r>
          </a:p>
          <a:p>
            <a:pPr marL="628650" lvl="1" indent="-171450">
              <a:buFont typeface="Arial" panose="020B0604020202020204" pitchFamily="34" charset="0"/>
              <a:buChar char="•"/>
            </a:pPr>
            <a:r>
              <a:rPr lang="en-US" sz="900" dirty="0">
                <a:latin typeface="Calibri" panose="020F0502020204030204" pitchFamily="34" charset="0"/>
              </a:rPr>
              <a:t>Mechanical design is carried out using Autodesk Inventor</a:t>
            </a:r>
          </a:p>
          <a:p>
            <a:pPr marL="628650" lvl="1" indent="-171450">
              <a:buFont typeface="Arial" panose="020B0604020202020204" pitchFamily="34" charset="0"/>
              <a:buChar char="•"/>
            </a:pPr>
            <a:r>
              <a:rPr lang="en-US" sz="900" dirty="0">
                <a:latin typeface="Calibri" panose="020F0502020204030204" pitchFamily="34" charset="0"/>
              </a:rPr>
              <a:t>Initial meeting in Satu Mare, as well as necessary clarifications and design discussions in </a:t>
            </a:r>
            <a:r>
              <a:rPr lang="en-US" sz="900" dirty="0" err="1">
                <a:latin typeface="Calibri" panose="020F0502020204030204" pitchFamily="34" charset="0"/>
              </a:rPr>
              <a:t>Straubing</a:t>
            </a:r>
            <a:r>
              <a:rPr lang="en-US" sz="900" dirty="0">
                <a:latin typeface="Calibri" panose="020F0502020204030204" pitchFamily="34" charset="0"/>
              </a:rPr>
              <a:t> or via Teams</a:t>
            </a:r>
          </a:p>
          <a:p>
            <a:pPr marL="628650" lvl="1" indent="-171450">
              <a:buFont typeface="Arial" panose="020B0604020202020204" pitchFamily="34" charset="0"/>
              <a:buChar char="•"/>
            </a:pPr>
            <a:r>
              <a:rPr lang="en-US" sz="900" dirty="0">
                <a:latin typeface="Calibri" panose="020F0502020204030204" pitchFamily="34" charset="0"/>
              </a:rPr>
              <a:t>Internal clarifications and support expenses</a:t>
            </a:r>
          </a:p>
          <a:p>
            <a:pPr marL="171450" indent="-171450">
              <a:buFont typeface="Arial" panose="020B0604020202020204" pitchFamily="34" charset="0"/>
              <a:buChar char="•"/>
            </a:pPr>
            <a:r>
              <a:rPr lang="en-US" sz="900" dirty="0">
                <a:latin typeface="Calibri" panose="020F0502020204030204" pitchFamily="34" charset="0"/>
              </a:rPr>
              <a:t>Creation of the hardware and software planning</a:t>
            </a:r>
          </a:p>
          <a:p>
            <a:pPr marL="628650" lvl="1" indent="-171450">
              <a:buFont typeface="Arial" panose="020B0604020202020204" pitchFamily="34" charset="0"/>
              <a:buChar char="•"/>
            </a:pPr>
            <a:r>
              <a:rPr lang="en-US" sz="900" dirty="0">
                <a:latin typeface="Calibri" panose="020F0502020204030204" pitchFamily="34" charset="0"/>
              </a:rPr>
              <a:t>Hardware planning is carried out using EPLAN</a:t>
            </a:r>
          </a:p>
          <a:p>
            <a:pPr marL="628650" lvl="1" indent="-171450">
              <a:buFont typeface="Arial" panose="020B0604020202020204" pitchFamily="34" charset="0"/>
              <a:buChar char="•"/>
            </a:pPr>
            <a:r>
              <a:rPr lang="en-US" sz="900" dirty="0">
                <a:latin typeface="Calibri" panose="020F0502020204030204" pitchFamily="34" charset="0"/>
              </a:rPr>
              <a:t>Software programming is carried out using Siemens TIA Portal</a:t>
            </a:r>
          </a:p>
          <a:p>
            <a:pPr marL="171450" indent="-171450">
              <a:buFont typeface="Arial" panose="020B0604020202020204" pitchFamily="34" charset="0"/>
              <a:buChar char="•"/>
            </a:pPr>
            <a:r>
              <a:rPr lang="en-US" sz="900" dirty="0">
                <a:latin typeface="Calibri" panose="020F0502020204030204" pitchFamily="34" charset="0"/>
              </a:rPr>
              <a:t>Procurement of purchased and manufactured parts (mechanical and electrical)</a:t>
            </a:r>
          </a:p>
          <a:p>
            <a:pPr marL="171450" indent="-171450">
              <a:buFont typeface="Arial" panose="020B0604020202020204" pitchFamily="34" charset="0"/>
              <a:buChar char="•"/>
            </a:pPr>
            <a:r>
              <a:rPr lang="en-US" sz="900" dirty="0">
                <a:latin typeface="Calibri" panose="020F0502020204030204" pitchFamily="34" charset="0"/>
              </a:rPr>
              <a:t>Assembly with electrical and pneumatic installation in-house</a:t>
            </a:r>
          </a:p>
          <a:p>
            <a:pPr marL="171450" indent="-171450">
              <a:buFont typeface="Arial" panose="020B0604020202020204" pitchFamily="34" charset="0"/>
              <a:buChar char="•"/>
            </a:pPr>
            <a:r>
              <a:rPr lang="en-US" sz="900" dirty="0">
                <a:latin typeface="Calibri" panose="020F0502020204030204" pitchFamily="34" charset="0"/>
              </a:rPr>
              <a:t>Final assembly and commissioning as well as preliminary acceptance of the system in-house</a:t>
            </a:r>
          </a:p>
          <a:p>
            <a:pPr marL="171450" indent="-171450">
              <a:buFont typeface="Arial" panose="020B0604020202020204" pitchFamily="34" charset="0"/>
              <a:buChar char="•"/>
            </a:pPr>
            <a:r>
              <a:rPr lang="en-US" sz="900" dirty="0">
                <a:latin typeface="Calibri" panose="020F0502020204030204" pitchFamily="34" charset="0"/>
              </a:rPr>
              <a:t>Disassembly, loading, and transport</a:t>
            </a:r>
          </a:p>
          <a:p>
            <a:pPr marL="628650" lvl="1" indent="-171450">
              <a:buFont typeface="Arial" panose="020B0604020202020204" pitchFamily="34" charset="0"/>
              <a:buChar char="•"/>
            </a:pPr>
            <a:r>
              <a:rPr lang="en-US" sz="900" dirty="0">
                <a:latin typeface="Calibri" panose="020F0502020204030204" pitchFamily="34" charset="0"/>
              </a:rPr>
              <a:t>Transport to Satu Mare, Romania</a:t>
            </a:r>
          </a:p>
          <a:p>
            <a:pPr marL="171450" indent="-171450">
              <a:buFont typeface="Arial" panose="020B0604020202020204" pitchFamily="34" charset="0"/>
              <a:buChar char="•"/>
            </a:pPr>
            <a:r>
              <a:rPr lang="en-US" sz="900" dirty="0">
                <a:latin typeface="Calibri" panose="020F0502020204030204" pitchFamily="34" charset="0"/>
              </a:rPr>
              <a:t>Reassembly and commissioning at your factory</a:t>
            </a:r>
          </a:p>
          <a:p>
            <a:pPr marL="628650" lvl="1" indent="-171450">
              <a:buFont typeface="Arial" panose="020B0604020202020204" pitchFamily="34" charset="0"/>
              <a:buChar char="•"/>
            </a:pPr>
            <a:r>
              <a:rPr lang="en-US" sz="900" dirty="0">
                <a:latin typeface="Calibri" panose="020F0502020204030204" pitchFamily="34" charset="0"/>
              </a:rPr>
              <a:t>Planned duration for reconstruction and commissioning: approximately 4 weeks</a:t>
            </a:r>
          </a:p>
          <a:p>
            <a:pPr marL="171450" indent="-171450">
              <a:buFont typeface="Arial" panose="020B0604020202020204" pitchFamily="34" charset="0"/>
              <a:buChar char="•"/>
            </a:pPr>
            <a:r>
              <a:rPr lang="en-US" sz="900" dirty="0">
                <a:latin typeface="Calibri" panose="020F0502020204030204" pitchFamily="34" charset="0"/>
              </a:rPr>
              <a:t>Training/instruction of your employees</a:t>
            </a:r>
          </a:p>
          <a:p>
            <a:pPr marL="171450" indent="-171450">
              <a:buFont typeface="Arial" panose="020B0604020202020204" pitchFamily="34" charset="0"/>
              <a:buChar char="•"/>
            </a:pPr>
            <a:r>
              <a:rPr lang="en-US" sz="900" dirty="0">
                <a:latin typeface="Calibri" panose="020F0502020204030204" pitchFamily="34" charset="0"/>
              </a:rPr>
              <a:t>Preparation of documentation</a:t>
            </a:r>
          </a:p>
          <a:p>
            <a:pPr marL="171450" indent="-171450">
              <a:buFont typeface="Arial" panose="020B0604020202020204" pitchFamily="34" charset="0"/>
              <a:buChar char="•"/>
            </a:pPr>
            <a:r>
              <a:rPr lang="en-US" sz="900" dirty="0">
                <a:latin typeface="Calibri" panose="020F0502020204030204" pitchFamily="34" charset="0"/>
              </a:rPr>
              <a:t>Project management</a:t>
            </a:r>
          </a:p>
          <a:p>
            <a:pPr marL="171450" indent="-171450">
              <a:buFont typeface="Arial" panose="020B0604020202020204" pitchFamily="34" charset="0"/>
              <a:buChar char="•"/>
            </a:pPr>
            <a:r>
              <a:rPr lang="en-US" sz="900" dirty="0">
                <a:latin typeface="Calibri" panose="020F0502020204030204" pitchFamily="34" charset="0"/>
              </a:rPr>
              <a:t>Weekly project meetings between Gluth and </a:t>
            </a:r>
            <a:r>
              <a:rPr lang="en-US" sz="900" dirty="0" err="1">
                <a:latin typeface="Calibri" panose="020F0502020204030204" pitchFamily="34" charset="0"/>
              </a:rPr>
              <a:t>Dräxlmeier</a:t>
            </a:r>
            <a:endParaRPr lang="en-US" sz="900" dirty="0">
              <a:latin typeface="Calibri" panose="020F0502020204030204" pitchFamily="34" charset="0"/>
            </a:endParaRPr>
          </a:p>
          <a:p>
            <a:pPr marL="171450" indent="-171450">
              <a:buFont typeface="Arial" panose="020B0604020202020204" pitchFamily="34" charset="0"/>
              <a:buChar char="•"/>
            </a:pPr>
            <a:r>
              <a:rPr lang="en-US" sz="900" dirty="0">
                <a:latin typeface="Calibri" panose="020F0502020204030204" pitchFamily="34" charset="0"/>
              </a:rPr>
              <a:t>Setting up and creating type data for two types each with a cross-section of 16 mm² 25mm², 32mm²</a:t>
            </a:r>
            <a:endParaRPr lang="de-DE" sz="900" dirty="0">
              <a:latin typeface="Calibri" panose="020F0502020204030204" pitchFamily="34" charset="0"/>
            </a:endParaRPr>
          </a:p>
        </p:txBody>
      </p:sp>
    </p:spTree>
    <p:extLst>
      <p:ext uri="{BB962C8B-B14F-4D97-AF65-F5344CB8AC3E}">
        <p14:creationId xmlns:p14="http://schemas.microsoft.com/office/powerpoint/2010/main" val="112223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576238" y="633416"/>
            <a:ext cx="681148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1" fontAlgn="ctr">
              <a:spcBef>
                <a:spcPts val="1200"/>
              </a:spcBef>
              <a:spcAft>
                <a:spcPts val="900"/>
              </a:spcAft>
            </a:pPr>
            <a:r>
              <a:rPr lang="de-DE" sz="1400" b="1" u="sng" dirty="0" err="1">
                <a:latin typeface="Calibri" panose="020F0502020204030204" pitchFamily="34" charset="0"/>
                <a:ea typeface="Calibri" panose="020F0502020204030204" pitchFamily="34" charset="0"/>
                <a:cs typeface="Calibri" panose="020F0502020204030204" pitchFamily="34" charset="0"/>
              </a:rPr>
              <a:t>Supplies</a:t>
            </a:r>
            <a:r>
              <a:rPr lang="de-DE" sz="1400" b="1" u="sng" dirty="0">
                <a:latin typeface="Calibri" panose="020F0502020204030204" pitchFamily="34" charset="0"/>
                <a:ea typeface="Calibri" panose="020F0502020204030204" pitchFamily="34" charset="0"/>
                <a:cs typeface="Calibri" panose="020F0502020204030204" pitchFamily="34" charset="0"/>
              </a:rPr>
              <a:t> from Dräxlmeier</a:t>
            </a:r>
          </a:p>
          <a:p>
            <a:pPr marL="0" lvl="1" fontAlgn="ctr">
              <a:spcBef>
                <a:spcPts val="1200"/>
              </a:spcBef>
              <a:spcAft>
                <a:spcPts val="900"/>
              </a:spcAft>
            </a:pPr>
            <a:r>
              <a:rPr lang="de-DE" sz="1100" u="sng" dirty="0">
                <a:solidFill>
                  <a:srgbClr val="25363E"/>
                </a:solidFill>
                <a:effectLst/>
                <a:latin typeface="Arial" panose="020B0604020202020204" pitchFamily="34" charset="0"/>
                <a:ea typeface="Times New Roman" panose="02020603050405020304" pitchFamily="18" charset="0"/>
                <a:cs typeface="Arial" panose="020B0604020202020204" pitchFamily="34" charset="0"/>
              </a:rPr>
              <a:t>Im Auftragsfall bitten wir um kostenlose und termingerechte Beistellung von:</a:t>
            </a:r>
            <a:r>
              <a:rPr lang="de-DE" sz="1100" u="none" strike="noStrike" dirty="0">
                <a:solidFill>
                  <a:srgbClr val="25363E"/>
                </a:solidFill>
                <a:effectLst/>
                <a:latin typeface="Arial" panose="020B0604020202020204" pitchFamily="34" charset="0"/>
                <a:ea typeface="Times New Roman" panose="02020603050405020304" pitchFamily="18" charset="0"/>
                <a:cs typeface="Arial" panose="020B0604020202020204" pitchFamily="34" charset="0"/>
              </a:rPr>
              <a:t> </a:t>
            </a:r>
            <a:endParaRPr lang="de-DE" sz="1100" dirty="0">
              <a:solidFill>
                <a:srgbClr val="25363E"/>
              </a:solidFill>
              <a:effectLst/>
              <a:latin typeface="Arial" panose="020B0604020202020204" pitchFamily="34" charset="0"/>
              <a:ea typeface="Times New Roman" panose="02020603050405020304" pitchFamily="18" charset="0"/>
              <a:cs typeface="Times New Roman" panose="02020603050405020304" pitchFamily="18" charset="0"/>
            </a:endParaRP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Aktuelle Zeichnungen  aller Bauteilvarianten</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Musterteile aller Einzelteile und Kabelvarianten auf Coil</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Verbrauchsstoffe (z.B. Lot)</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Musterteile im Fertigungszustand gecrimpt und </a:t>
            </a:r>
            <a:r>
              <a:rPr lang="de-DE" sz="1100" dirty="0" err="1">
                <a:latin typeface="Calibri" panose="020F0502020204030204" pitchFamily="34" charset="0"/>
              </a:rPr>
              <a:t>ungelötet</a:t>
            </a:r>
            <a:endParaRPr lang="de-DE" sz="1100" dirty="0">
              <a:latin typeface="Calibri" panose="020F0502020204030204" pitchFamily="34" charset="0"/>
            </a:endParaRP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Gut/Schlecht-Muster für die Kameraauswahl</a:t>
            </a:r>
          </a:p>
          <a:p>
            <a:pPr marL="28575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Gut/Schlecht Bewertungskatalog für die Kameraauswahl</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2 Stück </a:t>
            </a:r>
            <a:r>
              <a:rPr lang="de-DE" sz="1100" dirty="0" err="1">
                <a:latin typeface="Calibri" panose="020F0502020204030204" pitchFamily="34" charset="0"/>
              </a:rPr>
              <a:t>Crimpwerkzeuge</a:t>
            </a:r>
            <a:r>
              <a:rPr lang="de-DE" sz="1100" dirty="0">
                <a:latin typeface="Calibri" panose="020F0502020204030204" pitchFamily="34" charset="0"/>
              </a:rPr>
              <a:t> je Typ nach konstruktiver Auslegung und Abstimmung zwischen Gluth und Dräxlmeier</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MES-Testsystem oder Onlinezugang</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Bereitstellung der erforderlichen Energieanschlüsse für die Anlagen in Ihrem Haus</a:t>
            </a:r>
          </a:p>
          <a:p>
            <a:pPr marL="742950" lvl="1"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für Pneumatik Versorgung</a:t>
            </a:r>
          </a:p>
          <a:p>
            <a:pPr marL="742950" lvl="1"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für die elektrische Versorgung</a:t>
            </a:r>
          </a:p>
          <a:p>
            <a:pPr marL="742950" lvl="1" indent="-285750" fontAlgn="base">
              <a:spcBef>
                <a:spcPct val="0"/>
              </a:spcBef>
              <a:spcAft>
                <a:spcPct val="0"/>
              </a:spcAft>
              <a:buFont typeface="Arial" panose="020B0604020202020204" pitchFamily="34" charset="0"/>
              <a:buChar char="•"/>
              <a:tabLst>
                <a:tab pos="695325" algn="l"/>
              </a:tabLst>
            </a:pPr>
            <a:endParaRPr lang="de-DE" sz="1100" dirty="0">
              <a:latin typeface="Calibri" panose="020F0502020204030204" pitchFamily="34" charset="0"/>
            </a:endParaRPr>
          </a:p>
          <a:p>
            <a:pPr fontAlgn="base">
              <a:spcBef>
                <a:spcPct val="0"/>
              </a:spcBef>
              <a:spcAft>
                <a:spcPct val="0"/>
              </a:spcAft>
              <a:tabLst>
                <a:tab pos="695325" algn="l"/>
              </a:tabLst>
            </a:pPr>
            <a:r>
              <a:rPr lang="en-US" sz="1100" u="sng" dirty="0">
                <a:solidFill>
                  <a:srgbClr val="25363E"/>
                </a:solidFill>
                <a:latin typeface="Arial" panose="020B0604020202020204" pitchFamily="34" charset="0"/>
                <a:cs typeface="Arial" panose="020B0604020202020204" pitchFamily="34" charset="0"/>
              </a:rPr>
              <a:t>When placing an order, we request the following free of charge and on time:</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Current drawings of all component variants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of all individual parts and cable variants on coils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Consumables (e.g., solder)</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in the as-manufactured state, crimped and unsoldered</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samples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evaluation catalog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Two crimping tools per type, based on design and coordination between Gluth and </a:t>
            </a:r>
            <a:r>
              <a:rPr lang="en-US" sz="1100" dirty="0" err="1">
                <a:latin typeface="Calibri" panose="020F0502020204030204" pitchFamily="34" charset="0"/>
              </a:rPr>
              <a:t>Dräxlmeier</a:t>
            </a:r>
            <a:endParaRPr lang="en-US" sz="1100" dirty="0">
              <a:latin typeface="Calibri" panose="020F0502020204030204" pitchFamily="34" charset="0"/>
            </a:endParaRP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MES test system or online access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Provision of the necessary power connections for the systems in your facility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pneumatics supply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electrical supply</a:t>
            </a:r>
            <a:endParaRPr lang="de-DE" sz="11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Beistellungen</a:t>
            </a:r>
          </a:p>
        </p:txBody>
      </p:sp>
    </p:spTree>
    <p:extLst>
      <p:ext uri="{BB962C8B-B14F-4D97-AF65-F5344CB8AC3E}">
        <p14:creationId xmlns:p14="http://schemas.microsoft.com/office/powerpoint/2010/main" val="333188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226820" y="786710"/>
            <a:ext cx="5403125" cy="426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Scope of Documentation: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mechanical documentation is delivered once on a data storage medium in PDF format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Assembly drawings with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Spare and wear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Pneumatic and hydraulic diagrams with parts lists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electrical documentation is delivered once on a data storage medium (CD)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Electrical diagram (EPLAN) with parts lists (additionally once in paper form for the control cabinet)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is delivered once on a data storage medium (CD) and consists of:</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source code</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does not include: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printout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Data flow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general documentation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Operating instructions with EC Declaration of Conformity (1x on paper in a folder)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Accessory documentation as standard documentation from the respective suppliers (1x in PDF)</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Training/Instruction: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instruction of your employees takes place as part of the commissioning over two days at your factory and includes: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safety functions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Operation of the system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the Testing procedures...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Troubleshooting</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Maintenance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We ask that you release your designated specialist personnel and provide support from a German or English speaking employee.</a:t>
            </a:r>
            <a:endParaRPr lang="de-DE" altLang="de-DE" sz="9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5" name="Rectangle 1">
            <a:extLst>
              <a:ext uri="{FF2B5EF4-FFF2-40B4-BE49-F238E27FC236}">
                <a16:creationId xmlns:a16="http://schemas.microsoft.com/office/drawing/2014/main" id="{28202D2B-36EA-94D5-0D05-27AD823CD881}"/>
              </a:ext>
            </a:extLst>
          </p:cNvPr>
          <p:cNvSpPr>
            <a:spLocks noChangeArrowheads="1"/>
          </p:cNvSpPr>
          <p:nvPr/>
        </p:nvSpPr>
        <p:spPr bwMode="auto">
          <a:xfrm>
            <a:off x="6168479" y="786710"/>
            <a:ext cx="5403125"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Language</a:t>
            </a:r>
          </a:p>
          <a:p>
            <a:pPr fontAlgn="ctr"/>
            <a:r>
              <a:rPr lang="en-US" sz="900" dirty="0">
                <a:latin typeface="Calibri" panose="020F0502020204030204" pitchFamily="34" charset="0"/>
                <a:ea typeface="Calibri" panose="020F0502020204030204" pitchFamily="34" charset="0"/>
                <a:cs typeface="Calibri" panose="020F0502020204030204" pitchFamily="34" charset="0"/>
              </a:rPr>
              <a:t>The system is available in German.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The following documents/components are available in Romanian: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instructions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and display texts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Accessory documentation (where available)</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diagram (path designations)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Signage (where international symbols are not possible)</a:t>
            </a:r>
          </a:p>
          <a:p>
            <a:pPr fontAlgn="ctr"/>
            <a:endParaRPr lang="en-US" sz="900" dirty="0">
              <a:latin typeface="Calibri" panose="020F0502020204030204" pitchFamily="34" charset="0"/>
              <a:ea typeface="Calibri" panose="020F0502020204030204" pitchFamily="34" charset="0"/>
              <a:cs typeface="Calibri" panose="020F0502020204030204" pitchFamily="34" charset="0"/>
            </a:endParaRPr>
          </a:p>
          <a:p>
            <a:pPr fontAlgn="ctr"/>
            <a:r>
              <a:rPr lang="en-US" sz="900" dirty="0">
                <a:latin typeface="Calibri" panose="020F0502020204030204" pitchFamily="34" charset="0"/>
                <a:ea typeface="Calibri" panose="020F0502020204030204" pitchFamily="34" charset="0"/>
                <a:cs typeface="Calibri" panose="020F0502020204030204" pitchFamily="34" charset="0"/>
              </a:rPr>
              <a:t>We ask for the assistance of your specialists  to review or complete the translation.</a:t>
            </a:r>
            <a:endParaRPr lang="de-DE" sz="900" dirty="0">
              <a:latin typeface="Calibri" panose="020F0502020204030204" pitchFamily="34" charset="0"/>
              <a:ea typeface="Calibri" panose="020F0502020204030204" pitchFamily="34" charset="0"/>
              <a:cs typeface="Calibri" panose="020F0502020204030204" pitchFamily="34" charset="0"/>
            </a:endParaRPr>
          </a:p>
          <a:p>
            <a:pPr fontAlgn="ctr"/>
            <a:endParaRPr lang="de-DE" sz="900" dirty="0">
              <a:latin typeface="Calibri" panose="020F0502020204030204" pitchFamily="34" charset="0"/>
              <a:ea typeface="Calibri" panose="020F0502020204030204" pitchFamily="34" charset="0"/>
              <a:cs typeface="Calibri" panose="020F0502020204030204" pitchFamily="34" charset="0"/>
            </a:endParaRPr>
          </a:p>
          <a:p>
            <a:r>
              <a:rPr lang="en-US" sz="1400" b="1" u="sng" dirty="0">
                <a:latin typeface="Calibri" panose="020F0502020204030204" pitchFamily="34" charset="0"/>
                <a:ea typeface="Calibri" panose="020F0502020204030204" pitchFamily="34" charset="0"/>
                <a:cs typeface="Calibri" panose="020F0502020204030204" pitchFamily="34" charset="0"/>
              </a:rPr>
              <a:t>Project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appoint a primary project manager who will primarily be responsible for the following tasks: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Central contact for our customer, Gluth internally, and for the suppliers of components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Regular project status reports, as required by the project</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Planning, implementation, and moderation of design FMEAs, as well as software concept discussions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Control of costs and deadlines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of interfaces for components, in particular</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Support in conducting acceptance tests for components (especially interface reviews)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and recording of any changes (change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However, we request support from the relevant departments, particularly with regard to existing process and product experience. This experience should be incorporated, especially in the early project phase. We would also like to point out that the customer is responsible for deadlines for components.</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Technical and organizational changes during the project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If the customer subsequently requests technical or organizational changes that result in an additional charge or a delay in delivery, Gluth will provide a cost estimate or specify the delay.</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Implementation of technical changes requires that the customer has placed an order for them and that Gluth has confirmed this with a corresponding order confirmation or project plan.</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6212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D632A91-C088-789E-E9BF-4F0EAB0048C4}"/>
              </a:ext>
            </a:extLst>
          </p:cNvPr>
          <p:cNvSpPr txBox="1"/>
          <p:nvPr/>
        </p:nvSpPr>
        <p:spPr>
          <a:xfrm>
            <a:off x="635000" y="755740"/>
            <a:ext cx="5730966" cy="4524315"/>
          </a:xfrm>
          <a:prstGeom prst="rect">
            <a:avLst/>
          </a:prstGeom>
          <a:noFill/>
        </p:spPr>
        <p:txBody>
          <a:bodyPr wrap="square">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Service – Maintenance – Liability</a:t>
            </a: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Service Response Time</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qualified specialists will be available on-site within </a:t>
            </a:r>
            <a:r>
              <a:rPr lang="en-US" sz="900" b="1"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two days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to return the system to production status as quickly as possible. This policy applies if the request is received Monday through Thursday between 7:00 am and 4:00 pm. For service calls received after 4:00 pm, the above-mentioned deadline begins at 7:00 am on the following business day. For service calls received on Fridays after 12:15 pm., the above-mentioned deadline begins at 7:00 am on the following Monday, or by arrangement via permanent service telephone numbers.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This response time is only valid for the Satu Mare location.</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company is also available on weekends and public holidays via permanent service telephone numbers. In an </a:t>
            </a:r>
            <a:r>
              <a:rPr lang="en-US" sz="900" u="sng"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emergency</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 we will try to organize the appropriate staff to ensure you receive professional support. If telephone support is not successful, we are also available to carry out emergency service calls on weekends. Necessary, foreseeable assignments on weekends or holidays will be carried out after consultation with you.</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Material Defects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is 24 months, without shift restrictions, beginning on the day of handover to your premises, but no later than four weeks after delivery. For purchased parts, the period begins upon receipt at our premises. Excluded are spare and wear parts, as well as components supplied by the supplier.</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applies only to newly delivered components.</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Assembly Work</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are liable for damages caused by us, our vicarious agents, or our subcontractors within the scope of the statutory provisions with the following liability insurance policies (maximum coverage amounts):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Business and product liability insurance:</a:t>
            </a:r>
          </a:p>
          <a:p>
            <a:pPr marL="351450" indent="-171450">
              <a:buFont typeface="Arial" panose="020B0604020202020204" pitchFamily="34" charset="0"/>
              <a:buChar char="•"/>
            </a:pP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Persoinjury</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and property damage (flat rate) 	EUR 10.000.000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Fire and explosion damage 		EUR   5.000.000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Industrial damage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Financial loss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Environmental liability insurance</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Personal injury and property damage </a:t>
            </a: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nal</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flat rate) EUR 1.500.000</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cannot accept liability for amounts exceeding this amount.</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indent="450215"/>
            <a:endParaRPr lang="de-DE" sz="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33691390-4D44-3063-5500-0C29006C4A30}"/>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2" name="Textfeld 1">
            <a:extLst>
              <a:ext uri="{FF2B5EF4-FFF2-40B4-BE49-F238E27FC236}">
                <a16:creationId xmlns:a16="http://schemas.microsoft.com/office/drawing/2014/main" id="{6747AC91-79EE-9381-5658-A4791E06BE3F}"/>
              </a:ext>
            </a:extLst>
          </p:cNvPr>
          <p:cNvSpPr txBox="1"/>
          <p:nvPr/>
        </p:nvSpPr>
        <p:spPr>
          <a:xfrm>
            <a:off x="6461034" y="973455"/>
            <a:ext cx="5095966" cy="1692771"/>
          </a:xfrm>
          <a:prstGeom prst="rect">
            <a:avLst/>
          </a:prstGeom>
          <a:noFill/>
        </p:spPr>
        <p:txBody>
          <a:bodyPr wrap="square">
            <a:spAutoFit/>
          </a:bodyPr>
          <a:lstStyle/>
          <a:p>
            <a:pPr marL="180000" lvl="1"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Disclaimer </a:t>
            </a:r>
          </a:p>
          <a:p>
            <a:pPr marL="180000" algn="just"/>
            <a:r>
              <a:rPr lang="en-US" sz="900" b="0" i="0" dirty="0">
                <a:solidFill>
                  <a:srgbClr val="3C4043"/>
                </a:solidFill>
                <a:effectLst/>
                <a:latin typeface="Roboto" panose="02000000000000000000" pitchFamily="2" charset="0"/>
              </a:rPr>
              <a:t>We cannot accept liability for damages and consequential damages caused by improper use or tampering with our equipment by the operator. We also generally exclude liability if products manufactured on our equipment do not comply with legal regulations or if their use violates legal regulations.</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r>
              <a:rPr lang="en-US" sz="1400" b="1" u="sng" dirty="0">
                <a:latin typeface="Calibri" panose="020F0502020204030204" pitchFamily="34" charset="0"/>
                <a:ea typeface="Calibri" panose="020F0502020204030204" pitchFamily="34" charset="0"/>
                <a:cs typeface="Calibri" panose="020F0502020204030204" pitchFamily="34" charset="0"/>
              </a:rPr>
              <a:t>Offer Documents </a:t>
            </a:r>
          </a:p>
          <a:p>
            <a:pPr marL="180000" algn="just"/>
            <a:r>
              <a:rPr lang="en-US" sz="900" b="0" i="0" dirty="0">
                <a:solidFill>
                  <a:srgbClr val="3C4043"/>
                </a:solidFill>
                <a:effectLst/>
                <a:latin typeface="Roboto" panose="02000000000000000000" pitchFamily="2" charset="0"/>
              </a:rPr>
              <a:t>All documents provided as part of the offer process remain our property. This applies in particular to layout and concept proposals, as well as presentation materials. Any other use or disclosure to third parties requires our written consent.</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0514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Schedule</a:t>
            </a:r>
          </a:p>
        </p:txBody>
      </p:sp>
      <p:pic>
        <p:nvPicPr>
          <p:cNvPr id="7" name="Grafik 6">
            <a:extLst>
              <a:ext uri="{FF2B5EF4-FFF2-40B4-BE49-F238E27FC236}">
                <a16:creationId xmlns:a16="http://schemas.microsoft.com/office/drawing/2014/main" id="{04E9F535-BDF8-3762-54A5-4F8C76911094}"/>
              </a:ext>
            </a:extLst>
          </p:cNvPr>
          <p:cNvPicPr>
            <a:picLocks noChangeAspect="1"/>
          </p:cNvPicPr>
          <p:nvPr/>
        </p:nvPicPr>
        <p:blipFill>
          <a:blip r:embed="rId2"/>
          <a:stretch>
            <a:fillRect/>
          </a:stretch>
        </p:blipFill>
        <p:spPr>
          <a:xfrm>
            <a:off x="0" y="1766454"/>
            <a:ext cx="12192000" cy="3325091"/>
          </a:xfrm>
          <a:prstGeom prst="rect">
            <a:avLst/>
          </a:prstGeom>
        </p:spPr>
      </p:pic>
    </p:spTree>
    <p:extLst>
      <p:ext uri="{BB962C8B-B14F-4D97-AF65-F5344CB8AC3E}">
        <p14:creationId xmlns:p14="http://schemas.microsoft.com/office/powerpoint/2010/main" val="177867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Prices</a:t>
            </a:r>
            <a:br>
              <a:rPr lang="de-DE" sz="2000" b="1" dirty="0"/>
            </a:br>
            <a:endParaRPr lang="de-DE" sz="2000" b="1" dirty="0"/>
          </a:p>
        </p:txBody>
      </p:sp>
      <p:sp>
        <p:nvSpPr>
          <p:cNvPr id="4" name="Textfeld 3">
            <a:extLst>
              <a:ext uri="{FF2B5EF4-FFF2-40B4-BE49-F238E27FC236}">
                <a16:creationId xmlns:a16="http://schemas.microsoft.com/office/drawing/2014/main" id="{72C62C39-D6FE-D60B-12E1-5EA4211584E2}"/>
              </a:ext>
            </a:extLst>
          </p:cNvPr>
          <p:cNvSpPr txBox="1"/>
          <p:nvPr/>
        </p:nvSpPr>
        <p:spPr>
          <a:xfrm>
            <a:off x="538336" y="1330569"/>
            <a:ext cx="6647974" cy="3139321"/>
          </a:xfrm>
          <a:prstGeom prst="rect">
            <a:avLst/>
          </a:prstGeom>
          <a:noFill/>
        </p:spPr>
        <p:txBody>
          <a:bodyPr wrap="none" rtlCol="0">
            <a:spAutoFit/>
          </a:bodyPr>
          <a:lstStyle/>
          <a:p>
            <a:pPr>
              <a:tabLst>
                <a:tab pos="5400000" algn="r"/>
              </a:tabLst>
            </a:pPr>
            <a:r>
              <a:rPr lang="de-DE" b="1" dirty="0"/>
              <a:t>Basic </a:t>
            </a:r>
            <a:r>
              <a:rPr lang="de-DE" b="1" dirty="0" err="1"/>
              <a:t>Scope</a:t>
            </a:r>
            <a:r>
              <a:rPr lang="de-DE" b="1" dirty="0"/>
              <a:t> „</a:t>
            </a:r>
            <a:r>
              <a:rPr lang="de-DE" b="1" dirty="0" err="1"/>
              <a:t>Automatic</a:t>
            </a:r>
            <a:r>
              <a:rPr lang="de-DE" b="1" dirty="0"/>
              <a:t> Production Line“	1.764.000 €		</a:t>
            </a:r>
          </a:p>
          <a:p>
            <a:pPr>
              <a:tabLst>
                <a:tab pos="5400000" algn="r"/>
              </a:tabLst>
            </a:pPr>
            <a:r>
              <a:rPr lang="de-DE" dirty="0"/>
              <a:t>Transport and </a:t>
            </a:r>
            <a:r>
              <a:rPr lang="de-DE" dirty="0" err="1"/>
              <a:t>Comissioning</a:t>
            </a:r>
            <a:r>
              <a:rPr lang="de-DE" dirty="0"/>
              <a:t> in Satu Mare	109.000 €</a:t>
            </a:r>
          </a:p>
          <a:p>
            <a:pPr>
              <a:tabLst>
                <a:tab pos="5400000" algn="r"/>
              </a:tabLst>
            </a:pPr>
            <a:r>
              <a:rPr lang="de-DE" dirty="0" err="1"/>
              <a:t>Instruction</a:t>
            </a:r>
            <a:r>
              <a:rPr lang="de-DE" dirty="0"/>
              <a:t> and Training	11.000 €</a:t>
            </a:r>
          </a:p>
          <a:p>
            <a:pPr>
              <a:tabLst>
                <a:tab pos="5400000" algn="r"/>
              </a:tabLst>
            </a:pPr>
            <a:r>
              <a:rPr lang="de-DE" dirty="0" err="1"/>
              <a:t>Documentation</a:t>
            </a:r>
            <a:r>
              <a:rPr lang="de-DE" dirty="0"/>
              <a:t>	23.000 €</a:t>
            </a:r>
          </a:p>
          <a:p>
            <a:pPr>
              <a:tabLst>
                <a:tab pos="5400000" algn="r"/>
              </a:tabLst>
            </a:pPr>
            <a:r>
              <a:rPr lang="de-DE" u="sng" dirty="0"/>
              <a:t>Project Management	88.000 €</a:t>
            </a:r>
          </a:p>
          <a:p>
            <a:pPr>
              <a:tabLst>
                <a:tab pos="5400000" algn="r"/>
              </a:tabLst>
            </a:pPr>
            <a:r>
              <a:rPr lang="de-DE" dirty="0"/>
              <a:t>Summe „Automatik Production Line“	1.995.000 €</a:t>
            </a:r>
          </a:p>
          <a:p>
            <a:pPr>
              <a:tabLst>
                <a:tab pos="5400000" algn="r"/>
              </a:tabLst>
            </a:pPr>
            <a:endParaRPr lang="de-DE" dirty="0"/>
          </a:p>
          <a:p>
            <a:pPr>
              <a:tabLst>
                <a:tab pos="5400000" algn="r"/>
              </a:tabLst>
            </a:pPr>
            <a:endParaRPr lang="de-DE" dirty="0"/>
          </a:p>
          <a:p>
            <a:pPr>
              <a:tabLst>
                <a:tab pos="5400000" algn="r"/>
              </a:tabLst>
            </a:pPr>
            <a:r>
              <a:rPr lang="de-DE" dirty="0"/>
              <a:t>Option 1: Insert </a:t>
            </a:r>
            <a:r>
              <a:rPr lang="de-DE" dirty="0" err="1"/>
              <a:t>Shrink</a:t>
            </a:r>
            <a:r>
              <a:rPr lang="de-DE" dirty="0"/>
              <a:t> </a:t>
            </a:r>
            <a:r>
              <a:rPr lang="de-DE" dirty="0" err="1"/>
              <a:t>Sleeve</a:t>
            </a:r>
            <a:r>
              <a:rPr lang="de-DE" dirty="0"/>
              <a:t>	85.500 €</a:t>
            </a:r>
          </a:p>
          <a:p>
            <a:pPr>
              <a:tabLst>
                <a:tab pos="5400000" algn="r"/>
              </a:tabLst>
            </a:pPr>
            <a:r>
              <a:rPr lang="de-DE" dirty="0"/>
              <a:t>Option 2: </a:t>
            </a:r>
            <a:r>
              <a:rPr lang="de-DE" dirty="0" err="1"/>
              <a:t>Electrical</a:t>
            </a:r>
            <a:r>
              <a:rPr lang="de-DE" dirty="0"/>
              <a:t> </a:t>
            </a:r>
            <a:r>
              <a:rPr lang="de-DE" dirty="0" err="1"/>
              <a:t>Testing</a:t>
            </a:r>
            <a:r>
              <a:rPr lang="de-DE" dirty="0"/>
              <a:t>	66.000 €</a:t>
            </a:r>
          </a:p>
          <a:p>
            <a:pPr>
              <a:tabLst>
                <a:tab pos="5400000" algn="r"/>
              </a:tabLst>
            </a:pPr>
            <a:r>
              <a:rPr lang="de-DE" dirty="0"/>
              <a:t>Option 3: </a:t>
            </a:r>
            <a:r>
              <a:rPr lang="de-DE" dirty="0" err="1"/>
              <a:t>Labeling</a:t>
            </a:r>
            <a:r>
              <a:rPr lang="de-DE" dirty="0"/>
              <a:t>	60.500 €</a:t>
            </a:r>
          </a:p>
        </p:txBody>
      </p:sp>
      <p:sp>
        <p:nvSpPr>
          <p:cNvPr id="6" name="Textfeld 5">
            <a:extLst>
              <a:ext uri="{FF2B5EF4-FFF2-40B4-BE49-F238E27FC236}">
                <a16:creationId xmlns:a16="http://schemas.microsoft.com/office/drawing/2014/main" id="{13B837E8-93F7-9979-EA25-66D0BD5593A3}"/>
              </a:ext>
            </a:extLst>
          </p:cNvPr>
          <p:cNvSpPr txBox="1"/>
          <p:nvPr/>
        </p:nvSpPr>
        <p:spPr>
          <a:xfrm>
            <a:off x="6683079" y="1330569"/>
            <a:ext cx="4970585" cy="4001095"/>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Pricing</a:t>
            </a:r>
          </a:p>
          <a:p>
            <a:r>
              <a:rPr lang="en-US" sz="1200" dirty="0"/>
              <a:t>All prices in euros and subject to statutory VAT.</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a:t>
            </a:r>
          </a:p>
          <a:p>
            <a:r>
              <a:rPr lang="en-US" sz="1200" dirty="0"/>
              <a:t>30% deposit upon order placement </a:t>
            </a:r>
          </a:p>
          <a:p>
            <a:r>
              <a:rPr lang="en-US" sz="1200" dirty="0"/>
              <a:t>60% upon delivery </a:t>
            </a:r>
          </a:p>
          <a:p>
            <a:r>
              <a:rPr lang="en-US" sz="1200" dirty="0"/>
              <a:t>5% upon handover in a ready-to-use condition </a:t>
            </a:r>
          </a:p>
          <a:p>
            <a:r>
              <a:rPr lang="en-US" sz="1200" dirty="0"/>
              <a:t>5% upon acceptance, but no later than 4 weeks after the handover if final acceptance is delayed for reasons attributable to the customer. </a:t>
            </a:r>
          </a:p>
          <a:p>
            <a:r>
              <a:rPr lang="en-US" sz="1200" dirty="0"/>
              <a:t>Note: Upon delivery, we will issue a final invoice for 100% with the corresponding payment terms.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 term: </a:t>
            </a:r>
          </a:p>
          <a:p>
            <a:r>
              <a:rPr lang="en-US" sz="1200" dirty="0"/>
              <a:t>45 days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Offer validity: </a:t>
            </a:r>
          </a:p>
          <a:p>
            <a:r>
              <a:rPr lang="en-US" sz="1200" dirty="0"/>
              <a:t>Our prices have a validity period of 60 days, calculated from the date of offer. </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Delivery:</a:t>
            </a:r>
          </a:p>
          <a:p>
            <a:r>
              <a:rPr lang="en-US" sz="1200" dirty="0"/>
              <a:t>DAP Satu Mare plant</a:t>
            </a:r>
            <a:endParaRPr lang="de-DE" sz="1200" dirty="0"/>
          </a:p>
        </p:txBody>
      </p:sp>
    </p:spTree>
    <p:extLst>
      <p:ext uri="{BB962C8B-B14F-4D97-AF65-F5344CB8AC3E}">
        <p14:creationId xmlns:p14="http://schemas.microsoft.com/office/powerpoint/2010/main" val="838176873"/>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3-03-06 Präsentation_Vorlage_neu.pptx" id="{0D1DCC39-9FAD-4378-9BC8-F5A16F8B67D6}" vid="{B59B905E-AC12-4106-9A9F-63C4A424157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2023_Präsentation_Vorlage_neu_SCR</Template>
  <TotalTime>0</TotalTime>
  <Words>1886</Words>
  <Application>Microsoft Office PowerPoint</Application>
  <PresentationFormat>Breitbild</PresentationFormat>
  <Paragraphs>213</Paragraphs>
  <Slides>8</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8</vt:i4>
      </vt:variant>
    </vt:vector>
  </HeadingPairs>
  <TitlesOfParts>
    <vt:vector size="14" baseType="lpstr">
      <vt:lpstr>Arial</vt:lpstr>
      <vt:lpstr>Calibri</vt:lpstr>
      <vt:lpstr>Gilroy ExtraBold</vt:lpstr>
      <vt:lpstr>Gilroy Light</vt:lpstr>
      <vt:lpstr>Roboto</vt:lpstr>
      <vt:lpstr>Office-Design</vt:lpstr>
      <vt:lpstr>PowerPoint-Präsentation</vt:lpstr>
      <vt:lpstr>PowerPoint-Präsentation</vt:lpstr>
      <vt:lpstr>PowerPoint-Präsentation</vt:lpstr>
      <vt:lpstr>PowerPoint-Präsentation</vt:lpstr>
      <vt:lpstr>PowerPoint-Präsentation</vt:lpstr>
      <vt:lpstr>PowerPoint-Präsentation</vt:lpstr>
      <vt:lpstr>Project Schedule</vt:lpstr>
      <vt:lpstr>Project Prices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Schano Rudolf</dc:creator>
  <cp:lastModifiedBy>Radlbeck Ulrich</cp:lastModifiedBy>
  <cp:revision>221</cp:revision>
  <cp:lastPrinted>2025-05-22T13:30:21Z</cp:lastPrinted>
  <dcterms:created xsi:type="dcterms:W3CDTF">2024-09-30T08:13:36Z</dcterms:created>
  <dcterms:modified xsi:type="dcterms:W3CDTF">2025-06-17T14:28:00Z</dcterms:modified>
</cp:coreProperties>
</file>