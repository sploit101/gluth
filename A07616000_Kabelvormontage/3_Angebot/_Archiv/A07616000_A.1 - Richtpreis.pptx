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30"/>
  </p:notesMasterIdLst>
  <p:sldIdLst>
    <p:sldId id="256" r:id="rId2"/>
    <p:sldId id="1110" r:id="rId3"/>
    <p:sldId id="1199" r:id="rId4"/>
    <p:sldId id="1296" r:id="rId5"/>
    <p:sldId id="1295" r:id="rId6"/>
    <p:sldId id="1193" r:id="rId7"/>
    <p:sldId id="1207" r:id="rId8"/>
    <p:sldId id="1194" r:id="rId9"/>
    <p:sldId id="1298" r:id="rId10"/>
    <p:sldId id="1299" r:id="rId11"/>
    <p:sldId id="1300" r:id="rId12"/>
    <p:sldId id="1301" r:id="rId13"/>
    <p:sldId id="1204" r:id="rId14"/>
    <p:sldId id="1210" r:id="rId15"/>
    <p:sldId id="1219" r:id="rId16"/>
    <p:sldId id="1302" r:id="rId17"/>
    <p:sldId id="1304" r:id="rId18"/>
    <p:sldId id="1216" r:id="rId19"/>
    <p:sldId id="1306" r:id="rId20"/>
    <p:sldId id="1293" r:id="rId21"/>
    <p:sldId id="1281" r:id="rId22"/>
    <p:sldId id="1245" r:id="rId23"/>
    <p:sldId id="1283" r:id="rId24"/>
    <p:sldId id="1284" r:id="rId25"/>
    <p:sldId id="1285" r:id="rId26"/>
    <p:sldId id="1307" r:id="rId27"/>
    <p:sldId id="1198" r:id="rId28"/>
    <p:sldId id="1183" r:id="rId29"/>
  </p:sldIdLst>
  <p:sldSz cx="12192000" cy="6858000"/>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D2C3"/>
    <a:srgbClr val="4F81BD"/>
    <a:srgbClr val="FF6600"/>
    <a:srgbClr val="64CF95"/>
    <a:srgbClr val="009900"/>
    <a:srgbClr val="16B75F"/>
    <a:srgbClr val="FF7C80"/>
    <a:srgbClr val="CDC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59" autoAdjust="0"/>
    <p:restoredTop sz="92597" autoAdjust="0"/>
  </p:normalViewPr>
  <p:slideViewPr>
    <p:cSldViewPr snapToGrid="0">
      <p:cViewPr>
        <p:scale>
          <a:sx n="100" d="100"/>
          <a:sy n="100" d="100"/>
        </p:scale>
        <p:origin x="-34" y="-91"/>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60" d="100"/>
          <a:sy n="60" d="100"/>
        </p:scale>
        <p:origin x="327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BB9D02-9FFC-4758-9EDA-EB9E451655DE}" type="datetimeFigureOut">
              <a:rPr lang="de-DE" smtClean="0"/>
              <a:t>01.07.2025</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EED572-F9A9-4535-91E4-E5029B1F52C2}" type="slidenum">
              <a:rPr lang="de-DE" smtClean="0"/>
              <a:t>‹Nr.›</a:t>
            </a:fld>
            <a:endParaRPr lang="de-DE"/>
          </a:p>
        </p:txBody>
      </p:sp>
    </p:spTree>
    <p:extLst>
      <p:ext uri="{BB962C8B-B14F-4D97-AF65-F5344CB8AC3E}">
        <p14:creationId xmlns:p14="http://schemas.microsoft.com/office/powerpoint/2010/main" val="1941002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sz="1000"/>
          </a:p>
        </p:txBody>
      </p:sp>
      <p:sp>
        <p:nvSpPr>
          <p:cNvPr id="4" name="Foliennummernplatzhalter 3"/>
          <p:cNvSpPr>
            <a:spLocks noGrp="1"/>
          </p:cNvSpPr>
          <p:nvPr>
            <p:ph type="sldNum" sz="quarter" idx="5"/>
          </p:nvPr>
        </p:nvSpPr>
        <p:spPr/>
        <p:txBody>
          <a:bodyPr/>
          <a:lstStyle/>
          <a:p>
            <a:fld id="{F3EED572-F9A9-4535-91E4-E5029B1F52C2}" type="slidenum">
              <a:rPr lang="de-DE" smtClean="0"/>
              <a:t>1</a:t>
            </a:fld>
            <a:endParaRPr lang="de-DE"/>
          </a:p>
        </p:txBody>
      </p:sp>
    </p:spTree>
    <p:extLst>
      <p:ext uri="{BB962C8B-B14F-4D97-AF65-F5344CB8AC3E}">
        <p14:creationId xmlns:p14="http://schemas.microsoft.com/office/powerpoint/2010/main" val="3427094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2</a:t>
            </a:fld>
            <a:endParaRPr lang="de-DE"/>
          </a:p>
        </p:txBody>
      </p:sp>
    </p:spTree>
    <p:extLst>
      <p:ext uri="{BB962C8B-B14F-4D97-AF65-F5344CB8AC3E}">
        <p14:creationId xmlns:p14="http://schemas.microsoft.com/office/powerpoint/2010/main" val="1260024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3</a:t>
            </a:fld>
            <a:endParaRPr lang="de-DE"/>
          </a:p>
        </p:txBody>
      </p:sp>
    </p:spTree>
    <p:extLst>
      <p:ext uri="{BB962C8B-B14F-4D97-AF65-F5344CB8AC3E}">
        <p14:creationId xmlns:p14="http://schemas.microsoft.com/office/powerpoint/2010/main" val="11031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4</a:t>
            </a:fld>
            <a:endParaRPr lang="de-DE"/>
          </a:p>
        </p:txBody>
      </p:sp>
    </p:spTree>
    <p:extLst>
      <p:ext uri="{BB962C8B-B14F-4D97-AF65-F5344CB8AC3E}">
        <p14:creationId xmlns:p14="http://schemas.microsoft.com/office/powerpoint/2010/main" val="14048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90EEB2CB-37F8-584A-889E-895630C53A95}" type="slidenum">
              <a:rPr lang="de-DE" smtClean="0"/>
              <a:pPr/>
              <a:t>28</a:t>
            </a:fld>
            <a:endParaRPr lang="de-DE"/>
          </a:p>
        </p:txBody>
      </p:sp>
    </p:spTree>
    <p:extLst>
      <p:ext uri="{BB962C8B-B14F-4D97-AF65-F5344CB8AC3E}">
        <p14:creationId xmlns:p14="http://schemas.microsoft.com/office/powerpoint/2010/main" val="3270033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feld 9"/>
          <p:cNvSpPr txBox="1"/>
          <p:nvPr userDrawn="1"/>
        </p:nvSpPr>
        <p:spPr>
          <a:xfrm>
            <a:off x="10653604" y="36763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91519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C58B094-7CBF-54A5-9666-8866CAB58CEC}"/>
              </a:ext>
            </a:extLst>
          </p:cNvPr>
          <p:cNvPicPr>
            <a:picLocks noChangeAspect="1"/>
          </p:cNvPicPr>
          <p:nvPr userDrawn="1"/>
        </p:nvPicPr>
        <p:blipFill>
          <a:blip r:embed="rId2"/>
          <a:stretch>
            <a:fillRect/>
          </a:stretch>
        </p:blipFill>
        <p:spPr>
          <a:xfrm>
            <a:off x="15240" y="0"/>
            <a:ext cx="12161520" cy="6858000"/>
          </a:xfrm>
          <a:prstGeom prst="rect">
            <a:avLst/>
          </a:prstGeom>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4" name="01">
            <a:extLst>
              <a:ext uri="{FF2B5EF4-FFF2-40B4-BE49-F238E27FC236}">
                <a16:creationId xmlns:a16="http://schemas.microsoft.com/office/drawing/2014/main" id="{E9EA7661-F82F-9971-5416-981AA6F8B8B4}"/>
              </a:ext>
            </a:extLst>
          </p:cNvPr>
          <p:cNvSpPr>
            <a:spLocks noChangeAspect="1"/>
          </p:cNvSpPr>
          <p:nvPr userDrawn="1"/>
        </p:nvSpPr>
        <p:spPr>
          <a:xfrm>
            <a:off x="10701770" y="0"/>
            <a:ext cx="273668" cy="360000"/>
          </a:xfrm>
          <a:prstGeom prst="rect">
            <a:avLst/>
          </a:prstGeom>
          <a:solidFill>
            <a:srgbClr val="2C3F48"/>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endParaRPr sz="633" dirty="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bg1"/>
                </a:solidFill>
                <a:latin typeface="Gilroy ExtraBold"/>
              </a:rPr>
              <a:t>‹Nr.›</a:t>
            </a:fld>
            <a:endParaRPr lang="de-DE" sz="1000">
              <a:solidFill>
                <a:schemeClr val="bg1"/>
              </a:solidFill>
              <a:latin typeface="Gilroy ExtraBold"/>
            </a:endParaRPr>
          </a:p>
        </p:txBody>
      </p:sp>
      <p:sp>
        <p:nvSpPr>
          <p:cNvPr id="2" name="Projektbezeichnung | Titel">
            <a:extLst>
              <a:ext uri="{FF2B5EF4-FFF2-40B4-BE49-F238E27FC236}">
                <a16:creationId xmlns:a16="http://schemas.microsoft.com/office/drawing/2014/main" id="{7EB79AE8-0D8C-C49B-AFA0-2C9B5F4077EF}"/>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Gilroy ExtraBold"/>
                <a:ea typeface="Gilroy ExtraBold"/>
                <a:cs typeface="Gilroy ExtraBold"/>
                <a:sym typeface="Gilroy ExtraBold"/>
              </a:rPr>
              <a:t>A07616000_A</a:t>
            </a:r>
            <a:endParaRPr sz="1000" dirty="0">
              <a:solidFill>
                <a:schemeClr val="bg1"/>
              </a:solidFill>
              <a:latin typeface="Gilroy ExtraBold"/>
              <a:ea typeface="Gilroy ExtraBold"/>
              <a:cs typeface="Gilroy ExtraBold"/>
              <a:sym typeface="Gilroy ExtraBold"/>
            </a:endParaRPr>
          </a:p>
        </p:txBody>
      </p:sp>
    </p:spTree>
    <p:extLst>
      <p:ext uri="{BB962C8B-B14F-4D97-AF65-F5344CB8AC3E}">
        <p14:creationId xmlns:p14="http://schemas.microsoft.com/office/powerpoint/2010/main" val="2954211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8"/>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rPr>
              <a:t>A07616000_A</a:t>
            </a:r>
            <a:r>
              <a:rPr sz="1000" dirty="0">
                <a:solidFill>
                  <a:srgbClr val="2C3F48"/>
                </a:solidFill>
              </a:rPr>
              <a:t> | </a:t>
            </a:r>
            <a:fld id="{3C0A5C85-D6AC-4518-BE8C-D4372821F754}" type="datetime1">
              <a:rPr lang="de-DE" sz="1000" smtClean="0">
                <a:solidFill>
                  <a:srgbClr val="4DB8A0"/>
                </a:solidFill>
                <a:latin typeface="Gilroy ExtraBold"/>
                <a:ea typeface="Gilroy ExtraBold"/>
                <a:cs typeface="Gilroy ExtraBold"/>
                <a:sym typeface="Gilroy ExtraBold"/>
              </a:rPr>
              <a:t>01.07.2025</a:t>
            </a:fld>
            <a:endParaRPr sz="1000" dirty="0">
              <a:solidFill>
                <a:srgbClr val="4DB8A0"/>
              </a:solidFill>
              <a:latin typeface="Gilroy ExtraBold"/>
              <a:ea typeface="Gilroy ExtraBold"/>
              <a:cs typeface="Gilroy ExtraBold"/>
              <a:sym typeface="Gilroy ExtraBold"/>
            </a:endParaRP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tx1"/>
                </a:solidFill>
                <a:latin typeface="Gilroy ExtraBold"/>
              </a:rPr>
              <a:t>‹Nr.›</a:t>
            </a:fld>
            <a:endParaRPr lang="de-DE" sz="1000">
              <a:solidFill>
                <a:schemeClr val="tx1"/>
              </a:solidFill>
              <a:latin typeface="Gilroy ExtraBold"/>
            </a:endParaRPr>
          </a:p>
        </p:txBody>
      </p:sp>
      <p:sp>
        <p:nvSpPr>
          <p:cNvPr id="2" name="Titel 1">
            <a:extLst>
              <a:ext uri="{FF2B5EF4-FFF2-40B4-BE49-F238E27FC236}">
                <a16:creationId xmlns:a16="http://schemas.microsoft.com/office/drawing/2014/main" id="{BB7EDDE7-1837-9DEF-31C0-853111381097}"/>
              </a:ext>
            </a:extLst>
          </p:cNvPr>
          <p:cNvSpPr>
            <a:spLocks noGrp="1"/>
          </p:cNvSpPr>
          <p:nvPr>
            <p:ph type="title" hasCustomPrompt="1"/>
          </p:nvPr>
        </p:nvSpPr>
        <p:spPr>
          <a:xfrm>
            <a:off x="3500524" y="161538"/>
            <a:ext cx="4656790" cy="265716"/>
          </a:xfrm>
          <a:prstGeom prst="rect">
            <a:avLst/>
          </a:prstGeom>
        </p:spPr>
        <p:txBody>
          <a:bodyPr anchor="t"/>
          <a:lstStyle>
            <a:lvl1pPr algn="ctr">
              <a:defRPr lang="de-DE" sz="1000" kern="1200" dirty="0">
                <a:solidFill>
                  <a:srgbClr val="2C3F48"/>
                </a:solidFill>
                <a:latin typeface="Gilroy Light"/>
                <a:ea typeface="Gilroy Light"/>
                <a:cs typeface="Gilroy Light"/>
              </a:defRPr>
            </a:lvl1pPr>
          </a:lstStyle>
          <a:p>
            <a:r>
              <a:rPr lang="de-DE" dirty="0"/>
              <a:t>Folientitel</a:t>
            </a:r>
          </a:p>
        </p:txBody>
      </p:sp>
    </p:spTree>
    <p:extLst>
      <p:ext uri="{BB962C8B-B14F-4D97-AF65-F5344CB8AC3E}">
        <p14:creationId xmlns:p14="http://schemas.microsoft.com/office/powerpoint/2010/main" val="1181577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nke">
    <p:bg>
      <p:bgPr>
        <a:solidFill>
          <a:schemeClr val="bg1"/>
        </a:solidFill>
        <a:effectLst/>
      </p:bgPr>
    </p:bg>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3" name="Grafik 2">
            <a:extLst>
              <a:ext uri="{FF2B5EF4-FFF2-40B4-BE49-F238E27FC236}">
                <a16:creationId xmlns:a16="http://schemas.microsoft.com/office/drawing/2014/main" id="{9CF6A121-117E-2360-103B-99EDB01E807A}"/>
              </a:ext>
            </a:extLst>
          </p:cNvPr>
          <p:cNvPicPr>
            <a:picLocks noChangeAspect="1"/>
          </p:cNvPicPr>
          <p:nvPr userDrawn="1"/>
        </p:nvPicPr>
        <p:blipFill>
          <a:blip r:embed="rId2"/>
          <a:stretch>
            <a:fillRect/>
          </a:stretch>
        </p:blipFill>
        <p:spPr>
          <a:xfrm>
            <a:off x="0" y="18994"/>
            <a:ext cx="12192000" cy="6820012"/>
          </a:xfrm>
          <a:prstGeom prst="rect">
            <a:avLst/>
          </a:prstGeom>
        </p:spPr>
      </p:pic>
    </p:spTree>
    <p:extLst>
      <p:ext uri="{BB962C8B-B14F-4D97-AF65-F5344CB8AC3E}">
        <p14:creationId xmlns:p14="http://schemas.microsoft.com/office/powerpoint/2010/main" val="19754858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7"/>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mj-lt"/>
              </a:rPr>
              <a:t>A07643000_B – Angebot </a:t>
            </a:r>
            <a:r>
              <a:rPr sz="1000" dirty="0">
                <a:solidFill>
                  <a:srgbClr val="2C3F48"/>
                </a:solidFill>
                <a:latin typeface="+mj-lt"/>
              </a:rPr>
              <a:t>| </a:t>
            </a:r>
            <a:r>
              <a:rPr lang="de-DE" sz="1000" dirty="0">
                <a:solidFill>
                  <a:srgbClr val="4DB8A0"/>
                </a:solidFill>
                <a:latin typeface="+mj-lt"/>
                <a:sym typeface="Gilroy ExtraBold"/>
              </a:rPr>
              <a:t>08.04.2025</a:t>
            </a:r>
            <a:endParaRPr sz="1000" dirty="0">
              <a:solidFill>
                <a:srgbClr val="4DB8A0"/>
              </a:solidFill>
              <a:latin typeface="+mj-lt"/>
              <a:ea typeface="Gilroy ExtraBold"/>
              <a:cs typeface="Gilroy ExtraBold"/>
              <a:sym typeface="Gilroy ExtraBold"/>
            </a:endParaRPr>
          </a:p>
        </p:txBody>
      </p:sp>
      <p:sp>
        <p:nvSpPr>
          <p:cNvPr id="4" name="Textfeld 3">
            <a:extLst>
              <a:ext uri="{FF2B5EF4-FFF2-40B4-BE49-F238E27FC236}">
                <a16:creationId xmlns:a16="http://schemas.microsoft.com/office/drawing/2014/main" id="{11647A44-1BE1-D8C4-64E2-48910E5FC2F7}"/>
              </a:ext>
            </a:extLst>
          </p:cNvPr>
          <p:cNvSpPr txBox="1"/>
          <p:nvPr userDrawn="1"/>
        </p:nvSpPr>
        <p:spPr>
          <a:xfrm>
            <a:off x="10710154" y="-2557"/>
            <a:ext cx="273668" cy="3441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18000" tIns="18000" rIns="18000" bIns="18000" rtlCol="0" anchor="ctr" anchorCtr="0">
            <a:spAutoFit/>
          </a:bodyPr>
          <a:lstStyle/>
          <a:p>
            <a:pPr algn="ctr"/>
            <a:fld id="{A92209CA-EFDE-4AB8-9222-590C7472CDAB}" type="slidenum">
              <a:rPr lang="de-DE" sz="1000" smtClean="0">
                <a:solidFill>
                  <a:schemeClr val="bg1"/>
                </a:solidFill>
                <a:latin typeface="+mj-lt"/>
              </a:rPr>
              <a:pPr algn="ctr"/>
              <a:t>‹Nr.›</a:t>
            </a:fld>
            <a:endParaRPr lang="de-DE" sz="1000" dirty="0">
              <a:solidFill>
                <a:schemeClr val="bg1"/>
              </a:solidFill>
              <a:latin typeface="+mj-lt"/>
            </a:endParaRPr>
          </a:p>
        </p:txBody>
      </p:sp>
    </p:spTree>
    <p:extLst>
      <p:ext uri="{BB962C8B-B14F-4D97-AF65-F5344CB8AC3E}">
        <p14:creationId xmlns:p14="http://schemas.microsoft.com/office/powerpoint/2010/main" val="682063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48960"/>
      </p:ext>
    </p:extLst>
  </p:cSld>
  <p:clrMap bg1="lt1" tx1="dk1" bg2="lt2" tx2="dk2" accent1="accent1" accent2="accent2" accent3="accent3" accent4="accent4" accent5="accent5" accent6="accent6" hlink="hlink" folHlink="folHlink"/>
  <p:sldLayoutIdLst>
    <p:sldLayoutId id="2147483654" r:id="rId1"/>
    <p:sldLayoutId id="2147483657" r:id="rId2"/>
    <p:sldLayoutId id="2147483656" r:id="rId3"/>
    <p:sldLayoutId id="2147483658" r:id="rId4"/>
    <p:sldLayoutId id="214748365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 Id="rId9" Type="http://schemas.microsoft.com/office/2007/relationships/hdphoto" Target="../media/hdphoto2.wdp"/></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 Id="rId9"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rzlich Willkommen…">
            <a:extLst>
              <a:ext uri="{FF2B5EF4-FFF2-40B4-BE49-F238E27FC236}">
                <a16:creationId xmlns:a16="http://schemas.microsoft.com/office/drawing/2014/main" id="{31991B22-ADE8-1F96-4A16-CC0F3362E09B}"/>
              </a:ext>
            </a:extLst>
          </p:cNvPr>
          <p:cNvSpPr txBox="1"/>
          <p:nvPr/>
        </p:nvSpPr>
        <p:spPr>
          <a:xfrm>
            <a:off x="569950" y="749685"/>
            <a:ext cx="6875456" cy="9158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r>
              <a:rPr lang="de-DE" sz="2800" dirty="0" err="1"/>
              <a:t>Our</a:t>
            </a:r>
            <a:r>
              <a:rPr lang="de-DE" sz="2800" dirty="0"/>
              <a:t> </a:t>
            </a:r>
            <a:r>
              <a:rPr lang="de-DE" sz="2800" dirty="0" err="1"/>
              <a:t>guide</a:t>
            </a:r>
            <a:r>
              <a:rPr lang="de-DE" sz="2800" dirty="0"/>
              <a:t> </a:t>
            </a:r>
            <a:r>
              <a:rPr lang="de-DE" sz="2800" dirty="0" err="1"/>
              <a:t>price</a:t>
            </a:r>
            <a:r>
              <a:rPr lang="de-DE" sz="2800" dirty="0"/>
              <a:t> </a:t>
            </a:r>
            <a:r>
              <a:rPr lang="de-DE" sz="2800" dirty="0" err="1"/>
              <a:t>offer</a:t>
            </a:r>
            <a:r>
              <a:rPr lang="de-DE" sz="2800" dirty="0"/>
              <a:t>: </a:t>
            </a:r>
            <a:r>
              <a:rPr lang="de-DE" sz="2000" dirty="0"/>
              <a:t>A07616000_A</a:t>
            </a:r>
          </a:p>
          <a:p>
            <a:pPr algn="l">
              <a:defRPr sz="7000">
                <a:solidFill>
                  <a:srgbClr val="FFFFFF"/>
                </a:solidFill>
                <a:latin typeface="Gilroy ExtraBold"/>
                <a:ea typeface="Gilroy ExtraBold"/>
                <a:cs typeface="Gilroy ExtraBold"/>
                <a:sym typeface="Gilroy ExtraBold"/>
              </a:defRPr>
            </a:pPr>
            <a:r>
              <a:rPr lang="de-DE" sz="2800" b="1" dirty="0" err="1">
                <a:solidFill>
                  <a:srgbClr val="8ED2C3"/>
                </a:solidFill>
                <a:latin typeface="Calibri" panose="020F0502020204030204" pitchFamily="34" charset="0"/>
              </a:rPr>
              <a:t>Automatic</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production</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line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for</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wire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processing</a:t>
            </a:r>
            <a:endParaRPr sz="2800" b="1" dirty="0">
              <a:solidFill>
                <a:srgbClr val="8ED2C3"/>
              </a:solidFill>
              <a:latin typeface="Calibri" panose="020F0502020204030204" pitchFamily="34" charset="0"/>
            </a:endParaRPr>
          </a:p>
        </p:txBody>
      </p:sp>
      <p:pic>
        <p:nvPicPr>
          <p:cNvPr id="4" name="Grafik 3">
            <a:extLst>
              <a:ext uri="{FF2B5EF4-FFF2-40B4-BE49-F238E27FC236}">
                <a16:creationId xmlns:a16="http://schemas.microsoft.com/office/drawing/2014/main" id="{8EDE69DE-B997-DB3A-3B0C-1CA79381F7BE}"/>
              </a:ext>
            </a:extLst>
          </p:cNvPr>
          <p:cNvPicPr>
            <a:picLocks noChangeAspect="1"/>
          </p:cNvPicPr>
          <p:nvPr/>
        </p:nvPicPr>
        <p:blipFill>
          <a:blip r:embed="rId3"/>
          <a:stretch>
            <a:fillRect/>
          </a:stretch>
        </p:blipFill>
        <p:spPr>
          <a:xfrm>
            <a:off x="5575821" y="4702275"/>
            <a:ext cx="2027414" cy="859264"/>
          </a:xfrm>
          <a:prstGeom prst="rect">
            <a:avLst/>
          </a:prstGeom>
        </p:spPr>
      </p:pic>
      <p:sp>
        <p:nvSpPr>
          <p:cNvPr id="3" name="Textfeld 2">
            <a:extLst>
              <a:ext uri="{FF2B5EF4-FFF2-40B4-BE49-F238E27FC236}">
                <a16:creationId xmlns:a16="http://schemas.microsoft.com/office/drawing/2014/main" id="{2E2CE726-E39A-5B62-2050-009A0C486E8B}"/>
              </a:ext>
            </a:extLst>
          </p:cNvPr>
          <p:cNvSpPr txBox="1"/>
          <p:nvPr/>
        </p:nvSpPr>
        <p:spPr>
          <a:xfrm>
            <a:off x="519150" y="2978234"/>
            <a:ext cx="2062219"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055" b="1" dirty="0">
                <a:solidFill>
                  <a:srgbClr val="FFFFFF"/>
                </a:solidFill>
                <a:latin typeface="Gilroy Light" pitchFamily="2" charset="77"/>
              </a:rPr>
              <a:t>Florian Schötz</a:t>
            </a:r>
          </a:p>
          <a:p>
            <a:pPr algn="l">
              <a:lnSpc>
                <a:spcPts val="1582"/>
              </a:lnSpc>
            </a:pPr>
            <a:r>
              <a:rPr lang="de-DE" sz="1055" dirty="0">
                <a:solidFill>
                  <a:srgbClr val="FFFFFF"/>
                </a:solidFill>
                <a:latin typeface="Gilroy Light" pitchFamily="2" charset="77"/>
              </a:rPr>
              <a:t>Technical </a:t>
            </a:r>
            <a:r>
              <a:rPr lang="de-DE" sz="1055" dirty="0" err="1">
                <a:solidFill>
                  <a:srgbClr val="FFFFFF"/>
                </a:solidFill>
                <a:latin typeface="Gilroy Light" pitchFamily="2" charset="77"/>
              </a:rPr>
              <a:t>sales</a:t>
            </a:r>
            <a:br>
              <a:rPr lang="de-DE" sz="1055" dirty="0">
                <a:solidFill>
                  <a:srgbClr val="FFFFFF"/>
                </a:solidFill>
                <a:latin typeface="Gilroy Light" pitchFamily="2" charset="77"/>
              </a:rPr>
            </a:br>
            <a:r>
              <a:rPr lang="de-DE" sz="1055" dirty="0">
                <a:solidFill>
                  <a:srgbClr val="FFFFFF"/>
                </a:solidFill>
                <a:latin typeface="Gilroy Light" pitchFamily="2" charset="77"/>
              </a:rPr>
              <a:t>E-Mail: schoetz.florian@gluth.eu </a:t>
            </a:r>
          </a:p>
          <a:p>
            <a:pPr algn="l">
              <a:lnSpc>
                <a:spcPts val="1582"/>
              </a:lnSpc>
            </a:pPr>
            <a:r>
              <a:rPr lang="de-DE" sz="1055" dirty="0">
                <a:solidFill>
                  <a:srgbClr val="FFFFFF"/>
                </a:solidFill>
                <a:latin typeface="Gilroy Light" pitchFamily="2" charset="77"/>
              </a:rPr>
              <a:t>Tel      : +49 9421 / 544-965</a:t>
            </a:r>
          </a:p>
          <a:p>
            <a:pPr algn="l">
              <a:lnSpc>
                <a:spcPts val="1582"/>
              </a:lnSpc>
            </a:pPr>
            <a:r>
              <a:rPr lang="de-DE" sz="1055" dirty="0">
                <a:solidFill>
                  <a:srgbClr val="FFFFFF"/>
                </a:solidFill>
                <a:latin typeface="Gilroy Light" pitchFamily="2" charset="77"/>
              </a:rPr>
              <a:t>Mobil : +49 151 / 20832983  	</a:t>
            </a:r>
          </a:p>
        </p:txBody>
      </p:sp>
      <p:sp>
        <p:nvSpPr>
          <p:cNvPr id="6" name="Textfeld 5">
            <a:extLst>
              <a:ext uri="{FF2B5EF4-FFF2-40B4-BE49-F238E27FC236}">
                <a16:creationId xmlns:a16="http://schemas.microsoft.com/office/drawing/2014/main" id="{8780E428-333A-7D4B-0846-7661E8B7BE24}"/>
              </a:ext>
            </a:extLst>
          </p:cNvPr>
          <p:cNvSpPr txBox="1"/>
          <p:nvPr/>
        </p:nvSpPr>
        <p:spPr>
          <a:xfrm>
            <a:off x="500987" y="261525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Gluth:</a:t>
            </a:r>
            <a:endParaRPr lang="de-DE" sz="1400" dirty="0">
              <a:solidFill>
                <a:srgbClr val="FFFFFF"/>
              </a:solidFill>
              <a:latin typeface="Gilroy Light" pitchFamily="2" charset="77"/>
            </a:endParaRPr>
          </a:p>
        </p:txBody>
      </p:sp>
      <p:sp>
        <p:nvSpPr>
          <p:cNvPr id="7" name="Textfeld 6">
            <a:extLst>
              <a:ext uri="{FF2B5EF4-FFF2-40B4-BE49-F238E27FC236}">
                <a16:creationId xmlns:a16="http://schemas.microsoft.com/office/drawing/2014/main" id="{F579452B-B259-2EBE-EFFE-65181C573B7B}"/>
              </a:ext>
            </a:extLst>
          </p:cNvPr>
          <p:cNvSpPr txBox="1"/>
          <p:nvPr/>
        </p:nvSpPr>
        <p:spPr>
          <a:xfrm>
            <a:off x="5020256" y="262160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Dräxlmaier:</a:t>
            </a:r>
            <a:endParaRPr lang="de-DE" sz="1400" dirty="0">
              <a:solidFill>
                <a:srgbClr val="FFFFFF"/>
              </a:solidFill>
              <a:latin typeface="Gilroy Light" pitchFamily="2" charset="77"/>
            </a:endParaRPr>
          </a:p>
        </p:txBody>
      </p:sp>
      <p:sp>
        <p:nvSpPr>
          <p:cNvPr id="8" name="Textfeld 7">
            <a:extLst>
              <a:ext uri="{FF2B5EF4-FFF2-40B4-BE49-F238E27FC236}">
                <a16:creationId xmlns:a16="http://schemas.microsoft.com/office/drawing/2014/main" id="{2B288582-564D-D396-BA47-547C5A2271D6}"/>
              </a:ext>
            </a:extLst>
          </p:cNvPr>
          <p:cNvSpPr txBox="1"/>
          <p:nvPr/>
        </p:nvSpPr>
        <p:spPr>
          <a:xfrm>
            <a:off x="5039054" y="2986605"/>
            <a:ext cx="2652171"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Thomas </a:t>
            </a:r>
            <a:r>
              <a:rPr lang="de-DE" dirty="0" err="1"/>
              <a:t>Eglseder</a:t>
            </a:r>
            <a:endParaRPr lang="de-DE" dirty="0"/>
          </a:p>
          <a:p>
            <a:r>
              <a:rPr lang="de-DE" dirty="0" err="1"/>
              <a:t>Purchase</a:t>
            </a:r>
            <a:endParaRPr lang="de-DE" dirty="0"/>
          </a:p>
          <a:p>
            <a:r>
              <a:rPr lang="de-DE" dirty="0"/>
              <a:t>E-Mail:  Thomas.eglseder@draexlmaier.com </a:t>
            </a:r>
            <a:br>
              <a:rPr lang="de-DE" dirty="0"/>
            </a:br>
            <a:r>
              <a:rPr lang="de-DE" dirty="0"/>
              <a:t>Tel      : +49 8741 / 47 3574</a:t>
            </a:r>
          </a:p>
          <a:p>
            <a:r>
              <a:rPr lang="de-DE" dirty="0"/>
              <a:t>Mobil : +49 152 / 2800 4115	</a:t>
            </a:r>
          </a:p>
        </p:txBody>
      </p:sp>
      <p:sp>
        <p:nvSpPr>
          <p:cNvPr id="9" name="Rechteck 8">
            <a:extLst>
              <a:ext uri="{FF2B5EF4-FFF2-40B4-BE49-F238E27FC236}">
                <a16:creationId xmlns:a16="http://schemas.microsoft.com/office/drawing/2014/main" id="{42FD4F6A-34E6-C771-E9F0-56937E415118}"/>
              </a:ext>
            </a:extLst>
          </p:cNvPr>
          <p:cNvSpPr>
            <a:spLocks noChangeArrowheads="1"/>
          </p:cNvSpPr>
          <p:nvPr/>
        </p:nvSpPr>
        <p:spPr bwMode="auto">
          <a:xfrm>
            <a:off x="2596948" y="2976959"/>
            <a:ext cx="2592388"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1582"/>
              </a:lnSpc>
            </a:pPr>
            <a:r>
              <a:rPr lang="de-DE" altLang="de-DE" sz="1055" dirty="0">
                <a:solidFill>
                  <a:srgbClr val="FFFFFF"/>
                </a:solidFill>
                <a:latin typeface="Gilroy Light" pitchFamily="2" charset="77"/>
              </a:rPr>
              <a:t>Radlbeck Ulrich</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Technical </a:t>
            </a:r>
            <a:r>
              <a:rPr lang="de-DE" altLang="de-DE" sz="1055" dirty="0" err="1">
                <a:solidFill>
                  <a:srgbClr val="FFFFFF"/>
                </a:solidFill>
                <a:latin typeface="Gilroy Light" pitchFamily="2" charset="77"/>
              </a:rPr>
              <a:t>sales</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E-Mail: radlbeck.ulrich@gluth.eu</a:t>
            </a:r>
          </a:p>
          <a:p>
            <a:pPr>
              <a:lnSpc>
                <a:spcPts val="1582"/>
              </a:lnSpc>
            </a:pPr>
            <a:r>
              <a:rPr lang="de-DE" altLang="de-DE" sz="1055" dirty="0">
                <a:solidFill>
                  <a:srgbClr val="FFFFFF"/>
                </a:solidFill>
                <a:latin typeface="Gilroy Light" pitchFamily="2" charset="77"/>
              </a:rPr>
              <a:t>Tel:      +49 9421 / 544-56</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Mobil: +49 </a:t>
            </a:r>
            <a:r>
              <a:rPr lang="de-DE" sz="1055" dirty="0">
                <a:solidFill>
                  <a:srgbClr val="FFFFFF"/>
                </a:solidFill>
                <a:latin typeface="Gilroy Light" pitchFamily="2" charset="77"/>
              </a:rPr>
              <a:t>171 / 9493494</a:t>
            </a:r>
            <a:endParaRPr lang="de-DE" altLang="de-DE" sz="1055" dirty="0">
              <a:solidFill>
                <a:srgbClr val="FFFFFF"/>
              </a:solidFill>
              <a:latin typeface="Gilroy Light" pitchFamily="2" charset="77"/>
            </a:endParaRPr>
          </a:p>
        </p:txBody>
      </p:sp>
      <p:sp>
        <p:nvSpPr>
          <p:cNvPr id="10" name="Textfeld 9">
            <a:extLst>
              <a:ext uri="{FF2B5EF4-FFF2-40B4-BE49-F238E27FC236}">
                <a16:creationId xmlns:a16="http://schemas.microsoft.com/office/drawing/2014/main" id="{0B9274EE-5C3C-97D7-AB08-63C957E66085}"/>
              </a:ext>
            </a:extLst>
          </p:cNvPr>
          <p:cNvSpPr txBox="1"/>
          <p:nvPr/>
        </p:nvSpPr>
        <p:spPr>
          <a:xfrm>
            <a:off x="504919" y="1709802"/>
            <a:ext cx="5747769" cy="5027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mj-lt"/>
              </a:rPr>
              <a:t>24.04.2025</a:t>
            </a:r>
            <a:endParaRPr lang="de-DE" sz="1400" dirty="0">
              <a:solidFill>
                <a:srgbClr val="FFFFFF"/>
              </a:solidFill>
              <a:latin typeface="+mj-lt"/>
            </a:endParaRPr>
          </a:p>
          <a:p>
            <a:pPr algn="l">
              <a:lnSpc>
                <a:spcPts val="1582"/>
              </a:lnSpc>
            </a:pPr>
            <a:r>
              <a:rPr lang="de-DE" sz="1400" dirty="0">
                <a:solidFill>
                  <a:srgbClr val="FFFFFF"/>
                </a:solidFill>
                <a:latin typeface="+mj-lt"/>
              </a:rPr>
              <a:t>A07616000_A  </a:t>
            </a:r>
            <a:r>
              <a:rPr lang="de-DE" sz="1400" dirty="0" err="1">
                <a:solidFill>
                  <a:srgbClr val="FFFFFF"/>
                </a:solidFill>
                <a:latin typeface="+mj-lt"/>
              </a:rPr>
              <a:t>for</a:t>
            </a:r>
            <a:r>
              <a:rPr lang="de-DE" sz="1400" dirty="0">
                <a:solidFill>
                  <a:srgbClr val="FFFFFF"/>
                </a:solidFill>
                <a:latin typeface="+mj-lt"/>
              </a:rPr>
              <a:t> Lisa Dräxlmaier / Satu Mare</a:t>
            </a:r>
          </a:p>
        </p:txBody>
      </p:sp>
      <p:sp>
        <p:nvSpPr>
          <p:cNvPr id="11" name="Textfeld 10">
            <a:extLst>
              <a:ext uri="{FF2B5EF4-FFF2-40B4-BE49-F238E27FC236}">
                <a16:creationId xmlns:a16="http://schemas.microsoft.com/office/drawing/2014/main" id="{A0BAF098-62C9-7526-5792-71D834C6AB29}"/>
              </a:ext>
            </a:extLst>
          </p:cNvPr>
          <p:cNvSpPr txBox="1"/>
          <p:nvPr/>
        </p:nvSpPr>
        <p:spPr>
          <a:xfrm>
            <a:off x="7691225" y="2998010"/>
            <a:ext cx="2798975"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Juhasz </a:t>
            </a:r>
            <a:r>
              <a:rPr lang="de-DE" dirty="0" err="1"/>
              <a:t>Levente</a:t>
            </a:r>
            <a:endParaRPr lang="de-DE" dirty="0"/>
          </a:p>
          <a:p>
            <a:r>
              <a:rPr lang="de-DE" dirty="0"/>
              <a:t>Engineering</a:t>
            </a:r>
          </a:p>
          <a:p>
            <a:r>
              <a:rPr lang="de-DE" dirty="0"/>
              <a:t>E-Mail: Levente-istvan.juhasz@draexlmaier.com </a:t>
            </a:r>
          </a:p>
          <a:p>
            <a:r>
              <a:rPr lang="de-DE" dirty="0"/>
              <a:t>Tel      : +40 723 / 100 146</a:t>
            </a:r>
          </a:p>
          <a:p>
            <a:r>
              <a:rPr lang="de-DE" dirty="0"/>
              <a:t>Mobil : </a:t>
            </a:r>
          </a:p>
        </p:txBody>
      </p:sp>
    </p:spTree>
    <p:extLst>
      <p:ext uri="{BB962C8B-B14F-4D97-AF65-F5344CB8AC3E}">
        <p14:creationId xmlns:p14="http://schemas.microsoft.com/office/powerpoint/2010/main" val="2703321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s ist eine Folie…">
            <a:extLst>
              <a:ext uri="{FF2B5EF4-FFF2-40B4-BE49-F238E27FC236}">
                <a16:creationId xmlns:a16="http://schemas.microsoft.com/office/drawing/2014/main" id="{18640E34-30E8-A217-0FA4-5EE22F045C96}"/>
              </a:ext>
            </a:extLst>
          </p:cNvPr>
          <p:cNvSpPr txBox="1"/>
          <p:nvPr/>
        </p:nvSpPr>
        <p:spPr>
          <a:xfrm>
            <a:off x="1952837" y="955127"/>
            <a:ext cx="5430006" cy="51721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t">
            <a:spAutoFit/>
          </a:bodyPr>
          <a:lstStyle/>
          <a:p>
            <a:pPr algn="l">
              <a:defRPr sz="7000">
                <a:solidFill>
                  <a:srgbClr val="FFFFFF"/>
                </a:solidFill>
                <a:latin typeface="Gilroy ExtraBold"/>
                <a:ea typeface="Gilroy ExtraBold"/>
                <a:cs typeface="Gilroy ExtraBold"/>
                <a:sym typeface="Gilroy ExtraBold"/>
              </a:defRPr>
            </a:pPr>
            <a:r>
              <a:rPr lang="de-DE" sz="3691" dirty="0">
                <a:latin typeface="Calibri" panose="020F0502020204030204" pitchFamily="34" charset="0"/>
                <a:ea typeface="Calibri" panose="020F0502020204030204" pitchFamily="34" charset="0"/>
                <a:cs typeface="Calibri" panose="020F0502020204030204" pitchFamily="34" charset="0"/>
              </a:rPr>
              <a:t>Table </a:t>
            </a:r>
            <a:r>
              <a:rPr lang="de-DE" sz="3691" dirty="0" err="1">
                <a:latin typeface="Calibri" panose="020F0502020204030204" pitchFamily="34" charset="0"/>
                <a:ea typeface="Calibri" panose="020F0502020204030204" pitchFamily="34" charset="0"/>
                <a:cs typeface="Calibri" panose="020F0502020204030204" pitchFamily="34" charset="0"/>
              </a:rPr>
              <a:t>of</a:t>
            </a:r>
            <a:r>
              <a:rPr lang="de-DE" sz="3691" dirty="0">
                <a:latin typeface="Calibri" panose="020F0502020204030204" pitchFamily="34" charset="0"/>
                <a:ea typeface="Calibri" panose="020F0502020204030204" pitchFamily="34" charset="0"/>
                <a:cs typeface="Calibri" panose="020F0502020204030204" pitchFamily="34" charset="0"/>
              </a:rPr>
              <a:t> </a:t>
            </a:r>
            <a:r>
              <a:rPr lang="de-DE" sz="3691" dirty="0" err="1">
                <a:latin typeface="Calibri" panose="020F0502020204030204" pitchFamily="34" charset="0"/>
                <a:ea typeface="Calibri" panose="020F0502020204030204" pitchFamily="34" charset="0"/>
                <a:cs typeface="Calibri" panose="020F0502020204030204" pitchFamily="34" charset="0"/>
              </a:rPr>
              <a:t>contents</a:t>
            </a:r>
            <a:endParaRPr lang="de-DE" sz="3691" dirty="0">
              <a:latin typeface="Calibri" panose="020F0502020204030204" pitchFamily="34" charset="0"/>
              <a:ea typeface="Calibri" panose="020F0502020204030204" pitchFamily="34" charset="0"/>
              <a:cs typeface="Calibri" panose="020F0502020204030204" pitchFamily="34" charset="0"/>
            </a:endParaRPr>
          </a:p>
          <a:p>
            <a:pPr algn="l">
              <a:defRPr sz="7000">
                <a:solidFill>
                  <a:srgbClr val="FFFFFF"/>
                </a:solidFill>
                <a:latin typeface="Gilroy ExtraBold"/>
                <a:ea typeface="Gilroy ExtraBold"/>
                <a:cs typeface="Gilroy ExtraBold"/>
                <a:sym typeface="Gilroy ExtraBold"/>
              </a:defRPr>
            </a:pPr>
            <a:endParaRPr lang="de-DE" sz="28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Basics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offer</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Aufgaben Beschreibung</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Übersicht Erzeugnisse</a:t>
            </a:r>
          </a:p>
          <a:p>
            <a:pPr marL="457200" indent="-457200">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Hallenlayout / Platzbedarf</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Konzept</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Übersicht Prozesse</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Havarie Konzept</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Lieferumfang</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Beistellungen BMW</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Allgemeines</a:t>
            </a:r>
          </a:p>
          <a:p>
            <a:pPr marL="457200" indent="-457200">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Terminplanung</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Preisübersicht - Zahlung</a:t>
            </a:r>
          </a:p>
        </p:txBody>
      </p:sp>
    </p:spTree>
    <p:extLst>
      <p:ext uri="{BB962C8B-B14F-4D97-AF65-F5344CB8AC3E}">
        <p14:creationId xmlns:p14="http://schemas.microsoft.com/office/powerpoint/2010/main" val="266979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Basics</a:t>
            </a:r>
          </a:p>
        </p:txBody>
      </p:sp>
      <p:pic>
        <p:nvPicPr>
          <p:cNvPr id="6" name="Grafik 5">
            <a:extLst>
              <a:ext uri="{FF2B5EF4-FFF2-40B4-BE49-F238E27FC236}">
                <a16:creationId xmlns:a16="http://schemas.microsoft.com/office/drawing/2014/main" id="{84AC4C9F-1E10-78BF-F902-58730806BAEB}"/>
              </a:ext>
            </a:extLst>
          </p:cNvPr>
          <p:cNvPicPr>
            <a:picLocks noChangeAspect="1"/>
          </p:cNvPicPr>
          <p:nvPr/>
        </p:nvPicPr>
        <p:blipFill>
          <a:blip r:embed="rId3"/>
          <a:stretch>
            <a:fillRect/>
          </a:stretch>
        </p:blipFill>
        <p:spPr>
          <a:xfrm>
            <a:off x="1591687" y="1342282"/>
            <a:ext cx="2594103" cy="3621227"/>
          </a:xfrm>
          <a:prstGeom prst="rect">
            <a:avLst/>
          </a:prstGeom>
          <a:ln>
            <a:solidFill>
              <a:schemeClr val="tx1"/>
            </a:solidFill>
          </a:ln>
        </p:spPr>
      </p:pic>
      <p:pic>
        <p:nvPicPr>
          <p:cNvPr id="5" name="Grafik 4">
            <a:extLst>
              <a:ext uri="{FF2B5EF4-FFF2-40B4-BE49-F238E27FC236}">
                <a16:creationId xmlns:a16="http://schemas.microsoft.com/office/drawing/2014/main" id="{6C5BB740-2E06-54DE-EFD6-6735B0A183CD}"/>
              </a:ext>
            </a:extLst>
          </p:cNvPr>
          <p:cNvPicPr>
            <a:picLocks noChangeAspect="1"/>
          </p:cNvPicPr>
          <p:nvPr/>
        </p:nvPicPr>
        <p:blipFill>
          <a:blip r:embed="rId4"/>
          <a:stretch>
            <a:fillRect/>
          </a:stretch>
        </p:blipFill>
        <p:spPr>
          <a:xfrm>
            <a:off x="6987457" y="1270092"/>
            <a:ext cx="2956835" cy="3092324"/>
          </a:xfrm>
          <a:prstGeom prst="rect">
            <a:avLst/>
          </a:prstGeom>
        </p:spPr>
      </p:pic>
      <p:sp>
        <p:nvSpPr>
          <p:cNvPr id="7" name="Textfeld 6">
            <a:extLst>
              <a:ext uri="{FF2B5EF4-FFF2-40B4-BE49-F238E27FC236}">
                <a16:creationId xmlns:a16="http://schemas.microsoft.com/office/drawing/2014/main" id="{4E949705-AC33-16A5-407D-D2C490030319}"/>
              </a:ext>
            </a:extLst>
          </p:cNvPr>
          <p:cNvSpPr txBox="1"/>
          <p:nvPr/>
        </p:nvSpPr>
        <p:spPr>
          <a:xfrm>
            <a:off x="1784715" y="700102"/>
            <a:ext cx="2382704" cy="369332"/>
          </a:xfrm>
          <a:prstGeom prst="rect">
            <a:avLst/>
          </a:prstGeom>
          <a:noFill/>
        </p:spPr>
        <p:txBody>
          <a:bodyPr wrap="none" rtlCol="0">
            <a:spAutoFit/>
          </a:bodyPr>
          <a:lstStyle/>
          <a:p>
            <a:r>
              <a:rPr lang="de-DE" u="sng" dirty="0" err="1">
                <a:latin typeface="Calibri" panose="020F0502020204030204" pitchFamily="34" charset="0"/>
                <a:ea typeface="Calibri" panose="020F0502020204030204" pitchFamily="34" charset="0"/>
                <a:cs typeface="Calibri" panose="020F0502020204030204" pitchFamily="34" charset="0"/>
              </a:rPr>
              <a:t>Specifications</a:t>
            </a:r>
            <a:r>
              <a:rPr lang="de-DE" u="sng" dirty="0">
                <a:latin typeface="Calibri" panose="020F0502020204030204" pitchFamily="34" charset="0"/>
                <a:ea typeface="Calibri" panose="020F0502020204030204" pitchFamily="34" charset="0"/>
                <a:cs typeface="Calibri" panose="020F0502020204030204" pitchFamily="34" charset="0"/>
              </a:rPr>
              <a:t> </a:t>
            </a:r>
            <a:r>
              <a:rPr lang="de-DE" u="sng" dirty="0" err="1">
                <a:latin typeface="Calibri" panose="020F0502020204030204" pitchFamily="34" charset="0"/>
                <a:ea typeface="Calibri" panose="020F0502020204030204" pitchFamily="34" charset="0"/>
                <a:cs typeface="Calibri" panose="020F0502020204030204" pitchFamily="34" charset="0"/>
              </a:rPr>
              <a:t>received</a:t>
            </a:r>
            <a:r>
              <a:rPr lang="de-DE" u="sng" dirty="0">
                <a:latin typeface="Calibri" panose="020F0502020204030204" pitchFamily="34" charset="0"/>
                <a:ea typeface="Calibri" panose="020F0502020204030204" pitchFamily="34" charset="0"/>
                <a:cs typeface="Calibri" panose="020F0502020204030204" pitchFamily="34" charset="0"/>
              </a:rPr>
              <a:t>:</a:t>
            </a:r>
          </a:p>
        </p:txBody>
      </p:sp>
      <p:sp>
        <p:nvSpPr>
          <p:cNvPr id="9" name="Textfeld 8">
            <a:extLst>
              <a:ext uri="{FF2B5EF4-FFF2-40B4-BE49-F238E27FC236}">
                <a16:creationId xmlns:a16="http://schemas.microsoft.com/office/drawing/2014/main" id="{334D6B64-A599-46C3-5FEC-A9BCFE79AF52}"/>
              </a:ext>
            </a:extLst>
          </p:cNvPr>
          <p:cNvSpPr txBox="1"/>
          <p:nvPr/>
        </p:nvSpPr>
        <p:spPr>
          <a:xfrm>
            <a:off x="6987458" y="700102"/>
            <a:ext cx="2746970" cy="369332"/>
          </a:xfrm>
          <a:prstGeom prst="rect">
            <a:avLst/>
          </a:prstGeom>
          <a:noFill/>
        </p:spPr>
        <p:txBody>
          <a:bodyPr wrap="none" rtlCol="0">
            <a:spAutoFit/>
          </a:bodyPr>
          <a:lstStyle/>
          <a:p>
            <a:r>
              <a:rPr lang="de-DE" u="sng" dirty="0">
                <a:latin typeface="Calibri" panose="020F0502020204030204" pitchFamily="34" charset="0"/>
                <a:ea typeface="Calibri" panose="020F0502020204030204" pitchFamily="34" charset="0"/>
                <a:cs typeface="Calibri" panose="020F0502020204030204" pitchFamily="34" charset="0"/>
              </a:rPr>
              <a:t>Order </a:t>
            </a:r>
            <a:r>
              <a:rPr lang="de-DE" u="sng" dirty="0" err="1">
                <a:latin typeface="Calibri" panose="020F0502020204030204" pitchFamily="34" charset="0"/>
                <a:ea typeface="Calibri" panose="020F0502020204030204" pitchFamily="34" charset="0"/>
                <a:cs typeface="Calibri" panose="020F0502020204030204" pitchFamily="34" charset="0"/>
              </a:rPr>
              <a:t>documents</a:t>
            </a:r>
            <a:r>
              <a:rPr lang="de-DE" u="sng" dirty="0">
                <a:latin typeface="Calibri" panose="020F0502020204030204" pitchFamily="34" charset="0"/>
                <a:ea typeface="Calibri" panose="020F0502020204030204" pitchFamily="34" charset="0"/>
                <a:cs typeface="Calibri" panose="020F0502020204030204" pitchFamily="34" charset="0"/>
              </a:rPr>
              <a:t> </a:t>
            </a:r>
            <a:r>
              <a:rPr lang="de-DE" u="sng" dirty="0" err="1">
                <a:latin typeface="Calibri" panose="020F0502020204030204" pitchFamily="34" charset="0"/>
                <a:ea typeface="Calibri" panose="020F0502020204030204" pitchFamily="34" charset="0"/>
                <a:cs typeface="Calibri" panose="020F0502020204030204" pitchFamily="34" charset="0"/>
              </a:rPr>
              <a:t>received</a:t>
            </a:r>
            <a:r>
              <a:rPr lang="de-DE" u="sng" dirty="0">
                <a:latin typeface="Calibri" panose="020F0502020204030204" pitchFamily="34" charset="0"/>
                <a:ea typeface="Calibri" panose="020F0502020204030204" pitchFamily="34" charset="0"/>
                <a:cs typeface="Calibri" panose="020F0502020204030204" pitchFamily="34" charset="0"/>
              </a:rPr>
              <a:t>:</a:t>
            </a:r>
          </a:p>
        </p:txBody>
      </p:sp>
      <p:sp>
        <p:nvSpPr>
          <p:cNvPr id="11" name="Textfeld 10">
            <a:extLst>
              <a:ext uri="{FF2B5EF4-FFF2-40B4-BE49-F238E27FC236}">
                <a16:creationId xmlns:a16="http://schemas.microsoft.com/office/drawing/2014/main" id="{002E93DF-7FEC-35CD-ACC2-60B5D327D683}"/>
              </a:ext>
            </a:extLst>
          </p:cNvPr>
          <p:cNvSpPr txBox="1"/>
          <p:nvPr/>
        </p:nvSpPr>
        <p:spPr>
          <a:xfrm>
            <a:off x="0" y="5704690"/>
            <a:ext cx="10041149" cy="954107"/>
          </a:xfrm>
          <a:prstGeom prst="rect">
            <a:avLst/>
          </a:prstGeom>
          <a:noFill/>
        </p:spPr>
        <p:txBody>
          <a:bodyPr wrap="square">
            <a:spAutoFit/>
          </a:bodyPr>
          <a:lstStyle/>
          <a:p>
            <a:pPr marL="450215">
              <a:spcAft>
                <a:spcPts val="0"/>
              </a:spcAft>
            </a:pPr>
            <a:r>
              <a:rPr lang="en-US"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At the time of preparing the quotation, we had no further data on your products! </a:t>
            </a:r>
          </a:p>
          <a:p>
            <a:pPr marL="450215">
              <a:spcAft>
                <a:spcPts val="0"/>
              </a:spcAft>
            </a:pPr>
            <a:endParaRPr lang="en-US" sz="14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450215">
              <a:spcAft>
                <a:spcPts val="0"/>
              </a:spcAft>
            </a:pPr>
            <a:r>
              <a:rPr lang="en-US"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Should significant changes or additions to the current range of types arise in the course of the project, we reserve the right to offer these at a later date, with possible effects on price and delivery time, after consultation with you.</a:t>
            </a:r>
            <a:endParaRPr lang="de-DE"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4" name="Grafik 13">
            <a:extLst>
              <a:ext uri="{FF2B5EF4-FFF2-40B4-BE49-F238E27FC236}">
                <a16:creationId xmlns:a16="http://schemas.microsoft.com/office/drawing/2014/main" id="{54F8A11B-5B18-0A34-68E4-60CC31C1674B}"/>
              </a:ext>
            </a:extLst>
          </p:cNvPr>
          <p:cNvPicPr>
            <a:picLocks noChangeAspect="1"/>
          </p:cNvPicPr>
          <p:nvPr/>
        </p:nvPicPr>
        <p:blipFill>
          <a:blip r:embed="rId5"/>
          <a:stretch>
            <a:fillRect/>
          </a:stretch>
        </p:blipFill>
        <p:spPr>
          <a:xfrm>
            <a:off x="7056521" y="4307543"/>
            <a:ext cx="3062037" cy="649769"/>
          </a:xfrm>
          <a:prstGeom prst="rect">
            <a:avLst/>
          </a:prstGeom>
        </p:spPr>
      </p:pic>
    </p:spTree>
    <p:extLst>
      <p:ext uri="{BB962C8B-B14F-4D97-AF65-F5344CB8AC3E}">
        <p14:creationId xmlns:p14="http://schemas.microsoft.com/office/powerpoint/2010/main" val="81826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Basics</a:t>
            </a:r>
          </a:p>
        </p:txBody>
      </p:sp>
      <p:pic>
        <p:nvPicPr>
          <p:cNvPr id="8" name="Grafik 7">
            <a:extLst>
              <a:ext uri="{FF2B5EF4-FFF2-40B4-BE49-F238E27FC236}">
                <a16:creationId xmlns:a16="http://schemas.microsoft.com/office/drawing/2014/main" id="{7FF60227-D80A-9B1F-43AE-E2E9558579F1}"/>
              </a:ext>
            </a:extLst>
          </p:cNvPr>
          <p:cNvPicPr>
            <a:picLocks noChangeAspect="1"/>
          </p:cNvPicPr>
          <p:nvPr/>
        </p:nvPicPr>
        <p:blipFill>
          <a:blip r:embed="rId3"/>
          <a:stretch>
            <a:fillRect/>
          </a:stretch>
        </p:blipFill>
        <p:spPr>
          <a:xfrm>
            <a:off x="1076827" y="1143146"/>
            <a:ext cx="3493168" cy="2530098"/>
          </a:xfrm>
          <a:prstGeom prst="rect">
            <a:avLst/>
          </a:prstGeom>
        </p:spPr>
      </p:pic>
      <p:pic>
        <p:nvPicPr>
          <p:cNvPr id="10" name="Grafik 9">
            <a:extLst>
              <a:ext uri="{FF2B5EF4-FFF2-40B4-BE49-F238E27FC236}">
                <a16:creationId xmlns:a16="http://schemas.microsoft.com/office/drawing/2014/main" id="{9275E285-8896-1DDF-96A8-88A2E4677563}"/>
              </a:ext>
            </a:extLst>
          </p:cNvPr>
          <p:cNvPicPr>
            <a:picLocks noChangeAspect="1"/>
          </p:cNvPicPr>
          <p:nvPr/>
        </p:nvPicPr>
        <p:blipFill>
          <a:blip r:embed="rId4"/>
          <a:stretch>
            <a:fillRect/>
          </a:stretch>
        </p:blipFill>
        <p:spPr>
          <a:xfrm>
            <a:off x="1094875" y="3765628"/>
            <a:ext cx="3425685" cy="2229235"/>
          </a:xfrm>
          <a:prstGeom prst="rect">
            <a:avLst/>
          </a:prstGeom>
        </p:spPr>
      </p:pic>
      <p:pic>
        <p:nvPicPr>
          <p:cNvPr id="12" name="Grafik 11">
            <a:extLst>
              <a:ext uri="{FF2B5EF4-FFF2-40B4-BE49-F238E27FC236}">
                <a16:creationId xmlns:a16="http://schemas.microsoft.com/office/drawing/2014/main" id="{04E36EB6-A9DE-8585-FA40-174E1D586AF6}"/>
              </a:ext>
            </a:extLst>
          </p:cNvPr>
          <p:cNvPicPr>
            <a:picLocks noChangeAspect="1"/>
          </p:cNvPicPr>
          <p:nvPr/>
        </p:nvPicPr>
        <p:blipFill>
          <a:blip r:embed="rId5"/>
          <a:stretch>
            <a:fillRect/>
          </a:stretch>
        </p:blipFill>
        <p:spPr>
          <a:xfrm>
            <a:off x="5689823" y="1272075"/>
            <a:ext cx="3425686" cy="2098800"/>
          </a:xfrm>
          <a:prstGeom prst="rect">
            <a:avLst/>
          </a:prstGeom>
        </p:spPr>
      </p:pic>
      <p:pic>
        <p:nvPicPr>
          <p:cNvPr id="3" name="Grafik 2">
            <a:extLst>
              <a:ext uri="{FF2B5EF4-FFF2-40B4-BE49-F238E27FC236}">
                <a16:creationId xmlns:a16="http://schemas.microsoft.com/office/drawing/2014/main" id="{18DC2DB8-A0CF-A969-CAE4-118078B87A03}"/>
              </a:ext>
            </a:extLst>
          </p:cNvPr>
          <p:cNvPicPr>
            <a:picLocks noChangeAspect="1"/>
          </p:cNvPicPr>
          <p:nvPr/>
        </p:nvPicPr>
        <p:blipFill>
          <a:blip r:embed="rId6"/>
          <a:stretch>
            <a:fillRect/>
          </a:stretch>
        </p:blipFill>
        <p:spPr>
          <a:xfrm>
            <a:off x="5753324" y="3765628"/>
            <a:ext cx="3362185" cy="2233490"/>
          </a:xfrm>
          <a:prstGeom prst="rect">
            <a:avLst/>
          </a:prstGeom>
        </p:spPr>
      </p:pic>
    </p:spTree>
    <p:extLst>
      <p:ext uri="{BB962C8B-B14F-4D97-AF65-F5344CB8AC3E}">
        <p14:creationId xmlns:p14="http://schemas.microsoft.com/office/powerpoint/2010/main" val="1898511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A54D4164-9EA2-16F0-3F32-93FEC1E01874}"/>
              </a:ext>
            </a:extLst>
          </p:cNvPr>
          <p:cNvSpPr txBox="1">
            <a:spLocks/>
          </p:cNvSpPr>
          <p:nvPr/>
        </p:nvSpPr>
        <p:spPr>
          <a:xfrm>
            <a:off x="2663687" y="121782"/>
            <a:ext cx="6909683" cy="284849"/>
          </a:xfrm>
          <a:prstGeom prst="rect">
            <a:avLst/>
          </a:prstGeom>
        </p:spPr>
        <p:txBody>
          <a:bodyPr anchor="t"/>
          <a:lstStyle>
            <a:lvl1pPr algn="ctr" defTabSz="457200">
              <a:spcBef>
                <a:spcPct val="0"/>
              </a:spcBef>
              <a:buNone/>
              <a:defRPr lang="de-DE" sz="2000" b="1" dirty="0">
                <a:solidFill>
                  <a:srgbClr val="2C3F48"/>
                </a:solidFill>
                <a:latin typeface="Gilroy Light"/>
                <a:ea typeface="Gilroy Light"/>
                <a:cs typeface="Gilroy Light"/>
              </a:defRPr>
            </a:lvl1pPr>
          </a:lstStyle>
          <a:p>
            <a:r>
              <a:rPr lang="de-DE" dirty="0"/>
              <a:t>Change </a:t>
            </a:r>
            <a:r>
              <a:rPr lang="de-DE" dirty="0" err="1"/>
              <a:t>history</a:t>
            </a:r>
            <a:r>
              <a:rPr lang="de-DE" dirty="0"/>
              <a:t> </a:t>
            </a:r>
            <a:r>
              <a:rPr lang="de-DE" dirty="0" err="1"/>
              <a:t>offer</a:t>
            </a:r>
            <a:endParaRPr lang="de-DE" dirty="0"/>
          </a:p>
        </p:txBody>
      </p:sp>
      <p:graphicFrame>
        <p:nvGraphicFramePr>
          <p:cNvPr id="4" name="Tabelle 3">
            <a:extLst>
              <a:ext uri="{FF2B5EF4-FFF2-40B4-BE49-F238E27FC236}">
                <a16:creationId xmlns:a16="http://schemas.microsoft.com/office/drawing/2014/main" id="{03902439-F16A-30A6-1406-D72AC6B383E3}"/>
              </a:ext>
            </a:extLst>
          </p:cNvPr>
          <p:cNvGraphicFramePr>
            <a:graphicFrameLocks noGrp="1"/>
          </p:cNvGraphicFramePr>
          <p:nvPr>
            <p:extLst>
              <p:ext uri="{D42A27DB-BD31-4B8C-83A1-F6EECF244321}">
                <p14:modId xmlns:p14="http://schemas.microsoft.com/office/powerpoint/2010/main" val="2643374519"/>
              </p:ext>
            </p:extLst>
          </p:nvPr>
        </p:nvGraphicFramePr>
        <p:xfrm>
          <a:off x="454660" y="1397846"/>
          <a:ext cx="10533380" cy="2506134"/>
        </p:xfrm>
        <a:graphic>
          <a:graphicData uri="http://schemas.openxmlformats.org/drawingml/2006/table">
            <a:tbl>
              <a:tblPr firstRow="1" bandRow="1">
                <a:tableStyleId>{5C22544A-7EE6-4342-B048-85BDC9FD1C3A}</a:tableStyleId>
              </a:tblPr>
              <a:tblGrid>
                <a:gridCol w="2212340">
                  <a:extLst>
                    <a:ext uri="{9D8B030D-6E8A-4147-A177-3AD203B41FA5}">
                      <a16:colId xmlns:a16="http://schemas.microsoft.com/office/drawing/2014/main" val="3069929143"/>
                    </a:ext>
                  </a:extLst>
                </a:gridCol>
                <a:gridCol w="1310640">
                  <a:extLst>
                    <a:ext uri="{9D8B030D-6E8A-4147-A177-3AD203B41FA5}">
                      <a16:colId xmlns:a16="http://schemas.microsoft.com/office/drawing/2014/main" val="2746303903"/>
                    </a:ext>
                  </a:extLst>
                </a:gridCol>
                <a:gridCol w="1699260">
                  <a:extLst>
                    <a:ext uri="{9D8B030D-6E8A-4147-A177-3AD203B41FA5}">
                      <a16:colId xmlns:a16="http://schemas.microsoft.com/office/drawing/2014/main" val="619236726"/>
                    </a:ext>
                  </a:extLst>
                </a:gridCol>
                <a:gridCol w="2087880">
                  <a:extLst>
                    <a:ext uri="{9D8B030D-6E8A-4147-A177-3AD203B41FA5}">
                      <a16:colId xmlns:a16="http://schemas.microsoft.com/office/drawing/2014/main" val="3602500323"/>
                    </a:ext>
                  </a:extLst>
                </a:gridCol>
                <a:gridCol w="3223260">
                  <a:extLst>
                    <a:ext uri="{9D8B030D-6E8A-4147-A177-3AD203B41FA5}">
                      <a16:colId xmlns:a16="http://schemas.microsoft.com/office/drawing/2014/main" val="3762242738"/>
                    </a:ext>
                  </a:extLst>
                </a:gridCol>
              </a:tblGrid>
              <a:tr h="370840">
                <a:tc gridSpan="5">
                  <a:txBody>
                    <a:bodyPr/>
                    <a:lstStyle/>
                    <a:p>
                      <a:r>
                        <a:rPr lang="de-DE" sz="2000" dirty="0"/>
                        <a:t>Change </a:t>
                      </a:r>
                      <a:r>
                        <a:rPr lang="de-DE" sz="2000" dirty="0" err="1"/>
                        <a:t>history</a:t>
                      </a:r>
                      <a:r>
                        <a:rPr lang="de-DE" sz="2000" dirty="0"/>
                        <a:t> </a:t>
                      </a:r>
                      <a:r>
                        <a:rPr lang="de-DE" sz="2000" dirty="0" err="1"/>
                        <a:t>offer</a:t>
                      </a:r>
                      <a:r>
                        <a:rPr lang="de-DE" sz="2000" dirty="0"/>
                        <a:t>:</a:t>
                      </a:r>
                    </a:p>
                    <a:p>
                      <a:endParaRPr lang="de-DE" sz="2000" b="1" kern="1200" dirty="0">
                        <a:solidFill>
                          <a:schemeClr val="lt1"/>
                        </a:solidFill>
                        <a:latin typeface="+mn-lt"/>
                        <a:ea typeface="+mn-ea"/>
                        <a:cs typeface="+mn-cs"/>
                      </a:endParaRPr>
                    </a:p>
                  </a:txBody>
                  <a:tcPr>
                    <a:solidFill>
                      <a:srgbClr val="8ED2C3"/>
                    </a:solidFill>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extLst>
                  <a:ext uri="{0D108BD9-81ED-4DB2-BD59-A6C34878D82A}">
                    <a16:rowId xmlns:a16="http://schemas.microsoft.com/office/drawing/2014/main" val="2002067292"/>
                  </a:ext>
                </a:extLst>
              </a:tr>
              <a:tr h="545254">
                <a:tc>
                  <a:txBody>
                    <a:bodyPr/>
                    <a:lstStyle/>
                    <a:p>
                      <a:r>
                        <a:rPr lang="de-DE" sz="1600" dirty="0">
                          <a:solidFill>
                            <a:schemeClr val="bg2">
                              <a:lumMod val="50000"/>
                            </a:schemeClr>
                          </a:solidFill>
                        </a:rPr>
                        <a:t>Angebotsversion</a:t>
                      </a:r>
                    </a:p>
                  </a:txBody>
                  <a:tcPr/>
                </a:tc>
                <a:tc>
                  <a:txBody>
                    <a:bodyPr/>
                    <a:lstStyle/>
                    <a:p>
                      <a:r>
                        <a:rPr lang="de-DE" sz="1600" dirty="0">
                          <a:solidFill>
                            <a:schemeClr val="bg2">
                              <a:lumMod val="50000"/>
                            </a:schemeClr>
                          </a:solidFill>
                        </a:rPr>
                        <a:t>Datum</a:t>
                      </a:r>
                    </a:p>
                  </a:txBody>
                  <a:tcPr/>
                </a:tc>
                <a:tc>
                  <a:txBody>
                    <a:bodyPr/>
                    <a:lstStyle/>
                    <a:p>
                      <a:r>
                        <a:rPr lang="de-DE" sz="1600" dirty="0">
                          <a:solidFill>
                            <a:schemeClr val="bg2">
                              <a:lumMod val="50000"/>
                            </a:schemeClr>
                          </a:solidFill>
                        </a:rPr>
                        <a:t>Verantwortlicher</a:t>
                      </a:r>
                    </a:p>
                  </a:txBody>
                  <a:tcPr/>
                </a:tc>
                <a:tc>
                  <a:txBody>
                    <a:bodyPr/>
                    <a:lstStyle/>
                    <a:p>
                      <a:r>
                        <a:rPr lang="de-DE" sz="1600" dirty="0">
                          <a:solidFill>
                            <a:schemeClr val="bg2">
                              <a:lumMod val="50000"/>
                            </a:schemeClr>
                          </a:solidFill>
                        </a:rPr>
                        <a:t>Änderungen</a:t>
                      </a:r>
                    </a:p>
                  </a:txBody>
                  <a:tcPr/>
                </a:tc>
                <a:tc>
                  <a:txBody>
                    <a:bodyPr/>
                    <a:lstStyle/>
                    <a:p>
                      <a:r>
                        <a:rPr lang="de-DE" sz="1600" dirty="0">
                          <a:solidFill>
                            <a:schemeClr val="bg2">
                              <a:lumMod val="50000"/>
                            </a:schemeClr>
                          </a:solidFill>
                        </a:rPr>
                        <a:t>Bemerkungen</a:t>
                      </a:r>
                    </a:p>
                  </a:txBody>
                  <a:tcPr/>
                </a:tc>
                <a:extLst>
                  <a:ext uri="{0D108BD9-81ED-4DB2-BD59-A6C34878D82A}">
                    <a16:rowId xmlns:a16="http://schemas.microsoft.com/office/drawing/2014/main" val="1944943572"/>
                  </a:ext>
                </a:extLst>
              </a:tr>
              <a:tr h="370840">
                <a:tc>
                  <a:txBody>
                    <a:bodyPr/>
                    <a:lstStyle/>
                    <a:p>
                      <a:r>
                        <a:rPr lang="de-DE" sz="1400" dirty="0"/>
                        <a:t>A07616000</a:t>
                      </a:r>
                    </a:p>
                    <a:p>
                      <a:endParaRPr lang="de-DE" sz="1400" dirty="0"/>
                    </a:p>
                  </a:txBody>
                  <a:tcPr/>
                </a:tc>
                <a:tc>
                  <a:txBody>
                    <a:bodyPr/>
                    <a:lstStyle/>
                    <a:p>
                      <a:endParaRPr lang="de-DE" sz="1400" dirty="0"/>
                    </a:p>
                  </a:txBody>
                  <a:tcPr/>
                </a:tc>
                <a:tc>
                  <a:txBody>
                    <a:bodyPr/>
                    <a:lstStyle/>
                    <a:p>
                      <a:endParaRPr lang="de-DE" sz="1400" dirty="0"/>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1903390602"/>
                  </a:ext>
                </a:extLst>
              </a:tr>
              <a:tr h="370840">
                <a:tc>
                  <a:txBody>
                    <a:bodyPr/>
                    <a:lstStyle/>
                    <a:p>
                      <a:endParaRPr lang="de-DE" sz="1400" dirty="0"/>
                    </a:p>
                  </a:txBody>
                  <a:tcPr/>
                </a:tc>
                <a:tc>
                  <a:txBody>
                    <a:bodyPr/>
                    <a:lstStyle/>
                    <a:p>
                      <a:endParaRPr lang="de-DE" sz="1400"/>
                    </a:p>
                  </a:txBody>
                  <a:tcPr/>
                </a:tc>
                <a:tc>
                  <a:txBody>
                    <a:bodyPr/>
                    <a:lstStyle/>
                    <a:p>
                      <a:endParaRPr lang="de-DE" sz="1400" dirty="0"/>
                    </a:p>
                  </a:txBody>
                  <a:tcPr/>
                </a:tc>
                <a:tc>
                  <a:txBody>
                    <a:bodyPr/>
                    <a:lstStyle/>
                    <a:p>
                      <a:endParaRPr lang="de-DE" sz="1400" dirty="0"/>
                    </a:p>
                  </a:txBody>
                  <a:tcPr/>
                </a:tc>
                <a:tc>
                  <a:txBody>
                    <a:bodyPr/>
                    <a:lstStyle/>
                    <a:p>
                      <a:endParaRPr lang="de-DE" sz="1400" dirty="0">
                        <a:solidFill>
                          <a:srgbClr val="0070C0"/>
                        </a:solidFill>
                      </a:endParaRPr>
                    </a:p>
                  </a:txBody>
                  <a:tcPr/>
                </a:tc>
                <a:extLst>
                  <a:ext uri="{0D108BD9-81ED-4DB2-BD59-A6C34878D82A}">
                    <a16:rowId xmlns:a16="http://schemas.microsoft.com/office/drawing/2014/main" val="667611805"/>
                  </a:ext>
                </a:extLst>
              </a:tr>
              <a:tr h="370840">
                <a:tc>
                  <a:txBody>
                    <a:bodyPr/>
                    <a:lstStyle/>
                    <a:p>
                      <a:endParaRPr lang="de-DE" sz="1400" dirty="0"/>
                    </a:p>
                  </a:txBody>
                  <a:tcPr/>
                </a:tc>
                <a:tc>
                  <a:txBody>
                    <a:bodyPr/>
                    <a:lstStyle/>
                    <a:p>
                      <a:endParaRPr lang="de-DE" sz="1400"/>
                    </a:p>
                  </a:txBody>
                  <a:tcPr/>
                </a:tc>
                <a:tc>
                  <a:txBody>
                    <a:bodyPr/>
                    <a:lstStyle/>
                    <a:p>
                      <a:endParaRPr lang="de-DE" sz="1400" dirty="0"/>
                    </a:p>
                  </a:txBody>
                  <a:tcPr/>
                </a:tc>
                <a:tc>
                  <a:txBody>
                    <a:bodyPr/>
                    <a:lstStyle/>
                    <a:p>
                      <a:endParaRPr lang="de-DE" sz="1400" dirty="0"/>
                    </a:p>
                  </a:txBody>
                  <a:tcPr/>
                </a:tc>
                <a:tc>
                  <a:txBody>
                    <a:bodyPr/>
                    <a:lstStyle/>
                    <a:p>
                      <a:endParaRPr lang="de-DE" sz="1400" dirty="0">
                        <a:solidFill>
                          <a:srgbClr val="7030A0"/>
                        </a:solidFill>
                      </a:endParaRPr>
                    </a:p>
                  </a:txBody>
                  <a:tcPr/>
                </a:tc>
                <a:extLst>
                  <a:ext uri="{0D108BD9-81ED-4DB2-BD59-A6C34878D82A}">
                    <a16:rowId xmlns:a16="http://schemas.microsoft.com/office/drawing/2014/main" val="100035901"/>
                  </a:ext>
                </a:extLst>
              </a:tr>
            </a:tbl>
          </a:graphicData>
        </a:graphic>
      </p:graphicFrame>
    </p:spTree>
    <p:extLst>
      <p:ext uri="{BB962C8B-B14F-4D97-AF65-F5344CB8AC3E}">
        <p14:creationId xmlns:p14="http://schemas.microsoft.com/office/powerpoint/2010/main" val="316756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68CBAC-E2D3-4553-7EFE-46E9E90F1DD5}"/>
              </a:ext>
            </a:extLst>
          </p:cNvPr>
          <p:cNvSpPr>
            <a:spLocks noGrp="1"/>
          </p:cNvSpPr>
          <p:nvPr>
            <p:ph type="title"/>
          </p:nvPr>
        </p:nvSpPr>
        <p:spPr/>
        <p:txBody>
          <a:bodyPr/>
          <a:lstStyle/>
          <a:p>
            <a:r>
              <a:rPr lang="de-DE" sz="1600" b="1" dirty="0"/>
              <a:t>Task </a:t>
            </a:r>
            <a:r>
              <a:rPr lang="de-DE" sz="1600" b="1" dirty="0" err="1"/>
              <a:t>description</a:t>
            </a:r>
            <a:endParaRPr lang="de-DE" sz="1600" b="1" dirty="0"/>
          </a:p>
        </p:txBody>
      </p:sp>
      <p:pic>
        <p:nvPicPr>
          <p:cNvPr id="4" name="Grafik 3">
            <a:extLst>
              <a:ext uri="{FF2B5EF4-FFF2-40B4-BE49-F238E27FC236}">
                <a16:creationId xmlns:a16="http://schemas.microsoft.com/office/drawing/2014/main" id="{ADB7975F-6210-C333-7239-147641C31D29}"/>
              </a:ext>
            </a:extLst>
          </p:cNvPr>
          <p:cNvPicPr>
            <a:picLocks noChangeAspect="1"/>
          </p:cNvPicPr>
          <p:nvPr/>
        </p:nvPicPr>
        <p:blipFill>
          <a:blip r:embed="rId2"/>
          <a:stretch>
            <a:fillRect/>
          </a:stretch>
        </p:blipFill>
        <p:spPr>
          <a:xfrm>
            <a:off x="6096001" y="3975576"/>
            <a:ext cx="4146100" cy="2012474"/>
          </a:xfrm>
          <a:prstGeom prst="rect">
            <a:avLst/>
          </a:prstGeom>
        </p:spPr>
      </p:pic>
      <p:pic>
        <p:nvPicPr>
          <p:cNvPr id="6" name="Grafik 5">
            <a:extLst>
              <a:ext uri="{FF2B5EF4-FFF2-40B4-BE49-F238E27FC236}">
                <a16:creationId xmlns:a16="http://schemas.microsoft.com/office/drawing/2014/main" id="{D1C196DB-AFA2-C053-AEE9-8D37975DF868}"/>
              </a:ext>
            </a:extLst>
          </p:cNvPr>
          <p:cNvPicPr>
            <a:picLocks noChangeAspect="1"/>
          </p:cNvPicPr>
          <p:nvPr/>
        </p:nvPicPr>
        <p:blipFill>
          <a:blip r:embed="rId3"/>
          <a:stretch>
            <a:fillRect/>
          </a:stretch>
        </p:blipFill>
        <p:spPr>
          <a:xfrm>
            <a:off x="533400" y="1055774"/>
            <a:ext cx="4782843" cy="2152852"/>
          </a:xfrm>
          <a:prstGeom prst="rect">
            <a:avLst/>
          </a:prstGeom>
        </p:spPr>
      </p:pic>
      <p:pic>
        <p:nvPicPr>
          <p:cNvPr id="5" name="Grafik 4">
            <a:extLst>
              <a:ext uri="{FF2B5EF4-FFF2-40B4-BE49-F238E27FC236}">
                <a16:creationId xmlns:a16="http://schemas.microsoft.com/office/drawing/2014/main" id="{6102427E-A1B8-12C0-094B-9F56A3E819A6}"/>
              </a:ext>
            </a:extLst>
          </p:cNvPr>
          <p:cNvPicPr>
            <a:picLocks noChangeAspect="1"/>
          </p:cNvPicPr>
          <p:nvPr/>
        </p:nvPicPr>
        <p:blipFill>
          <a:blip r:embed="rId4"/>
          <a:stretch>
            <a:fillRect/>
          </a:stretch>
        </p:blipFill>
        <p:spPr>
          <a:xfrm>
            <a:off x="6103771" y="973225"/>
            <a:ext cx="4107085" cy="2862322"/>
          </a:xfrm>
          <a:prstGeom prst="rect">
            <a:avLst/>
          </a:prstGeom>
        </p:spPr>
      </p:pic>
    </p:spTree>
    <p:extLst>
      <p:ext uri="{BB962C8B-B14F-4D97-AF65-F5344CB8AC3E}">
        <p14:creationId xmlns:p14="http://schemas.microsoft.com/office/powerpoint/2010/main" val="114891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DD63B7D-DFAB-6F14-F817-89C9BFBA1D36}"/>
              </a:ext>
            </a:extLst>
          </p:cNvPr>
          <p:cNvPicPr>
            <a:picLocks noChangeAspect="1"/>
          </p:cNvPicPr>
          <p:nvPr/>
        </p:nvPicPr>
        <p:blipFill>
          <a:blip r:embed="rId2"/>
          <a:stretch>
            <a:fillRect/>
          </a:stretch>
        </p:blipFill>
        <p:spPr>
          <a:xfrm>
            <a:off x="1425744" y="895570"/>
            <a:ext cx="3892216" cy="1596177"/>
          </a:xfrm>
          <a:prstGeom prst="rect">
            <a:avLst/>
          </a:prstGeom>
        </p:spPr>
      </p:pic>
      <p:pic>
        <p:nvPicPr>
          <p:cNvPr id="7" name="Grafik 6">
            <a:extLst>
              <a:ext uri="{FF2B5EF4-FFF2-40B4-BE49-F238E27FC236}">
                <a16:creationId xmlns:a16="http://schemas.microsoft.com/office/drawing/2014/main" id="{7EBF4D46-57B8-1CC1-E89F-65921EA69E0E}"/>
              </a:ext>
            </a:extLst>
          </p:cNvPr>
          <p:cNvPicPr>
            <a:picLocks noChangeAspect="1"/>
          </p:cNvPicPr>
          <p:nvPr/>
        </p:nvPicPr>
        <p:blipFill>
          <a:blip r:embed="rId3"/>
          <a:srcRect b="55413"/>
          <a:stretch/>
        </p:blipFill>
        <p:spPr>
          <a:xfrm>
            <a:off x="1473993" y="2473701"/>
            <a:ext cx="3837950" cy="2543467"/>
          </a:xfrm>
          <a:prstGeom prst="rect">
            <a:avLst/>
          </a:prstGeom>
        </p:spPr>
      </p:pic>
      <p:pic>
        <p:nvPicPr>
          <p:cNvPr id="9" name="Grafik 8">
            <a:extLst>
              <a:ext uri="{FF2B5EF4-FFF2-40B4-BE49-F238E27FC236}">
                <a16:creationId xmlns:a16="http://schemas.microsoft.com/office/drawing/2014/main" id="{7ED41CFF-4D89-E207-4E9F-40A7C7857784}"/>
              </a:ext>
            </a:extLst>
          </p:cNvPr>
          <p:cNvPicPr>
            <a:picLocks noChangeAspect="1"/>
          </p:cNvPicPr>
          <p:nvPr/>
        </p:nvPicPr>
        <p:blipFill>
          <a:blip r:embed="rId3"/>
          <a:srcRect t="44354" b="-9726"/>
          <a:stretch/>
        </p:blipFill>
        <p:spPr>
          <a:xfrm>
            <a:off x="5721746" y="1088857"/>
            <a:ext cx="3591033" cy="3489158"/>
          </a:xfrm>
          <a:prstGeom prst="rect">
            <a:avLst/>
          </a:prstGeom>
        </p:spPr>
      </p:pic>
      <p:pic>
        <p:nvPicPr>
          <p:cNvPr id="13" name="Grafik 12">
            <a:extLst>
              <a:ext uri="{FF2B5EF4-FFF2-40B4-BE49-F238E27FC236}">
                <a16:creationId xmlns:a16="http://schemas.microsoft.com/office/drawing/2014/main" id="{29B3EADC-9885-B49D-B935-FEE623F617B7}"/>
              </a:ext>
            </a:extLst>
          </p:cNvPr>
          <p:cNvPicPr>
            <a:picLocks noChangeAspect="1"/>
          </p:cNvPicPr>
          <p:nvPr/>
        </p:nvPicPr>
        <p:blipFill>
          <a:blip r:embed="rId4"/>
          <a:stretch>
            <a:fillRect/>
          </a:stretch>
        </p:blipFill>
        <p:spPr>
          <a:xfrm>
            <a:off x="5721746" y="4079603"/>
            <a:ext cx="3609082" cy="2426529"/>
          </a:xfrm>
          <a:prstGeom prst="rect">
            <a:avLst/>
          </a:prstGeom>
        </p:spPr>
      </p:pic>
      <p:sp>
        <p:nvSpPr>
          <p:cNvPr id="5" name="Titel 1">
            <a:extLst>
              <a:ext uri="{FF2B5EF4-FFF2-40B4-BE49-F238E27FC236}">
                <a16:creationId xmlns:a16="http://schemas.microsoft.com/office/drawing/2014/main" id="{CC0E9866-799D-BCEA-7AAC-07ABCC771E17}"/>
              </a:ext>
            </a:extLst>
          </p:cNvPr>
          <p:cNvSpPr txBox="1">
            <a:spLocks/>
          </p:cNvSpPr>
          <p:nvPr/>
        </p:nvSpPr>
        <p:spPr>
          <a:xfrm>
            <a:off x="3652924" y="313938"/>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600" b="1"/>
              <a:t>Task description</a:t>
            </a:r>
          </a:p>
        </p:txBody>
      </p:sp>
    </p:spTree>
    <p:extLst>
      <p:ext uri="{BB962C8B-B14F-4D97-AF65-F5344CB8AC3E}">
        <p14:creationId xmlns:p14="http://schemas.microsoft.com/office/powerpoint/2010/main" val="2001995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CFC03A4-CB0C-4849-3823-5E752128DA54}"/>
              </a:ext>
            </a:extLst>
          </p:cNvPr>
          <p:cNvPicPr>
            <a:picLocks noChangeAspect="1"/>
          </p:cNvPicPr>
          <p:nvPr/>
        </p:nvPicPr>
        <p:blipFill>
          <a:blip r:embed="rId2"/>
          <a:stretch>
            <a:fillRect/>
          </a:stretch>
        </p:blipFill>
        <p:spPr>
          <a:xfrm>
            <a:off x="735681" y="1042082"/>
            <a:ext cx="4461961" cy="5064929"/>
          </a:xfrm>
          <a:prstGeom prst="rect">
            <a:avLst/>
          </a:prstGeom>
        </p:spPr>
      </p:pic>
      <p:sp>
        <p:nvSpPr>
          <p:cNvPr id="5" name="Textfeld 4">
            <a:extLst>
              <a:ext uri="{FF2B5EF4-FFF2-40B4-BE49-F238E27FC236}">
                <a16:creationId xmlns:a16="http://schemas.microsoft.com/office/drawing/2014/main" id="{1B41A1EE-A886-DB5A-4A79-DFF52784531A}"/>
              </a:ext>
            </a:extLst>
          </p:cNvPr>
          <p:cNvSpPr txBox="1"/>
          <p:nvPr/>
        </p:nvSpPr>
        <p:spPr>
          <a:xfrm>
            <a:off x="5828919" y="1533646"/>
            <a:ext cx="5855724" cy="2862322"/>
          </a:xfrm>
          <a:prstGeom prst="rect">
            <a:avLst/>
          </a:prstGeom>
          <a:noFill/>
        </p:spPr>
        <p:txBody>
          <a:bodyPr wrap="square" rtlCol="0">
            <a:spAutoFit/>
          </a:bodyPr>
          <a:lstStyle/>
          <a:p>
            <a:r>
              <a:rPr lang="de-DE" dirty="0"/>
              <a:t>Different </a:t>
            </a:r>
            <a:r>
              <a:rPr lang="de-DE" dirty="0" err="1"/>
              <a:t>Orientations</a:t>
            </a:r>
            <a:r>
              <a:rPr lang="de-DE" dirty="0"/>
              <a:t> Crimp 1 and Crimp 2</a:t>
            </a:r>
          </a:p>
          <a:p>
            <a:endParaRPr lang="de-DE" dirty="0"/>
          </a:p>
          <a:p>
            <a:r>
              <a:rPr lang="de-DE" dirty="0"/>
              <a:t>Different </a:t>
            </a:r>
            <a:r>
              <a:rPr lang="de-DE" dirty="0" err="1"/>
              <a:t>Types</a:t>
            </a:r>
            <a:r>
              <a:rPr lang="de-DE" dirty="0"/>
              <a:t> Crimp 1 and Crimp 2</a:t>
            </a:r>
          </a:p>
          <a:p>
            <a:endParaRPr lang="de-DE" dirty="0"/>
          </a:p>
          <a:p>
            <a:pPr marL="285750" indent="-285750">
              <a:buFont typeface="Wingdings" panose="05000000000000000000" pitchFamily="2" charset="2"/>
              <a:buChar char="è"/>
            </a:pPr>
            <a:r>
              <a:rPr lang="de-DE" dirty="0"/>
              <a:t>Different </a:t>
            </a:r>
            <a:r>
              <a:rPr lang="de-DE" dirty="0" err="1"/>
              <a:t>Crimping</a:t>
            </a:r>
            <a:r>
              <a:rPr lang="de-DE" dirty="0"/>
              <a:t> Tools </a:t>
            </a:r>
          </a:p>
          <a:p>
            <a:pPr marL="285750" indent="-285750">
              <a:buFont typeface="Wingdings" panose="05000000000000000000" pitchFamily="2" charset="2"/>
              <a:buChar char="è"/>
            </a:pPr>
            <a:r>
              <a:rPr lang="de-DE" dirty="0" err="1"/>
              <a:t>Two</a:t>
            </a:r>
            <a:r>
              <a:rPr lang="de-DE" dirty="0"/>
              <a:t> </a:t>
            </a:r>
            <a:r>
              <a:rPr lang="de-DE" dirty="0" err="1"/>
              <a:t>crimping</a:t>
            </a:r>
            <a:r>
              <a:rPr lang="de-DE" dirty="0"/>
              <a:t> </a:t>
            </a:r>
            <a:r>
              <a:rPr lang="de-DE" dirty="0" err="1"/>
              <a:t>stations</a:t>
            </a:r>
            <a:endParaRPr lang="de-DE" dirty="0"/>
          </a:p>
          <a:p>
            <a:endParaRPr lang="de-DE" dirty="0"/>
          </a:p>
          <a:p>
            <a:r>
              <a:rPr lang="de-DE" dirty="0"/>
              <a:t>16mm² </a:t>
            </a:r>
            <a:r>
              <a:rPr lang="de-DE" dirty="0">
                <a:sym typeface="Wingdings" panose="05000000000000000000" pitchFamily="2" charset="2"/>
              </a:rPr>
              <a:t> 6 Seconds </a:t>
            </a:r>
            <a:r>
              <a:rPr lang="de-DE" dirty="0" err="1">
                <a:sym typeface="Wingdings" panose="05000000000000000000" pitchFamily="2" charset="2"/>
              </a:rPr>
              <a:t>target</a:t>
            </a:r>
            <a:endParaRPr lang="de-DE" dirty="0">
              <a:sym typeface="Wingdings" panose="05000000000000000000" pitchFamily="2" charset="2"/>
            </a:endParaRPr>
          </a:p>
          <a:p>
            <a:r>
              <a:rPr lang="de-DE" dirty="0" err="1">
                <a:sym typeface="Wingdings" panose="05000000000000000000" pitchFamily="2" charset="2"/>
              </a:rPr>
              <a:t>Longer</a:t>
            </a:r>
            <a:r>
              <a:rPr lang="de-DE" dirty="0">
                <a:sym typeface="Wingdings" panose="05000000000000000000" pitchFamily="2" charset="2"/>
              </a:rPr>
              <a:t> Time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bigger</a:t>
            </a:r>
            <a:r>
              <a:rPr lang="de-DE" dirty="0">
                <a:sym typeface="Wingdings" panose="05000000000000000000" pitchFamily="2" charset="2"/>
              </a:rPr>
              <a:t> </a:t>
            </a:r>
            <a:r>
              <a:rPr lang="de-DE" dirty="0" err="1">
                <a:sym typeface="Wingdings" panose="05000000000000000000" pitchFamily="2" charset="2"/>
              </a:rPr>
              <a:t>cross</a:t>
            </a:r>
            <a:r>
              <a:rPr lang="de-DE" dirty="0">
                <a:sym typeface="Wingdings" panose="05000000000000000000" pitchFamily="2" charset="2"/>
              </a:rPr>
              <a:t> </a:t>
            </a:r>
            <a:r>
              <a:rPr lang="de-DE" dirty="0" err="1">
                <a:sym typeface="Wingdings" panose="05000000000000000000" pitchFamily="2" charset="2"/>
              </a:rPr>
              <a:t>sections</a:t>
            </a:r>
            <a:endParaRPr lang="de-DE" dirty="0">
              <a:sym typeface="Wingdings" panose="05000000000000000000" pitchFamily="2" charset="2"/>
            </a:endParaRPr>
          </a:p>
          <a:p>
            <a:endParaRPr lang="de-DE" dirty="0"/>
          </a:p>
        </p:txBody>
      </p:sp>
      <p:sp>
        <p:nvSpPr>
          <p:cNvPr id="6" name="Titel 1">
            <a:extLst>
              <a:ext uri="{FF2B5EF4-FFF2-40B4-BE49-F238E27FC236}">
                <a16:creationId xmlns:a16="http://schemas.microsoft.com/office/drawing/2014/main" id="{E828B8A7-468C-F0BD-C9A8-9E556B391C80}"/>
              </a:ext>
            </a:extLst>
          </p:cNvPr>
          <p:cNvSpPr txBox="1">
            <a:spLocks/>
          </p:cNvSpPr>
          <p:nvPr/>
        </p:nvSpPr>
        <p:spPr>
          <a:xfrm>
            <a:off x="3652924" y="313938"/>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600" b="1"/>
              <a:t>Task description</a:t>
            </a:r>
          </a:p>
        </p:txBody>
      </p:sp>
    </p:spTree>
    <p:extLst>
      <p:ext uri="{BB962C8B-B14F-4D97-AF65-F5344CB8AC3E}">
        <p14:creationId xmlns:p14="http://schemas.microsoft.com/office/powerpoint/2010/main" val="38384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8" name="Gruppieren 467">
            <a:extLst>
              <a:ext uri="{FF2B5EF4-FFF2-40B4-BE49-F238E27FC236}">
                <a16:creationId xmlns:a16="http://schemas.microsoft.com/office/drawing/2014/main" id="{2863BDF9-1BCB-D424-8024-056F1CE78B76}"/>
              </a:ext>
            </a:extLst>
          </p:cNvPr>
          <p:cNvGrpSpPr/>
          <p:nvPr/>
        </p:nvGrpSpPr>
        <p:grpSpPr>
          <a:xfrm rot="10800000">
            <a:off x="9080902" y="2604943"/>
            <a:ext cx="69580" cy="193454"/>
            <a:chOff x="2849757" y="2999802"/>
            <a:chExt cx="69580" cy="193454"/>
          </a:xfrm>
        </p:grpSpPr>
        <p:sp>
          <p:nvSpPr>
            <p:cNvPr id="469" name="Rechteck 468">
              <a:extLst>
                <a:ext uri="{FF2B5EF4-FFF2-40B4-BE49-F238E27FC236}">
                  <a16:creationId xmlns:a16="http://schemas.microsoft.com/office/drawing/2014/main" id="{B9A4EC6E-3829-DE2B-C528-70B7BDCC65D7}"/>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70" name="Gerade Verbindung mit Pfeil 469">
              <a:extLst>
                <a:ext uri="{FF2B5EF4-FFF2-40B4-BE49-F238E27FC236}">
                  <a16:creationId xmlns:a16="http://schemas.microsoft.com/office/drawing/2014/main" id="{670251FD-BFB3-4A53-C484-90C6222704A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65" name="Gruppieren 464">
            <a:extLst>
              <a:ext uri="{FF2B5EF4-FFF2-40B4-BE49-F238E27FC236}">
                <a16:creationId xmlns:a16="http://schemas.microsoft.com/office/drawing/2014/main" id="{20462660-EDCD-B1FA-F3AA-0A156AABC5AD}"/>
              </a:ext>
            </a:extLst>
          </p:cNvPr>
          <p:cNvGrpSpPr/>
          <p:nvPr/>
        </p:nvGrpSpPr>
        <p:grpSpPr>
          <a:xfrm>
            <a:off x="5166052" y="2994832"/>
            <a:ext cx="69580" cy="193454"/>
            <a:chOff x="2849757" y="2999802"/>
            <a:chExt cx="69580" cy="193454"/>
          </a:xfrm>
        </p:grpSpPr>
        <p:sp>
          <p:nvSpPr>
            <p:cNvPr id="466" name="Rechteck 465">
              <a:extLst>
                <a:ext uri="{FF2B5EF4-FFF2-40B4-BE49-F238E27FC236}">
                  <a16:creationId xmlns:a16="http://schemas.microsoft.com/office/drawing/2014/main" id="{2694F765-F9C7-8CD6-B44F-748D5A399709}"/>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67" name="Gerade Verbindung mit Pfeil 466">
              <a:extLst>
                <a:ext uri="{FF2B5EF4-FFF2-40B4-BE49-F238E27FC236}">
                  <a16:creationId xmlns:a16="http://schemas.microsoft.com/office/drawing/2014/main" id="{FE7AB931-04C3-7F44-D61C-50A9A7D0F35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120" name="Rechteck 119">
            <a:extLst>
              <a:ext uri="{FF2B5EF4-FFF2-40B4-BE49-F238E27FC236}">
                <a16:creationId xmlns:a16="http://schemas.microsoft.com/office/drawing/2014/main" id="{B38364BA-B878-38A4-5D7D-1C74AD4F112C}"/>
              </a:ext>
            </a:extLst>
          </p:cNvPr>
          <p:cNvSpPr/>
          <p:nvPr/>
        </p:nvSpPr>
        <p:spPr>
          <a:xfrm rot="5400000">
            <a:off x="1668881" y="1748217"/>
            <a:ext cx="1473157" cy="54847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FC582ADC-74FE-8FF4-AFEF-24070EE0BA09}"/>
              </a:ext>
            </a:extLst>
          </p:cNvPr>
          <p:cNvSpPr/>
          <p:nvPr/>
        </p:nvSpPr>
        <p:spPr>
          <a:xfrm rot="5400000">
            <a:off x="2253638" y="1864149"/>
            <a:ext cx="652434" cy="53919"/>
          </a:xfrm>
          <a:prstGeom prst="rect">
            <a:avLst/>
          </a:prstGeom>
          <a:solidFill>
            <a:schemeClr val="bg1">
              <a:lumMod val="75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28" name="Ellipse 27">
            <a:extLst>
              <a:ext uri="{FF2B5EF4-FFF2-40B4-BE49-F238E27FC236}">
                <a16:creationId xmlns:a16="http://schemas.microsoft.com/office/drawing/2014/main" id="{A34397E9-F967-AF93-29E8-5D412063ABEB}"/>
              </a:ext>
            </a:extLst>
          </p:cNvPr>
          <p:cNvSpPr>
            <a:spLocks noChangeAspect="1"/>
          </p:cNvSpPr>
          <p:nvPr/>
        </p:nvSpPr>
        <p:spPr>
          <a:xfrm rot="5400000">
            <a:off x="2144281" y="1312535"/>
            <a:ext cx="504000" cy="504000"/>
          </a:xfrm>
          <a:prstGeom prst="ellipse">
            <a:avLst/>
          </a:prstGeom>
          <a:solidFill>
            <a:schemeClr val="bg1">
              <a:lumMod val="50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27" name="Rechteck 26">
            <a:extLst>
              <a:ext uri="{FF2B5EF4-FFF2-40B4-BE49-F238E27FC236}">
                <a16:creationId xmlns:a16="http://schemas.microsoft.com/office/drawing/2014/main" id="{567F4279-E7E2-C30D-C3AB-71C9E065BE11}"/>
              </a:ext>
            </a:extLst>
          </p:cNvPr>
          <p:cNvSpPr/>
          <p:nvPr/>
        </p:nvSpPr>
        <p:spPr>
          <a:xfrm rot="10800000">
            <a:off x="10031384" y="2604944"/>
            <a:ext cx="1999450" cy="115766"/>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58998BC4-3921-71D4-CB4C-DB6A5A41E338}"/>
              </a:ext>
            </a:extLst>
          </p:cNvPr>
          <p:cNvSpPr/>
          <p:nvPr/>
        </p:nvSpPr>
        <p:spPr>
          <a:xfrm rot="10800000">
            <a:off x="10032129" y="1779208"/>
            <a:ext cx="1999450" cy="115766"/>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5" name="Ellipse 454">
            <a:extLst>
              <a:ext uri="{FF2B5EF4-FFF2-40B4-BE49-F238E27FC236}">
                <a16:creationId xmlns:a16="http://schemas.microsoft.com/office/drawing/2014/main" id="{B108B3B8-6FBF-5557-76A0-4367769AC4A7}"/>
              </a:ext>
            </a:extLst>
          </p:cNvPr>
          <p:cNvSpPr/>
          <p:nvPr/>
        </p:nvSpPr>
        <p:spPr>
          <a:xfrm>
            <a:off x="10114415" y="299807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3" name="Ellipse 452">
            <a:extLst>
              <a:ext uri="{FF2B5EF4-FFF2-40B4-BE49-F238E27FC236}">
                <a16:creationId xmlns:a16="http://schemas.microsoft.com/office/drawing/2014/main" id="{6B988D60-903B-86C3-C72C-33B5A4AD2405}"/>
              </a:ext>
            </a:extLst>
          </p:cNvPr>
          <p:cNvSpPr/>
          <p:nvPr/>
        </p:nvSpPr>
        <p:spPr>
          <a:xfrm>
            <a:off x="8745048"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2" name="Ellipse 451">
            <a:extLst>
              <a:ext uri="{FF2B5EF4-FFF2-40B4-BE49-F238E27FC236}">
                <a16:creationId xmlns:a16="http://schemas.microsoft.com/office/drawing/2014/main" id="{0F9E84E8-0A56-B5A9-3ACC-D8C0D686C561}"/>
              </a:ext>
            </a:extLst>
          </p:cNvPr>
          <p:cNvSpPr/>
          <p:nvPr/>
        </p:nvSpPr>
        <p:spPr>
          <a:xfrm>
            <a:off x="8414276"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8089369"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43" name="Gruppieren 442">
            <a:extLst>
              <a:ext uri="{FF2B5EF4-FFF2-40B4-BE49-F238E27FC236}">
                <a16:creationId xmlns:a16="http://schemas.microsoft.com/office/drawing/2014/main" id="{8DCFAD51-652D-34FA-96C0-4F151F44461C}"/>
              </a:ext>
            </a:extLst>
          </p:cNvPr>
          <p:cNvGrpSpPr/>
          <p:nvPr/>
        </p:nvGrpSpPr>
        <p:grpSpPr>
          <a:xfrm rot="10800000">
            <a:off x="6790230" y="2609785"/>
            <a:ext cx="69580" cy="193454"/>
            <a:chOff x="2849757" y="2999802"/>
            <a:chExt cx="69580" cy="193454"/>
          </a:xfrm>
        </p:grpSpPr>
        <p:sp>
          <p:nvSpPr>
            <p:cNvPr id="444" name="Rechteck 443">
              <a:extLst>
                <a:ext uri="{FF2B5EF4-FFF2-40B4-BE49-F238E27FC236}">
                  <a16:creationId xmlns:a16="http://schemas.microsoft.com/office/drawing/2014/main" id="{FF747A45-0BFA-0A16-D62E-F70D98595F1B}"/>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5" name="Gerade Verbindung mit Pfeil 444">
              <a:extLst>
                <a:ext uri="{FF2B5EF4-FFF2-40B4-BE49-F238E27FC236}">
                  <a16:creationId xmlns:a16="http://schemas.microsoft.com/office/drawing/2014/main" id="{27E54FC0-AE8A-2F82-C204-38A04B0FBB8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0" name="Ellipse 439">
            <a:extLst>
              <a:ext uri="{FF2B5EF4-FFF2-40B4-BE49-F238E27FC236}">
                <a16:creationId xmlns:a16="http://schemas.microsoft.com/office/drawing/2014/main" id="{3BACC9ED-0B69-334F-3623-A3806709912A}"/>
              </a:ext>
            </a:extLst>
          </p:cNvPr>
          <p:cNvSpPr/>
          <p:nvPr/>
        </p:nvSpPr>
        <p:spPr>
          <a:xfrm>
            <a:off x="5480259" y="2991503"/>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38" name="Ellipse 437">
            <a:extLst>
              <a:ext uri="{FF2B5EF4-FFF2-40B4-BE49-F238E27FC236}">
                <a16:creationId xmlns:a16="http://schemas.microsoft.com/office/drawing/2014/main" id="{1A72A9C7-4B58-F3B1-815A-2C9879596295}"/>
              </a:ext>
            </a:extLst>
          </p:cNvPr>
          <p:cNvSpPr/>
          <p:nvPr/>
        </p:nvSpPr>
        <p:spPr>
          <a:xfrm>
            <a:off x="4828614" y="2996170"/>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39" name="Ellipse 438">
            <a:extLst>
              <a:ext uri="{FF2B5EF4-FFF2-40B4-BE49-F238E27FC236}">
                <a16:creationId xmlns:a16="http://schemas.microsoft.com/office/drawing/2014/main" id="{031347A9-470E-5A2F-0CC7-190CD1065F91}"/>
              </a:ext>
            </a:extLst>
          </p:cNvPr>
          <p:cNvSpPr/>
          <p:nvPr/>
        </p:nvSpPr>
        <p:spPr>
          <a:xfrm>
            <a:off x="4493780"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35" name="Gruppieren 434">
            <a:extLst>
              <a:ext uri="{FF2B5EF4-FFF2-40B4-BE49-F238E27FC236}">
                <a16:creationId xmlns:a16="http://schemas.microsoft.com/office/drawing/2014/main" id="{9F52DBC8-0273-2A18-8576-B8A996B7A106}"/>
              </a:ext>
            </a:extLst>
          </p:cNvPr>
          <p:cNvGrpSpPr/>
          <p:nvPr/>
        </p:nvGrpSpPr>
        <p:grpSpPr>
          <a:xfrm>
            <a:off x="4177614" y="2993789"/>
            <a:ext cx="69580" cy="193454"/>
            <a:chOff x="2849757" y="2999802"/>
            <a:chExt cx="69580" cy="193454"/>
          </a:xfrm>
        </p:grpSpPr>
        <p:sp>
          <p:nvSpPr>
            <p:cNvPr id="436" name="Rechteck 435">
              <a:extLst>
                <a:ext uri="{FF2B5EF4-FFF2-40B4-BE49-F238E27FC236}">
                  <a16:creationId xmlns:a16="http://schemas.microsoft.com/office/drawing/2014/main" id="{9BA7E1A2-4B34-531E-F75D-E2413EAB2F5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7" name="Gerade Verbindung mit Pfeil 436">
              <a:extLst>
                <a:ext uri="{FF2B5EF4-FFF2-40B4-BE49-F238E27FC236}">
                  <a16:creationId xmlns:a16="http://schemas.microsoft.com/office/drawing/2014/main" id="{43DCC557-25D4-CBE2-CF45-0396F6CBE2B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34" name="Ellipse 433">
            <a:extLst>
              <a:ext uri="{FF2B5EF4-FFF2-40B4-BE49-F238E27FC236}">
                <a16:creationId xmlns:a16="http://schemas.microsoft.com/office/drawing/2014/main" id="{DD74DF63-9DFC-378C-AB35-9BC15F46C3E9}"/>
              </a:ext>
            </a:extLst>
          </p:cNvPr>
          <p:cNvSpPr/>
          <p:nvPr/>
        </p:nvSpPr>
        <p:spPr>
          <a:xfrm>
            <a:off x="2521150"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23" name="Ellipse 422">
            <a:extLst>
              <a:ext uri="{FF2B5EF4-FFF2-40B4-BE49-F238E27FC236}">
                <a16:creationId xmlns:a16="http://schemas.microsoft.com/office/drawing/2014/main" id="{5BF27D1F-6628-8AAA-CEAB-3EA3D6986126}"/>
              </a:ext>
            </a:extLst>
          </p:cNvPr>
          <p:cNvSpPr/>
          <p:nvPr/>
        </p:nvSpPr>
        <p:spPr>
          <a:xfrm>
            <a:off x="22053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D88FA469-4905-4CE8-826B-317175BFEEBA}"/>
              </a:ext>
            </a:extLst>
          </p:cNvPr>
          <p:cNvSpPr/>
          <p:nvPr/>
        </p:nvSpPr>
        <p:spPr>
          <a:xfrm>
            <a:off x="395983" y="4768562"/>
            <a:ext cx="1440000" cy="1980000"/>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3" name="Rechteck 232">
            <a:extLst>
              <a:ext uri="{FF2B5EF4-FFF2-40B4-BE49-F238E27FC236}">
                <a16:creationId xmlns:a16="http://schemas.microsoft.com/office/drawing/2014/main" id="{A4DFE79B-90C9-FD6C-1192-F38EEE6D64D0}"/>
              </a:ext>
            </a:extLst>
          </p:cNvPr>
          <p:cNvSpPr/>
          <p:nvPr/>
        </p:nvSpPr>
        <p:spPr>
          <a:xfrm rot="5400000">
            <a:off x="9778375" y="3261136"/>
            <a:ext cx="983685" cy="680855"/>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2" name="Rechteck 231">
            <a:extLst>
              <a:ext uri="{FF2B5EF4-FFF2-40B4-BE49-F238E27FC236}">
                <a16:creationId xmlns:a16="http://schemas.microsoft.com/office/drawing/2014/main" id="{1773F86C-0E1B-BEE9-6FF2-9322F527A39F}"/>
              </a:ext>
            </a:extLst>
          </p:cNvPr>
          <p:cNvSpPr/>
          <p:nvPr/>
        </p:nvSpPr>
        <p:spPr>
          <a:xfrm rot="5400000">
            <a:off x="10807878" y="2706643"/>
            <a:ext cx="446463" cy="58287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rot="5400000">
            <a:off x="9876153" y="2037785"/>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895545"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5" name="Rechteck 224">
            <a:extLst>
              <a:ext uri="{FF2B5EF4-FFF2-40B4-BE49-F238E27FC236}">
                <a16:creationId xmlns:a16="http://schemas.microsoft.com/office/drawing/2014/main" id="{2E6A7E92-1EB9-034A-3553-136A57F31961}"/>
              </a:ext>
            </a:extLst>
          </p:cNvPr>
          <p:cNvSpPr/>
          <p:nvPr/>
        </p:nvSpPr>
        <p:spPr>
          <a:xfrm rot="5400000">
            <a:off x="5013304" y="2376225"/>
            <a:ext cx="427241" cy="366873"/>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6290080"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9" name="Rechteck 168">
            <a:extLst>
              <a:ext uri="{FF2B5EF4-FFF2-40B4-BE49-F238E27FC236}">
                <a16:creationId xmlns:a16="http://schemas.microsoft.com/office/drawing/2014/main" id="{8D90B7E3-30E8-3FBE-58D6-EC2FC58DB353}"/>
              </a:ext>
            </a:extLst>
          </p:cNvPr>
          <p:cNvSpPr/>
          <p:nvPr/>
        </p:nvSpPr>
        <p:spPr>
          <a:xfrm rot="5400000">
            <a:off x="5467354" y="2288020"/>
            <a:ext cx="427241" cy="54320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5576755" y="1733206"/>
            <a:ext cx="1416563" cy="660152"/>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5569233"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1785608" y="2819901"/>
            <a:ext cx="9180000"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9" name="Rechteck 108">
            <a:extLst>
              <a:ext uri="{FF2B5EF4-FFF2-40B4-BE49-F238E27FC236}">
                <a16:creationId xmlns:a16="http://schemas.microsoft.com/office/drawing/2014/main" id="{D6BE3DC5-2F9C-3597-3B5D-75EAB6AD6AA2}"/>
              </a:ext>
            </a:extLst>
          </p:cNvPr>
          <p:cNvSpPr/>
          <p:nvPr/>
        </p:nvSpPr>
        <p:spPr>
          <a:xfrm rot="5400000">
            <a:off x="11242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19595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err="1"/>
              <a:t>Cuting</a:t>
            </a:r>
            <a:endParaRPr lang="de-DE" sz="1100" dirty="0"/>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2403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54" name="Zylinder 53">
            <a:extLst>
              <a:ext uri="{FF2B5EF4-FFF2-40B4-BE49-F238E27FC236}">
                <a16:creationId xmlns:a16="http://schemas.microsoft.com/office/drawing/2014/main" id="{E2EB6F2D-00D9-D8CB-B3C9-73FF6DADAC42}"/>
              </a:ext>
            </a:extLst>
          </p:cNvPr>
          <p:cNvSpPr/>
          <p:nvPr/>
        </p:nvSpPr>
        <p:spPr>
          <a:xfrm>
            <a:off x="6336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2180023" y="279609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71" name="Gruppieren 70">
            <a:extLst>
              <a:ext uri="{FF2B5EF4-FFF2-40B4-BE49-F238E27FC236}">
                <a16:creationId xmlns:a16="http://schemas.microsoft.com/office/drawing/2014/main" id="{6B6D27A3-97EE-81E1-FD89-1CE23B5EEB88}"/>
              </a:ext>
            </a:extLst>
          </p:cNvPr>
          <p:cNvGrpSpPr/>
          <p:nvPr/>
        </p:nvGrpSpPr>
        <p:grpSpPr>
          <a:xfrm rot="10800000" flipH="1">
            <a:off x="2222038" y="3152798"/>
            <a:ext cx="22754" cy="1472726"/>
            <a:chOff x="6851814" y="1766023"/>
            <a:chExt cx="78569" cy="2068826"/>
          </a:xfrm>
        </p:grpSpPr>
        <p:sp>
          <p:nvSpPr>
            <p:cNvPr id="72" name="Rechteck 71">
              <a:extLst>
                <a:ext uri="{FF2B5EF4-FFF2-40B4-BE49-F238E27FC236}">
                  <a16:creationId xmlns:a16="http://schemas.microsoft.com/office/drawing/2014/main" id="{AE344AD0-9A79-E3C1-EC0E-8EC950451355}"/>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3" name="Rechteck 72">
              <a:extLst>
                <a:ext uri="{FF2B5EF4-FFF2-40B4-BE49-F238E27FC236}">
                  <a16:creationId xmlns:a16="http://schemas.microsoft.com/office/drawing/2014/main" id="{6E3495E2-4F5E-64AD-719A-D351370371C6}"/>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74" name="Rechteck 73">
              <a:extLst>
                <a:ext uri="{FF2B5EF4-FFF2-40B4-BE49-F238E27FC236}">
                  <a16:creationId xmlns:a16="http://schemas.microsoft.com/office/drawing/2014/main" id="{034C1B35-E88A-275E-719D-EC942D4D9B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5" name="Rechteck 74">
              <a:extLst>
                <a:ext uri="{FF2B5EF4-FFF2-40B4-BE49-F238E27FC236}">
                  <a16:creationId xmlns:a16="http://schemas.microsoft.com/office/drawing/2014/main" id="{F22D2757-CC97-BB76-91D5-D118AD26FC7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6" name="Rechteck 75">
              <a:extLst>
                <a:ext uri="{FF2B5EF4-FFF2-40B4-BE49-F238E27FC236}">
                  <a16:creationId xmlns:a16="http://schemas.microsoft.com/office/drawing/2014/main" id="{1B1B9FEB-0975-C089-65F7-E7CAB19BAD4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78" name="Gruppieren 77">
            <a:extLst>
              <a:ext uri="{FF2B5EF4-FFF2-40B4-BE49-F238E27FC236}">
                <a16:creationId xmlns:a16="http://schemas.microsoft.com/office/drawing/2014/main" id="{88F6367B-CBAA-07F7-88D0-4ACF42B47219}"/>
              </a:ext>
            </a:extLst>
          </p:cNvPr>
          <p:cNvGrpSpPr/>
          <p:nvPr/>
        </p:nvGrpSpPr>
        <p:grpSpPr>
          <a:xfrm>
            <a:off x="2501924" y="2795908"/>
            <a:ext cx="75705" cy="277927"/>
            <a:chOff x="3476670" y="3647733"/>
            <a:chExt cx="75705" cy="277927"/>
          </a:xfrm>
        </p:grpSpPr>
        <p:sp>
          <p:nvSpPr>
            <p:cNvPr id="79" name="Rechteck 78">
              <a:extLst>
                <a:ext uri="{FF2B5EF4-FFF2-40B4-BE49-F238E27FC236}">
                  <a16:creationId xmlns:a16="http://schemas.microsoft.com/office/drawing/2014/main" id="{4D24A9C9-2FAD-4909-FE51-49F8A9B2A4F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0" name="Verbinder: gekrümmt 79">
              <a:extLst>
                <a:ext uri="{FF2B5EF4-FFF2-40B4-BE49-F238E27FC236}">
                  <a16:creationId xmlns:a16="http://schemas.microsoft.com/office/drawing/2014/main" id="{16054D7C-94C1-1760-1E08-2088E59C4D0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1" name="Gruppieren 80">
            <a:extLst>
              <a:ext uri="{FF2B5EF4-FFF2-40B4-BE49-F238E27FC236}">
                <a16:creationId xmlns:a16="http://schemas.microsoft.com/office/drawing/2014/main" id="{E58F645D-9B46-481B-3807-1CF991C3F52B}"/>
              </a:ext>
            </a:extLst>
          </p:cNvPr>
          <p:cNvGrpSpPr/>
          <p:nvPr/>
        </p:nvGrpSpPr>
        <p:grpSpPr>
          <a:xfrm>
            <a:off x="2822492" y="281127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3142888" y="280640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3477218" y="274449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811693" y="280640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4145951" y="280895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4474134" y="280640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7461460"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11" name="Flussdiagramm: Datenträger mit direktem Zugriff 110">
            <a:extLst>
              <a:ext uri="{FF2B5EF4-FFF2-40B4-BE49-F238E27FC236}">
                <a16:creationId xmlns:a16="http://schemas.microsoft.com/office/drawing/2014/main" id="{CA65ADE4-1B8E-0543-30F2-857A357F8680}"/>
              </a:ext>
            </a:extLst>
          </p:cNvPr>
          <p:cNvSpPr/>
          <p:nvPr/>
        </p:nvSpPr>
        <p:spPr>
          <a:xfrm rot="19835810">
            <a:off x="2297326" y="151914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Flussdiagramm: Datenträger mit direktem Zugriff 111">
            <a:extLst>
              <a:ext uri="{FF2B5EF4-FFF2-40B4-BE49-F238E27FC236}">
                <a16:creationId xmlns:a16="http://schemas.microsoft.com/office/drawing/2014/main" id="{60B69C78-FF0E-6FE3-845D-9775CA99A1B9}"/>
              </a:ext>
            </a:extLst>
          </p:cNvPr>
          <p:cNvSpPr/>
          <p:nvPr/>
        </p:nvSpPr>
        <p:spPr>
          <a:xfrm rot="19835810">
            <a:off x="2322989" y="159761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3" name="Flussdiagramm: Datenträger mit direktem Zugriff 112">
            <a:extLst>
              <a:ext uri="{FF2B5EF4-FFF2-40B4-BE49-F238E27FC236}">
                <a16:creationId xmlns:a16="http://schemas.microsoft.com/office/drawing/2014/main" id="{4527F419-717C-3EB0-CA71-89527FE26813}"/>
              </a:ext>
            </a:extLst>
          </p:cNvPr>
          <p:cNvSpPr/>
          <p:nvPr/>
        </p:nvSpPr>
        <p:spPr>
          <a:xfrm rot="3152920">
            <a:off x="2240321" y="16092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4" name="Flussdiagramm: Datenträger mit direktem Zugriff 113">
            <a:extLst>
              <a:ext uri="{FF2B5EF4-FFF2-40B4-BE49-F238E27FC236}">
                <a16:creationId xmlns:a16="http://schemas.microsoft.com/office/drawing/2014/main" id="{3A22D148-7D54-B80E-7768-558A6FF76025}"/>
              </a:ext>
            </a:extLst>
          </p:cNvPr>
          <p:cNvSpPr/>
          <p:nvPr/>
        </p:nvSpPr>
        <p:spPr>
          <a:xfrm rot="3152920">
            <a:off x="2332586" y="143320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Flussdiagramm: Datenträger mit direktem Zugriff 114">
            <a:extLst>
              <a:ext uri="{FF2B5EF4-FFF2-40B4-BE49-F238E27FC236}">
                <a16:creationId xmlns:a16="http://schemas.microsoft.com/office/drawing/2014/main" id="{C7CDF857-FD2A-5A87-9D50-BC61302A5210}"/>
              </a:ext>
            </a:extLst>
          </p:cNvPr>
          <p:cNvSpPr/>
          <p:nvPr/>
        </p:nvSpPr>
        <p:spPr>
          <a:xfrm rot="1182316">
            <a:off x="2279858" y="169021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6" name="Flussdiagramm: Datenträger mit direktem Zugriff 115">
            <a:extLst>
              <a:ext uri="{FF2B5EF4-FFF2-40B4-BE49-F238E27FC236}">
                <a16:creationId xmlns:a16="http://schemas.microsoft.com/office/drawing/2014/main" id="{31AE4DCA-3F86-C86F-78B9-54B705AEF539}"/>
              </a:ext>
            </a:extLst>
          </p:cNvPr>
          <p:cNvSpPr/>
          <p:nvPr/>
        </p:nvSpPr>
        <p:spPr>
          <a:xfrm rot="1182316">
            <a:off x="2252380" y="143792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1" name="Flussdiagramm: Datenträger mit direktem Zugriff 120">
            <a:extLst>
              <a:ext uri="{FF2B5EF4-FFF2-40B4-BE49-F238E27FC236}">
                <a16:creationId xmlns:a16="http://schemas.microsoft.com/office/drawing/2014/main" id="{7987E0F7-A8A3-CAC0-4C51-83A64A14A979}"/>
              </a:ext>
            </a:extLst>
          </p:cNvPr>
          <p:cNvSpPr/>
          <p:nvPr/>
        </p:nvSpPr>
        <p:spPr>
          <a:xfrm rot="5400000">
            <a:off x="2521265" y="287910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2" name="Flussdiagramm: Datenträger mit direktem Zugriff 121">
            <a:extLst>
              <a:ext uri="{FF2B5EF4-FFF2-40B4-BE49-F238E27FC236}">
                <a16:creationId xmlns:a16="http://schemas.microsoft.com/office/drawing/2014/main" id="{A049A892-D159-F60B-3D9A-6A4CE9A9432C}"/>
              </a:ext>
            </a:extLst>
          </p:cNvPr>
          <p:cNvSpPr/>
          <p:nvPr/>
        </p:nvSpPr>
        <p:spPr>
          <a:xfrm rot="5400000">
            <a:off x="2841947" y="28879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3" name="Rechteck 122">
            <a:extLst>
              <a:ext uri="{FF2B5EF4-FFF2-40B4-BE49-F238E27FC236}">
                <a16:creationId xmlns:a16="http://schemas.microsoft.com/office/drawing/2014/main" id="{7FF9CB88-7098-6BDB-FE52-C227A076CBBA}"/>
              </a:ext>
            </a:extLst>
          </p:cNvPr>
          <p:cNvSpPr/>
          <p:nvPr/>
        </p:nvSpPr>
        <p:spPr>
          <a:xfrm>
            <a:off x="25360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7" name="Flussdiagramm: Datenträger mit direktem Zugriff 116">
            <a:extLst>
              <a:ext uri="{FF2B5EF4-FFF2-40B4-BE49-F238E27FC236}">
                <a16:creationId xmlns:a16="http://schemas.microsoft.com/office/drawing/2014/main" id="{CC1A8905-7DDE-34E0-DE3A-E62514BB59E9}"/>
              </a:ext>
            </a:extLst>
          </p:cNvPr>
          <p:cNvSpPr/>
          <p:nvPr/>
        </p:nvSpPr>
        <p:spPr>
          <a:xfrm rot="5400000">
            <a:off x="25286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8" name="Flussdiagramm: Datenträger mit direktem Zugriff 117">
            <a:extLst>
              <a:ext uri="{FF2B5EF4-FFF2-40B4-BE49-F238E27FC236}">
                <a16:creationId xmlns:a16="http://schemas.microsoft.com/office/drawing/2014/main" id="{0530DD74-AFFA-547F-813F-6736FD5E629B}"/>
              </a:ext>
            </a:extLst>
          </p:cNvPr>
          <p:cNvSpPr/>
          <p:nvPr/>
        </p:nvSpPr>
        <p:spPr>
          <a:xfrm rot="5400000">
            <a:off x="25286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9" name="Flussdiagramm: Datenträger mit direktem Zugriff 118">
            <a:extLst>
              <a:ext uri="{FF2B5EF4-FFF2-40B4-BE49-F238E27FC236}">
                <a16:creationId xmlns:a16="http://schemas.microsoft.com/office/drawing/2014/main" id="{94FF3375-600C-7594-2005-8B2390FD854D}"/>
              </a:ext>
            </a:extLst>
          </p:cNvPr>
          <p:cNvSpPr/>
          <p:nvPr/>
        </p:nvSpPr>
        <p:spPr>
          <a:xfrm rot="5400000">
            <a:off x="25286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6" name="Flussdiagramm: Datenträger mit direktem Zugriff 125">
            <a:extLst>
              <a:ext uri="{FF2B5EF4-FFF2-40B4-BE49-F238E27FC236}">
                <a16:creationId xmlns:a16="http://schemas.microsoft.com/office/drawing/2014/main" id="{C521B0A3-0028-4459-48CF-05A70F000653}"/>
              </a:ext>
            </a:extLst>
          </p:cNvPr>
          <p:cNvSpPr/>
          <p:nvPr/>
        </p:nvSpPr>
        <p:spPr>
          <a:xfrm rot="5400000">
            <a:off x="3164991" y="28822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7" name="Flussdiagramm: Datenträger mit direktem Zugriff 126">
            <a:extLst>
              <a:ext uri="{FF2B5EF4-FFF2-40B4-BE49-F238E27FC236}">
                <a16:creationId xmlns:a16="http://schemas.microsoft.com/office/drawing/2014/main" id="{3C8E84B4-5C41-E7F7-BEC2-E79DA8A2B7D3}"/>
              </a:ext>
            </a:extLst>
          </p:cNvPr>
          <p:cNvSpPr/>
          <p:nvPr/>
        </p:nvSpPr>
        <p:spPr>
          <a:xfrm rot="5400000">
            <a:off x="3495877" y="282858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8" name="Rechteck 127">
            <a:extLst>
              <a:ext uri="{FF2B5EF4-FFF2-40B4-BE49-F238E27FC236}">
                <a16:creationId xmlns:a16="http://schemas.microsoft.com/office/drawing/2014/main" id="{0074B172-7F57-FC56-61A8-D63928DF8B6B}"/>
              </a:ext>
            </a:extLst>
          </p:cNvPr>
          <p:cNvSpPr/>
          <p:nvPr/>
        </p:nvSpPr>
        <p:spPr>
          <a:xfrm rot="5400000">
            <a:off x="2676004"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2845973"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4002246"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 name="Flussdiagramm: Datenträger mit direktem Zugriff 20">
            <a:extLst>
              <a:ext uri="{FF2B5EF4-FFF2-40B4-BE49-F238E27FC236}">
                <a16:creationId xmlns:a16="http://schemas.microsoft.com/office/drawing/2014/main" id="{9F289692-A3B5-4675-7EA8-1B4E672B2EB6}"/>
              </a:ext>
            </a:extLst>
          </p:cNvPr>
          <p:cNvSpPr/>
          <p:nvPr/>
        </p:nvSpPr>
        <p:spPr>
          <a:xfrm rot="5400000">
            <a:off x="3831637" y="289684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 name="Flussdiagramm: Datenträger mit direktem Zugriff 25">
            <a:extLst>
              <a:ext uri="{FF2B5EF4-FFF2-40B4-BE49-F238E27FC236}">
                <a16:creationId xmlns:a16="http://schemas.microsoft.com/office/drawing/2014/main" id="{68039ACD-61EE-8941-DCDE-C08CFA42E85A}"/>
              </a:ext>
            </a:extLst>
          </p:cNvPr>
          <p:cNvSpPr/>
          <p:nvPr/>
        </p:nvSpPr>
        <p:spPr>
          <a:xfrm rot="5400000">
            <a:off x="4164213" y="288677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6030509"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6216655"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990650"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6298603"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990650"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6296043"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790993"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814554"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7140248"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35" name="Rechteck 134">
            <a:extLst>
              <a:ext uri="{FF2B5EF4-FFF2-40B4-BE49-F238E27FC236}">
                <a16:creationId xmlns:a16="http://schemas.microsoft.com/office/drawing/2014/main" id="{AAD6C9FC-A776-D253-45DA-D7B16BC38273}"/>
              </a:ext>
            </a:extLst>
          </p:cNvPr>
          <p:cNvSpPr/>
          <p:nvPr/>
        </p:nvSpPr>
        <p:spPr>
          <a:xfrm rot="5400000">
            <a:off x="2860631"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a:off x="3501003" y="231768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086429" y="83980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3270521"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3248497"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3763647"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02643" y="148632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555043" y="163872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487417" y="149979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86186" y="173679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452855" y="172078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46852" y="160424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529648" y="176672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3500710"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3469813"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498785" y="225254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3505084"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3477262"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3495501"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498327" y="273687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333476" y="55050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835593" y="278742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169085" y="278132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495119" y="2792484"/>
            <a:ext cx="90077" cy="28388"/>
          </a:xfrm>
          <a:prstGeom prst="rect">
            <a:avLst/>
          </a:prstGeom>
        </p:spPr>
      </p:pic>
      <p:sp>
        <p:nvSpPr>
          <p:cNvPr id="158" name="Flussdiagramm: Datenträger mit direktem Zugriff 157">
            <a:extLst>
              <a:ext uri="{FF2B5EF4-FFF2-40B4-BE49-F238E27FC236}">
                <a16:creationId xmlns:a16="http://schemas.microsoft.com/office/drawing/2014/main" id="{5FF19632-A04D-7BD9-6614-BE57E123636E}"/>
              </a:ext>
            </a:extLst>
          </p:cNvPr>
          <p:cNvSpPr/>
          <p:nvPr/>
        </p:nvSpPr>
        <p:spPr>
          <a:xfrm rot="5400000">
            <a:off x="4493417" y="289510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59" name="Gruppieren 158">
            <a:extLst>
              <a:ext uri="{FF2B5EF4-FFF2-40B4-BE49-F238E27FC236}">
                <a16:creationId xmlns:a16="http://schemas.microsoft.com/office/drawing/2014/main" id="{D3F4F245-E8FD-39CA-D9E7-EC62339F4842}"/>
              </a:ext>
            </a:extLst>
          </p:cNvPr>
          <p:cNvGrpSpPr/>
          <p:nvPr/>
        </p:nvGrpSpPr>
        <p:grpSpPr>
          <a:xfrm>
            <a:off x="5457635" y="2808958"/>
            <a:ext cx="75705" cy="277927"/>
            <a:chOff x="3476670" y="3647733"/>
            <a:chExt cx="75705" cy="277927"/>
          </a:xfrm>
        </p:grpSpPr>
        <p:sp>
          <p:nvSpPr>
            <p:cNvPr id="160" name="Rechteck 159">
              <a:extLst>
                <a:ext uri="{FF2B5EF4-FFF2-40B4-BE49-F238E27FC236}">
                  <a16:creationId xmlns:a16="http://schemas.microsoft.com/office/drawing/2014/main" id="{DB87E526-B2CA-17CD-DF91-13241C8C7F6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61" name="Verbinder: gekrümmt 160">
              <a:extLst>
                <a:ext uri="{FF2B5EF4-FFF2-40B4-BE49-F238E27FC236}">
                  <a16:creationId xmlns:a16="http://schemas.microsoft.com/office/drawing/2014/main" id="{27189C0C-9AD8-486F-5C49-1ADEAB4B81DA}"/>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2" name="Flussdiagramm: Datenträger mit direktem Zugriff 161">
            <a:extLst>
              <a:ext uri="{FF2B5EF4-FFF2-40B4-BE49-F238E27FC236}">
                <a16:creationId xmlns:a16="http://schemas.microsoft.com/office/drawing/2014/main" id="{20A9809A-24A1-E2EF-B393-F61362914901}"/>
              </a:ext>
            </a:extLst>
          </p:cNvPr>
          <p:cNvSpPr/>
          <p:nvPr/>
        </p:nvSpPr>
        <p:spPr>
          <a:xfrm rot="5400000">
            <a:off x="5475897" y="2855816"/>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63" name="Grafik 162">
            <a:extLst>
              <a:ext uri="{FF2B5EF4-FFF2-40B4-BE49-F238E27FC236}">
                <a16:creationId xmlns:a16="http://schemas.microsoft.com/office/drawing/2014/main" id="{E52F30E5-AC60-B2D7-9C17-81EE8488BB52}"/>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480769" y="2781323"/>
            <a:ext cx="90077" cy="28388"/>
          </a:xfrm>
          <a:prstGeom prst="rect">
            <a:avLst/>
          </a:prstGeom>
        </p:spPr>
      </p:pic>
      <p:grpSp>
        <p:nvGrpSpPr>
          <p:cNvPr id="164" name="Gruppieren 163">
            <a:extLst>
              <a:ext uri="{FF2B5EF4-FFF2-40B4-BE49-F238E27FC236}">
                <a16:creationId xmlns:a16="http://schemas.microsoft.com/office/drawing/2014/main" id="{5EDE8B4D-15CF-15D2-391A-BE6B0D8787B0}"/>
              </a:ext>
            </a:extLst>
          </p:cNvPr>
          <p:cNvGrpSpPr/>
          <p:nvPr/>
        </p:nvGrpSpPr>
        <p:grpSpPr>
          <a:xfrm>
            <a:off x="5785397" y="2807970"/>
            <a:ext cx="75705" cy="277927"/>
            <a:chOff x="3476670" y="3647733"/>
            <a:chExt cx="75705" cy="277927"/>
          </a:xfrm>
        </p:grpSpPr>
        <p:sp>
          <p:nvSpPr>
            <p:cNvPr id="165" name="Rechteck 164">
              <a:extLst>
                <a:ext uri="{FF2B5EF4-FFF2-40B4-BE49-F238E27FC236}">
                  <a16:creationId xmlns:a16="http://schemas.microsoft.com/office/drawing/2014/main" id="{0349320A-D31F-0C34-3D9F-2B6E53CC68A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66" name="Verbinder: gekrümmt 165">
              <a:extLst>
                <a:ext uri="{FF2B5EF4-FFF2-40B4-BE49-F238E27FC236}">
                  <a16:creationId xmlns:a16="http://schemas.microsoft.com/office/drawing/2014/main" id="{6A7950E7-FA51-760E-6D6E-1D5D399CB71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7" name="Flussdiagramm: Datenträger mit direktem Zugriff 166">
            <a:extLst>
              <a:ext uri="{FF2B5EF4-FFF2-40B4-BE49-F238E27FC236}">
                <a16:creationId xmlns:a16="http://schemas.microsoft.com/office/drawing/2014/main" id="{9DE9A2FB-501D-5068-2574-9AB837269DD2}"/>
              </a:ext>
            </a:extLst>
          </p:cNvPr>
          <p:cNvSpPr/>
          <p:nvPr/>
        </p:nvSpPr>
        <p:spPr>
          <a:xfrm rot="5400000">
            <a:off x="5806040" y="285721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68" name="Grafik 167">
            <a:extLst>
              <a:ext uri="{FF2B5EF4-FFF2-40B4-BE49-F238E27FC236}">
                <a16:creationId xmlns:a16="http://schemas.microsoft.com/office/drawing/2014/main" id="{AC37E4DE-FF99-3323-F18F-24B2EEB6CEBC}"/>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808531" y="2780335"/>
            <a:ext cx="90077" cy="28388"/>
          </a:xfrm>
          <a:prstGeom prst="rect">
            <a:avLst/>
          </a:prstGeom>
        </p:spPr>
      </p:pic>
      <p:sp>
        <p:nvSpPr>
          <p:cNvPr id="170" name="Rechteck 169">
            <a:extLst>
              <a:ext uri="{FF2B5EF4-FFF2-40B4-BE49-F238E27FC236}">
                <a16:creationId xmlns:a16="http://schemas.microsoft.com/office/drawing/2014/main" id="{329D6D22-56B7-EA0B-E848-CEF842B84378}"/>
              </a:ext>
            </a:extLst>
          </p:cNvPr>
          <p:cNvSpPr/>
          <p:nvPr/>
        </p:nvSpPr>
        <p:spPr>
          <a:xfrm>
            <a:off x="5454767" y="267125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1" name="Rechteck 170">
            <a:extLst>
              <a:ext uri="{FF2B5EF4-FFF2-40B4-BE49-F238E27FC236}">
                <a16:creationId xmlns:a16="http://schemas.microsoft.com/office/drawing/2014/main" id="{1D001FEE-0A86-2D5F-8EF3-120CEA5AB4B2}"/>
              </a:ext>
            </a:extLst>
          </p:cNvPr>
          <p:cNvSpPr/>
          <p:nvPr/>
        </p:nvSpPr>
        <p:spPr>
          <a:xfrm>
            <a:off x="5481058" y="28611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2" name="Rechteck 171">
            <a:extLst>
              <a:ext uri="{FF2B5EF4-FFF2-40B4-BE49-F238E27FC236}">
                <a16:creationId xmlns:a16="http://schemas.microsoft.com/office/drawing/2014/main" id="{35F52911-08EE-CDA9-0BEA-8DEE202BF369}"/>
              </a:ext>
            </a:extLst>
          </p:cNvPr>
          <p:cNvSpPr/>
          <p:nvPr/>
        </p:nvSpPr>
        <p:spPr>
          <a:xfrm>
            <a:off x="5538207" y="286353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3" name="Rechteck 172">
            <a:extLst>
              <a:ext uri="{FF2B5EF4-FFF2-40B4-BE49-F238E27FC236}">
                <a16:creationId xmlns:a16="http://schemas.microsoft.com/office/drawing/2014/main" id="{505C6703-B0C8-62D2-B7BE-68B91B712000}"/>
              </a:ext>
            </a:extLst>
          </p:cNvPr>
          <p:cNvSpPr/>
          <p:nvPr/>
        </p:nvSpPr>
        <p:spPr>
          <a:xfrm>
            <a:off x="5769092" y="2668995"/>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4" name="Rechteck 173">
            <a:extLst>
              <a:ext uri="{FF2B5EF4-FFF2-40B4-BE49-F238E27FC236}">
                <a16:creationId xmlns:a16="http://schemas.microsoft.com/office/drawing/2014/main" id="{B042EA01-62CC-0E37-E9D1-C59B04561965}"/>
              </a:ext>
            </a:extLst>
          </p:cNvPr>
          <p:cNvSpPr/>
          <p:nvPr/>
        </p:nvSpPr>
        <p:spPr>
          <a:xfrm>
            <a:off x="4138190"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6346021"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6459740"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6516889"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6452303"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83" name="Rechteck 182">
            <a:extLst>
              <a:ext uri="{FF2B5EF4-FFF2-40B4-BE49-F238E27FC236}">
                <a16:creationId xmlns:a16="http://schemas.microsoft.com/office/drawing/2014/main" id="{3824930F-A0AE-ED6E-3E91-E6B2A2995AAA}"/>
              </a:ext>
            </a:extLst>
          </p:cNvPr>
          <p:cNvSpPr/>
          <p:nvPr/>
        </p:nvSpPr>
        <p:spPr>
          <a:xfrm rot="16200000">
            <a:off x="6804382"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rot="10800000">
            <a:off x="7419886"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10800000">
            <a:off x="7004453"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7202387"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692417"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7177267"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77332"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7424932"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7492558"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93789"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7527120"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533123"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7450327"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7419593"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7385738"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7424046"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7271755"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7395867"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7422421"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7424493"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10800000">
            <a:off x="7379145"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903371"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8057142"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569460" y="3150998"/>
            <a:ext cx="427241" cy="249850"/>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780573"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781826"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838975"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2844523"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2901672"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8116879"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218" name="Gruppieren 217">
            <a:extLst>
              <a:ext uri="{FF2B5EF4-FFF2-40B4-BE49-F238E27FC236}">
                <a16:creationId xmlns:a16="http://schemas.microsoft.com/office/drawing/2014/main" id="{A2B7AA3F-3CC5-B640-E556-E69F459775C2}"/>
              </a:ext>
            </a:extLst>
          </p:cNvPr>
          <p:cNvGrpSpPr/>
          <p:nvPr/>
        </p:nvGrpSpPr>
        <p:grpSpPr>
          <a:xfrm>
            <a:off x="5138136" y="280578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221" name="Flussdiagramm: Datenträger mit direktem Zugriff 220">
            <a:extLst>
              <a:ext uri="{FF2B5EF4-FFF2-40B4-BE49-F238E27FC236}">
                <a16:creationId xmlns:a16="http://schemas.microsoft.com/office/drawing/2014/main" id="{F753FCD3-1040-9B6A-DA04-E69555251220}"/>
              </a:ext>
            </a:extLst>
          </p:cNvPr>
          <p:cNvSpPr/>
          <p:nvPr/>
        </p:nvSpPr>
        <p:spPr>
          <a:xfrm rot="5400000">
            <a:off x="5156398" y="288359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161270" y="2778148"/>
            <a:ext cx="90077" cy="28388"/>
          </a:xfrm>
          <a:prstGeom prst="rect">
            <a:avLst/>
          </a:prstGeom>
        </p:spPr>
      </p:pic>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7"/>
          <a:srcRect l="12368" t="11098" r="5271"/>
          <a:stretch/>
        </p:blipFill>
        <p:spPr>
          <a:xfrm>
            <a:off x="5280155" y="2661753"/>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7"/>
          <a:srcRect l="12368" t="11098" r="5271"/>
          <a:stretch/>
        </p:blipFill>
        <p:spPr>
          <a:xfrm flipH="1">
            <a:off x="5058692" y="2653742"/>
            <a:ext cx="90381" cy="107501"/>
          </a:xfrm>
          <a:prstGeom prst="rect">
            <a:avLst/>
          </a:prstGeom>
        </p:spPr>
      </p:pic>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754440"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078294" y="299209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6216655" y="3974646"/>
            <a:ext cx="734347" cy="475232"/>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r>
              <a:rPr lang="de-DE" sz="800" dirty="0"/>
              <a:t> </a:t>
            </a:r>
            <a:r>
              <a:rPr lang="de-DE" sz="800" dirty="0" err="1"/>
              <a:t>unit</a:t>
            </a:r>
            <a:endParaRPr lang="de-DE" sz="800" dirty="0"/>
          </a:p>
          <a:p>
            <a:pPr algn="ctr"/>
            <a:r>
              <a:rPr lang="de-DE" sz="800" dirty="0" err="1"/>
              <a:t>For</a:t>
            </a:r>
            <a:r>
              <a:rPr lang="de-DE" sz="800" dirty="0"/>
              <a:t> </a:t>
            </a:r>
            <a:r>
              <a:rPr lang="de-DE" sz="800" dirty="0" err="1"/>
              <a:t>both</a:t>
            </a:r>
            <a:r>
              <a:rPr lang="de-DE" sz="800" dirty="0"/>
              <a:t> </a:t>
            </a:r>
            <a:r>
              <a:rPr lang="de-DE" sz="800" dirty="0" err="1"/>
              <a:t>station</a:t>
            </a:r>
            <a:endParaRPr lang="de-DE" sz="800" dirty="0"/>
          </a:p>
        </p:txBody>
      </p:sp>
      <p:cxnSp>
        <p:nvCxnSpPr>
          <p:cNvPr id="238" name="Verbinder: gekrümmt 237">
            <a:extLst>
              <a:ext uri="{FF2B5EF4-FFF2-40B4-BE49-F238E27FC236}">
                <a16:creationId xmlns:a16="http://schemas.microsoft.com/office/drawing/2014/main" id="{BC7BEA59-2F11-62DC-6BFF-7B211717EC32}"/>
              </a:ext>
            </a:extLst>
          </p:cNvPr>
          <p:cNvCxnSpPr>
            <a:cxnSpLocks/>
            <a:stCxn id="208" idx="0"/>
            <a:endCxn id="237" idx="0"/>
          </p:cNvCxnSpPr>
          <p:nvPr/>
        </p:nvCxnSpPr>
        <p:spPr>
          <a:xfrm rot="16200000" flipH="1" flipV="1">
            <a:off x="6224730" y="3378549"/>
            <a:ext cx="955196" cy="236998"/>
          </a:xfrm>
          <a:prstGeom prst="curvedConnector3">
            <a:avLst>
              <a:gd name="adj1" fmla="val 63610"/>
            </a:avLst>
          </a:prstGeom>
          <a:ln/>
        </p:spPr>
        <p:style>
          <a:lnRef idx="3">
            <a:schemeClr val="dk1"/>
          </a:lnRef>
          <a:fillRef idx="0">
            <a:schemeClr val="dk1"/>
          </a:fillRef>
          <a:effectRef idx="2">
            <a:schemeClr val="dk1"/>
          </a:effectRef>
          <a:fontRef idx="minor">
            <a:schemeClr val="tx1"/>
          </a:fontRef>
        </p:style>
      </p:cxn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8446755"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408170" y="2992099"/>
            <a:ext cx="90077" cy="28388"/>
          </a:xfrm>
          <a:prstGeom prst="rect">
            <a:avLst/>
          </a:prstGeom>
        </p:spPr>
      </p:pic>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9107653"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9069068"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7"/>
          <a:srcRect l="12368" t="11098" r="5271"/>
          <a:stretch/>
        </p:blipFill>
        <p:spPr>
          <a:xfrm>
            <a:off x="9140530"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7"/>
          <a:srcRect l="12368" t="11098" r="5271"/>
          <a:stretch/>
        </p:blipFill>
        <p:spPr>
          <a:xfrm flipH="1">
            <a:off x="8990499" y="3046575"/>
            <a:ext cx="90381" cy="107501"/>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8776468" y="3497576"/>
            <a:ext cx="1416563"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8868538" y="3475956"/>
            <a:ext cx="1218415" cy="417457"/>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9471611" y="2816516"/>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9321014" y="269044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9385648" y="2887719"/>
            <a:ext cx="172817" cy="1128066"/>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9495024" y="330319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9495026" y="324366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9445018" y="330081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9445020" y="324128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9425788" y="3097399"/>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9590120" y="3086482"/>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9284557" y="308411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9590120"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9287117"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9435266" y="3403997"/>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9751516" y="281837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9774650" y="2790739"/>
            <a:ext cx="90077" cy="28388"/>
          </a:xfrm>
          <a:prstGeom prst="rect">
            <a:avLst/>
          </a:prstGeom>
        </p:spPr>
      </p:pic>
      <p:grpSp>
        <p:nvGrpSpPr>
          <p:cNvPr id="285" name="Gruppieren 284">
            <a:extLst>
              <a:ext uri="{FF2B5EF4-FFF2-40B4-BE49-F238E27FC236}">
                <a16:creationId xmlns:a16="http://schemas.microsoft.com/office/drawing/2014/main" id="{164A41FF-C0FF-D616-0192-25923EAFCE02}"/>
              </a:ext>
            </a:extLst>
          </p:cNvPr>
          <p:cNvGrpSpPr/>
          <p:nvPr/>
        </p:nvGrpSpPr>
        <p:grpSpPr>
          <a:xfrm>
            <a:off x="10090259" y="2813316"/>
            <a:ext cx="75705" cy="277927"/>
            <a:chOff x="3476670" y="3647733"/>
            <a:chExt cx="75705" cy="277927"/>
          </a:xfrm>
        </p:grpSpPr>
        <p:sp>
          <p:nvSpPr>
            <p:cNvPr id="286" name="Rechteck 285">
              <a:extLst>
                <a:ext uri="{FF2B5EF4-FFF2-40B4-BE49-F238E27FC236}">
                  <a16:creationId xmlns:a16="http://schemas.microsoft.com/office/drawing/2014/main" id="{84D623EF-EDD2-CA39-D726-582F604E7DDA}"/>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7" name="Verbinder: gekrümmt 286">
              <a:extLst>
                <a:ext uri="{FF2B5EF4-FFF2-40B4-BE49-F238E27FC236}">
                  <a16:creationId xmlns:a16="http://schemas.microsoft.com/office/drawing/2014/main" id="{78BE6DAB-0C01-784F-812E-71BCD65BBE7F}"/>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8" name="Grafik 287">
            <a:extLst>
              <a:ext uri="{FF2B5EF4-FFF2-40B4-BE49-F238E27FC236}">
                <a16:creationId xmlns:a16="http://schemas.microsoft.com/office/drawing/2014/main" id="{C574697F-C55F-0E87-D1FD-A0652ABDE48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10113393" y="2785681"/>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23789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5027115" y="285593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6" name="Rechteck: abgerundete Ecken 5">
            <a:extLst>
              <a:ext uri="{FF2B5EF4-FFF2-40B4-BE49-F238E27FC236}">
                <a16:creationId xmlns:a16="http://schemas.microsoft.com/office/drawing/2014/main" id="{5B8489C7-9EDA-629A-7620-F7FDFF1043B1}"/>
              </a:ext>
            </a:extLst>
          </p:cNvPr>
          <p:cNvSpPr/>
          <p:nvPr/>
        </p:nvSpPr>
        <p:spPr>
          <a:xfrm>
            <a:off x="5323745" y="284878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20925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2747162"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3348808"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303857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3692414"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4356831"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402199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4691704"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7652934"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918595"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970646"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50" name="Rechteck: abgerundete Ecken 49">
            <a:extLst>
              <a:ext uri="{FF2B5EF4-FFF2-40B4-BE49-F238E27FC236}">
                <a16:creationId xmlns:a16="http://schemas.microsoft.com/office/drawing/2014/main" id="{FECC1CDE-7E36-6233-0A55-41026412FD0F}"/>
              </a:ext>
            </a:extLst>
          </p:cNvPr>
          <p:cNvSpPr/>
          <p:nvPr/>
        </p:nvSpPr>
        <p:spPr>
          <a:xfrm>
            <a:off x="5649301"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6333300"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7015983"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69145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7333394"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8268445"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8608719"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8946800" y="284824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22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9272710" y="2856299"/>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23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9595475" y="2410308"/>
            <a:ext cx="427241" cy="32861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0" name="Rechteck 229">
            <a:extLst>
              <a:ext uri="{FF2B5EF4-FFF2-40B4-BE49-F238E27FC236}">
                <a16:creationId xmlns:a16="http://schemas.microsoft.com/office/drawing/2014/main" id="{97D118B7-65FE-FB2C-279C-65155E190D7E}"/>
              </a:ext>
            </a:extLst>
          </p:cNvPr>
          <p:cNvSpPr/>
          <p:nvPr/>
        </p:nvSpPr>
        <p:spPr>
          <a:xfrm rot="5400000">
            <a:off x="10394506" y="2037605"/>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A82FCBB2-97FF-9E46-C158-251CAF786A2A}"/>
              </a:ext>
            </a:extLst>
          </p:cNvPr>
          <p:cNvSpPr/>
          <p:nvPr/>
        </p:nvSpPr>
        <p:spPr>
          <a:xfrm rot="5400000">
            <a:off x="9830138" y="3385006"/>
            <a:ext cx="864000" cy="432000"/>
          </a:xfrm>
          <a:prstGeom prst="rect">
            <a:avLst/>
          </a:prstGeom>
        </p:spPr>
        <p:style>
          <a:lnRef idx="1">
            <a:schemeClr val="accent2"/>
          </a:lnRef>
          <a:fillRef idx="3">
            <a:schemeClr val="accent2"/>
          </a:fillRef>
          <a:effectRef idx="2">
            <a:schemeClr val="accent2"/>
          </a:effectRef>
          <a:fontRef idx="minor">
            <a:schemeClr val="lt1"/>
          </a:fontRef>
        </p:style>
        <p:txBody>
          <a:bodyPr vert="vert270" wrap="none" rtlCol="0" anchor="ctr"/>
          <a:lstStyle/>
          <a:p>
            <a:pPr algn="ctr"/>
            <a:r>
              <a:rPr lang="de-DE" sz="1400" dirty="0"/>
              <a:t>NOK</a:t>
            </a:r>
          </a:p>
        </p:txBody>
      </p:sp>
      <p:sp>
        <p:nvSpPr>
          <p:cNvPr id="234" name="L-Form 233">
            <a:extLst>
              <a:ext uri="{FF2B5EF4-FFF2-40B4-BE49-F238E27FC236}">
                <a16:creationId xmlns:a16="http://schemas.microsoft.com/office/drawing/2014/main" id="{DDAD0D4B-9391-B0EE-6F67-6C08D5CAC427}"/>
              </a:ext>
            </a:extLst>
          </p:cNvPr>
          <p:cNvSpPr/>
          <p:nvPr/>
        </p:nvSpPr>
        <p:spPr>
          <a:xfrm>
            <a:off x="10011907" y="4001385"/>
            <a:ext cx="98120" cy="67917"/>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39" name="L-Form 238">
            <a:extLst>
              <a:ext uri="{FF2B5EF4-FFF2-40B4-BE49-F238E27FC236}">
                <a16:creationId xmlns:a16="http://schemas.microsoft.com/office/drawing/2014/main" id="{3BB26BDA-8D4D-A96F-24A8-8EAE6DC867E8}"/>
              </a:ext>
            </a:extLst>
          </p:cNvPr>
          <p:cNvSpPr/>
          <p:nvPr/>
        </p:nvSpPr>
        <p:spPr>
          <a:xfrm rot="10800000">
            <a:off x="10414803" y="3132364"/>
            <a:ext cx="97057" cy="74915"/>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10800000" flipH="1">
            <a:off x="10108271" y="1908982"/>
            <a:ext cx="25807" cy="72611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10800000" flipH="1">
            <a:off x="10155790" y="1910125"/>
            <a:ext cx="25807" cy="72611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10800000" flipH="1">
            <a:off x="10202763" y="1910573"/>
            <a:ext cx="25807" cy="72611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10800000" flipH="1">
            <a:off x="10250393" y="1910572"/>
            <a:ext cx="25807" cy="72611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89" name="Rahmen 288">
            <a:extLst>
              <a:ext uri="{FF2B5EF4-FFF2-40B4-BE49-F238E27FC236}">
                <a16:creationId xmlns:a16="http://schemas.microsoft.com/office/drawing/2014/main" id="{EDA7560E-0C29-627E-CB2A-34939BDCDFF2}"/>
              </a:ext>
            </a:extLst>
          </p:cNvPr>
          <p:cNvSpPr/>
          <p:nvPr/>
        </p:nvSpPr>
        <p:spPr>
          <a:xfrm>
            <a:off x="1586274" y="1034690"/>
            <a:ext cx="9964105" cy="3653970"/>
          </a:xfrm>
          <a:prstGeom prst="frame">
            <a:avLst>
              <a:gd name="adj1" fmla="val 1722"/>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17" name="Rechteck 316">
            <a:extLst>
              <a:ext uri="{FF2B5EF4-FFF2-40B4-BE49-F238E27FC236}">
                <a16:creationId xmlns:a16="http://schemas.microsoft.com/office/drawing/2014/main" id="{F7DDCAA9-6DA7-6F7A-14D6-ABB3D1E72D32}"/>
              </a:ext>
            </a:extLst>
          </p:cNvPr>
          <p:cNvSpPr/>
          <p:nvPr/>
        </p:nvSpPr>
        <p:spPr>
          <a:xfrm>
            <a:off x="6036257"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6035332"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10317236" y="4398091"/>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2433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0187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13" name="Gruppieren 312">
            <a:extLst>
              <a:ext uri="{FF2B5EF4-FFF2-40B4-BE49-F238E27FC236}">
                <a16:creationId xmlns:a16="http://schemas.microsoft.com/office/drawing/2014/main" id="{5846448B-A294-193C-61F9-81D7C8898DA3}"/>
              </a:ext>
            </a:extLst>
          </p:cNvPr>
          <p:cNvGrpSpPr/>
          <p:nvPr/>
        </p:nvGrpSpPr>
        <p:grpSpPr>
          <a:xfrm>
            <a:off x="4798371" y="2803249"/>
            <a:ext cx="75705" cy="277927"/>
            <a:chOff x="3476670" y="3647733"/>
            <a:chExt cx="75705" cy="277927"/>
          </a:xfrm>
        </p:grpSpPr>
        <p:sp>
          <p:nvSpPr>
            <p:cNvPr id="315" name="Rechteck 314">
              <a:extLst>
                <a:ext uri="{FF2B5EF4-FFF2-40B4-BE49-F238E27FC236}">
                  <a16:creationId xmlns:a16="http://schemas.microsoft.com/office/drawing/2014/main" id="{EEDBC1EF-1320-7CC0-A9E9-8B9041C8D3B5}"/>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16" name="Verbinder: gekrümmt 315">
              <a:extLst>
                <a:ext uri="{FF2B5EF4-FFF2-40B4-BE49-F238E27FC236}">
                  <a16:creationId xmlns:a16="http://schemas.microsoft.com/office/drawing/2014/main" id="{94C975EE-D33A-0973-DEE4-4E6A6045574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20" name="Grafik 319">
            <a:extLst>
              <a:ext uri="{FF2B5EF4-FFF2-40B4-BE49-F238E27FC236}">
                <a16:creationId xmlns:a16="http://schemas.microsoft.com/office/drawing/2014/main" id="{88EA1FF2-328E-4F19-BAA0-9439FDFD370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819356" y="2789330"/>
            <a:ext cx="90077" cy="28388"/>
          </a:xfrm>
          <a:prstGeom prst="rect">
            <a:avLst/>
          </a:prstGeom>
        </p:spPr>
      </p:pic>
      <p:sp>
        <p:nvSpPr>
          <p:cNvPr id="321" name="Flussdiagramm: Datenträger mit direktem Zugriff 320">
            <a:extLst>
              <a:ext uri="{FF2B5EF4-FFF2-40B4-BE49-F238E27FC236}">
                <a16:creationId xmlns:a16="http://schemas.microsoft.com/office/drawing/2014/main" id="{1BF01793-240E-8330-CDA3-760E03134B09}"/>
              </a:ext>
            </a:extLst>
          </p:cNvPr>
          <p:cNvSpPr/>
          <p:nvPr/>
        </p:nvSpPr>
        <p:spPr>
          <a:xfrm rot="5400000">
            <a:off x="4817654" y="289195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41" name="Gruppieren 140">
            <a:extLst>
              <a:ext uri="{FF2B5EF4-FFF2-40B4-BE49-F238E27FC236}">
                <a16:creationId xmlns:a16="http://schemas.microsoft.com/office/drawing/2014/main" id="{937A9597-B47B-6235-879B-14438CAB6965}"/>
              </a:ext>
            </a:extLst>
          </p:cNvPr>
          <p:cNvGrpSpPr/>
          <p:nvPr/>
        </p:nvGrpSpPr>
        <p:grpSpPr>
          <a:xfrm flipH="1">
            <a:off x="6162231" y="2285653"/>
            <a:ext cx="19389" cy="713061"/>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79" name="Flussdiagramm: Datenträger mit direktem Zugriff 178">
            <a:extLst>
              <a:ext uri="{FF2B5EF4-FFF2-40B4-BE49-F238E27FC236}">
                <a16:creationId xmlns:a16="http://schemas.microsoft.com/office/drawing/2014/main" id="{10BA6066-27DB-2BA8-A950-FD557EE09753}"/>
              </a:ext>
            </a:extLst>
          </p:cNvPr>
          <p:cNvSpPr/>
          <p:nvPr/>
        </p:nvSpPr>
        <p:spPr>
          <a:xfrm rot="5400000">
            <a:off x="6127435" y="23279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6129010" y="2268544"/>
            <a:ext cx="90077" cy="28388"/>
          </a:xfrm>
          <a:prstGeom prst="rect">
            <a:avLst/>
          </a:prstGeom>
        </p:spPr>
      </p:pic>
      <p:sp>
        <p:nvSpPr>
          <p:cNvPr id="53" name="Rechteck 52">
            <a:extLst>
              <a:ext uri="{FF2B5EF4-FFF2-40B4-BE49-F238E27FC236}">
                <a16:creationId xmlns:a16="http://schemas.microsoft.com/office/drawing/2014/main" id="{07C02E58-C111-4EA7-1847-25A85FFFF541}"/>
              </a:ext>
            </a:extLst>
          </p:cNvPr>
          <p:cNvSpPr/>
          <p:nvPr/>
        </p:nvSpPr>
        <p:spPr>
          <a:xfrm>
            <a:off x="6134287"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6131904"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6184293"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6134285"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6094307"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335" name="Gruppieren 334">
            <a:extLst>
              <a:ext uri="{FF2B5EF4-FFF2-40B4-BE49-F238E27FC236}">
                <a16:creationId xmlns:a16="http://schemas.microsoft.com/office/drawing/2014/main" id="{7423334E-98E7-0618-01BC-75BC8D8CC6C5}"/>
              </a:ext>
            </a:extLst>
          </p:cNvPr>
          <p:cNvGrpSpPr/>
          <p:nvPr/>
        </p:nvGrpSpPr>
        <p:grpSpPr>
          <a:xfrm flipH="1">
            <a:off x="6493228" y="2288036"/>
            <a:ext cx="19389" cy="713061"/>
            <a:chOff x="6851814" y="1766023"/>
            <a:chExt cx="78569" cy="2068826"/>
          </a:xfrm>
        </p:grpSpPr>
        <p:sp>
          <p:nvSpPr>
            <p:cNvPr id="336" name="Rechteck 335">
              <a:extLst>
                <a:ext uri="{FF2B5EF4-FFF2-40B4-BE49-F238E27FC236}">
                  <a16:creationId xmlns:a16="http://schemas.microsoft.com/office/drawing/2014/main" id="{618E50BD-6742-F728-C606-35CA6696B3DB}"/>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7" name="Rechteck 336">
              <a:extLst>
                <a:ext uri="{FF2B5EF4-FFF2-40B4-BE49-F238E27FC236}">
                  <a16:creationId xmlns:a16="http://schemas.microsoft.com/office/drawing/2014/main" id="{E02212D4-4A69-ACF2-983B-9AD6073A8DAA}"/>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8" name="Rechteck 337">
              <a:extLst>
                <a:ext uri="{FF2B5EF4-FFF2-40B4-BE49-F238E27FC236}">
                  <a16:creationId xmlns:a16="http://schemas.microsoft.com/office/drawing/2014/main" id="{780B4405-D36A-78B6-1424-F17591977E5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9" name="Rechteck 338">
              <a:extLst>
                <a:ext uri="{FF2B5EF4-FFF2-40B4-BE49-F238E27FC236}">
                  <a16:creationId xmlns:a16="http://schemas.microsoft.com/office/drawing/2014/main" id="{F7711CBA-B9C3-799D-4F87-28F2FE2ED8B9}"/>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0" name="Rechteck 339">
              <a:extLst>
                <a:ext uri="{FF2B5EF4-FFF2-40B4-BE49-F238E27FC236}">
                  <a16:creationId xmlns:a16="http://schemas.microsoft.com/office/drawing/2014/main" id="{A0D3D56F-C48A-FA07-0947-046052EA1AF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41" name="Flussdiagramm: Datenträger mit direktem Zugriff 340">
            <a:extLst>
              <a:ext uri="{FF2B5EF4-FFF2-40B4-BE49-F238E27FC236}">
                <a16:creationId xmlns:a16="http://schemas.microsoft.com/office/drawing/2014/main" id="{27B6A48F-7ED2-0439-87C8-4A74F3C462D0}"/>
              </a:ext>
            </a:extLst>
          </p:cNvPr>
          <p:cNvSpPr/>
          <p:nvPr/>
        </p:nvSpPr>
        <p:spPr>
          <a:xfrm rot="5400000">
            <a:off x="6458432" y="2330346"/>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342" name="Grafik 341">
            <a:extLst>
              <a:ext uri="{FF2B5EF4-FFF2-40B4-BE49-F238E27FC236}">
                <a16:creationId xmlns:a16="http://schemas.microsoft.com/office/drawing/2014/main" id="{3E4FEDDB-A6B1-95E8-5B5B-8CBE2B8164D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6460007" y="2270927"/>
            <a:ext cx="90077" cy="28388"/>
          </a:xfrm>
          <a:prstGeom prst="rect">
            <a:avLst/>
          </a:prstGeom>
        </p:spPr>
      </p:pic>
      <p:cxnSp>
        <p:nvCxnSpPr>
          <p:cNvPr id="345" name="Gerade Verbindung mit Pfeil 344">
            <a:extLst>
              <a:ext uri="{FF2B5EF4-FFF2-40B4-BE49-F238E27FC236}">
                <a16:creationId xmlns:a16="http://schemas.microsoft.com/office/drawing/2014/main" id="{E627E4AB-0DE5-A671-9205-78A8B42CF209}"/>
              </a:ext>
            </a:extLst>
          </p:cNvPr>
          <p:cNvCxnSpPr>
            <a:cxnSpLocks/>
          </p:cNvCxnSpPr>
          <p:nvPr/>
        </p:nvCxnSpPr>
        <p:spPr>
          <a:xfrm flipV="1">
            <a:off x="6223975"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348" name="Gerade Verbindung mit Pfeil 347">
            <a:extLst>
              <a:ext uri="{FF2B5EF4-FFF2-40B4-BE49-F238E27FC236}">
                <a16:creationId xmlns:a16="http://schemas.microsoft.com/office/drawing/2014/main" id="{23FBACD4-147E-C0F2-B36E-382881E6BB1B}"/>
              </a:ext>
            </a:extLst>
          </p:cNvPr>
          <p:cNvCxnSpPr>
            <a:cxnSpLocks/>
          </p:cNvCxnSpPr>
          <p:nvPr/>
        </p:nvCxnSpPr>
        <p:spPr>
          <a:xfrm flipV="1">
            <a:off x="6223975"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grpSp>
        <p:nvGrpSpPr>
          <p:cNvPr id="362" name="Gruppieren 361">
            <a:extLst>
              <a:ext uri="{FF2B5EF4-FFF2-40B4-BE49-F238E27FC236}">
                <a16:creationId xmlns:a16="http://schemas.microsoft.com/office/drawing/2014/main" id="{773D9A77-C000-B7F3-10CD-6BCFC4116769}"/>
              </a:ext>
            </a:extLst>
          </p:cNvPr>
          <p:cNvGrpSpPr/>
          <p:nvPr/>
        </p:nvGrpSpPr>
        <p:grpSpPr>
          <a:xfrm rot="10800000">
            <a:off x="8777749" y="2724824"/>
            <a:ext cx="75705" cy="277927"/>
            <a:chOff x="3476670" y="3647733"/>
            <a:chExt cx="75705" cy="277927"/>
          </a:xfrm>
        </p:grpSpPr>
        <p:sp>
          <p:nvSpPr>
            <p:cNvPr id="363" name="Rechteck 362">
              <a:extLst>
                <a:ext uri="{FF2B5EF4-FFF2-40B4-BE49-F238E27FC236}">
                  <a16:creationId xmlns:a16="http://schemas.microsoft.com/office/drawing/2014/main" id="{66AC8ECE-4BFD-59BD-DBD6-FB933516486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64" name="Verbinder: gekrümmt 363">
              <a:extLst>
                <a:ext uri="{FF2B5EF4-FFF2-40B4-BE49-F238E27FC236}">
                  <a16:creationId xmlns:a16="http://schemas.microsoft.com/office/drawing/2014/main" id="{2BFED965-260D-23F6-D850-83847A90BFF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65" name="Grafik 364">
            <a:extLst>
              <a:ext uri="{FF2B5EF4-FFF2-40B4-BE49-F238E27FC236}">
                <a16:creationId xmlns:a16="http://schemas.microsoft.com/office/drawing/2014/main" id="{D49C37F6-61F4-4205-C5F8-A0150899632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739164" y="2996859"/>
            <a:ext cx="90077" cy="28388"/>
          </a:xfrm>
          <a:prstGeom prst="rect">
            <a:avLst/>
          </a:prstGeom>
        </p:spPr>
      </p:pic>
      <p:sp>
        <p:nvSpPr>
          <p:cNvPr id="374" name="Rechteck: abgerundete Ecken 373">
            <a:extLst>
              <a:ext uri="{FF2B5EF4-FFF2-40B4-BE49-F238E27FC236}">
                <a16:creationId xmlns:a16="http://schemas.microsoft.com/office/drawing/2014/main" id="{C6F6B9D0-4190-9A4D-5EEE-2674B6733C09}"/>
              </a:ext>
            </a:extLst>
          </p:cNvPr>
          <p:cNvSpPr/>
          <p:nvPr/>
        </p:nvSpPr>
        <p:spPr>
          <a:xfrm>
            <a:off x="9653571"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24   </a:t>
            </a:r>
          </a:p>
        </p:txBody>
      </p:sp>
      <p:sp>
        <p:nvSpPr>
          <p:cNvPr id="375" name="Rechteck: abgerundete Ecken 374">
            <a:extLst>
              <a:ext uri="{FF2B5EF4-FFF2-40B4-BE49-F238E27FC236}">
                <a16:creationId xmlns:a16="http://schemas.microsoft.com/office/drawing/2014/main" id="{3F1F017F-3ED9-B6BF-7180-D000784F8FF9}"/>
              </a:ext>
            </a:extLst>
          </p:cNvPr>
          <p:cNvSpPr/>
          <p:nvPr/>
        </p:nvSpPr>
        <p:spPr>
          <a:xfrm>
            <a:off x="9999265"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25   </a:t>
            </a:r>
          </a:p>
        </p:txBody>
      </p:sp>
      <p:sp>
        <p:nvSpPr>
          <p:cNvPr id="376" name="Rechteck 375">
            <a:extLst>
              <a:ext uri="{FF2B5EF4-FFF2-40B4-BE49-F238E27FC236}">
                <a16:creationId xmlns:a16="http://schemas.microsoft.com/office/drawing/2014/main" id="{02457479-FF05-5E05-A7CC-DC31A0F9FA6B}"/>
              </a:ext>
            </a:extLst>
          </p:cNvPr>
          <p:cNvSpPr/>
          <p:nvPr/>
        </p:nvSpPr>
        <p:spPr>
          <a:xfrm rot="5400000">
            <a:off x="9665914" y="2743449"/>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0" name="Gruppieren 349">
            <a:extLst>
              <a:ext uri="{FF2B5EF4-FFF2-40B4-BE49-F238E27FC236}">
                <a16:creationId xmlns:a16="http://schemas.microsoft.com/office/drawing/2014/main" id="{BC703767-FC09-4D63-A41D-49357769E495}"/>
              </a:ext>
            </a:extLst>
          </p:cNvPr>
          <p:cNvGrpSpPr/>
          <p:nvPr/>
        </p:nvGrpSpPr>
        <p:grpSpPr>
          <a:xfrm>
            <a:off x="3287863" y="3552122"/>
            <a:ext cx="467578" cy="90248"/>
            <a:chOff x="4413024" y="3765960"/>
            <a:chExt cx="467578" cy="90248"/>
          </a:xfrm>
        </p:grpSpPr>
        <p:sp>
          <p:nvSpPr>
            <p:cNvPr id="347" name="Ellipse 346">
              <a:extLst>
                <a:ext uri="{FF2B5EF4-FFF2-40B4-BE49-F238E27FC236}">
                  <a16:creationId xmlns:a16="http://schemas.microsoft.com/office/drawing/2014/main" id="{3C492A4F-160F-4A15-D5B4-30DEF8C5FBF2}"/>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49" name="Ellipse 348">
              <a:extLst>
                <a:ext uri="{FF2B5EF4-FFF2-40B4-BE49-F238E27FC236}">
                  <a16:creationId xmlns:a16="http://schemas.microsoft.com/office/drawing/2014/main" id="{EBB8E8BD-7946-D9C6-4195-7AA5C2D292E7}"/>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353" name="Gruppieren 352">
            <a:extLst>
              <a:ext uri="{FF2B5EF4-FFF2-40B4-BE49-F238E27FC236}">
                <a16:creationId xmlns:a16="http://schemas.microsoft.com/office/drawing/2014/main" id="{C3AB486F-A111-B53D-0FBB-1DAE010FF2F1}"/>
              </a:ext>
            </a:extLst>
          </p:cNvPr>
          <p:cNvGrpSpPr/>
          <p:nvPr/>
        </p:nvGrpSpPr>
        <p:grpSpPr>
          <a:xfrm>
            <a:off x="4300537" y="2878471"/>
            <a:ext cx="814387" cy="1058530"/>
            <a:chOff x="3576637" y="2884821"/>
            <a:chExt cx="814387" cy="1058530"/>
          </a:xfrm>
        </p:grpSpPr>
        <p:sp>
          <p:nvSpPr>
            <p:cNvPr id="136" name="Rechteck 135">
              <a:extLst>
                <a:ext uri="{FF2B5EF4-FFF2-40B4-BE49-F238E27FC236}">
                  <a16:creationId xmlns:a16="http://schemas.microsoft.com/office/drawing/2014/main" id="{ACCFCB97-8BB1-6664-4C86-DD619D15697D}"/>
                </a:ext>
              </a:extLst>
            </p:cNvPr>
            <p:cNvSpPr/>
            <p:nvPr/>
          </p:nvSpPr>
          <p:spPr>
            <a:xfrm rot="5400000">
              <a:off x="3884279" y="3436606"/>
              <a:ext cx="199103" cy="81438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2" name="Ellipse 321">
              <a:extLst>
                <a:ext uri="{FF2B5EF4-FFF2-40B4-BE49-F238E27FC236}">
                  <a16:creationId xmlns:a16="http://schemas.microsoft.com/office/drawing/2014/main" id="{CB9CC1EF-B916-FC53-CFBB-BC0D2A8C387A}"/>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23" name="Bogen 322">
              <a:extLst>
                <a:ext uri="{FF2B5EF4-FFF2-40B4-BE49-F238E27FC236}">
                  <a16:creationId xmlns:a16="http://schemas.microsoft.com/office/drawing/2014/main" id="{1BE5042C-A832-4A77-530E-06E634AA4996}"/>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24" name="Rechteck 323">
              <a:extLst>
                <a:ext uri="{FF2B5EF4-FFF2-40B4-BE49-F238E27FC236}">
                  <a16:creationId xmlns:a16="http://schemas.microsoft.com/office/drawing/2014/main" id="{EC746675-979B-668C-D954-0140505F9A31}"/>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5" name="Rechteck 324">
              <a:extLst>
                <a:ext uri="{FF2B5EF4-FFF2-40B4-BE49-F238E27FC236}">
                  <a16:creationId xmlns:a16="http://schemas.microsoft.com/office/drawing/2014/main" id="{2070AF09-7E34-4D8C-74CA-D4085FBD7EE6}"/>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6" name="Rechteck 325">
              <a:extLst>
                <a:ext uri="{FF2B5EF4-FFF2-40B4-BE49-F238E27FC236}">
                  <a16:creationId xmlns:a16="http://schemas.microsoft.com/office/drawing/2014/main" id="{67C21F0D-5555-17DB-D578-C4D54B884C07}"/>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7" name="Rechteck 326">
              <a:extLst>
                <a:ext uri="{FF2B5EF4-FFF2-40B4-BE49-F238E27FC236}">
                  <a16:creationId xmlns:a16="http://schemas.microsoft.com/office/drawing/2014/main" id="{1423B56A-A3D7-EDAF-50F4-904430B9FAA0}"/>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8" name="Rechteck 327">
              <a:extLst>
                <a:ext uri="{FF2B5EF4-FFF2-40B4-BE49-F238E27FC236}">
                  <a16:creationId xmlns:a16="http://schemas.microsoft.com/office/drawing/2014/main" id="{AE1AD305-620D-C48E-6E72-C844DE269B04}"/>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9" name="Rechteck 328">
              <a:extLst>
                <a:ext uri="{FF2B5EF4-FFF2-40B4-BE49-F238E27FC236}">
                  <a16:creationId xmlns:a16="http://schemas.microsoft.com/office/drawing/2014/main" id="{600D350D-A5E3-5678-CF02-01844B417071}"/>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8" name="Rechteck 377">
              <a:extLst>
                <a:ext uri="{FF2B5EF4-FFF2-40B4-BE49-F238E27FC236}">
                  <a16:creationId xmlns:a16="http://schemas.microsoft.com/office/drawing/2014/main" id="{ECD391B8-7C37-2AA0-DB2D-E4485922D127}"/>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9" name="Rechteck 378">
              <a:extLst>
                <a:ext uri="{FF2B5EF4-FFF2-40B4-BE49-F238E27FC236}">
                  <a16:creationId xmlns:a16="http://schemas.microsoft.com/office/drawing/2014/main" id="{1FB62F75-2CDC-C046-05FC-101CF03E111D}"/>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80B500E6-C25A-83CE-24EF-87C9BD3ACB04}"/>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77" name="Rechteck 376">
              <a:extLst>
                <a:ext uri="{FF2B5EF4-FFF2-40B4-BE49-F238E27FC236}">
                  <a16:creationId xmlns:a16="http://schemas.microsoft.com/office/drawing/2014/main" id="{43C93355-861B-E048-3B3C-058E2EA97845}"/>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0" name="Verbinder: gekrümmt 19">
              <a:extLst>
                <a:ext uri="{FF2B5EF4-FFF2-40B4-BE49-F238E27FC236}">
                  <a16:creationId xmlns:a16="http://schemas.microsoft.com/office/drawing/2014/main" id="{023E9EE8-346D-62DD-AB40-97727BB3DFC9}"/>
                </a:ext>
              </a:extLst>
            </p:cNvPr>
            <p:cNvCxnSpPr>
              <a:cxnSpLocks/>
              <a:endCxn id="5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6" name="Rechteck 35">
              <a:extLst>
                <a:ext uri="{FF2B5EF4-FFF2-40B4-BE49-F238E27FC236}">
                  <a16:creationId xmlns:a16="http://schemas.microsoft.com/office/drawing/2014/main" id="{00476020-3C5E-612B-E05D-077EBD06A8AA}"/>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8944C9A0-07F9-7257-8FB3-83D090FA5C04}"/>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2BE67435-440C-885B-65DA-4F10303FF6E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Rechteck 100">
              <a:extLst>
                <a:ext uri="{FF2B5EF4-FFF2-40B4-BE49-F238E27FC236}">
                  <a16:creationId xmlns:a16="http://schemas.microsoft.com/office/drawing/2014/main" id="{2282658D-F22B-8709-F942-4BB192121CF5}"/>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2" name="Ellipse 101">
              <a:extLst>
                <a:ext uri="{FF2B5EF4-FFF2-40B4-BE49-F238E27FC236}">
                  <a16:creationId xmlns:a16="http://schemas.microsoft.com/office/drawing/2014/main" id="{81AFB3D8-43E9-F43A-51C5-DE6A088011AB}"/>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30" name="Verbinder: gekrümmt 329">
              <a:extLst>
                <a:ext uri="{FF2B5EF4-FFF2-40B4-BE49-F238E27FC236}">
                  <a16:creationId xmlns:a16="http://schemas.microsoft.com/office/drawing/2014/main" id="{CFFA7DE2-E9E7-3BC1-B47A-76AF59469F24}"/>
                </a:ext>
              </a:extLst>
            </p:cNvPr>
            <p:cNvCxnSpPr>
              <a:cxnSpLocks/>
              <a:endCxn id="101"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31" name="Ellipse 330">
              <a:extLst>
                <a:ext uri="{FF2B5EF4-FFF2-40B4-BE49-F238E27FC236}">
                  <a16:creationId xmlns:a16="http://schemas.microsoft.com/office/drawing/2014/main" id="{10DB483F-B5D3-89A3-C084-2F42DDCCCB42}"/>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1" name="Halbbogen 350">
              <a:extLst>
                <a:ext uri="{FF2B5EF4-FFF2-40B4-BE49-F238E27FC236}">
                  <a16:creationId xmlns:a16="http://schemas.microsoft.com/office/drawing/2014/main" id="{0731EA69-B82B-14C2-EC3B-EAEC4B8C230F}"/>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52" name="Halbbogen 351">
              <a:extLst>
                <a:ext uri="{FF2B5EF4-FFF2-40B4-BE49-F238E27FC236}">
                  <a16:creationId xmlns:a16="http://schemas.microsoft.com/office/drawing/2014/main" id="{6BF531E2-25D5-17A7-78B9-E30F6BC9F49D}"/>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grpSp>
        <p:nvGrpSpPr>
          <p:cNvPr id="354" name="Gruppieren 353">
            <a:extLst>
              <a:ext uri="{FF2B5EF4-FFF2-40B4-BE49-F238E27FC236}">
                <a16:creationId xmlns:a16="http://schemas.microsoft.com/office/drawing/2014/main" id="{8115EBD4-0CDA-E59A-C062-7E5A8EC6C78E}"/>
              </a:ext>
            </a:extLst>
          </p:cNvPr>
          <p:cNvGrpSpPr/>
          <p:nvPr/>
        </p:nvGrpSpPr>
        <p:grpSpPr>
          <a:xfrm rot="10800000">
            <a:off x="8223252" y="1858600"/>
            <a:ext cx="792160" cy="1058531"/>
            <a:chOff x="3582552" y="2884821"/>
            <a:chExt cx="792160" cy="1058531"/>
          </a:xfrm>
        </p:grpSpPr>
        <p:sp>
          <p:nvSpPr>
            <p:cNvPr id="355" name="Rechteck 354">
              <a:extLst>
                <a:ext uri="{FF2B5EF4-FFF2-40B4-BE49-F238E27FC236}">
                  <a16:creationId xmlns:a16="http://schemas.microsoft.com/office/drawing/2014/main" id="{A6D9DF68-F7FB-E98E-2ACA-B7346077513A}"/>
                </a:ext>
              </a:extLst>
            </p:cNvPr>
            <p:cNvSpPr/>
            <p:nvPr/>
          </p:nvSpPr>
          <p:spPr>
            <a:xfrm rot="5400000">
              <a:off x="3879080" y="3447721"/>
              <a:ext cx="199103" cy="792160"/>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6" name="Ellipse 355">
              <a:extLst>
                <a:ext uri="{FF2B5EF4-FFF2-40B4-BE49-F238E27FC236}">
                  <a16:creationId xmlns:a16="http://schemas.microsoft.com/office/drawing/2014/main" id="{6C45F4C5-EF76-F6CE-881E-53CEB1A3053F}"/>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57" name="Bogen 356">
              <a:extLst>
                <a:ext uri="{FF2B5EF4-FFF2-40B4-BE49-F238E27FC236}">
                  <a16:creationId xmlns:a16="http://schemas.microsoft.com/office/drawing/2014/main" id="{279931CD-0E62-F160-59AF-FF1DCFA2274C}"/>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58" name="Rechteck 357">
              <a:extLst>
                <a:ext uri="{FF2B5EF4-FFF2-40B4-BE49-F238E27FC236}">
                  <a16:creationId xmlns:a16="http://schemas.microsoft.com/office/drawing/2014/main" id="{0CDAD09B-CA73-3AC0-594F-5A9421A2E185}"/>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9" name="Rechteck 358">
              <a:extLst>
                <a:ext uri="{FF2B5EF4-FFF2-40B4-BE49-F238E27FC236}">
                  <a16:creationId xmlns:a16="http://schemas.microsoft.com/office/drawing/2014/main" id="{AE526B6A-5956-8CB7-BBE3-A79ECAA30973}"/>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0" name="Rechteck 359">
              <a:extLst>
                <a:ext uri="{FF2B5EF4-FFF2-40B4-BE49-F238E27FC236}">
                  <a16:creationId xmlns:a16="http://schemas.microsoft.com/office/drawing/2014/main" id="{3E5302A2-9B32-66F0-DD29-BCADC1C47772}"/>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1" name="Rechteck 360">
              <a:extLst>
                <a:ext uri="{FF2B5EF4-FFF2-40B4-BE49-F238E27FC236}">
                  <a16:creationId xmlns:a16="http://schemas.microsoft.com/office/drawing/2014/main" id="{BDB2CCA3-FE0C-99F6-90DF-7CB6909AD371}"/>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0" name="Rechteck 379">
              <a:extLst>
                <a:ext uri="{FF2B5EF4-FFF2-40B4-BE49-F238E27FC236}">
                  <a16:creationId xmlns:a16="http://schemas.microsoft.com/office/drawing/2014/main" id="{7DC24DCC-505F-7B42-732F-C937B618ECB1}"/>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1" name="Rechteck 380">
              <a:extLst>
                <a:ext uri="{FF2B5EF4-FFF2-40B4-BE49-F238E27FC236}">
                  <a16:creationId xmlns:a16="http://schemas.microsoft.com/office/drawing/2014/main" id="{5182A6C2-C365-02EC-B332-FA88A1DFE5DF}"/>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71D5A36F-8D23-7AD5-3D05-D13EBB0CEE21}"/>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3" name="Rechteck 382">
              <a:extLst>
                <a:ext uri="{FF2B5EF4-FFF2-40B4-BE49-F238E27FC236}">
                  <a16:creationId xmlns:a16="http://schemas.microsoft.com/office/drawing/2014/main" id="{1CC4F0F3-337F-F059-71DA-A5A394BCBCE3}"/>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4" name="Ellipse 383">
              <a:extLst>
                <a:ext uri="{FF2B5EF4-FFF2-40B4-BE49-F238E27FC236}">
                  <a16:creationId xmlns:a16="http://schemas.microsoft.com/office/drawing/2014/main" id="{AF1BC4EB-300A-962F-AE88-CEFB04B66E00}"/>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85" name="Rechteck 384">
              <a:extLst>
                <a:ext uri="{FF2B5EF4-FFF2-40B4-BE49-F238E27FC236}">
                  <a16:creationId xmlns:a16="http://schemas.microsoft.com/office/drawing/2014/main" id="{B69D1E9B-D229-A9C8-5419-724BBF12C728}"/>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86" name="Verbinder: gekrümmt 385">
              <a:extLst>
                <a:ext uri="{FF2B5EF4-FFF2-40B4-BE49-F238E27FC236}">
                  <a16:creationId xmlns:a16="http://schemas.microsoft.com/office/drawing/2014/main" id="{9FE3881A-9C6F-7B57-7751-6E7ABCB0546C}"/>
                </a:ext>
              </a:extLst>
            </p:cNvPr>
            <p:cNvCxnSpPr>
              <a:cxnSpLocks/>
              <a:endCxn id="38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87" name="Rechteck 386">
              <a:extLst>
                <a:ext uri="{FF2B5EF4-FFF2-40B4-BE49-F238E27FC236}">
                  <a16:creationId xmlns:a16="http://schemas.microsoft.com/office/drawing/2014/main" id="{DE726E11-B7E3-A528-B0CB-2F3CC4C10B8D}"/>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8" name="Rechteck 387">
              <a:extLst>
                <a:ext uri="{FF2B5EF4-FFF2-40B4-BE49-F238E27FC236}">
                  <a16:creationId xmlns:a16="http://schemas.microsoft.com/office/drawing/2014/main" id="{216B81C3-9040-4791-2F11-ECE9206BF106}"/>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9" name="Rechteck 388">
              <a:extLst>
                <a:ext uri="{FF2B5EF4-FFF2-40B4-BE49-F238E27FC236}">
                  <a16:creationId xmlns:a16="http://schemas.microsoft.com/office/drawing/2014/main" id="{4CF4E045-D158-DD78-C847-E373A9A7887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0" name="Rechteck 389">
              <a:extLst>
                <a:ext uri="{FF2B5EF4-FFF2-40B4-BE49-F238E27FC236}">
                  <a16:creationId xmlns:a16="http://schemas.microsoft.com/office/drawing/2014/main" id="{FAE10F8C-925D-0E7C-1600-CEF7E73F6FEE}"/>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1" name="Ellipse 390">
              <a:extLst>
                <a:ext uri="{FF2B5EF4-FFF2-40B4-BE49-F238E27FC236}">
                  <a16:creationId xmlns:a16="http://schemas.microsoft.com/office/drawing/2014/main" id="{4588EA84-688B-5B91-793E-B93C7FD77D16}"/>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92" name="Verbinder: gekrümmt 391">
              <a:extLst>
                <a:ext uri="{FF2B5EF4-FFF2-40B4-BE49-F238E27FC236}">
                  <a16:creationId xmlns:a16="http://schemas.microsoft.com/office/drawing/2014/main" id="{DB972015-2779-8692-3FAF-DFD7AC4459DD}"/>
                </a:ext>
              </a:extLst>
            </p:cNvPr>
            <p:cNvCxnSpPr>
              <a:cxnSpLocks/>
              <a:endCxn id="390"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93" name="Ellipse 392">
              <a:extLst>
                <a:ext uri="{FF2B5EF4-FFF2-40B4-BE49-F238E27FC236}">
                  <a16:creationId xmlns:a16="http://schemas.microsoft.com/office/drawing/2014/main" id="{CDE0CFA7-F567-A903-23AA-E8555E03AE58}"/>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5" name="Halbbogen 394">
              <a:extLst>
                <a:ext uri="{FF2B5EF4-FFF2-40B4-BE49-F238E27FC236}">
                  <a16:creationId xmlns:a16="http://schemas.microsoft.com/office/drawing/2014/main" id="{05FCC4F4-E2EB-A245-FBDF-B8BE74992CDA}"/>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sp>
        <p:nvSpPr>
          <p:cNvPr id="396" name="Textfeld 395">
            <a:extLst>
              <a:ext uri="{FF2B5EF4-FFF2-40B4-BE49-F238E27FC236}">
                <a16:creationId xmlns:a16="http://schemas.microsoft.com/office/drawing/2014/main" id="{07801104-DE54-86EA-6985-4A0065F17238}"/>
              </a:ext>
            </a:extLst>
          </p:cNvPr>
          <p:cNvSpPr txBox="1"/>
          <p:nvPr/>
        </p:nvSpPr>
        <p:spPr>
          <a:xfrm>
            <a:off x="4033156" y="5384334"/>
            <a:ext cx="2043745" cy="1338828"/>
          </a:xfrm>
          <a:prstGeom prst="rect">
            <a:avLst/>
          </a:prstGeom>
          <a:noFill/>
        </p:spPr>
        <p:txBody>
          <a:bodyPr wrap="square" rtlCol="0">
            <a:spAutoFit/>
          </a:bodyPr>
          <a:lstStyle/>
          <a:p>
            <a:r>
              <a:rPr lang="de-DE" sz="900" dirty="0"/>
              <a:t>1       Cutting </a:t>
            </a:r>
            <a:r>
              <a:rPr lang="de-DE" sz="900" dirty="0" err="1"/>
              <a:t>cable</a:t>
            </a:r>
            <a:endParaRPr lang="de-DE" sz="900" dirty="0"/>
          </a:p>
          <a:p>
            <a:r>
              <a:rPr lang="de-DE" sz="900" dirty="0"/>
              <a:t>2       Insert </a:t>
            </a:r>
            <a:r>
              <a:rPr lang="de-DE" sz="900" dirty="0" err="1"/>
              <a:t>Shrinksleeve</a:t>
            </a:r>
            <a:r>
              <a:rPr lang="de-DE" sz="900" dirty="0"/>
              <a:t> (Option)</a:t>
            </a:r>
          </a:p>
          <a:p>
            <a:r>
              <a:rPr lang="de-DE" sz="900" dirty="0"/>
              <a:t>3       </a:t>
            </a:r>
            <a:r>
              <a:rPr lang="de-DE" sz="900" dirty="0" err="1"/>
              <a:t>Removing</a:t>
            </a:r>
            <a:r>
              <a:rPr lang="de-DE" sz="900" dirty="0"/>
              <a:t> </a:t>
            </a:r>
            <a:r>
              <a:rPr lang="de-DE" sz="900" dirty="0" err="1"/>
              <a:t>Isolationpart</a:t>
            </a:r>
            <a:r>
              <a:rPr lang="de-DE" sz="900" dirty="0"/>
              <a:t> Terminal 1</a:t>
            </a:r>
          </a:p>
          <a:p>
            <a:r>
              <a:rPr lang="de-DE" sz="900" dirty="0"/>
              <a:t>4       Free Station </a:t>
            </a:r>
          </a:p>
          <a:p>
            <a:r>
              <a:rPr lang="de-DE" sz="900" dirty="0"/>
              <a:t>5       </a:t>
            </a:r>
            <a:r>
              <a:rPr lang="de-DE" sz="900" dirty="0" err="1"/>
              <a:t>Feeding</a:t>
            </a:r>
            <a:r>
              <a:rPr lang="de-DE" sz="900" dirty="0"/>
              <a:t> Terminal 2 and </a:t>
            </a:r>
            <a:r>
              <a:rPr lang="de-DE" sz="900" dirty="0" err="1"/>
              <a:t>Crimping</a:t>
            </a:r>
            <a:r>
              <a:rPr lang="de-DE" sz="900" dirty="0"/>
              <a:t> 1</a:t>
            </a:r>
          </a:p>
          <a:p>
            <a:r>
              <a:rPr lang="de-DE" sz="900" dirty="0"/>
              <a:t>6       Free Station</a:t>
            </a:r>
          </a:p>
          <a:p>
            <a:r>
              <a:rPr lang="de-DE" sz="900" dirty="0"/>
              <a:t>7       Bending Terminal 1</a:t>
            </a:r>
          </a:p>
          <a:p>
            <a:pPr marL="228600" indent="-228600">
              <a:buAutoNum type="arabicPlain" startAt="8"/>
            </a:pPr>
            <a:r>
              <a:rPr lang="de-DE" sz="900" dirty="0" err="1"/>
              <a:t>Tinning</a:t>
            </a:r>
            <a:r>
              <a:rPr lang="de-DE" sz="900" dirty="0"/>
              <a:t> 1 Terminal 1</a:t>
            </a:r>
          </a:p>
          <a:p>
            <a:pPr marL="228600" indent="-228600">
              <a:buAutoNum type="arabicPlain" startAt="8"/>
            </a:pPr>
            <a:r>
              <a:rPr lang="de-DE" sz="900" dirty="0" err="1"/>
              <a:t>Tinning</a:t>
            </a:r>
            <a:r>
              <a:rPr lang="de-DE" sz="900" dirty="0"/>
              <a:t> 2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446131" y="5375573"/>
            <a:ext cx="1926764" cy="1061829"/>
          </a:xfrm>
          <a:prstGeom prst="rect">
            <a:avLst/>
          </a:prstGeom>
          <a:noFill/>
        </p:spPr>
        <p:txBody>
          <a:bodyPr wrap="square" rtlCol="0">
            <a:spAutoFit/>
          </a:bodyPr>
          <a:lstStyle/>
          <a:p>
            <a:r>
              <a:rPr lang="de-DE" sz="900" dirty="0"/>
              <a:t>19     Bending Terminal 2</a:t>
            </a:r>
          </a:p>
          <a:p>
            <a:pPr marL="228600" indent="-228600">
              <a:buAutoNum type="arabicPlain" startAt="20"/>
            </a:pPr>
            <a:r>
              <a:rPr lang="de-DE" sz="900" dirty="0" err="1"/>
              <a:t>Tinning</a:t>
            </a:r>
            <a:r>
              <a:rPr lang="de-DE" sz="900" dirty="0"/>
              <a:t> 1 Terminal 2</a:t>
            </a:r>
          </a:p>
          <a:p>
            <a:pPr marL="228600" indent="-228600">
              <a:buAutoNum type="arabicPlain" startAt="20"/>
            </a:pPr>
            <a:r>
              <a:rPr lang="de-DE" sz="900" dirty="0" err="1"/>
              <a:t>Tinning</a:t>
            </a:r>
            <a:r>
              <a:rPr lang="de-DE" sz="900" dirty="0"/>
              <a:t> 2 Terminal 2</a:t>
            </a:r>
          </a:p>
          <a:p>
            <a:r>
              <a:rPr lang="de-DE" sz="900" dirty="0"/>
              <a:t>22     Optical </a:t>
            </a:r>
            <a:r>
              <a:rPr lang="de-DE" sz="900" dirty="0" err="1"/>
              <a:t>Inspection</a:t>
            </a:r>
            <a:r>
              <a:rPr lang="de-DE" sz="900" dirty="0"/>
              <a:t> Terminal 2</a:t>
            </a:r>
          </a:p>
          <a:p>
            <a:r>
              <a:rPr lang="de-DE" sz="900" dirty="0"/>
              <a:t>23     </a:t>
            </a:r>
            <a:r>
              <a:rPr lang="de-DE" sz="900" dirty="0" err="1"/>
              <a:t>Electrical</a:t>
            </a:r>
            <a:r>
              <a:rPr lang="de-DE" sz="900" dirty="0"/>
              <a:t> </a:t>
            </a:r>
            <a:r>
              <a:rPr lang="de-DE" sz="900" dirty="0" err="1"/>
              <a:t>Testing</a:t>
            </a:r>
            <a:r>
              <a:rPr lang="de-DE" sz="900" dirty="0"/>
              <a:t> (Option)</a:t>
            </a:r>
          </a:p>
          <a:p>
            <a:r>
              <a:rPr lang="de-DE" sz="900" dirty="0"/>
              <a:t>24     </a:t>
            </a:r>
            <a:r>
              <a:rPr lang="de-DE" sz="900" dirty="0" err="1"/>
              <a:t>Labeling</a:t>
            </a:r>
            <a:r>
              <a:rPr lang="de-DE" sz="900" dirty="0"/>
              <a:t> (Option)</a:t>
            </a:r>
          </a:p>
          <a:p>
            <a:r>
              <a:rPr lang="de-DE" sz="900" dirty="0"/>
              <a:t>25     Output Cable</a:t>
            </a:r>
          </a:p>
        </p:txBody>
      </p:sp>
      <p:sp>
        <p:nvSpPr>
          <p:cNvPr id="398" name="Textfeld 397">
            <a:extLst>
              <a:ext uri="{FF2B5EF4-FFF2-40B4-BE49-F238E27FC236}">
                <a16:creationId xmlns:a16="http://schemas.microsoft.com/office/drawing/2014/main" id="{8876DD53-E338-E606-E655-CD9D01B91F2A}"/>
              </a:ext>
            </a:extLst>
          </p:cNvPr>
          <p:cNvSpPr txBox="1"/>
          <p:nvPr/>
        </p:nvSpPr>
        <p:spPr>
          <a:xfrm>
            <a:off x="6203263" y="5380236"/>
            <a:ext cx="2052078" cy="1338828"/>
          </a:xfrm>
          <a:prstGeom prst="rect">
            <a:avLst/>
          </a:prstGeom>
          <a:noFill/>
        </p:spPr>
        <p:txBody>
          <a:bodyPr wrap="square" rtlCol="0">
            <a:spAutoFit/>
          </a:bodyPr>
          <a:lstStyle>
            <a:defPPr>
              <a:defRPr lang="de-DE"/>
            </a:defPPr>
            <a:lvl1pPr>
              <a:defRPr sz="900"/>
            </a:lvl1pPr>
          </a:lstStyle>
          <a:p>
            <a:r>
              <a:rPr lang="de-DE" dirty="0"/>
              <a:t>10     Optical </a:t>
            </a:r>
            <a:r>
              <a:rPr lang="de-DE" dirty="0" err="1"/>
              <a:t>Inspection</a:t>
            </a:r>
            <a:r>
              <a:rPr lang="de-DE" dirty="0"/>
              <a:t> Terminal 1</a:t>
            </a:r>
          </a:p>
          <a:p>
            <a:r>
              <a:rPr lang="de-DE" dirty="0"/>
              <a:t>11     </a:t>
            </a:r>
            <a:r>
              <a:rPr lang="de-DE" sz="900" dirty="0" err="1"/>
              <a:t>Positioning</a:t>
            </a:r>
            <a:r>
              <a:rPr lang="de-DE" sz="900" dirty="0"/>
              <a:t> </a:t>
            </a:r>
            <a:r>
              <a:rPr lang="de-DE" sz="900" dirty="0" err="1"/>
              <a:t>Shrink</a:t>
            </a:r>
            <a:r>
              <a:rPr lang="de-DE" sz="900" dirty="0"/>
              <a:t> </a:t>
            </a:r>
            <a:r>
              <a:rPr lang="de-DE" sz="900" dirty="0" err="1"/>
              <a:t>Sleeve</a:t>
            </a:r>
            <a:r>
              <a:rPr lang="de-DE" sz="900" dirty="0"/>
              <a:t> (Option)</a:t>
            </a:r>
            <a:endParaRPr lang="de-DE" dirty="0"/>
          </a:p>
          <a:p>
            <a:r>
              <a:rPr lang="de-DE" dirty="0"/>
              <a:t>12     </a:t>
            </a:r>
            <a:r>
              <a:rPr lang="de-DE" dirty="0" err="1"/>
              <a:t>Shrinking</a:t>
            </a:r>
            <a:r>
              <a:rPr lang="de-DE" dirty="0"/>
              <a:t> Terminal 1 (Option)</a:t>
            </a:r>
          </a:p>
          <a:p>
            <a:r>
              <a:rPr lang="de-DE" dirty="0"/>
              <a:t>13     </a:t>
            </a:r>
            <a:r>
              <a:rPr lang="de-DE" dirty="0" err="1"/>
              <a:t>Turning</a:t>
            </a:r>
            <a:r>
              <a:rPr lang="de-DE" dirty="0"/>
              <a:t> </a:t>
            </a:r>
            <a:r>
              <a:rPr lang="de-DE" dirty="0" err="1"/>
              <a:t>station</a:t>
            </a:r>
            <a:r>
              <a:rPr lang="de-DE" dirty="0"/>
              <a:t> Terminal 1 </a:t>
            </a:r>
            <a:r>
              <a:rPr lang="de-DE" dirty="0" err="1"/>
              <a:t>to</a:t>
            </a:r>
            <a:r>
              <a:rPr lang="de-DE" dirty="0"/>
              <a:t> 2</a:t>
            </a:r>
          </a:p>
          <a:p>
            <a:r>
              <a:rPr lang="de-DE" dirty="0"/>
              <a:t>14     </a:t>
            </a:r>
            <a:r>
              <a:rPr lang="de-DE" dirty="0" err="1"/>
              <a:t>Turning</a:t>
            </a:r>
            <a:r>
              <a:rPr lang="de-DE" dirty="0"/>
              <a:t> Position Terminal 2    3-6-9</a:t>
            </a:r>
          </a:p>
          <a:p>
            <a:r>
              <a:rPr lang="de-DE" dirty="0"/>
              <a:t>15     </a:t>
            </a:r>
            <a:r>
              <a:rPr lang="de-DE" dirty="0" err="1"/>
              <a:t>Removing</a:t>
            </a:r>
            <a:r>
              <a:rPr lang="de-DE" dirty="0"/>
              <a:t> </a:t>
            </a:r>
            <a:r>
              <a:rPr lang="de-DE" dirty="0" err="1"/>
              <a:t>Isolationpart</a:t>
            </a:r>
            <a:r>
              <a:rPr lang="de-DE" dirty="0"/>
              <a:t> Terminal 2</a:t>
            </a:r>
          </a:p>
          <a:p>
            <a:r>
              <a:rPr lang="de-DE" dirty="0"/>
              <a:t>16     Free Station</a:t>
            </a:r>
          </a:p>
          <a:p>
            <a:pPr marL="228600" indent="-228600">
              <a:buAutoNum type="arabicPlain" startAt="17"/>
            </a:pPr>
            <a:r>
              <a:rPr lang="de-DE" sz="900" dirty="0" err="1"/>
              <a:t>Feeding</a:t>
            </a:r>
            <a:r>
              <a:rPr lang="de-DE" sz="900" dirty="0"/>
              <a:t> Terminal 2 and </a:t>
            </a:r>
            <a:r>
              <a:rPr lang="de-DE" sz="900" dirty="0" err="1"/>
              <a:t>Crimping</a:t>
            </a:r>
            <a:r>
              <a:rPr lang="de-DE" sz="900" dirty="0"/>
              <a:t> 2</a:t>
            </a:r>
          </a:p>
          <a:p>
            <a:pPr marL="228600" indent="-228600">
              <a:buAutoNum type="arabicPlain" startAt="17"/>
            </a:pPr>
            <a:r>
              <a:rPr lang="de-DE" dirty="0"/>
              <a:t>Free Station</a:t>
            </a:r>
            <a:endParaRPr lang="de-DE" sz="900" dirty="0"/>
          </a:p>
        </p:txBody>
      </p:sp>
      <p:sp>
        <p:nvSpPr>
          <p:cNvPr id="401" name="Rechteck 400">
            <a:extLst>
              <a:ext uri="{FF2B5EF4-FFF2-40B4-BE49-F238E27FC236}">
                <a16:creationId xmlns:a16="http://schemas.microsoft.com/office/drawing/2014/main" id="{EB91AAFD-3F79-620C-0A94-BB6CF68ED630}"/>
              </a:ext>
            </a:extLst>
          </p:cNvPr>
          <p:cNvSpPr/>
          <p:nvPr/>
        </p:nvSpPr>
        <p:spPr>
          <a:xfrm>
            <a:off x="4029075" y="4017565"/>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 </a:t>
            </a:r>
            <a:r>
              <a:rPr lang="de-DE" sz="800" dirty="0" err="1"/>
              <a:t>for</a:t>
            </a:r>
            <a:r>
              <a:rPr lang="de-DE" sz="800" dirty="0"/>
              <a:t> </a:t>
            </a:r>
            <a:r>
              <a:rPr lang="de-DE" sz="800" dirty="0" err="1"/>
              <a:t>both</a:t>
            </a:r>
            <a:r>
              <a:rPr lang="de-DE" sz="800" dirty="0"/>
              <a:t> </a:t>
            </a:r>
            <a:r>
              <a:rPr lang="de-DE" sz="800" dirty="0" err="1"/>
              <a:t>station</a:t>
            </a:r>
            <a:endParaRPr lang="de-DE" sz="800" dirty="0"/>
          </a:p>
        </p:txBody>
      </p:sp>
      <p:sp>
        <p:nvSpPr>
          <p:cNvPr id="406" name="Bogen 405">
            <a:extLst>
              <a:ext uri="{FF2B5EF4-FFF2-40B4-BE49-F238E27FC236}">
                <a16:creationId xmlns:a16="http://schemas.microsoft.com/office/drawing/2014/main" id="{0A9F292A-FBC0-A417-C2F2-AE33EAD228AA}"/>
              </a:ext>
            </a:extLst>
          </p:cNvPr>
          <p:cNvSpPr/>
          <p:nvPr/>
        </p:nvSpPr>
        <p:spPr>
          <a:xfrm rot="5400000">
            <a:off x="18872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28459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0" name="Gerade Verbindung mit Pfeil 409">
            <a:extLst>
              <a:ext uri="{FF2B5EF4-FFF2-40B4-BE49-F238E27FC236}">
                <a16:creationId xmlns:a16="http://schemas.microsoft.com/office/drawing/2014/main" id="{F4040FF7-D6E8-4263-9AA2-8A2D07AC01EB}"/>
              </a:ext>
            </a:extLst>
          </p:cNvPr>
          <p:cNvCxnSpPr>
            <a:cxnSpLocks/>
          </p:cNvCxnSpPr>
          <p:nvPr/>
        </p:nvCxnSpPr>
        <p:spPr>
          <a:xfrm flipV="1">
            <a:off x="3400683"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2" name="Gerader Verbinder 411">
            <a:extLst>
              <a:ext uri="{FF2B5EF4-FFF2-40B4-BE49-F238E27FC236}">
                <a16:creationId xmlns:a16="http://schemas.microsoft.com/office/drawing/2014/main" id="{5402DEC2-9D89-E811-3D0B-EF1052B56D7B}"/>
              </a:ext>
            </a:extLst>
          </p:cNvPr>
          <p:cNvCxnSpPr/>
          <p:nvPr/>
        </p:nvCxnSpPr>
        <p:spPr>
          <a:xfrm>
            <a:off x="2886226"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3" name="Gerader Verbinder 412">
            <a:extLst>
              <a:ext uri="{FF2B5EF4-FFF2-40B4-BE49-F238E27FC236}">
                <a16:creationId xmlns:a16="http://schemas.microsoft.com/office/drawing/2014/main" id="{E37CEAF5-8806-55B9-E780-5755C365DB8C}"/>
              </a:ext>
            </a:extLst>
          </p:cNvPr>
          <p:cNvCxnSpPr/>
          <p:nvPr/>
        </p:nvCxnSpPr>
        <p:spPr>
          <a:xfrm>
            <a:off x="3894826"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5" name="Textfeld 414">
            <a:extLst>
              <a:ext uri="{FF2B5EF4-FFF2-40B4-BE49-F238E27FC236}">
                <a16:creationId xmlns:a16="http://schemas.microsoft.com/office/drawing/2014/main" id="{DFC23C4D-9CB1-B6F8-D780-DD778BAA7CA7}"/>
              </a:ext>
            </a:extLst>
          </p:cNvPr>
          <p:cNvSpPr txBox="1"/>
          <p:nvPr/>
        </p:nvSpPr>
        <p:spPr>
          <a:xfrm>
            <a:off x="2877967"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7314890"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819082"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827682"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810823"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967418"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7031864"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30" name="Gruppieren 429">
            <a:extLst>
              <a:ext uri="{FF2B5EF4-FFF2-40B4-BE49-F238E27FC236}">
                <a16:creationId xmlns:a16="http://schemas.microsoft.com/office/drawing/2014/main" id="{50AE0B4C-6CD9-618B-96A5-F1DA86D2691C}"/>
              </a:ext>
            </a:extLst>
          </p:cNvPr>
          <p:cNvGrpSpPr/>
          <p:nvPr/>
        </p:nvGrpSpPr>
        <p:grpSpPr>
          <a:xfrm>
            <a:off x="2849757" y="2999802"/>
            <a:ext cx="69580" cy="193454"/>
            <a:chOff x="2849757" y="2999802"/>
            <a:chExt cx="69580" cy="193454"/>
          </a:xfrm>
        </p:grpSpPr>
        <p:sp>
          <p:nvSpPr>
            <p:cNvPr id="424" name="Rechteck 423">
              <a:extLst>
                <a:ext uri="{FF2B5EF4-FFF2-40B4-BE49-F238E27FC236}">
                  <a16:creationId xmlns:a16="http://schemas.microsoft.com/office/drawing/2014/main" id="{8B429774-8B94-7203-F945-0830C0E6A020}"/>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26" name="Gerade Verbindung mit Pfeil 425">
              <a:extLst>
                <a:ext uri="{FF2B5EF4-FFF2-40B4-BE49-F238E27FC236}">
                  <a16:creationId xmlns:a16="http://schemas.microsoft.com/office/drawing/2014/main" id="{6FC554A2-E699-50C8-9C0B-2536947AE277}"/>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1" name="Gruppieren 430">
            <a:extLst>
              <a:ext uri="{FF2B5EF4-FFF2-40B4-BE49-F238E27FC236}">
                <a16:creationId xmlns:a16="http://schemas.microsoft.com/office/drawing/2014/main" id="{7C4E101E-6D3F-B73F-FCD2-132B17BBB0E5}"/>
              </a:ext>
            </a:extLst>
          </p:cNvPr>
          <p:cNvGrpSpPr/>
          <p:nvPr/>
        </p:nvGrpSpPr>
        <p:grpSpPr>
          <a:xfrm>
            <a:off x="3502011" y="2991323"/>
            <a:ext cx="69580" cy="193454"/>
            <a:chOff x="2849757" y="2999802"/>
            <a:chExt cx="69580" cy="193454"/>
          </a:xfrm>
        </p:grpSpPr>
        <p:sp>
          <p:nvSpPr>
            <p:cNvPr id="432" name="Rechteck 431">
              <a:extLst>
                <a:ext uri="{FF2B5EF4-FFF2-40B4-BE49-F238E27FC236}">
                  <a16:creationId xmlns:a16="http://schemas.microsoft.com/office/drawing/2014/main" id="{89CCD666-35A8-8250-0447-BBE2F46E6C98}"/>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3" name="Gerade Verbindung mit Pfeil 432">
              <a:extLst>
                <a:ext uri="{FF2B5EF4-FFF2-40B4-BE49-F238E27FC236}">
                  <a16:creationId xmlns:a16="http://schemas.microsoft.com/office/drawing/2014/main" id="{99F59633-1DF9-3730-851A-61003ADDBB26}"/>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1" name="Ellipse 440">
            <a:extLst>
              <a:ext uri="{FF2B5EF4-FFF2-40B4-BE49-F238E27FC236}">
                <a16:creationId xmlns:a16="http://schemas.microsoft.com/office/drawing/2014/main" id="{31B2067F-AB97-F4CE-49F4-78334ACCBE09}"/>
              </a:ext>
            </a:extLst>
          </p:cNvPr>
          <p:cNvSpPr/>
          <p:nvPr/>
        </p:nvSpPr>
        <p:spPr>
          <a:xfrm>
            <a:off x="6131904"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42" name="Ellipse 441">
            <a:extLst>
              <a:ext uri="{FF2B5EF4-FFF2-40B4-BE49-F238E27FC236}">
                <a16:creationId xmlns:a16="http://schemas.microsoft.com/office/drawing/2014/main" id="{E2AD34D2-176A-FFA8-4978-C218270EC79F}"/>
              </a:ext>
            </a:extLst>
          </p:cNvPr>
          <p:cNvSpPr/>
          <p:nvPr/>
        </p:nvSpPr>
        <p:spPr>
          <a:xfrm>
            <a:off x="6464007"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7442450"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4" name="Ellipse 453">
            <a:extLst>
              <a:ext uri="{FF2B5EF4-FFF2-40B4-BE49-F238E27FC236}">
                <a16:creationId xmlns:a16="http://schemas.microsoft.com/office/drawing/2014/main" id="{F5AC4FC0-002D-8324-EB04-802F2831ED7B}"/>
              </a:ext>
            </a:extLst>
          </p:cNvPr>
          <p:cNvSpPr/>
          <p:nvPr/>
        </p:nvSpPr>
        <p:spPr>
          <a:xfrm>
            <a:off x="9445283" y="271955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60" name="Rechteck 459">
            <a:extLst>
              <a:ext uri="{FF2B5EF4-FFF2-40B4-BE49-F238E27FC236}">
                <a16:creationId xmlns:a16="http://schemas.microsoft.com/office/drawing/2014/main" id="{5CB04050-69CD-84D9-4A18-1FC1ECBB6BFE}"/>
              </a:ext>
            </a:extLst>
          </p:cNvPr>
          <p:cNvSpPr/>
          <p:nvPr/>
        </p:nvSpPr>
        <p:spPr>
          <a:xfrm>
            <a:off x="5323006" y="3995754"/>
            <a:ext cx="772994" cy="52812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r>
              <a:rPr lang="de-DE" sz="800" dirty="0"/>
              <a:t> </a:t>
            </a:r>
            <a:r>
              <a:rPr lang="de-DE" sz="800" dirty="0" err="1"/>
              <a:t>for</a:t>
            </a:r>
            <a:r>
              <a:rPr lang="de-DE" sz="800" dirty="0"/>
              <a:t> </a:t>
            </a:r>
            <a:r>
              <a:rPr lang="de-DE" sz="800" dirty="0" err="1"/>
              <a:t>both</a:t>
            </a:r>
            <a:endParaRPr lang="de-DE" sz="800" dirty="0"/>
          </a:p>
          <a:p>
            <a:pPr algn="ctr"/>
            <a:r>
              <a:rPr lang="de-DE" sz="800" dirty="0" err="1"/>
              <a:t>Tinning</a:t>
            </a:r>
            <a:r>
              <a:rPr lang="de-DE" sz="800" dirty="0"/>
              <a:t> </a:t>
            </a:r>
            <a:r>
              <a:rPr lang="de-DE" sz="800" dirty="0" err="1"/>
              <a:t>station</a:t>
            </a:r>
            <a:endParaRPr lang="de-DE" sz="800" dirty="0"/>
          </a:p>
        </p:txBody>
      </p:sp>
      <p:cxnSp>
        <p:nvCxnSpPr>
          <p:cNvPr id="461" name="Verbinder: gekrümmt 460">
            <a:extLst>
              <a:ext uri="{FF2B5EF4-FFF2-40B4-BE49-F238E27FC236}">
                <a16:creationId xmlns:a16="http://schemas.microsoft.com/office/drawing/2014/main" id="{EE5F864C-5000-50A7-1D5F-78EA74544B6B}"/>
              </a:ext>
            </a:extLst>
          </p:cNvPr>
          <p:cNvCxnSpPr>
            <a:cxnSpLocks/>
            <a:stCxn id="460" idx="1"/>
            <a:endCxn id="136" idx="1"/>
          </p:cNvCxnSpPr>
          <p:nvPr/>
        </p:nvCxnSpPr>
        <p:spPr>
          <a:xfrm rot="10800000">
            <a:off x="4707730" y="3737898"/>
            <a:ext cx="615276" cy="521916"/>
          </a:xfrm>
          <a:prstGeom prst="curvedConnector4">
            <a:avLst>
              <a:gd name="adj1" fmla="val 41910"/>
              <a:gd name="adj2" fmla="val 38910"/>
            </a:avLst>
          </a:prstGeom>
          <a:ln/>
        </p:spPr>
        <p:style>
          <a:lnRef idx="3">
            <a:schemeClr val="dk1"/>
          </a:lnRef>
          <a:fillRef idx="0">
            <a:schemeClr val="dk1"/>
          </a:fillRef>
          <a:effectRef idx="2">
            <a:schemeClr val="dk1"/>
          </a:effectRef>
          <a:fontRef idx="minor">
            <a:schemeClr val="tx1"/>
          </a:fontRef>
        </p:style>
      </p:cxnSp>
      <p:sp>
        <p:nvSpPr>
          <p:cNvPr id="402" name="Rechteck 401">
            <a:extLst>
              <a:ext uri="{FF2B5EF4-FFF2-40B4-BE49-F238E27FC236}">
                <a16:creationId xmlns:a16="http://schemas.microsoft.com/office/drawing/2014/main" id="{A65D4B45-8A83-9CE7-4A5C-EED89F649B14}"/>
              </a:ext>
            </a:extLst>
          </p:cNvPr>
          <p:cNvSpPr/>
          <p:nvPr/>
        </p:nvSpPr>
        <p:spPr>
          <a:xfrm>
            <a:off x="4732465" y="4159190"/>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72" name="Rechteck 471">
            <a:extLst>
              <a:ext uri="{FF2B5EF4-FFF2-40B4-BE49-F238E27FC236}">
                <a16:creationId xmlns:a16="http://schemas.microsoft.com/office/drawing/2014/main" id="{FD662F30-7903-3348-71B3-C71F0C489285}"/>
              </a:ext>
            </a:extLst>
          </p:cNvPr>
          <p:cNvSpPr/>
          <p:nvPr/>
        </p:nvSpPr>
        <p:spPr>
          <a:xfrm rot="5400000">
            <a:off x="1501336" y="3193316"/>
            <a:ext cx="934369" cy="11244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3" name="Rechteck 472">
            <a:extLst>
              <a:ext uri="{FF2B5EF4-FFF2-40B4-BE49-F238E27FC236}">
                <a16:creationId xmlns:a16="http://schemas.microsoft.com/office/drawing/2014/main" id="{9EA871F1-F50A-A442-AC51-D4BA6BD072B2}"/>
              </a:ext>
            </a:extLst>
          </p:cNvPr>
          <p:cNvSpPr/>
          <p:nvPr/>
        </p:nvSpPr>
        <p:spPr>
          <a:xfrm>
            <a:off x="2172259" y="3276299"/>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4" name="Rechteck 473">
            <a:extLst>
              <a:ext uri="{FF2B5EF4-FFF2-40B4-BE49-F238E27FC236}">
                <a16:creationId xmlns:a16="http://schemas.microsoft.com/office/drawing/2014/main" id="{08FAC818-A392-1423-3D79-4D4C7058E8C7}"/>
              </a:ext>
            </a:extLst>
          </p:cNvPr>
          <p:cNvSpPr/>
          <p:nvPr/>
        </p:nvSpPr>
        <p:spPr>
          <a:xfrm rot="10800000">
            <a:off x="1835983" y="3313408"/>
            <a:ext cx="467198" cy="6041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5" name="Rechteck 474">
            <a:extLst>
              <a:ext uri="{FF2B5EF4-FFF2-40B4-BE49-F238E27FC236}">
                <a16:creationId xmlns:a16="http://schemas.microsoft.com/office/drawing/2014/main" id="{74CB3B32-EAFB-0256-04BD-ADC614E4AACA}"/>
              </a:ext>
            </a:extLst>
          </p:cNvPr>
          <p:cNvSpPr/>
          <p:nvPr/>
        </p:nvSpPr>
        <p:spPr>
          <a:xfrm rot="5400000">
            <a:off x="1722342" y="3840866"/>
            <a:ext cx="1442046" cy="10128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8" name="Titel 1">
            <a:extLst>
              <a:ext uri="{FF2B5EF4-FFF2-40B4-BE49-F238E27FC236}">
                <a16:creationId xmlns:a16="http://schemas.microsoft.com/office/drawing/2014/main" id="{C1D2364C-317E-B1C0-DE44-BCCE3DCDB1DD}"/>
              </a:ext>
            </a:extLst>
          </p:cNvPr>
          <p:cNvSpPr txBox="1">
            <a:spLocks/>
          </p:cNvSpPr>
          <p:nvPr/>
        </p:nvSpPr>
        <p:spPr>
          <a:xfrm>
            <a:off x="4047226" y="130021"/>
            <a:ext cx="2771963"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100" b="1" dirty="0">
                <a:latin typeface="+mj-lt"/>
              </a:rPr>
              <a:t>Layout linear / Version 1</a:t>
            </a:r>
          </a:p>
        </p:txBody>
      </p:sp>
      <p:sp>
        <p:nvSpPr>
          <p:cNvPr id="2" name="Rechteck 1">
            <a:extLst>
              <a:ext uri="{FF2B5EF4-FFF2-40B4-BE49-F238E27FC236}">
                <a16:creationId xmlns:a16="http://schemas.microsoft.com/office/drawing/2014/main" id="{A326FF66-39C1-84C7-F112-DFFEDDA046F4}"/>
              </a:ext>
            </a:extLst>
          </p:cNvPr>
          <p:cNvSpPr/>
          <p:nvPr/>
        </p:nvSpPr>
        <p:spPr>
          <a:xfrm rot="5400000">
            <a:off x="11357904" y="2037965"/>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04" name="Grafik 203">
            <a:extLst>
              <a:ext uri="{FF2B5EF4-FFF2-40B4-BE49-F238E27FC236}">
                <a16:creationId xmlns:a16="http://schemas.microsoft.com/office/drawing/2014/main" id="{39814D31-C871-20EF-470F-FA01ED2713E2}"/>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saturation sat="0"/>
                    </a14:imgEffect>
                  </a14:imgLayer>
                </a14:imgProps>
              </a:ext>
            </a:extLst>
          </a:blip>
          <a:stretch>
            <a:fillRect/>
          </a:stretch>
        </p:blipFill>
        <p:spPr>
          <a:xfrm rot="13963217">
            <a:off x="10224219" y="2565658"/>
            <a:ext cx="1181531" cy="834402"/>
          </a:xfrm>
          <a:prstGeom prst="rect">
            <a:avLst/>
          </a:prstGeom>
        </p:spPr>
      </p:pic>
      <p:sp>
        <p:nvSpPr>
          <p:cNvPr id="29" name="Flussdiagramm: Datenträger mit direktem Zugriff 28">
            <a:extLst>
              <a:ext uri="{FF2B5EF4-FFF2-40B4-BE49-F238E27FC236}">
                <a16:creationId xmlns:a16="http://schemas.microsoft.com/office/drawing/2014/main" id="{40EF77D2-ADF6-E79A-3CBD-CD3046D84E79}"/>
              </a:ext>
            </a:extLst>
          </p:cNvPr>
          <p:cNvSpPr/>
          <p:nvPr/>
        </p:nvSpPr>
        <p:spPr>
          <a:xfrm rot="5400000">
            <a:off x="2535940" y="204076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0" name="Flussdiagramm: Datenträger mit direktem Zugriff 29">
            <a:extLst>
              <a:ext uri="{FF2B5EF4-FFF2-40B4-BE49-F238E27FC236}">
                <a16:creationId xmlns:a16="http://schemas.microsoft.com/office/drawing/2014/main" id="{73BE856C-80F5-D2D3-C876-994C13907338}"/>
              </a:ext>
            </a:extLst>
          </p:cNvPr>
          <p:cNvSpPr/>
          <p:nvPr/>
        </p:nvSpPr>
        <p:spPr>
          <a:xfrm rot="5400000">
            <a:off x="2534760" y="214299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1" name="Flussdiagramm: Datenträger mit direktem Zugriff 30">
            <a:extLst>
              <a:ext uri="{FF2B5EF4-FFF2-40B4-BE49-F238E27FC236}">
                <a16:creationId xmlns:a16="http://schemas.microsoft.com/office/drawing/2014/main" id="{8CC820A7-4492-33D1-F306-9239A34BD810}"/>
              </a:ext>
            </a:extLst>
          </p:cNvPr>
          <p:cNvSpPr/>
          <p:nvPr/>
        </p:nvSpPr>
        <p:spPr>
          <a:xfrm rot="5400000">
            <a:off x="2537141" y="194501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3" name="Rechteck 32">
            <a:extLst>
              <a:ext uri="{FF2B5EF4-FFF2-40B4-BE49-F238E27FC236}">
                <a16:creationId xmlns:a16="http://schemas.microsoft.com/office/drawing/2014/main" id="{007008D6-FA0B-EC19-7F31-DF3B4806A671}"/>
              </a:ext>
            </a:extLst>
          </p:cNvPr>
          <p:cNvSpPr/>
          <p:nvPr/>
        </p:nvSpPr>
        <p:spPr>
          <a:xfrm rot="5400000">
            <a:off x="2089699" y="2106318"/>
            <a:ext cx="593894" cy="12173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6" name="Rechteck 455">
            <a:extLst>
              <a:ext uri="{FF2B5EF4-FFF2-40B4-BE49-F238E27FC236}">
                <a16:creationId xmlns:a16="http://schemas.microsoft.com/office/drawing/2014/main" id="{45A60AD0-C484-C06A-3F2C-EC7D15398E4D}"/>
              </a:ext>
            </a:extLst>
          </p:cNvPr>
          <p:cNvSpPr/>
          <p:nvPr/>
        </p:nvSpPr>
        <p:spPr>
          <a:xfrm rot="10800000">
            <a:off x="2346776" y="2132624"/>
            <a:ext cx="259721" cy="457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7" name="Flussdiagramm: Datenträger mit direktem Zugriff 456">
            <a:extLst>
              <a:ext uri="{FF2B5EF4-FFF2-40B4-BE49-F238E27FC236}">
                <a16:creationId xmlns:a16="http://schemas.microsoft.com/office/drawing/2014/main" id="{F4225519-8657-2601-647D-B0D9FE2EDBA6}"/>
              </a:ext>
            </a:extLst>
          </p:cNvPr>
          <p:cNvSpPr/>
          <p:nvPr/>
        </p:nvSpPr>
        <p:spPr>
          <a:xfrm rot="19835810">
            <a:off x="2453989" y="151484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8" name="Flussdiagramm: Datenträger mit direktem Zugriff 457">
            <a:extLst>
              <a:ext uri="{FF2B5EF4-FFF2-40B4-BE49-F238E27FC236}">
                <a16:creationId xmlns:a16="http://schemas.microsoft.com/office/drawing/2014/main" id="{D9662E73-4E7E-8D5E-15D7-FE81E1F5C92F}"/>
              </a:ext>
            </a:extLst>
          </p:cNvPr>
          <p:cNvSpPr/>
          <p:nvPr/>
        </p:nvSpPr>
        <p:spPr>
          <a:xfrm rot="19835810">
            <a:off x="2479652" y="159331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9" name="Flussdiagramm: Datenträger mit direktem Zugriff 458">
            <a:extLst>
              <a:ext uri="{FF2B5EF4-FFF2-40B4-BE49-F238E27FC236}">
                <a16:creationId xmlns:a16="http://schemas.microsoft.com/office/drawing/2014/main" id="{C377AE31-3811-4F67-D575-A8ED5AE8B4FB}"/>
              </a:ext>
            </a:extLst>
          </p:cNvPr>
          <p:cNvSpPr/>
          <p:nvPr/>
        </p:nvSpPr>
        <p:spPr>
          <a:xfrm rot="3152920">
            <a:off x="2396984" y="16049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2" name="Flussdiagramm: Datenträger mit direktem Zugriff 461">
            <a:extLst>
              <a:ext uri="{FF2B5EF4-FFF2-40B4-BE49-F238E27FC236}">
                <a16:creationId xmlns:a16="http://schemas.microsoft.com/office/drawing/2014/main" id="{AEC56817-82CB-EBC0-2760-1BAD50FC1B97}"/>
              </a:ext>
            </a:extLst>
          </p:cNvPr>
          <p:cNvSpPr/>
          <p:nvPr/>
        </p:nvSpPr>
        <p:spPr>
          <a:xfrm rot="3152920">
            <a:off x="2489249" y="142890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3" name="Flussdiagramm: Datenträger mit direktem Zugriff 462">
            <a:extLst>
              <a:ext uri="{FF2B5EF4-FFF2-40B4-BE49-F238E27FC236}">
                <a16:creationId xmlns:a16="http://schemas.microsoft.com/office/drawing/2014/main" id="{B84DCF05-F676-ABB3-0E0F-9FFDA36B13FC}"/>
              </a:ext>
            </a:extLst>
          </p:cNvPr>
          <p:cNvSpPr/>
          <p:nvPr/>
        </p:nvSpPr>
        <p:spPr>
          <a:xfrm rot="1182316">
            <a:off x="2436521" y="168591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4" name="Flussdiagramm: Datenträger mit direktem Zugriff 463">
            <a:extLst>
              <a:ext uri="{FF2B5EF4-FFF2-40B4-BE49-F238E27FC236}">
                <a16:creationId xmlns:a16="http://schemas.microsoft.com/office/drawing/2014/main" id="{45C0BEF0-6114-6DA2-76A0-C3B09ACB4EA1}"/>
              </a:ext>
            </a:extLst>
          </p:cNvPr>
          <p:cNvSpPr/>
          <p:nvPr/>
        </p:nvSpPr>
        <p:spPr>
          <a:xfrm rot="1182316">
            <a:off x="2409043" y="143362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27441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 name="Gruppieren 603">
            <a:extLst>
              <a:ext uri="{FF2B5EF4-FFF2-40B4-BE49-F238E27FC236}">
                <a16:creationId xmlns:a16="http://schemas.microsoft.com/office/drawing/2014/main" id="{13FADD31-EEF6-F8FC-87D2-53D88C2518F5}"/>
              </a:ext>
            </a:extLst>
          </p:cNvPr>
          <p:cNvGrpSpPr/>
          <p:nvPr/>
        </p:nvGrpSpPr>
        <p:grpSpPr>
          <a:xfrm rot="10800000">
            <a:off x="8470182" y="2609265"/>
            <a:ext cx="69580" cy="193454"/>
            <a:chOff x="2849757" y="2999802"/>
            <a:chExt cx="69580" cy="193454"/>
          </a:xfrm>
        </p:grpSpPr>
        <p:sp>
          <p:nvSpPr>
            <p:cNvPr id="605" name="Rechteck 604">
              <a:extLst>
                <a:ext uri="{FF2B5EF4-FFF2-40B4-BE49-F238E27FC236}">
                  <a16:creationId xmlns:a16="http://schemas.microsoft.com/office/drawing/2014/main" id="{00019379-6E79-1829-AB1E-653C04F7833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606" name="Gerade Verbindung mit Pfeil 605">
              <a:extLst>
                <a:ext uri="{FF2B5EF4-FFF2-40B4-BE49-F238E27FC236}">
                  <a16:creationId xmlns:a16="http://schemas.microsoft.com/office/drawing/2014/main" id="{5361E97B-2E20-0A09-8157-A3BDB0F7689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601" name="Gruppieren 600">
            <a:extLst>
              <a:ext uri="{FF2B5EF4-FFF2-40B4-BE49-F238E27FC236}">
                <a16:creationId xmlns:a16="http://schemas.microsoft.com/office/drawing/2014/main" id="{E739A88C-675C-5BC5-C3FE-E1E7955215E4}"/>
              </a:ext>
            </a:extLst>
          </p:cNvPr>
          <p:cNvGrpSpPr/>
          <p:nvPr/>
        </p:nvGrpSpPr>
        <p:grpSpPr>
          <a:xfrm>
            <a:off x="4837481" y="2992651"/>
            <a:ext cx="69580" cy="193454"/>
            <a:chOff x="2849757" y="2999802"/>
            <a:chExt cx="69580" cy="193454"/>
          </a:xfrm>
        </p:grpSpPr>
        <p:sp>
          <p:nvSpPr>
            <p:cNvPr id="602" name="Rechteck 601">
              <a:extLst>
                <a:ext uri="{FF2B5EF4-FFF2-40B4-BE49-F238E27FC236}">
                  <a16:creationId xmlns:a16="http://schemas.microsoft.com/office/drawing/2014/main" id="{070391CC-8F5E-B778-5F30-D2D2A8CE30A4}"/>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603" name="Gerade Verbindung mit Pfeil 602">
              <a:extLst>
                <a:ext uri="{FF2B5EF4-FFF2-40B4-BE49-F238E27FC236}">
                  <a16:creationId xmlns:a16="http://schemas.microsoft.com/office/drawing/2014/main" id="{E78CD7BE-D628-C262-DB00-752F93944C93}"/>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5" name="Ellipse 454">
            <a:extLst>
              <a:ext uri="{FF2B5EF4-FFF2-40B4-BE49-F238E27FC236}">
                <a16:creationId xmlns:a16="http://schemas.microsoft.com/office/drawing/2014/main" id="{B108B3B8-6FBF-5557-76A0-4367769AC4A7}"/>
              </a:ext>
            </a:extLst>
          </p:cNvPr>
          <p:cNvSpPr/>
          <p:nvPr/>
        </p:nvSpPr>
        <p:spPr>
          <a:xfrm>
            <a:off x="9495769" y="299807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3" name="Ellipse 452">
            <a:extLst>
              <a:ext uri="{FF2B5EF4-FFF2-40B4-BE49-F238E27FC236}">
                <a16:creationId xmlns:a16="http://schemas.microsoft.com/office/drawing/2014/main" id="{6B988D60-903B-86C3-C72C-33B5A4AD2405}"/>
              </a:ext>
            </a:extLst>
          </p:cNvPr>
          <p:cNvSpPr/>
          <p:nvPr/>
        </p:nvSpPr>
        <p:spPr>
          <a:xfrm>
            <a:off x="8126402"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2" name="Ellipse 451">
            <a:extLst>
              <a:ext uri="{FF2B5EF4-FFF2-40B4-BE49-F238E27FC236}">
                <a16:creationId xmlns:a16="http://schemas.microsoft.com/office/drawing/2014/main" id="{0F9E84E8-0A56-B5A9-3ACC-D8C0D686C561}"/>
              </a:ext>
            </a:extLst>
          </p:cNvPr>
          <p:cNvSpPr/>
          <p:nvPr/>
        </p:nvSpPr>
        <p:spPr>
          <a:xfrm>
            <a:off x="7795630"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7470723"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57" name="Rechteck 56">
            <a:extLst>
              <a:ext uri="{FF2B5EF4-FFF2-40B4-BE49-F238E27FC236}">
                <a16:creationId xmlns:a16="http://schemas.microsoft.com/office/drawing/2014/main" id="{D88FA469-4905-4CE8-826B-317175BFEEBA}"/>
              </a:ext>
            </a:extLst>
          </p:cNvPr>
          <p:cNvSpPr/>
          <p:nvPr/>
        </p:nvSpPr>
        <p:spPr>
          <a:xfrm>
            <a:off x="395983" y="4768562"/>
            <a:ext cx="1440000" cy="1980000"/>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3" name="Rechteck 232">
            <a:extLst>
              <a:ext uri="{FF2B5EF4-FFF2-40B4-BE49-F238E27FC236}">
                <a16:creationId xmlns:a16="http://schemas.microsoft.com/office/drawing/2014/main" id="{A4DFE79B-90C9-FD6C-1192-F38EEE6D64D0}"/>
              </a:ext>
            </a:extLst>
          </p:cNvPr>
          <p:cNvSpPr/>
          <p:nvPr/>
        </p:nvSpPr>
        <p:spPr>
          <a:xfrm rot="5400000">
            <a:off x="9159729" y="3261136"/>
            <a:ext cx="983685" cy="680855"/>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2" name="Rechteck 231">
            <a:extLst>
              <a:ext uri="{FF2B5EF4-FFF2-40B4-BE49-F238E27FC236}">
                <a16:creationId xmlns:a16="http://schemas.microsoft.com/office/drawing/2014/main" id="{1773F86C-0E1B-BEE9-6FF2-9322F527A39F}"/>
              </a:ext>
            </a:extLst>
          </p:cNvPr>
          <p:cNvSpPr/>
          <p:nvPr/>
        </p:nvSpPr>
        <p:spPr>
          <a:xfrm rot="5400000">
            <a:off x="9498637" y="2305396"/>
            <a:ext cx="446463" cy="48418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276899"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1785608" y="2819901"/>
            <a:ext cx="8206391"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9" name="Rechteck 108">
            <a:extLst>
              <a:ext uri="{FF2B5EF4-FFF2-40B4-BE49-F238E27FC236}">
                <a16:creationId xmlns:a16="http://schemas.microsoft.com/office/drawing/2014/main" id="{D6BE3DC5-2F9C-3597-3B5D-75EAB6AD6AA2}"/>
              </a:ext>
            </a:extLst>
          </p:cNvPr>
          <p:cNvSpPr/>
          <p:nvPr/>
        </p:nvSpPr>
        <p:spPr>
          <a:xfrm rot="5400000">
            <a:off x="11242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19595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err="1"/>
              <a:t>Cuting</a:t>
            </a:r>
            <a:endParaRPr lang="de-DE" sz="1100" dirty="0"/>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2403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54" name="Zylinder 53">
            <a:extLst>
              <a:ext uri="{FF2B5EF4-FFF2-40B4-BE49-F238E27FC236}">
                <a16:creationId xmlns:a16="http://schemas.microsoft.com/office/drawing/2014/main" id="{E2EB6F2D-00D9-D8CB-B3C9-73FF6DADAC42}"/>
              </a:ext>
            </a:extLst>
          </p:cNvPr>
          <p:cNvSpPr/>
          <p:nvPr/>
        </p:nvSpPr>
        <p:spPr>
          <a:xfrm>
            <a:off x="6336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6842814"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172347"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195908"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6521602"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83" name="Rechteck 182">
            <a:extLst>
              <a:ext uri="{FF2B5EF4-FFF2-40B4-BE49-F238E27FC236}">
                <a16:creationId xmlns:a16="http://schemas.microsoft.com/office/drawing/2014/main" id="{3824930F-A0AE-ED6E-3E91-E6B2A2995AAA}"/>
              </a:ext>
            </a:extLst>
          </p:cNvPr>
          <p:cNvSpPr/>
          <p:nvPr/>
        </p:nvSpPr>
        <p:spPr>
          <a:xfrm rot="16200000">
            <a:off x="6185736"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rot="10800000">
            <a:off x="6801240"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10800000">
            <a:off x="6385807"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6583741"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073771"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6558621"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58686"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6806286"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73912"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75143"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6908474"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14477"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31681"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6800947"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6767092"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6805400"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6653109"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6777221"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6803775"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6805847"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10800000">
            <a:off x="6760499"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284725"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7438496"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7498233"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135794"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459648" y="2992099"/>
            <a:ext cx="90077" cy="28388"/>
          </a:xfrm>
          <a:prstGeom prst="rect">
            <a:avLst/>
          </a:prstGeom>
        </p:spPr>
      </p:pic>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7828109"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789524" y="2992099"/>
            <a:ext cx="90077" cy="28388"/>
          </a:xfrm>
          <a:prstGeom prst="rect">
            <a:avLst/>
          </a:prstGeom>
        </p:spPr>
      </p:pic>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8489007"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450422"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7"/>
          <a:srcRect l="12368" t="11098" r="5271"/>
          <a:stretch/>
        </p:blipFill>
        <p:spPr>
          <a:xfrm>
            <a:off x="8521884"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7"/>
          <a:srcRect l="12368" t="11098" r="5271"/>
          <a:stretch/>
        </p:blipFill>
        <p:spPr>
          <a:xfrm flipH="1">
            <a:off x="8371853" y="3046575"/>
            <a:ext cx="90381" cy="107501"/>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8157822" y="3497576"/>
            <a:ext cx="1416563"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8249892" y="3475956"/>
            <a:ext cx="1218415" cy="417457"/>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8852965" y="2816516"/>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8702368" y="269044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8767002" y="2887719"/>
            <a:ext cx="172817" cy="1128066"/>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8876378" y="330319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8876380" y="324366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8826372" y="330081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8826374" y="324128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8807142" y="3097399"/>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8971474" y="3086482"/>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8665911" y="308411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8971474"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8668471"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816620" y="3403997"/>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9132870" y="281837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9156004" y="2790739"/>
            <a:ext cx="90077" cy="28388"/>
          </a:xfrm>
          <a:prstGeom prst="rect">
            <a:avLst/>
          </a:prstGeom>
        </p:spPr>
      </p:pic>
      <p:grpSp>
        <p:nvGrpSpPr>
          <p:cNvPr id="285" name="Gruppieren 284">
            <a:extLst>
              <a:ext uri="{FF2B5EF4-FFF2-40B4-BE49-F238E27FC236}">
                <a16:creationId xmlns:a16="http://schemas.microsoft.com/office/drawing/2014/main" id="{164A41FF-C0FF-D616-0192-25923EAFCE02}"/>
              </a:ext>
            </a:extLst>
          </p:cNvPr>
          <p:cNvGrpSpPr/>
          <p:nvPr/>
        </p:nvGrpSpPr>
        <p:grpSpPr>
          <a:xfrm>
            <a:off x="9471613" y="2813316"/>
            <a:ext cx="75705" cy="277927"/>
            <a:chOff x="3476670" y="3647733"/>
            <a:chExt cx="75705" cy="277927"/>
          </a:xfrm>
        </p:grpSpPr>
        <p:sp>
          <p:nvSpPr>
            <p:cNvPr id="286" name="Rechteck 285">
              <a:extLst>
                <a:ext uri="{FF2B5EF4-FFF2-40B4-BE49-F238E27FC236}">
                  <a16:creationId xmlns:a16="http://schemas.microsoft.com/office/drawing/2014/main" id="{84D623EF-EDD2-CA39-D726-582F604E7DDA}"/>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7" name="Verbinder: gekrümmt 286">
              <a:extLst>
                <a:ext uri="{FF2B5EF4-FFF2-40B4-BE49-F238E27FC236}">
                  <a16:creationId xmlns:a16="http://schemas.microsoft.com/office/drawing/2014/main" id="{78BE6DAB-0C01-784F-812E-71BCD65BBE7F}"/>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6" name="Rechteck: abgerundete Ecken 15">
            <a:extLst>
              <a:ext uri="{FF2B5EF4-FFF2-40B4-BE49-F238E27FC236}">
                <a16:creationId xmlns:a16="http://schemas.microsoft.com/office/drawing/2014/main" id="{1D528AA4-BDE9-0BFB-F674-1164DD16BF64}"/>
              </a:ext>
            </a:extLst>
          </p:cNvPr>
          <p:cNvSpPr/>
          <p:nvPr/>
        </p:nvSpPr>
        <p:spPr>
          <a:xfrm>
            <a:off x="7034288"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299949"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6397337"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671474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7649799"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7990073"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8328154" y="284824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8654064" y="2856299"/>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8976829" y="2410308"/>
            <a:ext cx="427241" cy="32861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A82FCBB2-97FF-9E46-C158-251CAF786A2A}"/>
              </a:ext>
            </a:extLst>
          </p:cNvPr>
          <p:cNvSpPr/>
          <p:nvPr/>
        </p:nvSpPr>
        <p:spPr>
          <a:xfrm rot="5400000">
            <a:off x="9211492" y="3385006"/>
            <a:ext cx="864000" cy="432000"/>
          </a:xfrm>
          <a:prstGeom prst="rect">
            <a:avLst/>
          </a:prstGeom>
        </p:spPr>
        <p:style>
          <a:lnRef idx="1">
            <a:schemeClr val="accent2"/>
          </a:lnRef>
          <a:fillRef idx="3">
            <a:schemeClr val="accent2"/>
          </a:fillRef>
          <a:effectRef idx="2">
            <a:schemeClr val="accent2"/>
          </a:effectRef>
          <a:fontRef idx="minor">
            <a:schemeClr val="lt1"/>
          </a:fontRef>
        </p:style>
        <p:txBody>
          <a:bodyPr vert="vert270" wrap="none" rtlCol="0" anchor="ctr"/>
          <a:lstStyle/>
          <a:p>
            <a:pPr algn="ctr"/>
            <a:r>
              <a:rPr lang="de-DE" sz="1400" dirty="0"/>
              <a:t>NOK</a:t>
            </a:r>
          </a:p>
        </p:txBody>
      </p:sp>
      <p:sp>
        <p:nvSpPr>
          <p:cNvPr id="234" name="L-Form 233">
            <a:extLst>
              <a:ext uri="{FF2B5EF4-FFF2-40B4-BE49-F238E27FC236}">
                <a16:creationId xmlns:a16="http://schemas.microsoft.com/office/drawing/2014/main" id="{DDAD0D4B-9391-B0EE-6F67-6C08D5CAC427}"/>
              </a:ext>
            </a:extLst>
          </p:cNvPr>
          <p:cNvSpPr/>
          <p:nvPr/>
        </p:nvSpPr>
        <p:spPr>
          <a:xfrm>
            <a:off x="9393261" y="4001385"/>
            <a:ext cx="98120" cy="67917"/>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39" name="L-Form 238">
            <a:extLst>
              <a:ext uri="{FF2B5EF4-FFF2-40B4-BE49-F238E27FC236}">
                <a16:creationId xmlns:a16="http://schemas.microsoft.com/office/drawing/2014/main" id="{3BB26BDA-8D4D-A96F-24A8-8EAE6DC867E8}"/>
              </a:ext>
            </a:extLst>
          </p:cNvPr>
          <p:cNvSpPr/>
          <p:nvPr/>
        </p:nvSpPr>
        <p:spPr>
          <a:xfrm rot="10800000">
            <a:off x="9796157" y="3132364"/>
            <a:ext cx="97057" cy="74915"/>
          </a:xfrm>
          <a:prstGeom prst="corner">
            <a:avLst>
              <a:gd name="adj1" fmla="val 26770"/>
              <a:gd name="adj2" fmla="val 23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8797743" y="4696570"/>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2433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0187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62" name="Gruppieren 361">
            <a:extLst>
              <a:ext uri="{FF2B5EF4-FFF2-40B4-BE49-F238E27FC236}">
                <a16:creationId xmlns:a16="http://schemas.microsoft.com/office/drawing/2014/main" id="{773D9A77-C000-B7F3-10CD-6BCFC4116769}"/>
              </a:ext>
            </a:extLst>
          </p:cNvPr>
          <p:cNvGrpSpPr/>
          <p:nvPr/>
        </p:nvGrpSpPr>
        <p:grpSpPr>
          <a:xfrm rot="10800000">
            <a:off x="8159103" y="2724824"/>
            <a:ext cx="75705" cy="277927"/>
            <a:chOff x="3476670" y="3647733"/>
            <a:chExt cx="75705" cy="277927"/>
          </a:xfrm>
        </p:grpSpPr>
        <p:sp>
          <p:nvSpPr>
            <p:cNvPr id="363" name="Rechteck 362">
              <a:extLst>
                <a:ext uri="{FF2B5EF4-FFF2-40B4-BE49-F238E27FC236}">
                  <a16:creationId xmlns:a16="http://schemas.microsoft.com/office/drawing/2014/main" id="{66AC8ECE-4BFD-59BD-DBD6-FB933516486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64" name="Verbinder: gekrümmt 363">
              <a:extLst>
                <a:ext uri="{FF2B5EF4-FFF2-40B4-BE49-F238E27FC236}">
                  <a16:creationId xmlns:a16="http://schemas.microsoft.com/office/drawing/2014/main" id="{2BFED965-260D-23F6-D850-83847A90BFF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65" name="Grafik 364">
            <a:extLst>
              <a:ext uri="{FF2B5EF4-FFF2-40B4-BE49-F238E27FC236}">
                <a16:creationId xmlns:a16="http://schemas.microsoft.com/office/drawing/2014/main" id="{D49C37F6-61F4-4205-C5F8-A0150899632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120518" y="2996859"/>
            <a:ext cx="90077" cy="28388"/>
          </a:xfrm>
          <a:prstGeom prst="rect">
            <a:avLst/>
          </a:prstGeom>
        </p:spPr>
      </p:pic>
      <p:sp>
        <p:nvSpPr>
          <p:cNvPr id="374" name="Rechteck: abgerundete Ecken 373">
            <a:extLst>
              <a:ext uri="{FF2B5EF4-FFF2-40B4-BE49-F238E27FC236}">
                <a16:creationId xmlns:a16="http://schemas.microsoft.com/office/drawing/2014/main" id="{C6F6B9D0-4190-9A4D-5EEE-2674B6733C09}"/>
              </a:ext>
            </a:extLst>
          </p:cNvPr>
          <p:cNvSpPr/>
          <p:nvPr/>
        </p:nvSpPr>
        <p:spPr>
          <a:xfrm>
            <a:off x="9034925"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22   </a:t>
            </a:r>
          </a:p>
        </p:txBody>
      </p:sp>
      <p:sp>
        <p:nvSpPr>
          <p:cNvPr id="375" name="Rechteck: abgerundete Ecken 374">
            <a:extLst>
              <a:ext uri="{FF2B5EF4-FFF2-40B4-BE49-F238E27FC236}">
                <a16:creationId xmlns:a16="http://schemas.microsoft.com/office/drawing/2014/main" id="{3F1F017F-3ED9-B6BF-7180-D000784F8FF9}"/>
              </a:ext>
            </a:extLst>
          </p:cNvPr>
          <p:cNvSpPr/>
          <p:nvPr/>
        </p:nvSpPr>
        <p:spPr>
          <a:xfrm>
            <a:off x="9380619"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23   </a:t>
            </a:r>
          </a:p>
        </p:txBody>
      </p:sp>
      <p:sp>
        <p:nvSpPr>
          <p:cNvPr id="376" name="Rechteck 375">
            <a:extLst>
              <a:ext uri="{FF2B5EF4-FFF2-40B4-BE49-F238E27FC236}">
                <a16:creationId xmlns:a16="http://schemas.microsoft.com/office/drawing/2014/main" id="{02457479-FF05-5E05-A7CC-DC31A0F9FA6B}"/>
              </a:ext>
            </a:extLst>
          </p:cNvPr>
          <p:cNvSpPr/>
          <p:nvPr/>
        </p:nvSpPr>
        <p:spPr>
          <a:xfrm rot="5400000">
            <a:off x="9047268" y="2743449"/>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4" name="Gruppieren 353">
            <a:extLst>
              <a:ext uri="{FF2B5EF4-FFF2-40B4-BE49-F238E27FC236}">
                <a16:creationId xmlns:a16="http://schemas.microsoft.com/office/drawing/2014/main" id="{8115EBD4-0CDA-E59A-C062-7E5A8EC6C78E}"/>
              </a:ext>
            </a:extLst>
          </p:cNvPr>
          <p:cNvGrpSpPr/>
          <p:nvPr/>
        </p:nvGrpSpPr>
        <p:grpSpPr>
          <a:xfrm rot="10800000">
            <a:off x="7604606" y="1858600"/>
            <a:ext cx="792160" cy="1058531"/>
            <a:chOff x="3582552" y="2884821"/>
            <a:chExt cx="792160" cy="1058531"/>
          </a:xfrm>
        </p:grpSpPr>
        <p:sp>
          <p:nvSpPr>
            <p:cNvPr id="355" name="Rechteck 354">
              <a:extLst>
                <a:ext uri="{FF2B5EF4-FFF2-40B4-BE49-F238E27FC236}">
                  <a16:creationId xmlns:a16="http://schemas.microsoft.com/office/drawing/2014/main" id="{A6D9DF68-F7FB-E98E-2ACA-B7346077513A}"/>
                </a:ext>
              </a:extLst>
            </p:cNvPr>
            <p:cNvSpPr/>
            <p:nvPr/>
          </p:nvSpPr>
          <p:spPr>
            <a:xfrm rot="5400000">
              <a:off x="3879080" y="3447721"/>
              <a:ext cx="199103" cy="792160"/>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6" name="Ellipse 355">
              <a:extLst>
                <a:ext uri="{FF2B5EF4-FFF2-40B4-BE49-F238E27FC236}">
                  <a16:creationId xmlns:a16="http://schemas.microsoft.com/office/drawing/2014/main" id="{6C45F4C5-EF76-F6CE-881E-53CEB1A3053F}"/>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57" name="Bogen 356">
              <a:extLst>
                <a:ext uri="{FF2B5EF4-FFF2-40B4-BE49-F238E27FC236}">
                  <a16:creationId xmlns:a16="http://schemas.microsoft.com/office/drawing/2014/main" id="{279931CD-0E62-F160-59AF-FF1DCFA2274C}"/>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58" name="Rechteck 357">
              <a:extLst>
                <a:ext uri="{FF2B5EF4-FFF2-40B4-BE49-F238E27FC236}">
                  <a16:creationId xmlns:a16="http://schemas.microsoft.com/office/drawing/2014/main" id="{0CDAD09B-CA73-3AC0-594F-5A9421A2E185}"/>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9" name="Rechteck 358">
              <a:extLst>
                <a:ext uri="{FF2B5EF4-FFF2-40B4-BE49-F238E27FC236}">
                  <a16:creationId xmlns:a16="http://schemas.microsoft.com/office/drawing/2014/main" id="{AE526B6A-5956-8CB7-BBE3-A79ECAA30973}"/>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0" name="Rechteck 359">
              <a:extLst>
                <a:ext uri="{FF2B5EF4-FFF2-40B4-BE49-F238E27FC236}">
                  <a16:creationId xmlns:a16="http://schemas.microsoft.com/office/drawing/2014/main" id="{3E5302A2-9B32-66F0-DD29-BCADC1C47772}"/>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1" name="Rechteck 360">
              <a:extLst>
                <a:ext uri="{FF2B5EF4-FFF2-40B4-BE49-F238E27FC236}">
                  <a16:creationId xmlns:a16="http://schemas.microsoft.com/office/drawing/2014/main" id="{BDB2CCA3-FE0C-99F6-90DF-7CB6909AD371}"/>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0" name="Rechteck 379">
              <a:extLst>
                <a:ext uri="{FF2B5EF4-FFF2-40B4-BE49-F238E27FC236}">
                  <a16:creationId xmlns:a16="http://schemas.microsoft.com/office/drawing/2014/main" id="{7DC24DCC-505F-7B42-732F-C937B618ECB1}"/>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1" name="Rechteck 380">
              <a:extLst>
                <a:ext uri="{FF2B5EF4-FFF2-40B4-BE49-F238E27FC236}">
                  <a16:creationId xmlns:a16="http://schemas.microsoft.com/office/drawing/2014/main" id="{5182A6C2-C365-02EC-B332-FA88A1DFE5DF}"/>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71D5A36F-8D23-7AD5-3D05-D13EBB0CEE21}"/>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3" name="Rechteck 382">
              <a:extLst>
                <a:ext uri="{FF2B5EF4-FFF2-40B4-BE49-F238E27FC236}">
                  <a16:creationId xmlns:a16="http://schemas.microsoft.com/office/drawing/2014/main" id="{1CC4F0F3-337F-F059-71DA-A5A394BCBCE3}"/>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4" name="Ellipse 383">
              <a:extLst>
                <a:ext uri="{FF2B5EF4-FFF2-40B4-BE49-F238E27FC236}">
                  <a16:creationId xmlns:a16="http://schemas.microsoft.com/office/drawing/2014/main" id="{AF1BC4EB-300A-962F-AE88-CEFB04B66E00}"/>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85" name="Rechteck 384">
              <a:extLst>
                <a:ext uri="{FF2B5EF4-FFF2-40B4-BE49-F238E27FC236}">
                  <a16:creationId xmlns:a16="http://schemas.microsoft.com/office/drawing/2014/main" id="{B69D1E9B-D229-A9C8-5419-724BBF12C728}"/>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86" name="Verbinder: gekrümmt 385">
              <a:extLst>
                <a:ext uri="{FF2B5EF4-FFF2-40B4-BE49-F238E27FC236}">
                  <a16:creationId xmlns:a16="http://schemas.microsoft.com/office/drawing/2014/main" id="{9FE3881A-9C6F-7B57-7751-6E7ABCB0546C}"/>
                </a:ext>
              </a:extLst>
            </p:cNvPr>
            <p:cNvCxnSpPr>
              <a:cxnSpLocks/>
              <a:endCxn id="38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87" name="Rechteck 386">
              <a:extLst>
                <a:ext uri="{FF2B5EF4-FFF2-40B4-BE49-F238E27FC236}">
                  <a16:creationId xmlns:a16="http://schemas.microsoft.com/office/drawing/2014/main" id="{DE726E11-B7E3-A528-B0CB-2F3CC4C10B8D}"/>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8" name="Rechteck 387">
              <a:extLst>
                <a:ext uri="{FF2B5EF4-FFF2-40B4-BE49-F238E27FC236}">
                  <a16:creationId xmlns:a16="http://schemas.microsoft.com/office/drawing/2014/main" id="{216B81C3-9040-4791-2F11-ECE9206BF106}"/>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9" name="Rechteck 388">
              <a:extLst>
                <a:ext uri="{FF2B5EF4-FFF2-40B4-BE49-F238E27FC236}">
                  <a16:creationId xmlns:a16="http://schemas.microsoft.com/office/drawing/2014/main" id="{4CF4E045-D158-DD78-C847-E373A9A7887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0" name="Rechteck 389">
              <a:extLst>
                <a:ext uri="{FF2B5EF4-FFF2-40B4-BE49-F238E27FC236}">
                  <a16:creationId xmlns:a16="http://schemas.microsoft.com/office/drawing/2014/main" id="{FAE10F8C-925D-0E7C-1600-CEF7E73F6FEE}"/>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1" name="Ellipse 390">
              <a:extLst>
                <a:ext uri="{FF2B5EF4-FFF2-40B4-BE49-F238E27FC236}">
                  <a16:creationId xmlns:a16="http://schemas.microsoft.com/office/drawing/2014/main" id="{4588EA84-688B-5B91-793E-B93C7FD77D16}"/>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92" name="Verbinder: gekrümmt 391">
              <a:extLst>
                <a:ext uri="{FF2B5EF4-FFF2-40B4-BE49-F238E27FC236}">
                  <a16:creationId xmlns:a16="http://schemas.microsoft.com/office/drawing/2014/main" id="{DB972015-2779-8692-3FAF-DFD7AC4459DD}"/>
                </a:ext>
              </a:extLst>
            </p:cNvPr>
            <p:cNvCxnSpPr>
              <a:cxnSpLocks/>
              <a:endCxn id="390"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93" name="Ellipse 392">
              <a:extLst>
                <a:ext uri="{FF2B5EF4-FFF2-40B4-BE49-F238E27FC236}">
                  <a16:creationId xmlns:a16="http://schemas.microsoft.com/office/drawing/2014/main" id="{CDE0CFA7-F567-A903-23AA-E8555E03AE58}"/>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5" name="Halbbogen 394">
              <a:extLst>
                <a:ext uri="{FF2B5EF4-FFF2-40B4-BE49-F238E27FC236}">
                  <a16:creationId xmlns:a16="http://schemas.microsoft.com/office/drawing/2014/main" id="{05FCC4F4-E2EB-A245-FBDF-B8BE74992CDA}"/>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sp>
        <p:nvSpPr>
          <p:cNvPr id="396" name="Textfeld 395">
            <a:extLst>
              <a:ext uri="{FF2B5EF4-FFF2-40B4-BE49-F238E27FC236}">
                <a16:creationId xmlns:a16="http://schemas.microsoft.com/office/drawing/2014/main" id="{07801104-DE54-86EA-6985-4A0065F17238}"/>
              </a:ext>
            </a:extLst>
          </p:cNvPr>
          <p:cNvSpPr txBox="1"/>
          <p:nvPr/>
        </p:nvSpPr>
        <p:spPr>
          <a:xfrm>
            <a:off x="4033156" y="5384334"/>
            <a:ext cx="2043745" cy="1200329"/>
          </a:xfrm>
          <a:prstGeom prst="rect">
            <a:avLst/>
          </a:prstGeom>
          <a:noFill/>
        </p:spPr>
        <p:txBody>
          <a:bodyPr wrap="square" rtlCol="0">
            <a:spAutoFit/>
          </a:bodyPr>
          <a:lstStyle/>
          <a:p>
            <a:r>
              <a:rPr lang="de-DE" sz="900" dirty="0"/>
              <a:t>1       Cutting </a:t>
            </a:r>
            <a:r>
              <a:rPr lang="de-DE" sz="900" dirty="0" err="1"/>
              <a:t>cable</a:t>
            </a:r>
            <a:endParaRPr lang="de-DE" sz="900" dirty="0"/>
          </a:p>
          <a:p>
            <a:r>
              <a:rPr lang="de-DE" sz="900" dirty="0"/>
              <a:t>2       </a:t>
            </a:r>
            <a:r>
              <a:rPr lang="de-DE" sz="900" dirty="0" err="1"/>
              <a:t>Removing</a:t>
            </a:r>
            <a:r>
              <a:rPr lang="de-DE" sz="900" dirty="0"/>
              <a:t> </a:t>
            </a:r>
            <a:r>
              <a:rPr lang="de-DE" sz="900" dirty="0" err="1"/>
              <a:t>Isolationpart</a:t>
            </a:r>
            <a:r>
              <a:rPr lang="de-DE" sz="900" dirty="0"/>
              <a:t> Terminal 1</a:t>
            </a:r>
          </a:p>
          <a:p>
            <a:r>
              <a:rPr lang="de-DE" sz="900" dirty="0"/>
              <a:t>3       Free Station </a:t>
            </a:r>
          </a:p>
          <a:p>
            <a:r>
              <a:rPr lang="de-DE" sz="900" dirty="0"/>
              <a:t>4       </a:t>
            </a:r>
            <a:r>
              <a:rPr lang="de-DE" sz="900" dirty="0" err="1"/>
              <a:t>Feeding</a:t>
            </a:r>
            <a:r>
              <a:rPr lang="de-DE" sz="900" dirty="0"/>
              <a:t> Terminal 2 and </a:t>
            </a:r>
            <a:r>
              <a:rPr lang="de-DE" sz="900" dirty="0" err="1"/>
              <a:t>Crimping</a:t>
            </a:r>
            <a:r>
              <a:rPr lang="de-DE" sz="900" dirty="0"/>
              <a:t> 1</a:t>
            </a:r>
          </a:p>
          <a:p>
            <a:r>
              <a:rPr lang="de-DE" sz="900" dirty="0"/>
              <a:t>5       Free Station</a:t>
            </a:r>
          </a:p>
          <a:p>
            <a:r>
              <a:rPr lang="de-DE" sz="900" dirty="0"/>
              <a:t>6       Bending Terminal 1</a:t>
            </a:r>
          </a:p>
          <a:p>
            <a:r>
              <a:rPr lang="de-DE" sz="900" dirty="0"/>
              <a:t>7       </a:t>
            </a:r>
            <a:r>
              <a:rPr lang="de-DE" sz="900" dirty="0" err="1"/>
              <a:t>Tinning</a:t>
            </a:r>
            <a:r>
              <a:rPr lang="de-DE" sz="900" dirty="0"/>
              <a:t> 1 Terminal 1</a:t>
            </a:r>
          </a:p>
          <a:p>
            <a:pPr marL="228600" indent="-228600">
              <a:buAutoNum type="arabicPlain" startAt="8"/>
            </a:pPr>
            <a:r>
              <a:rPr lang="de-DE" sz="900" dirty="0" err="1"/>
              <a:t>Tinning</a:t>
            </a:r>
            <a:r>
              <a:rPr lang="de-DE" sz="900" dirty="0"/>
              <a:t> 2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446131" y="5375573"/>
            <a:ext cx="1926764" cy="1061829"/>
          </a:xfrm>
          <a:prstGeom prst="rect">
            <a:avLst/>
          </a:prstGeom>
          <a:noFill/>
        </p:spPr>
        <p:txBody>
          <a:bodyPr wrap="square" rtlCol="0">
            <a:spAutoFit/>
          </a:bodyPr>
          <a:lstStyle/>
          <a:p>
            <a:r>
              <a:rPr lang="de-DE" sz="900" dirty="0"/>
              <a:t>17     Bending Terminal 2</a:t>
            </a:r>
          </a:p>
          <a:p>
            <a:r>
              <a:rPr lang="de-DE" sz="900" dirty="0"/>
              <a:t>18     </a:t>
            </a:r>
            <a:r>
              <a:rPr lang="de-DE" sz="900" dirty="0" err="1"/>
              <a:t>Tinning</a:t>
            </a:r>
            <a:r>
              <a:rPr lang="de-DE" sz="900" dirty="0"/>
              <a:t> 1 Terminal 2</a:t>
            </a:r>
          </a:p>
          <a:p>
            <a:r>
              <a:rPr lang="de-DE" sz="900" dirty="0"/>
              <a:t>19     </a:t>
            </a:r>
            <a:r>
              <a:rPr lang="de-DE" sz="900" dirty="0" err="1"/>
              <a:t>Tinning</a:t>
            </a:r>
            <a:r>
              <a:rPr lang="de-DE" sz="900" dirty="0"/>
              <a:t> 2 Terminal 2</a:t>
            </a:r>
          </a:p>
          <a:p>
            <a:r>
              <a:rPr lang="de-DE" sz="900" dirty="0"/>
              <a:t>20     Optical </a:t>
            </a:r>
            <a:r>
              <a:rPr lang="de-DE" sz="900" dirty="0" err="1"/>
              <a:t>Inspection</a:t>
            </a:r>
            <a:r>
              <a:rPr lang="de-DE" sz="900" dirty="0"/>
              <a:t> Terminal 2</a:t>
            </a:r>
          </a:p>
          <a:p>
            <a:r>
              <a:rPr lang="de-DE" sz="900" dirty="0"/>
              <a:t>21     </a:t>
            </a:r>
            <a:r>
              <a:rPr lang="de-DE" sz="900" dirty="0" err="1"/>
              <a:t>Electrical</a:t>
            </a:r>
            <a:r>
              <a:rPr lang="de-DE" sz="900" dirty="0"/>
              <a:t> </a:t>
            </a:r>
            <a:r>
              <a:rPr lang="de-DE" sz="900" dirty="0" err="1"/>
              <a:t>Testing</a:t>
            </a:r>
            <a:r>
              <a:rPr lang="de-DE" sz="900" dirty="0"/>
              <a:t> (Option)</a:t>
            </a:r>
          </a:p>
          <a:p>
            <a:r>
              <a:rPr lang="de-DE" sz="900" dirty="0"/>
              <a:t>22     </a:t>
            </a:r>
            <a:r>
              <a:rPr lang="de-DE" sz="900" dirty="0" err="1"/>
              <a:t>Labeling</a:t>
            </a:r>
            <a:r>
              <a:rPr lang="de-DE" sz="900" dirty="0"/>
              <a:t> (Option)</a:t>
            </a:r>
          </a:p>
          <a:p>
            <a:r>
              <a:rPr lang="de-DE" sz="900" dirty="0"/>
              <a:t>23     Output Cable</a:t>
            </a:r>
          </a:p>
        </p:txBody>
      </p:sp>
      <p:sp>
        <p:nvSpPr>
          <p:cNvPr id="398" name="Textfeld 397">
            <a:extLst>
              <a:ext uri="{FF2B5EF4-FFF2-40B4-BE49-F238E27FC236}">
                <a16:creationId xmlns:a16="http://schemas.microsoft.com/office/drawing/2014/main" id="{8876DD53-E338-E606-E655-CD9D01B91F2A}"/>
              </a:ext>
            </a:extLst>
          </p:cNvPr>
          <p:cNvSpPr txBox="1"/>
          <p:nvPr/>
        </p:nvSpPr>
        <p:spPr>
          <a:xfrm>
            <a:off x="6203263" y="5380236"/>
            <a:ext cx="2052078" cy="1200329"/>
          </a:xfrm>
          <a:prstGeom prst="rect">
            <a:avLst/>
          </a:prstGeom>
          <a:noFill/>
        </p:spPr>
        <p:txBody>
          <a:bodyPr wrap="square" rtlCol="0">
            <a:spAutoFit/>
          </a:bodyPr>
          <a:lstStyle>
            <a:defPPr>
              <a:defRPr lang="de-DE"/>
            </a:defPPr>
            <a:lvl1pPr>
              <a:defRPr sz="900"/>
            </a:lvl1pPr>
          </a:lstStyle>
          <a:p>
            <a:r>
              <a:rPr lang="de-DE" dirty="0"/>
              <a:t>9       Optical </a:t>
            </a:r>
            <a:r>
              <a:rPr lang="de-DE" dirty="0" err="1"/>
              <a:t>Inspection</a:t>
            </a:r>
            <a:r>
              <a:rPr lang="de-DE" dirty="0"/>
              <a:t> Terminal 1</a:t>
            </a:r>
          </a:p>
          <a:p>
            <a:r>
              <a:rPr lang="de-DE" dirty="0"/>
              <a:t>10     </a:t>
            </a:r>
            <a:r>
              <a:rPr lang="de-DE" dirty="0" err="1"/>
              <a:t>Turning</a:t>
            </a:r>
            <a:r>
              <a:rPr lang="de-DE" dirty="0"/>
              <a:t> </a:t>
            </a:r>
            <a:r>
              <a:rPr lang="de-DE" dirty="0" err="1"/>
              <a:t>station</a:t>
            </a:r>
            <a:r>
              <a:rPr lang="de-DE" dirty="0"/>
              <a:t> Terminal 1 </a:t>
            </a:r>
            <a:r>
              <a:rPr lang="de-DE" dirty="0" err="1"/>
              <a:t>to</a:t>
            </a:r>
            <a:r>
              <a:rPr lang="de-DE" dirty="0"/>
              <a:t> 2</a:t>
            </a:r>
          </a:p>
          <a:p>
            <a:pPr marL="228600" indent="-228600">
              <a:buAutoNum type="arabicPlain" startAt="11"/>
            </a:pPr>
            <a:r>
              <a:rPr lang="de-DE" dirty="0" err="1"/>
              <a:t>Turning</a:t>
            </a:r>
            <a:r>
              <a:rPr lang="de-DE" dirty="0"/>
              <a:t> Position Terminal 2    3-6-9</a:t>
            </a:r>
          </a:p>
          <a:p>
            <a:pPr marL="228600" indent="-228600">
              <a:buAutoNum type="arabicPlain" startAt="11"/>
            </a:pPr>
            <a:r>
              <a:rPr lang="de-DE" dirty="0"/>
              <a:t>Insert </a:t>
            </a:r>
            <a:r>
              <a:rPr lang="de-DE" dirty="0" err="1"/>
              <a:t>Shrinksleeve</a:t>
            </a:r>
            <a:r>
              <a:rPr lang="de-DE" dirty="0"/>
              <a:t> (Option)</a:t>
            </a:r>
          </a:p>
          <a:p>
            <a:r>
              <a:rPr lang="de-DE" dirty="0"/>
              <a:t>13     </a:t>
            </a:r>
            <a:r>
              <a:rPr lang="de-DE" dirty="0" err="1"/>
              <a:t>Removing</a:t>
            </a:r>
            <a:r>
              <a:rPr lang="de-DE" dirty="0"/>
              <a:t> </a:t>
            </a:r>
            <a:r>
              <a:rPr lang="de-DE" dirty="0" err="1"/>
              <a:t>Isolationpart</a:t>
            </a:r>
            <a:r>
              <a:rPr lang="de-DE" dirty="0"/>
              <a:t> Terminal 2</a:t>
            </a:r>
          </a:p>
          <a:p>
            <a:r>
              <a:rPr lang="de-DE" dirty="0"/>
              <a:t>14     Free Station</a:t>
            </a:r>
          </a:p>
          <a:p>
            <a:r>
              <a:rPr lang="de-DE" sz="900" dirty="0"/>
              <a:t>15     </a:t>
            </a:r>
            <a:r>
              <a:rPr lang="de-DE" sz="900" dirty="0" err="1"/>
              <a:t>Feeding</a:t>
            </a:r>
            <a:r>
              <a:rPr lang="de-DE" sz="900" dirty="0"/>
              <a:t> Terminal 2 and </a:t>
            </a:r>
            <a:r>
              <a:rPr lang="de-DE" sz="900" dirty="0" err="1"/>
              <a:t>Crimping</a:t>
            </a:r>
            <a:r>
              <a:rPr lang="de-DE" sz="900" dirty="0"/>
              <a:t> 2</a:t>
            </a:r>
          </a:p>
          <a:p>
            <a:r>
              <a:rPr lang="de-DE" dirty="0"/>
              <a:t>16     Free Station</a:t>
            </a:r>
            <a:endParaRPr lang="de-DE" sz="900" dirty="0"/>
          </a:p>
        </p:txBody>
      </p:sp>
      <p:sp>
        <p:nvSpPr>
          <p:cNvPr id="406" name="Bogen 405">
            <a:extLst>
              <a:ext uri="{FF2B5EF4-FFF2-40B4-BE49-F238E27FC236}">
                <a16:creationId xmlns:a16="http://schemas.microsoft.com/office/drawing/2014/main" id="{0A9F292A-FBC0-A417-C2F2-AE33EAD228AA}"/>
              </a:ext>
            </a:extLst>
          </p:cNvPr>
          <p:cNvSpPr/>
          <p:nvPr/>
        </p:nvSpPr>
        <p:spPr>
          <a:xfrm rot="5400000">
            <a:off x="18872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28459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6696244"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200436"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209036"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192177"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967418"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7031864"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6823804"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4" name="Ellipse 453">
            <a:extLst>
              <a:ext uri="{FF2B5EF4-FFF2-40B4-BE49-F238E27FC236}">
                <a16:creationId xmlns:a16="http://schemas.microsoft.com/office/drawing/2014/main" id="{F5AC4FC0-002D-8324-EB04-802F2831ED7B}"/>
              </a:ext>
            </a:extLst>
          </p:cNvPr>
          <p:cNvSpPr/>
          <p:nvPr/>
        </p:nvSpPr>
        <p:spPr>
          <a:xfrm>
            <a:off x="8826637" y="271955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pic>
        <p:nvPicPr>
          <p:cNvPr id="204" name="Grafik 203">
            <a:extLst>
              <a:ext uri="{FF2B5EF4-FFF2-40B4-BE49-F238E27FC236}">
                <a16:creationId xmlns:a16="http://schemas.microsoft.com/office/drawing/2014/main" id="{39814D31-C871-20EF-470F-FA01ED2713E2}"/>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saturation sat="0"/>
                    </a14:imgEffect>
                  </a14:imgLayer>
                </a14:imgProps>
              </a:ext>
            </a:extLst>
          </a:blip>
          <a:stretch>
            <a:fillRect/>
          </a:stretch>
        </p:blipFill>
        <p:spPr>
          <a:xfrm rot="6809829">
            <a:off x="9240849" y="2167191"/>
            <a:ext cx="1181531" cy="834402"/>
          </a:xfrm>
          <a:prstGeom prst="rect">
            <a:avLst/>
          </a:prstGeom>
        </p:spPr>
      </p:pic>
      <p:sp>
        <p:nvSpPr>
          <p:cNvPr id="472" name="Titel 1">
            <a:extLst>
              <a:ext uri="{FF2B5EF4-FFF2-40B4-BE49-F238E27FC236}">
                <a16:creationId xmlns:a16="http://schemas.microsoft.com/office/drawing/2014/main" id="{34BCB49A-80E4-E2F7-4717-A2CA96680C92}"/>
              </a:ext>
            </a:extLst>
          </p:cNvPr>
          <p:cNvSpPr txBox="1">
            <a:spLocks/>
          </p:cNvSpPr>
          <p:nvPr/>
        </p:nvSpPr>
        <p:spPr>
          <a:xfrm>
            <a:off x="4047226" y="130021"/>
            <a:ext cx="2771963"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100" b="1" dirty="0">
                <a:latin typeface="+mj-lt"/>
              </a:rPr>
              <a:t>Layout linear / Version 2</a:t>
            </a:r>
          </a:p>
        </p:txBody>
      </p:sp>
      <p:sp>
        <p:nvSpPr>
          <p:cNvPr id="2" name="Rechteck 1">
            <a:extLst>
              <a:ext uri="{FF2B5EF4-FFF2-40B4-BE49-F238E27FC236}">
                <a16:creationId xmlns:a16="http://schemas.microsoft.com/office/drawing/2014/main" id="{84FB2BEB-C083-673F-96AC-D528B424F0A5}"/>
              </a:ext>
            </a:extLst>
          </p:cNvPr>
          <p:cNvSpPr/>
          <p:nvPr/>
        </p:nvSpPr>
        <p:spPr>
          <a:xfrm rot="5400000">
            <a:off x="8966736" y="2772162"/>
            <a:ext cx="3930342" cy="115766"/>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8FB199C5-1130-6863-D46C-C851D240BEEF}"/>
              </a:ext>
            </a:extLst>
          </p:cNvPr>
          <p:cNvSpPr/>
          <p:nvPr/>
        </p:nvSpPr>
        <p:spPr>
          <a:xfrm rot="5400000">
            <a:off x="8140998" y="2772160"/>
            <a:ext cx="3930345" cy="115766"/>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a:off x="10062060" y="2665399"/>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5400000" flipH="1">
            <a:off x="10499230" y="2705140"/>
            <a:ext cx="25807" cy="72611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5400000" flipH="1">
            <a:off x="10500373" y="2657621"/>
            <a:ext cx="25807" cy="72611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5400000" flipH="1">
            <a:off x="10500821" y="2610648"/>
            <a:ext cx="25807" cy="72611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5400000" flipH="1">
            <a:off x="10500820" y="2563018"/>
            <a:ext cx="25807" cy="72611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8" name="Rechteck 17">
            <a:extLst>
              <a:ext uri="{FF2B5EF4-FFF2-40B4-BE49-F238E27FC236}">
                <a16:creationId xmlns:a16="http://schemas.microsoft.com/office/drawing/2014/main" id="{5EABA4B3-EC32-1902-3DD2-97402CF278E4}"/>
              </a:ext>
            </a:extLst>
          </p:cNvPr>
          <p:cNvSpPr/>
          <p:nvPr/>
        </p:nvSpPr>
        <p:spPr>
          <a:xfrm>
            <a:off x="10096760" y="1406962"/>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17" name="Verbinder: gekrümmt 16">
            <a:extLst>
              <a:ext uri="{FF2B5EF4-FFF2-40B4-BE49-F238E27FC236}">
                <a16:creationId xmlns:a16="http://schemas.microsoft.com/office/drawing/2014/main" id="{B2205B05-DDA9-F3F6-58DC-6B770A856407}"/>
              </a:ext>
            </a:extLst>
          </p:cNvPr>
          <p:cNvCxnSpPr>
            <a:cxnSpLocks/>
            <a:stCxn id="225" idx="0"/>
            <a:endCxn id="333" idx="0"/>
          </p:cNvCxnSpPr>
          <p:nvPr/>
        </p:nvCxnSpPr>
        <p:spPr>
          <a:xfrm rot="16200000" flipH="1" flipV="1">
            <a:off x="5097276" y="2950515"/>
            <a:ext cx="1035971" cy="1173839"/>
          </a:xfrm>
          <a:prstGeom prst="curvedConnector3">
            <a:avLst>
              <a:gd name="adj1" fmla="val 76772"/>
            </a:avLst>
          </a:prstGeom>
          <a:ln/>
        </p:spPr>
        <p:style>
          <a:lnRef idx="3">
            <a:schemeClr val="dk1"/>
          </a:lnRef>
          <a:fillRef idx="0">
            <a:schemeClr val="dk1"/>
          </a:fillRef>
          <a:effectRef idx="2">
            <a:schemeClr val="dk1"/>
          </a:effectRef>
          <a:fontRef idx="minor">
            <a:schemeClr val="tx1"/>
          </a:fontRef>
        </p:style>
      </p:cxnSp>
      <p:sp>
        <p:nvSpPr>
          <p:cNvPr id="27" name="Rechteck 26">
            <a:extLst>
              <a:ext uri="{FF2B5EF4-FFF2-40B4-BE49-F238E27FC236}">
                <a16:creationId xmlns:a16="http://schemas.microsoft.com/office/drawing/2014/main" id="{B13139A5-9323-A86D-8F25-4FBD0F055F0F}"/>
              </a:ext>
            </a:extLst>
          </p:cNvPr>
          <p:cNvSpPr/>
          <p:nvPr/>
        </p:nvSpPr>
        <p:spPr>
          <a:xfrm rot="5400000">
            <a:off x="5297096" y="3565446"/>
            <a:ext cx="1507805" cy="50530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67682C69-630D-C1A2-0379-9F665FE9DA48}"/>
              </a:ext>
            </a:extLst>
          </p:cNvPr>
          <p:cNvSpPr/>
          <p:nvPr/>
        </p:nvSpPr>
        <p:spPr>
          <a:xfrm rot="5400000">
            <a:off x="4672754" y="2430989"/>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9" name="Gruppieren 28">
            <a:extLst>
              <a:ext uri="{FF2B5EF4-FFF2-40B4-BE49-F238E27FC236}">
                <a16:creationId xmlns:a16="http://schemas.microsoft.com/office/drawing/2014/main" id="{36185471-D644-0E5A-31E6-BF469BF9A56C}"/>
              </a:ext>
            </a:extLst>
          </p:cNvPr>
          <p:cNvGrpSpPr/>
          <p:nvPr/>
        </p:nvGrpSpPr>
        <p:grpSpPr>
          <a:xfrm rot="10800000">
            <a:off x="6171584" y="2609785"/>
            <a:ext cx="69580" cy="193454"/>
            <a:chOff x="2849757" y="2999802"/>
            <a:chExt cx="69580" cy="193454"/>
          </a:xfrm>
        </p:grpSpPr>
        <p:sp>
          <p:nvSpPr>
            <p:cNvPr id="30" name="Rechteck 29">
              <a:extLst>
                <a:ext uri="{FF2B5EF4-FFF2-40B4-BE49-F238E27FC236}">
                  <a16:creationId xmlns:a16="http://schemas.microsoft.com/office/drawing/2014/main" id="{8D82B597-98D8-E7AA-9B82-1F26A62F11BE}"/>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31" name="Gerade Verbindung mit Pfeil 30">
              <a:extLst>
                <a:ext uri="{FF2B5EF4-FFF2-40B4-BE49-F238E27FC236}">
                  <a16:creationId xmlns:a16="http://schemas.microsoft.com/office/drawing/2014/main" id="{9CEE5212-5F80-56E2-EBAA-141B115297D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33" name="Ellipse 32">
            <a:extLst>
              <a:ext uri="{FF2B5EF4-FFF2-40B4-BE49-F238E27FC236}">
                <a16:creationId xmlns:a16="http://schemas.microsoft.com/office/drawing/2014/main" id="{F031ADD2-3CED-2FDD-1223-DA0739034928}"/>
              </a:ext>
            </a:extLst>
          </p:cNvPr>
          <p:cNvSpPr/>
          <p:nvPr/>
        </p:nvSpPr>
        <p:spPr>
          <a:xfrm>
            <a:off x="4509530" y="2996170"/>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0" name="Ellipse 49">
            <a:extLst>
              <a:ext uri="{FF2B5EF4-FFF2-40B4-BE49-F238E27FC236}">
                <a16:creationId xmlns:a16="http://schemas.microsoft.com/office/drawing/2014/main" id="{8489A324-3441-45A7-2611-14883E4596F5}"/>
              </a:ext>
            </a:extLst>
          </p:cNvPr>
          <p:cNvSpPr/>
          <p:nvPr/>
        </p:nvSpPr>
        <p:spPr>
          <a:xfrm>
            <a:off x="4174696"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56" name="Gruppieren 455">
            <a:extLst>
              <a:ext uri="{FF2B5EF4-FFF2-40B4-BE49-F238E27FC236}">
                <a16:creationId xmlns:a16="http://schemas.microsoft.com/office/drawing/2014/main" id="{5333AFD1-3DDB-CC47-2AF6-1B1B2C5D1AF3}"/>
              </a:ext>
            </a:extLst>
          </p:cNvPr>
          <p:cNvGrpSpPr/>
          <p:nvPr/>
        </p:nvGrpSpPr>
        <p:grpSpPr>
          <a:xfrm>
            <a:off x="3856143" y="2993789"/>
            <a:ext cx="69580" cy="193454"/>
            <a:chOff x="2849757" y="2999802"/>
            <a:chExt cx="69580" cy="193454"/>
          </a:xfrm>
        </p:grpSpPr>
        <p:sp>
          <p:nvSpPr>
            <p:cNvPr id="457" name="Rechteck 456">
              <a:extLst>
                <a:ext uri="{FF2B5EF4-FFF2-40B4-BE49-F238E27FC236}">
                  <a16:creationId xmlns:a16="http://schemas.microsoft.com/office/drawing/2014/main" id="{D367936F-9A9A-DE67-29C7-55760AAF5DE9}"/>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8" name="Gerade Verbindung mit Pfeil 457">
              <a:extLst>
                <a:ext uri="{FF2B5EF4-FFF2-40B4-BE49-F238E27FC236}">
                  <a16:creationId xmlns:a16="http://schemas.microsoft.com/office/drawing/2014/main" id="{2DAA193E-B76C-E393-FAB2-A2E891699159}"/>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62" name="Ellipse 461">
            <a:extLst>
              <a:ext uri="{FF2B5EF4-FFF2-40B4-BE49-F238E27FC236}">
                <a16:creationId xmlns:a16="http://schemas.microsoft.com/office/drawing/2014/main" id="{423E2C7E-1660-8CF6-C5D6-80A724F082D0}"/>
              </a:ext>
            </a:extLst>
          </p:cNvPr>
          <p:cNvSpPr/>
          <p:nvPr/>
        </p:nvSpPr>
        <p:spPr>
          <a:xfrm>
            <a:off x="22053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63" name="Rechteck 462">
            <a:extLst>
              <a:ext uri="{FF2B5EF4-FFF2-40B4-BE49-F238E27FC236}">
                <a16:creationId xmlns:a16="http://schemas.microsoft.com/office/drawing/2014/main" id="{92956792-0D87-0F40-CAEF-B1C352202AD3}"/>
              </a:ext>
            </a:extLst>
          </p:cNvPr>
          <p:cNvSpPr/>
          <p:nvPr/>
        </p:nvSpPr>
        <p:spPr>
          <a:xfrm rot="5400000">
            <a:off x="5352350"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4" name="Rechteck 463">
            <a:extLst>
              <a:ext uri="{FF2B5EF4-FFF2-40B4-BE49-F238E27FC236}">
                <a16:creationId xmlns:a16="http://schemas.microsoft.com/office/drawing/2014/main" id="{2A7833CF-3D57-799A-0664-6D798C7F2D56}"/>
              </a:ext>
            </a:extLst>
          </p:cNvPr>
          <p:cNvSpPr/>
          <p:nvPr/>
        </p:nvSpPr>
        <p:spPr>
          <a:xfrm rot="5400000">
            <a:off x="4639025" y="1733206"/>
            <a:ext cx="1416563" cy="660152"/>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5" name="Rechteck 464">
            <a:extLst>
              <a:ext uri="{FF2B5EF4-FFF2-40B4-BE49-F238E27FC236}">
                <a16:creationId xmlns:a16="http://schemas.microsoft.com/office/drawing/2014/main" id="{96383D8A-F53F-8D4D-C6B4-D71D34D8EFFE}"/>
              </a:ext>
            </a:extLst>
          </p:cNvPr>
          <p:cNvSpPr/>
          <p:nvPr/>
        </p:nvSpPr>
        <p:spPr>
          <a:xfrm rot="5400000">
            <a:off x="4631503"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66" name="Gruppieren 465">
            <a:extLst>
              <a:ext uri="{FF2B5EF4-FFF2-40B4-BE49-F238E27FC236}">
                <a16:creationId xmlns:a16="http://schemas.microsoft.com/office/drawing/2014/main" id="{FA640F49-1F9F-B40D-4602-3B2C960E1A81}"/>
              </a:ext>
            </a:extLst>
          </p:cNvPr>
          <p:cNvGrpSpPr/>
          <p:nvPr/>
        </p:nvGrpSpPr>
        <p:grpSpPr>
          <a:xfrm>
            <a:off x="2180023" y="2796091"/>
            <a:ext cx="75705" cy="277927"/>
            <a:chOff x="3476670" y="3647733"/>
            <a:chExt cx="75705" cy="277927"/>
          </a:xfrm>
        </p:grpSpPr>
        <p:sp>
          <p:nvSpPr>
            <p:cNvPr id="467" name="Rechteck 466">
              <a:extLst>
                <a:ext uri="{FF2B5EF4-FFF2-40B4-BE49-F238E27FC236}">
                  <a16:creationId xmlns:a16="http://schemas.microsoft.com/office/drawing/2014/main" id="{C44EBDB7-B568-4403-6CB6-7FCF47372C1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73" name="Verbinder: gekrümmt 472">
              <a:extLst>
                <a:ext uri="{FF2B5EF4-FFF2-40B4-BE49-F238E27FC236}">
                  <a16:creationId xmlns:a16="http://schemas.microsoft.com/office/drawing/2014/main" id="{9C06D3B9-BC72-CE5D-3CBE-8135D6F9AB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474" name="Gruppieren 473">
            <a:extLst>
              <a:ext uri="{FF2B5EF4-FFF2-40B4-BE49-F238E27FC236}">
                <a16:creationId xmlns:a16="http://schemas.microsoft.com/office/drawing/2014/main" id="{19C6F498-5BB2-AA46-806E-6241564B586F}"/>
              </a:ext>
            </a:extLst>
          </p:cNvPr>
          <p:cNvGrpSpPr/>
          <p:nvPr/>
        </p:nvGrpSpPr>
        <p:grpSpPr>
          <a:xfrm>
            <a:off x="2501021" y="2811273"/>
            <a:ext cx="75705" cy="277927"/>
            <a:chOff x="3476670" y="3647733"/>
            <a:chExt cx="75705" cy="277927"/>
          </a:xfrm>
        </p:grpSpPr>
        <p:sp>
          <p:nvSpPr>
            <p:cNvPr id="475" name="Rechteck 474">
              <a:extLst>
                <a:ext uri="{FF2B5EF4-FFF2-40B4-BE49-F238E27FC236}">
                  <a16:creationId xmlns:a16="http://schemas.microsoft.com/office/drawing/2014/main" id="{1D99D243-F9CF-2D50-BE10-F7B80817620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76" name="Verbinder: gekrümmt 475">
              <a:extLst>
                <a:ext uri="{FF2B5EF4-FFF2-40B4-BE49-F238E27FC236}">
                  <a16:creationId xmlns:a16="http://schemas.microsoft.com/office/drawing/2014/main" id="{39F77F89-7872-A285-BBD4-4440062B6D42}"/>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477" name="Gruppieren 476">
            <a:extLst>
              <a:ext uri="{FF2B5EF4-FFF2-40B4-BE49-F238E27FC236}">
                <a16:creationId xmlns:a16="http://schemas.microsoft.com/office/drawing/2014/main" id="{024E23BD-BF16-531C-0721-B766FAF70B2B}"/>
              </a:ext>
            </a:extLst>
          </p:cNvPr>
          <p:cNvGrpSpPr/>
          <p:nvPr/>
        </p:nvGrpSpPr>
        <p:grpSpPr>
          <a:xfrm>
            <a:off x="2821417" y="2806402"/>
            <a:ext cx="75705" cy="277927"/>
            <a:chOff x="3476670" y="3647733"/>
            <a:chExt cx="75705" cy="277927"/>
          </a:xfrm>
        </p:grpSpPr>
        <p:sp>
          <p:nvSpPr>
            <p:cNvPr id="478" name="Rechteck 477">
              <a:extLst>
                <a:ext uri="{FF2B5EF4-FFF2-40B4-BE49-F238E27FC236}">
                  <a16:creationId xmlns:a16="http://schemas.microsoft.com/office/drawing/2014/main" id="{6E3AF1DC-C6A9-9DA9-2E6B-8FB38ED2A7F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79" name="Verbinder: gekrümmt 478">
              <a:extLst>
                <a:ext uri="{FF2B5EF4-FFF2-40B4-BE49-F238E27FC236}">
                  <a16:creationId xmlns:a16="http://schemas.microsoft.com/office/drawing/2014/main" id="{2E8E9BE5-3273-82DB-CF2A-04BA5413EFA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480" name="Gruppieren 479">
            <a:extLst>
              <a:ext uri="{FF2B5EF4-FFF2-40B4-BE49-F238E27FC236}">
                <a16:creationId xmlns:a16="http://schemas.microsoft.com/office/drawing/2014/main" id="{78FBD4DB-A888-259D-3641-77FC26F4B265}"/>
              </a:ext>
            </a:extLst>
          </p:cNvPr>
          <p:cNvGrpSpPr/>
          <p:nvPr/>
        </p:nvGrpSpPr>
        <p:grpSpPr>
          <a:xfrm>
            <a:off x="3155747" y="2744492"/>
            <a:ext cx="75705" cy="277927"/>
            <a:chOff x="3476670" y="3647733"/>
            <a:chExt cx="75705" cy="277927"/>
          </a:xfrm>
        </p:grpSpPr>
        <p:sp>
          <p:nvSpPr>
            <p:cNvPr id="481" name="Rechteck 480">
              <a:extLst>
                <a:ext uri="{FF2B5EF4-FFF2-40B4-BE49-F238E27FC236}">
                  <a16:creationId xmlns:a16="http://schemas.microsoft.com/office/drawing/2014/main" id="{6FD77A0E-6943-C405-0EBC-DFA2BD3256F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82" name="Verbinder: gekrümmt 481">
              <a:extLst>
                <a:ext uri="{FF2B5EF4-FFF2-40B4-BE49-F238E27FC236}">
                  <a16:creationId xmlns:a16="http://schemas.microsoft.com/office/drawing/2014/main" id="{E8EAB921-0BCB-C486-F42B-BC97233D0CB1}"/>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483" name="Gruppieren 482">
            <a:extLst>
              <a:ext uri="{FF2B5EF4-FFF2-40B4-BE49-F238E27FC236}">
                <a16:creationId xmlns:a16="http://schemas.microsoft.com/office/drawing/2014/main" id="{A79E146A-4F83-09DF-EEDB-F79918DDD1CC}"/>
              </a:ext>
            </a:extLst>
          </p:cNvPr>
          <p:cNvGrpSpPr/>
          <p:nvPr/>
        </p:nvGrpSpPr>
        <p:grpSpPr>
          <a:xfrm>
            <a:off x="3490222" y="2806403"/>
            <a:ext cx="75705" cy="277927"/>
            <a:chOff x="3476670" y="3647733"/>
            <a:chExt cx="75705" cy="277927"/>
          </a:xfrm>
        </p:grpSpPr>
        <p:sp>
          <p:nvSpPr>
            <p:cNvPr id="484" name="Rechteck 483">
              <a:extLst>
                <a:ext uri="{FF2B5EF4-FFF2-40B4-BE49-F238E27FC236}">
                  <a16:creationId xmlns:a16="http://schemas.microsoft.com/office/drawing/2014/main" id="{65642C72-1803-1E85-827F-22978A5D8BC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85" name="Verbinder: gekrümmt 484">
              <a:extLst>
                <a:ext uri="{FF2B5EF4-FFF2-40B4-BE49-F238E27FC236}">
                  <a16:creationId xmlns:a16="http://schemas.microsoft.com/office/drawing/2014/main" id="{4B5C98D5-DF23-7A33-8E1B-3C9808232A8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486" name="Gruppieren 485">
            <a:extLst>
              <a:ext uri="{FF2B5EF4-FFF2-40B4-BE49-F238E27FC236}">
                <a16:creationId xmlns:a16="http://schemas.microsoft.com/office/drawing/2014/main" id="{3DAB3561-AB5E-ADFD-883A-2A9643EF238F}"/>
              </a:ext>
            </a:extLst>
          </p:cNvPr>
          <p:cNvGrpSpPr/>
          <p:nvPr/>
        </p:nvGrpSpPr>
        <p:grpSpPr>
          <a:xfrm>
            <a:off x="3824480" y="2808958"/>
            <a:ext cx="75705" cy="277927"/>
            <a:chOff x="3476670" y="3647733"/>
            <a:chExt cx="75705" cy="277927"/>
          </a:xfrm>
        </p:grpSpPr>
        <p:sp>
          <p:nvSpPr>
            <p:cNvPr id="487" name="Rechteck 486">
              <a:extLst>
                <a:ext uri="{FF2B5EF4-FFF2-40B4-BE49-F238E27FC236}">
                  <a16:creationId xmlns:a16="http://schemas.microsoft.com/office/drawing/2014/main" id="{F7D0AF09-566D-E813-07AB-16EC8F4FF4F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88" name="Verbinder: gekrümmt 487">
              <a:extLst>
                <a:ext uri="{FF2B5EF4-FFF2-40B4-BE49-F238E27FC236}">
                  <a16:creationId xmlns:a16="http://schemas.microsoft.com/office/drawing/2014/main" id="{B4587251-9C87-2841-2842-50C1CDAFD331}"/>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489" name="Gruppieren 488">
            <a:extLst>
              <a:ext uri="{FF2B5EF4-FFF2-40B4-BE49-F238E27FC236}">
                <a16:creationId xmlns:a16="http://schemas.microsoft.com/office/drawing/2014/main" id="{0B9F03EE-5B35-7933-D173-AC195D5B99D3}"/>
              </a:ext>
            </a:extLst>
          </p:cNvPr>
          <p:cNvGrpSpPr/>
          <p:nvPr/>
        </p:nvGrpSpPr>
        <p:grpSpPr>
          <a:xfrm>
            <a:off x="4155050" y="2806403"/>
            <a:ext cx="75705" cy="277927"/>
            <a:chOff x="3476670" y="3647733"/>
            <a:chExt cx="75705" cy="277927"/>
          </a:xfrm>
        </p:grpSpPr>
        <p:sp>
          <p:nvSpPr>
            <p:cNvPr id="490" name="Rechteck 489">
              <a:extLst>
                <a:ext uri="{FF2B5EF4-FFF2-40B4-BE49-F238E27FC236}">
                  <a16:creationId xmlns:a16="http://schemas.microsoft.com/office/drawing/2014/main" id="{169CCA44-743E-556B-AC91-8194928A1FE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91" name="Verbinder: gekrümmt 490">
              <a:extLst>
                <a:ext uri="{FF2B5EF4-FFF2-40B4-BE49-F238E27FC236}">
                  <a16:creationId xmlns:a16="http://schemas.microsoft.com/office/drawing/2014/main" id="{299F4A62-D6C4-59E6-3764-D6515B0A085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492" name="Rechteck 491">
            <a:extLst>
              <a:ext uri="{FF2B5EF4-FFF2-40B4-BE49-F238E27FC236}">
                <a16:creationId xmlns:a16="http://schemas.microsoft.com/office/drawing/2014/main" id="{4996A573-6482-BBDE-53CE-AC64C9441D26}"/>
              </a:ext>
            </a:extLst>
          </p:cNvPr>
          <p:cNvSpPr/>
          <p:nvPr/>
        </p:nvSpPr>
        <p:spPr>
          <a:xfrm rot="5400000">
            <a:off x="2354533"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3" name="Rechteck 492">
            <a:extLst>
              <a:ext uri="{FF2B5EF4-FFF2-40B4-BE49-F238E27FC236}">
                <a16:creationId xmlns:a16="http://schemas.microsoft.com/office/drawing/2014/main" id="{1089D9F5-99AA-AE2B-EA9B-68993A818455}"/>
              </a:ext>
            </a:extLst>
          </p:cNvPr>
          <p:cNvSpPr/>
          <p:nvPr/>
        </p:nvSpPr>
        <p:spPr>
          <a:xfrm>
            <a:off x="2524502"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4" name="Rechteck 493">
            <a:extLst>
              <a:ext uri="{FF2B5EF4-FFF2-40B4-BE49-F238E27FC236}">
                <a16:creationId xmlns:a16="http://schemas.microsoft.com/office/drawing/2014/main" id="{979B4C11-D508-D3F7-3008-2E8247B18912}"/>
              </a:ext>
            </a:extLst>
          </p:cNvPr>
          <p:cNvSpPr/>
          <p:nvPr/>
        </p:nvSpPr>
        <p:spPr>
          <a:xfrm rot="5400000">
            <a:off x="3680775"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5" name="Rechteck 494">
            <a:extLst>
              <a:ext uri="{FF2B5EF4-FFF2-40B4-BE49-F238E27FC236}">
                <a16:creationId xmlns:a16="http://schemas.microsoft.com/office/drawing/2014/main" id="{9C1680A1-2F44-9188-AE37-308A29709EAD}"/>
              </a:ext>
            </a:extLst>
          </p:cNvPr>
          <p:cNvSpPr/>
          <p:nvPr/>
        </p:nvSpPr>
        <p:spPr>
          <a:xfrm>
            <a:off x="5092779"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96" name="Gerade Verbindung mit Pfeil 495">
            <a:extLst>
              <a:ext uri="{FF2B5EF4-FFF2-40B4-BE49-F238E27FC236}">
                <a16:creationId xmlns:a16="http://schemas.microsoft.com/office/drawing/2014/main" id="{EF19EBCF-D77D-F69C-E752-CA0C65B5D720}"/>
              </a:ext>
            </a:extLst>
          </p:cNvPr>
          <p:cNvCxnSpPr>
            <a:cxnSpLocks/>
          </p:cNvCxnSpPr>
          <p:nvPr/>
        </p:nvCxnSpPr>
        <p:spPr>
          <a:xfrm flipV="1">
            <a:off x="5278925"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497" name="Ellipse 496">
            <a:extLst>
              <a:ext uri="{FF2B5EF4-FFF2-40B4-BE49-F238E27FC236}">
                <a16:creationId xmlns:a16="http://schemas.microsoft.com/office/drawing/2014/main" id="{D8D2D935-EFA4-E267-1F05-3F0E50F0A42F}"/>
              </a:ext>
            </a:extLst>
          </p:cNvPr>
          <p:cNvSpPr/>
          <p:nvPr/>
        </p:nvSpPr>
        <p:spPr>
          <a:xfrm>
            <a:off x="5052920"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8" name="Ellipse 497">
            <a:extLst>
              <a:ext uri="{FF2B5EF4-FFF2-40B4-BE49-F238E27FC236}">
                <a16:creationId xmlns:a16="http://schemas.microsoft.com/office/drawing/2014/main" id="{5ADA1E84-EFA7-B77C-B8B3-B7C4A5F75B3B}"/>
              </a:ext>
            </a:extLst>
          </p:cNvPr>
          <p:cNvSpPr/>
          <p:nvPr/>
        </p:nvSpPr>
        <p:spPr>
          <a:xfrm>
            <a:off x="5360873"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9" name="Ellipse 498">
            <a:extLst>
              <a:ext uri="{FF2B5EF4-FFF2-40B4-BE49-F238E27FC236}">
                <a16:creationId xmlns:a16="http://schemas.microsoft.com/office/drawing/2014/main" id="{8063F498-5692-C2AA-B4B6-BC6264CA7B95}"/>
              </a:ext>
            </a:extLst>
          </p:cNvPr>
          <p:cNvSpPr/>
          <p:nvPr/>
        </p:nvSpPr>
        <p:spPr>
          <a:xfrm>
            <a:off x="5052920"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0" name="Ellipse 499">
            <a:extLst>
              <a:ext uri="{FF2B5EF4-FFF2-40B4-BE49-F238E27FC236}">
                <a16:creationId xmlns:a16="http://schemas.microsoft.com/office/drawing/2014/main" id="{4EBD96EE-760C-BE09-6C35-946348017B84}"/>
              </a:ext>
            </a:extLst>
          </p:cNvPr>
          <p:cNvSpPr/>
          <p:nvPr/>
        </p:nvSpPr>
        <p:spPr>
          <a:xfrm>
            <a:off x="5358313"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501" name="Gruppieren 500">
            <a:extLst>
              <a:ext uri="{FF2B5EF4-FFF2-40B4-BE49-F238E27FC236}">
                <a16:creationId xmlns:a16="http://schemas.microsoft.com/office/drawing/2014/main" id="{F9594F67-06D3-9ACF-12E1-7CF2B8569325}"/>
              </a:ext>
            </a:extLst>
          </p:cNvPr>
          <p:cNvGrpSpPr/>
          <p:nvPr/>
        </p:nvGrpSpPr>
        <p:grpSpPr>
          <a:xfrm rot="10800000">
            <a:off x="6195908" y="2720064"/>
            <a:ext cx="75705" cy="277927"/>
            <a:chOff x="3476670" y="3647733"/>
            <a:chExt cx="75705" cy="277927"/>
          </a:xfrm>
        </p:grpSpPr>
        <p:sp>
          <p:nvSpPr>
            <p:cNvPr id="502" name="Rechteck 501">
              <a:extLst>
                <a:ext uri="{FF2B5EF4-FFF2-40B4-BE49-F238E27FC236}">
                  <a16:creationId xmlns:a16="http://schemas.microsoft.com/office/drawing/2014/main" id="{C08ACC54-546B-F2B3-55BB-D4C141CB28A1}"/>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503" name="Verbinder: gekrümmt 502">
              <a:extLst>
                <a:ext uri="{FF2B5EF4-FFF2-40B4-BE49-F238E27FC236}">
                  <a16:creationId xmlns:a16="http://schemas.microsoft.com/office/drawing/2014/main" id="{ABB469C3-39C8-42F8-9544-6F6ECDF05CD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504" name="Rechteck 503">
            <a:extLst>
              <a:ext uri="{FF2B5EF4-FFF2-40B4-BE49-F238E27FC236}">
                <a16:creationId xmlns:a16="http://schemas.microsoft.com/office/drawing/2014/main" id="{335A289C-A3F9-9FDF-6697-AE805872A302}"/>
              </a:ext>
            </a:extLst>
          </p:cNvPr>
          <p:cNvSpPr/>
          <p:nvPr/>
        </p:nvSpPr>
        <p:spPr>
          <a:xfrm rot="5400000">
            <a:off x="2539160"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505" name="Grafik 504">
            <a:extLst>
              <a:ext uri="{FF2B5EF4-FFF2-40B4-BE49-F238E27FC236}">
                <a16:creationId xmlns:a16="http://schemas.microsoft.com/office/drawing/2014/main" id="{649EF8A5-DA2B-4A80-E9DF-6771969FCE54}"/>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a:off x="3179532" y="2317689"/>
            <a:ext cx="92019" cy="392999"/>
          </a:xfrm>
          <a:prstGeom prst="rect">
            <a:avLst/>
          </a:prstGeom>
        </p:spPr>
      </p:pic>
      <p:pic>
        <p:nvPicPr>
          <p:cNvPr id="506" name="Grafik 505">
            <a:extLst>
              <a:ext uri="{FF2B5EF4-FFF2-40B4-BE49-F238E27FC236}">
                <a16:creationId xmlns:a16="http://schemas.microsoft.com/office/drawing/2014/main" id="{71CE05BF-E7CC-0B8C-637A-5E73C7F47AA6}"/>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764958" y="839807"/>
            <a:ext cx="979170" cy="1335382"/>
          </a:xfrm>
          <a:prstGeom prst="rect">
            <a:avLst/>
          </a:prstGeom>
        </p:spPr>
      </p:pic>
      <p:sp>
        <p:nvSpPr>
          <p:cNvPr id="507" name="Ellipse 506">
            <a:extLst>
              <a:ext uri="{FF2B5EF4-FFF2-40B4-BE49-F238E27FC236}">
                <a16:creationId xmlns:a16="http://schemas.microsoft.com/office/drawing/2014/main" id="{C7A51EA9-B007-127B-044A-933C812E0DAF}"/>
              </a:ext>
            </a:extLst>
          </p:cNvPr>
          <p:cNvSpPr/>
          <p:nvPr/>
        </p:nvSpPr>
        <p:spPr>
          <a:xfrm>
            <a:off x="2949050"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508" name="Ellipse 507">
            <a:extLst>
              <a:ext uri="{FF2B5EF4-FFF2-40B4-BE49-F238E27FC236}">
                <a16:creationId xmlns:a16="http://schemas.microsoft.com/office/drawing/2014/main" id="{8C1CB241-499A-A11D-6068-BA37FD8EF20F}"/>
              </a:ext>
            </a:extLst>
          </p:cNvPr>
          <p:cNvSpPr/>
          <p:nvPr/>
        </p:nvSpPr>
        <p:spPr>
          <a:xfrm>
            <a:off x="2927026"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9" name="Ellipse 508">
            <a:extLst>
              <a:ext uri="{FF2B5EF4-FFF2-40B4-BE49-F238E27FC236}">
                <a16:creationId xmlns:a16="http://schemas.microsoft.com/office/drawing/2014/main" id="{35EE641C-207F-527A-E9F9-FC1FAD62DD0D}"/>
              </a:ext>
            </a:extLst>
          </p:cNvPr>
          <p:cNvSpPr/>
          <p:nvPr/>
        </p:nvSpPr>
        <p:spPr>
          <a:xfrm>
            <a:off x="3442176"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510" name="Grafik 509">
            <a:extLst>
              <a:ext uri="{FF2B5EF4-FFF2-40B4-BE49-F238E27FC236}">
                <a16:creationId xmlns:a16="http://schemas.microsoft.com/office/drawing/2014/main" id="{D8D2CF2A-414B-800D-4A4F-A52127EDC72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081172" y="1486320"/>
            <a:ext cx="90077" cy="28388"/>
          </a:xfrm>
          <a:prstGeom prst="rect">
            <a:avLst/>
          </a:prstGeom>
        </p:spPr>
      </p:pic>
      <p:pic>
        <p:nvPicPr>
          <p:cNvPr id="511" name="Grafik 510">
            <a:extLst>
              <a:ext uri="{FF2B5EF4-FFF2-40B4-BE49-F238E27FC236}">
                <a16:creationId xmlns:a16="http://schemas.microsoft.com/office/drawing/2014/main" id="{65F508C6-6EEA-7B0A-A151-F04F987024CB}"/>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233572" y="1638720"/>
            <a:ext cx="90077" cy="28388"/>
          </a:xfrm>
          <a:prstGeom prst="rect">
            <a:avLst/>
          </a:prstGeom>
        </p:spPr>
      </p:pic>
      <p:pic>
        <p:nvPicPr>
          <p:cNvPr id="103" name="Grafik 102">
            <a:extLst>
              <a:ext uri="{FF2B5EF4-FFF2-40B4-BE49-F238E27FC236}">
                <a16:creationId xmlns:a16="http://schemas.microsoft.com/office/drawing/2014/main" id="{1B84BDDB-1CA5-6BCA-86A7-68108F1413C2}"/>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165946" y="1499796"/>
            <a:ext cx="90077" cy="28388"/>
          </a:xfrm>
          <a:prstGeom prst="rect">
            <a:avLst/>
          </a:prstGeom>
        </p:spPr>
      </p:pic>
      <p:pic>
        <p:nvPicPr>
          <p:cNvPr id="130" name="Grafik 129">
            <a:extLst>
              <a:ext uri="{FF2B5EF4-FFF2-40B4-BE49-F238E27FC236}">
                <a16:creationId xmlns:a16="http://schemas.microsoft.com/office/drawing/2014/main" id="{04A0C3BF-0531-1215-92CB-814E9BDAEE2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064715" y="1736793"/>
            <a:ext cx="90077" cy="28388"/>
          </a:xfrm>
          <a:prstGeom prst="rect">
            <a:avLst/>
          </a:prstGeom>
        </p:spPr>
      </p:pic>
      <p:pic>
        <p:nvPicPr>
          <p:cNvPr id="139" name="Grafik 138">
            <a:extLst>
              <a:ext uri="{FF2B5EF4-FFF2-40B4-BE49-F238E27FC236}">
                <a16:creationId xmlns:a16="http://schemas.microsoft.com/office/drawing/2014/main" id="{036C973A-2A9F-F463-F586-A199CF66F54B}"/>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131384" y="1720781"/>
            <a:ext cx="90077" cy="28388"/>
          </a:xfrm>
          <a:prstGeom prst="rect">
            <a:avLst/>
          </a:prstGeom>
        </p:spPr>
      </p:pic>
      <p:pic>
        <p:nvPicPr>
          <p:cNvPr id="159" name="Grafik 158">
            <a:extLst>
              <a:ext uri="{FF2B5EF4-FFF2-40B4-BE49-F238E27FC236}">
                <a16:creationId xmlns:a16="http://schemas.microsoft.com/office/drawing/2014/main" id="{F83D18A3-C991-12A2-F01B-899968E5B991}"/>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125381" y="1604247"/>
            <a:ext cx="90077" cy="28388"/>
          </a:xfrm>
          <a:prstGeom prst="rect">
            <a:avLst/>
          </a:prstGeom>
        </p:spPr>
      </p:pic>
      <p:pic>
        <p:nvPicPr>
          <p:cNvPr id="160" name="Grafik 159">
            <a:extLst>
              <a:ext uri="{FF2B5EF4-FFF2-40B4-BE49-F238E27FC236}">
                <a16:creationId xmlns:a16="http://schemas.microsoft.com/office/drawing/2014/main" id="{E06BEFD3-8307-1655-55D6-F3D59F2D2D58}"/>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208177" y="1766726"/>
            <a:ext cx="90077" cy="28388"/>
          </a:xfrm>
          <a:prstGeom prst="rect">
            <a:avLst/>
          </a:prstGeom>
        </p:spPr>
      </p:pic>
      <p:sp>
        <p:nvSpPr>
          <p:cNvPr id="161" name="Rechteck 160">
            <a:extLst>
              <a:ext uri="{FF2B5EF4-FFF2-40B4-BE49-F238E27FC236}">
                <a16:creationId xmlns:a16="http://schemas.microsoft.com/office/drawing/2014/main" id="{426718EE-91D4-345B-550F-CE4F18CD6828}"/>
              </a:ext>
            </a:extLst>
          </p:cNvPr>
          <p:cNvSpPr/>
          <p:nvPr/>
        </p:nvSpPr>
        <p:spPr>
          <a:xfrm>
            <a:off x="3179239"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62" name="Rechteck 161">
            <a:extLst>
              <a:ext uri="{FF2B5EF4-FFF2-40B4-BE49-F238E27FC236}">
                <a16:creationId xmlns:a16="http://schemas.microsoft.com/office/drawing/2014/main" id="{CB8C8A08-6FB8-F67B-60A4-CEDBDA2B3B3A}"/>
              </a:ext>
            </a:extLst>
          </p:cNvPr>
          <p:cNvSpPr/>
          <p:nvPr/>
        </p:nvSpPr>
        <p:spPr>
          <a:xfrm>
            <a:off x="3148342"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63" name="Grafik 162">
            <a:extLst>
              <a:ext uri="{FF2B5EF4-FFF2-40B4-BE49-F238E27FC236}">
                <a16:creationId xmlns:a16="http://schemas.microsoft.com/office/drawing/2014/main" id="{236A5DA8-3056-F635-2979-E1762A269CBD}"/>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177314" y="2252543"/>
            <a:ext cx="90077" cy="28388"/>
          </a:xfrm>
          <a:prstGeom prst="rect">
            <a:avLst/>
          </a:prstGeom>
        </p:spPr>
      </p:pic>
      <p:sp>
        <p:nvSpPr>
          <p:cNvPr id="164" name="Bogen 163">
            <a:extLst>
              <a:ext uri="{FF2B5EF4-FFF2-40B4-BE49-F238E27FC236}">
                <a16:creationId xmlns:a16="http://schemas.microsoft.com/office/drawing/2014/main" id="{AD3D64D4-A0E6-1B05-8B53-2978687324BD}"/>
              </a:ext>
            </a:extLst>
          </p:cNvPr>
          <p:cNvSpPr/>
          <p:nvPr/>
        </p:nvSpPr>
        <p:spPr>
          <a:xfrm rot="2415078">
            <a:off x="3183613"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65" name="Rechteck 164">
            <a:extLst>
              <a:ext uri="{FF2B5EF4-FFF2-40B4-BE49-F238E27FC236}">
                <a16:creationId xmlns:a16="http://schemas.microsoft.com/office/drawing/2014/main" id="{989DA8ED-EF5A-22C6-8023-5559061F8ED8}"/>
              </a:ext>
            </a:extLst>
          </p:cNvPr>
          <p:cNvSpPr/>
          <p:nvPr/>
        </p:nvSpPr>
        <p:spPr>
          <a:xfrm rot="5400000">
            <a:off x="3155791"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66" name="Rechteck 165">
            <a:extLst>
              <a:ext uri="{FF2B5EF4-FFF2-40B4-BE49-F238E27FC236}">
                <a16:creationId xmlns:a16="http://schemas.microsoft.com/office/drawing/2014/main" id="{D2DEC98D-A8CD-C693-A02B-C99F10E6A27A}"/>
              </a:ext>
            </a:extLst>
          </p:cNvPr>
          <p:cNvSpPr/>
          <p:nvPr/>
        </p:nvSpPr>
        <p:spPr>
          <a:xfrm rot="10800000">
            <a:off x="3174030"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67" name="Grafik 166">
            <a:extLst>
              <a:ext uri="{FF2B5EF4-FFF2-40B4-BE49-F238E27FC236}">
                <a16:creationId xmlns:a16="http://schemas.microsoft.com/office/drawing/2014/main" id="{65134E25-DAA3-605E-DA97-B9AC246F2AB8}"/>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176856" y="2736875"/>
            <a:ext cx="90077" cy="28388"/>
          </a:xfrm>
          <a:prstGeom prst="rect">
            <a:avLst/>
          </a:prstGeom>
        </p:spPr>
      </p:pic>
      <p:pic>
        <p:nvPicPr>
          <p:cNvPr id="168" name="Grafik 167">
            <a:extLst>
              <a:ext uri="{FF2B5EF4-FFF2-40B4-BE49-F238E27FC236}">
                <a16:creationId xmlns:a16="http://schemas.microsoft.com/office/drawing/2014/main" id="{E5BF9A07-C494-A68A-973E-F0A9198B4DF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012005" y="550500"/>
            <a:ext cx="357431" cy="449580"/>
          </a:xfrm>
          <a:prstGeom prst="rect">
            <a:avLst/>
          </a:prstGeom>
        </p:spPr>
      </p:pic>
      <p:pic>
        <p:nvPicPr>
          <p:cNvPr id="169" name="Grafik 168">
            <a:extLst>
              <a:ext uri="{FF2B5EF4-FFF2-40B4-BE49-F238E27FC236}">
                <a16:creationId xmlns:a16="http://schemas.microsoft.com/office/drawing/2014/main" id="{00557241-A883-0458-A855-D0A5097D729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514122" y="2787421"/>
            <a:ext cx="90077" cy="28388"/>
          </a:xfrm>
          <a:prstGeom prst="rect">
            <a:avLst/>
          </a:prstGeom>
        </p:spPr>
      </p:pic>
      <p:pic>
        <p:nvPicPr>
          <p:cNvPr id="170" name="Grafik 169">
            <a:extLst>
              <a:ext uri="{FF2B5EF4-FFF2-40B4-BE49-F238E27FC236}">
                <a16:creationId xmlns:a16="http://schemas.microsoft.com/office/drawing/2014/main" id="{9DE86E94-5836-95BB-F15D-34BA0103FBE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847614" y="2781323"/>
            <a:ext cx="90077" cy="28388"/>
          </a:xfrm>
          <a:prstGeom prst="rect">
            <a:avLst/>
          </a:prstGeom>
        </p:spPr>
      </p:pic>
      <p:pic>
        <p:nvPicPr>
          <p:cNvPr id="171" name="Grafik 170">
            <a:extLst>
              <a:ext uri="{FF2B5EF4-FFF2-40B4-BE49-F238E27FC236}">
                <a16:creationId xmlns:a16="http://schemas.microsoft.com/office/drawing/2014/main" id="{2983D96E-0F5D-A154-D939-0F417B1CBFA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176035" y="2792484"/>
            <a:ext cx="90077" cy="28388"/>
          </a:xfrm>
          <a:prstGeom prst="rect">
            <a:avLst/>
          </a:prstGeom>
        </p:spPr>
      </p:pic>
      <p:sp>
        <p:nvSpPr>
          <p:cNvPr id="172" name="Rechteck 171">
            <a:extLst>
              <a:ext uri="{FF2B5EF4-FFF2-40B4-BE49-F238E27FC236}">
                <a16:creationId xmlns:a16="http://schemas.microsoft.com/office/drawing/2014/main" id="{E268DA04-0F6C-F559-2DE6-688D1BE31D8D}"/>
              </a:ext>
            </a:extLst>
          </p:cNvPr>
          <p:cNvSpPr/>
          <p:nvPr/>
        </p:nvSpPr>
        <p:spPr>
          <a:xfrm>
            <a:off x="3816719"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3" name="Rechteck 172">
            <a:extLst>
              <a:ext uri="{FF2B5EF4-FFF2-40B4-BE49-F238E27FC236}">
                <a16:creationId xmlns:a16="http://schemas.microsoft.com/office/drawing/2014/main" id="{91878B0C-4F7D-3EF4-813F-2EF9107E205C}"/>
              </a:ext>
            </a:extLst>
          </p:cNvPr>
          <p:cNvSpPr/>
          <p:nvPr/>
        </p:nvSpPr>
        <p:spPr>
          <a:xfrm rot="5400000">
            <a:off x="5408291"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2" name="Rechteck 181">
            <a:extLst>
              <a:ext uri="{FF2B5EF4-FFF2-40B4-BE49-F238E27FC236}">
                <a16:creationId xmlns:a16="http://schemas.microsoft.com/office/drawing/2014/main" id="{EEB002D4-BAA3-C832-44D5-C6F323CDAC68}"/>
              </a:ext>
            </a:extLst>
          </p:cNvPr>
          <p:cNvSpPr/>
          <p:nvPr/>
        </p:nvSpPr>
        <p:spPr>
          <a:xfrm>
            <a:off x="5522010"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6" name="Rechteck 215">
            <a:extLst>
              <a:ext uri="{FF2B5EF4-FFF2-40B4-BE49-F238E27FC236}">
                <a16:creationId xmlns:a16="http://schemas.microsoft.com/office/drawing/2014/main" id="{75927BA5-514F-AB80-8EED-66D27E230B6C}"/>
              </a:ext>
            </a:extLst>
          </p:cNvPr>
          <p:cNvSpPr/>
          <p:nvPr/>
        </p:nvSpPr>
        <p:spPr>
          <a:xfrm>
            <a:off x="5579159"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7" name="Pfeil: nach links gekrümmt 216">
            <a:extLst>
              <a:ext uri="{FF2B5EF4-FFF2-40B4-BE49-F238E27FC236}">
                <a16:creationId xmlns:a16="http://schemas.microsoft.com/office/drawing/2014/main" id="{A168DA83-EA02-A838-A567-8EAE4E53D1F3}"/>
              </a:ext>
            </a:extLst>
          </p:cNvPr>
          <p:cNvSpPr/>
          <p:nvPr/>
        </p:nvSpPr>
        <p:spPr>
          <a:xfrm flipV="1">
            <a:off x="5514573"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223" name="Rechteck 222">
            <a:extLst>
              <a:ext uri="{FF2B5EF4-FFF2-40B4-BE49-F238E27FC236}">
                <a16:creationId xmlns:a16="http://schemas.microsoft.com/office/drawing/2014/main" id="{E45F0C42-8C49-DFFA-4A0F-88A39605193F}"/>
              </a:ext>
            </a:extLst>
          </p:cNvPr>
          <p:cNvSpPr/>
          <p:nvPr/>
        </p:nvSpPr>
        <p:spPr>
          <a:xfrm rot="5400000">
            <a:off x="6018854" y="3141830"/>
            <a:ext cx="364318" cy="21002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5" name="Rechteck 224">
            <a:extLst>
              <a:ext uri="{FF2B5EF4-FFF2-40B4-BE49-F238E27FC236}">
                <a16:creationId xmlns:a16="http://schemas.microsoft.com/office/drawing/2014/main" id="{5544A06B-6F6B-3B62-5CD4-FE558446EC1C}"/>
              </a:ext>
            </a:extLst>
          </p:cNvPr>
          <p:cNvSpPr/>
          <p:nvPr/>
        </p:nvSpPr>
        <p:spPr>
          <a:xfrm>
            <a:off x="6161927"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7" name="Rechteck 226">
            <a:extLst>
              <a:ext uri="{FF2B5EF4-FFF2-40B4-BE49-F238E27FC236}">
                <a16:creationId xmlns:a16="http://schemas.microsoft.com/office/drawing/2014/main" id="{7B4AA734-D412-A512-0730-E106D586CA0A}"/>
              </a:ext>
            </a:extLst>
          </p:cNvPr>
          <p:cNvSpPr/>
          <p:nvPr/>
        </p:nvSpPr>
        <p:spPr>
          <a:xfrm>
            <a:off x="6163180"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5" name="Rechteck 254">
            <a:extLst>
              <a:ext uri="{FF2B5EF4-FFF2-40B4-BE49-F238E27FC236}">
                <a16:creationId xmlns:a16="http://schemas.microsoft.com/office/drawing/2014/main" id="{C46452F8-E65F-4738-DA86-29F9E5CA876F}"/>
              </a:ext>
            </a:extLst>
          </p:cNvPr>
          <p:cNvSpPr/>
          <p:nvPr/>
        </p:nvSpPr>
        <p:spPr>
          <a:xfrm>
            <a:off x="6220329"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05" name="Rechteck 304">
            <a:extLst>
              <a:ext uri="{FF2B5EF4-FFF2-40B4-BE49-F238E27FC236}">
                <a16:creationId xmlns:a16="http://schemas.microsoft.com/office/drawing/2014/main" id="{D3630539-2786-1F8F-8013-C00C778CEAE1}"/>
              </a:ext>
            </a:extLst>
          </p:cNvPr>
          <p:cNvSpPr/>
          <p:nvPr/>
        </p:nvSpPr>
        <p:spPr>
          <a:xfrm>
            <a:off x="2523052"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06" name="Rechteck 305">
            <a:extLst>
              <a:ext uri="{FF2B5EF4-FFF2-40B4-BE49-F238E27FC236}">
                <a16:creationId xmlns:a16="http://schemas.microsoft.com/office/drawing/2014/main" id="{28EC3E59-6657-8A15-FC93-CC78D9A7EF33}"/>
              </a:ext>
            </a:extLst>
          </p:cNvPr>
          <p:cNvSpPr/>
          <p:nvPr/>
        </p:nvSpPr>
        <p:spPr>
          <a:xfrm>
            <a:off x="2580201"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307" name="Gruppieren 306">
            <a:extLst>
              <a:ext uri="{FF2B5EF4-FFF2-40B4-BE49-F238E27FC236}">
                <a16:creationId xmlns:a16="http://schemas.microsoft.com/office/drawing/2014/main" id="{74F440C3-B56B-959E-F26A-E05D62D1D9F9}"/>
              </a:ext>
            </a:extLst>
          </p:cNvPr>
          <p:cNvGrpSpPr/>
          <p:nvPr/>
        </p:nvGrpSpPr>
        <p:grpSpPr>
          <a:xfrm>
            <a:off x="4819052" y="2805783"/>
            <a:ext cx="75705" cy="277927"/>
            <a:chOff x="3476670" y="3647733"/>
            <a:chExt cx="75705" cy="277927"/>
          </a:xfrm>
        </p:grpSpPr>
        <p:sp>
          <p:nvSpPr>
            <p:cNvPr id="308" name="Rechteck 307">
              <a:extLst>
                <a:ext uri="{FF2B5EF4-FFF2-40B4-BE49-F238E27FC236}">
                  <a16:creationId xmlns:a16="http://schemas.microsoft.com/office/drawing/2014/main" id="{A4AB465A-86BB-B4F2-1F24-AF0FB1C6463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09" name="Verbinder: gekrümmt 308">
              <a:extLst>
                <a:ext uri="{FF2B5EF4-FFF2-40B4-BE49-F238E27FC236}">
                  <a16:creationId xmlns:a16="http://schemas.microsoft.com/office/drawing/2014/main" id="{D24DFB52-31A9-AC99-7B8A-93FD7E0CF29A}"/>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10" name="Grafik 309">
            <a:extLst>
              <a:ext uri="{FF2B5EF4-FFF2-40B4-BE49-F238E27FC236}">
                <a16:creationId xmlns:a16="http://schemas.microsoft.com/office/drawing/2014/main" id="{3584E1A4-9E3F-104E-42FE-1F9D2DBE08ED}"/>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842186" y="2778148"/>
            <a:ext cx="90077" cy="28388"/>
          </a:xfrm>
          <a:prstGeom prst="rect">
            <a:avLst/>
          </a:prstGeom>
        </p:spPr>
      </p:pic>
      <p:pic>
        <p:nvPicPr>
          <p:cNvPr id="312" name="Grafik 311">
            <a:extLst>
              <a:ext uri="{FF2B5EF4-FFF2-40B4-BE49-F238E27FC236}">
                <a16:creationId xmlns:a16="http://schemas.microsoft.com/office/drawing/2014/main" id="{1E0D9A29-D119-C485-D42E-6EA853589333}"/>
              </a:ext>
            </a:extLst>
          </p:cNvPr>
          <p:cNvPicPr>
            <a:picLocks noChangeAspect="1"/>
          </p:cNvPicPr>
          <p:nvPr/>
        </p:nvPicPr>
        <p:blipFill rotWithShape="1">
          <a:blip r:embed="rId7"/>
          <a:srcRect l="12368" t="11098" r="5271"/>
          <a:stretch/>
        </p:blipFill>
        <p:spPr>
          <a:xfrm>
            <a:off x="4922968" y="2656991"/>
            <a:ext cx="85407" cy="102912"/>
          </a:xfrm>
          <a:prstGeom prst="rect">
            <a:avLst/>
          </a:prstGeom>
        </p:spPr>
      </p:pic>
      <p:pic>
        <p:nvPicPr>
          <p:cNvPr id="332" name="Grafik 331">
            <a:extLst>
              <a:ext uri="{FF2B5EF4-FFF2-40B4-BE49-F238E27FC236}">
                <a16:creationId xmlns:a16="http://schemas.microsoft.com/office/drawing/2014/main" id="{98409256-F7B8-B4E8-5178-C7146D08424E}"/>
              </a:ext>
            </a:extLst>
          </p:cNvPr>
          <p:cNvPicPr>
            <a:picLocks noChangeAspect="1"/>
          </p:cNvPicPr>
          <p:nvPr/>
        </p:nvPicPr>
        <p:blipFill rotWithShape="1">
          <a:blip r:embed="rId7"/>
          <a:srcRect l="12368" t="11098" r="5271"/>
          <a:stretch/>
        </p:blipFill>
        <p:spPr>
          <a:xfrm flipH="1">
            <a:off x="4763418" y="2653742"/>
            <a:ext cx="90381" cy="107501"/>
          </a:xfrm>
          <a:prstGeom prst="rect">
            <a:avLst/>
          </a:prstGeom>
        </p:spPr>
      </p:pic>
      <p:sp>
        <p:nvSpPr>
          <p:cNvPr id="333" name="Rechteck 332">
            <a:extLst>
              <a:ext uri="{FF2B5EF4-FFF2-40B4-BE49-F238E27FC236}">
                <a16:creationId xmlns:a16="http://schemas.microsoft.com/office/drawing/2014/main" id="{DEB4C406-4903-21D8-49FA-21E807AD4CDE}"/>
              </a:ext>
            </a:extLst>
          </p:cNvPr>
          <p:cNvSpPr/>
          <p:nvPr/>
        </p:nvSpPr>
        <p:spPr>
          <a:xfrm>
            <a:off x="4681539" y="4055421"/>
            <a:ext cx="693606" cy="547179"/>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r>
              <a:rPr lang="de-DE" sz="800" dirty="0"/>
              <a:t> </a:t>
            </a:r>
            <a:r>
              <a:rPr lang="de-DE" sz="800" dirty="0" err="1"/>
              <a:t>unit</a:t>
            </a:r>
            <a:r>
              <a:rPr lang="de-DE" sz="800" dirty="0"/>
              <a:t> </a:t>
            </a:r>
          </a:p>
          <a:p>
            <a:pPr algn="ctr"/>
            <a:r>
              <a:rPr lang="de-DE" sz="800" dirty="0" err="1"/>
              <a:t>for</a:t>
            </a:r>
            <a:r>
              <a:rPr lang="de-DE" sz="800" dirty="0"/>
              <a:t> </a:t>
            </a:r>
            <a:r>
              <a:rPr lang="de-DE" sz="800" dirty="0" err="1"/>
              <a:t>both</a:t>
            </a:r>
            <a:r>
              <a:rPr lang="de-DE" sz="800" dirty="0"/>
              <a:t> </a:t>
            </a:r>
            <a:r>
              <a:rPr lang="de-DE" sz="800" dirty="0" err="1"/>
              <a:t>station</a:t>
            </a:r>
            <a:endParaRPr lang="de-DE" sz="800" dirty="0"/>
          </a:p>
          <a:p>
            <a:pPr algn="ctr"/>
            <a:r>
              <a:rPr lang="de-DE" sz="800" dirty="0"/>
              <a:t>and </a:t>
            </a:r>
            <a:r>
              <a:rPr lang="de-DE" sz="800" dirty="0" err="1"/>
              <a:t>cutting</a:t>
            </a:r>
            <a:endParaRPr lang="de-DE" sz="800" dirty="0"/>
          </a:p>
        </p:txBody>
      </p:sp>
      <p:sp>
        <p:nvSpPr>
          <p:cNvPr id="334" name="Rechteck: abgerundete Ecken 333">
            <a:extLst>
              <a:ext uri="{FF2B5EF4-FFF2-40B4-BE49-F238E27FC236}">
                <a16:creationId xmlns:a16="http://schemas.microsoft.com/office/drawing/2014/main" id="{CBE2D111-2885-5FC0-6CC0-5BC97B999A28}"/>
              </a:ext>
            </a:extLst>
          </p:cNvPr>
          <p:cNvSpPr/>
          <p:nvPr/>
        </p:nvSpPr>
        <p:spPr>
          <a:xfrm>
            <a:off x="23789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343" name="Rechteck: abgerundete Ecken 342">
            <a:extLst>
              <a:ext uri="{FF2B5EF4-FFF2-40B4-BE49-F238E27FC236}">
                <a16:creationId xmlns:a16="http://schemas.microsoft.com/office/drawing/2014/main" id="{38B7E234-F39C-76C9-E3AA-2F5F0C0664A6}"/>
              </a:ext>
            </a:extLst>
          </p:cNvPr>
          <p:cNvSpPr/>
          <p:nvPr/>
        </p:nvSpPr>
        <p:spPr>
          <a:xfrm>
            <a:off x="5027115" y="285593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344" name="Rechteck: abgerundete Ecken 343">
            <a:extLst>
              <a:ext uri="{FF2B5EF4-FFF2-40B4-BE49-F238E27FC236}">
                <a16:creationId xmlns:a16="http://schemas.microsoft.com/office/drawing/2014/main" id="{2257FB29-E21B-5007-66CC-46FFFBE8AA40}"/>
              </a:ext>
            </a:extLst>
          </p:cNvPr>
          <p:cNvSpPr/>
          <p:nvPr/>
        </p:nvSpPr>
        <p:spPr>
          <a:xfrm>
            <a:off x="20925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346" name="Rechteck: abgerundete Ecken 345">
            <a:extLst>
              <a:ext uri="{FF2B5EF4-FFF2-40B4-BE49-F238E27FC236}">
                <a16:creationId xmlns:a16="http://schemas.microsoft.com/office/drawing/2014/main" id="{83BE87B4-700C-C0E6-0159-4D6202DA81AA}"/>
              </a:ext>
            </a:extLst>
          </p:cNvPr>
          <p:cNvSpPr/>
          <p:nvPr/>
        </p:nvSpPr>
        <p:spPr>
          <a:xfrm>
            <a:off x="2747162"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366" name="Rechteck: abgerundete Ecken 365">
            <a:extLst>
              <a:ext uri="{FF2B5EF4-FFF2-40B4-BE49-F238E27FC236}">
                <a16:creationId xmlns:a16="http://schemas.microsoft.com/office/drawing/2014/main" id="{A78E241A-5AFC-0712-E00C-129F58AAA228}"/>
              </a:ext>
            </a:extLst>
          </p:cNvPr>
          <p:cNvSpPr/>
          <p:nvPr/>
        </p:nvSpPr>
        <p:spPr>
          <a:xfrm>
            <a:off x="3348808"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367" name="Rechteck: abgerundete Ecken 366">
            <a:extLst>
              <a:ext uri="{FF2B5EF4-FFF2-40B4-BE49-F238E27FC236}">
                <a16:creationId xmlns:a16="http://schemas.microsoft.com/office/drawing/2014/main" id="{F2A00BB0-5E12-D8E4-1394-E1230C0C19A7}"/>
              </a:ext>
            </a:extLst>
          </p:cNvPr>
          <p:cNvSpPr/>
          <p:nvPr/>
        </p:nvSpPr>
        <p:spPr>
          <a:xfrm>
            <a:off x="303857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368" name="Rechteck: abgerundete Ecken 367">
            <a:extLst>
              <a:ext uri="{FF2B5EF4-FFF2-40B4-BE49-F238E27FC236}">
                <a16:creationId xmlns:a16="http://schemas.microsoft.com/office/drawing/2014/main" id="{6FC016DB-A429-9F1D-5A5E-79D95520D1BF}"/>
              </a:ext>
            </a:extLst>
          </p:cNvPr>
          <p:cNvSpPr/>
          <p:nvPr/>
        </p:nvSpPr>
        <p:spPr>
          <a:xfrm>
            <a:off x="3692414"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369" name="Rechteck: abgerundete Ecken 368">
            <a:extLst>
              <a:ext uri="{FF2B5EF4-FFF2-40B4-BE49-F238E27FC236}">
                <a16:creationId xmlns:a16="http://schemas.microsoft.com/office/drawing/2014/main" id="{24B88C9C-77F5-D8F7-FE7F-E44870838EE5}"/>
              </a:ext>
            </a:extLst>
          </p:cNvPr>
          <p:cNvSpPr/>
          <p:nvPr/>
        </p:nvSpPr>
        <p:spPr>
          <a:xfrm>
            <a:off x="4356831"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370" name="Rechteck: abgerundete Ecken 369">
            <a:extLst>
              <a:ext uri="{FF2B5EF4-FFF2-40B4-BE49-F238E27FC236}">
                <a16:creationId xmlns:a16="http://schemas.microsoft.com/office/drawing/2014/main" id="{FA464E61-C9D4-141A-35B5-7D101D96DBDF}"/>
              </a:ext>
            </a:extLst>
          </p:cNvPr>
          <p:cNvSpPr/>
          <p:nvPr/>
        </p:nvSpPr>
        <p:spPr>
          <a:xfrm>
            <a:off x="402199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371" name="Rechteck: abgerundete Ecken 370">
            <a:extLst>
              <a:ext uri="{FF2B5EF4-FFF2-40B4-BE49-F238E27FC236}">
                <a16:creationId xmlns:a16="http://schemas.microsoft.com/office/drawing/2014/main" id="{467F11E9-43F1-4B8F-49ED-A033DF43E62B}"/>
              </a:ext>
            </a:extLst>
          </p:cNvPr>
          <p:cNvSpPr/>
          <p:nvPr/>
        </p:nvSpPr>
        <p:spPr>
          <a:xfrm>
            <a:off x="4729805"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372" name="Rechteck: abgerundete Ecken 371">
            <a:extLst>
              <a:ext uri="{FF2B5EF4-FFF2-40B4-BE49-F238E27FC236}">
                <a16:creationId xmlns:a16="http://schemas.microsoft.com/office/drawing/2014/main" id="{1A9AA5EE-5B88-1739-EFCF-1D4B073393E6}"/>
              </a:ext>
            </a:extLst>
          </p:cNvPr>
          <p:cNvSpPr/>
          <p:nvPr/>
        </p:nvSpPr>
        <p:spPr>
          <a:xfrm>
            <a:off x="5390101"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373" name="Rechteck: abgerundete Ecken 372">
            <a:extLst>
              <a:ext uri="{FF2B5EF4-FFF2-40B4-BE49-F238E27FC236}">
                <a16:creationId xmlns:a16="http://schemas.microsoft.com/office/drawing/2014/main" id="{87777D9F-9C40-77F5-1C50-4AC896ED1351}"/>
              </a:ext>
            </a:extLst>
          </p:cNvPr>
          <p:cNvSpPr/>
          <p:nvPr/>
        </p:nvSpPr>
        <p:spPr>
          <a:xfrm>
            <a:off x="5707511"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399" name="Rechteck: abgerundete Ecken 398">
            <a:extLst>
              <a:ext uri="{FF2B5EF4-FFF2-40B4-BE49-F238E27FC236}">
                <a16:creationId xmlns:a16="http://schemas.microsoft.com/office/drawing/2014/main" id="{5D895477-E8CA-124E-B4B3-66EC56A0F9F7}"/>
              </a:ext>
            </a:extLst>
          </p:cNvPr>
          <p:cNvSpPr/>
          <p:nvPr/>
        </p:nvSpPr>
        <p:spPr>
          <a:xfrm>
            <a:off x="6072812"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400" name="Rechteck 399">
            <a:extLst>
              <a:ext uri="{FF2B5EF4-FFF2-40B4-BE49-F238E27FC236}">
                <a16:creationId xmlns:a16="http://schemas.microsoft.com/office/drawing/2014/main" id="{F23F4009-C836-E2C9-2C06-9BF87E1454BA}"/>
              </a:ext>
            </a:extLst>
          </p:cNvPr>
          <p:cNvSpPr/>
          <p:nvPr/>
        </p:nvSpPr>
        <p:spPr>
          <a:xfrm>
            <a:off x="5098527"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03" name="Rechteck 402">
            <a:extLst>
              <a:ext uri="{FF2B5EF4-FFF2-40B4-BE49-F238E27FC236}">
                <a16:creationId xmlns:a16="http://schemas.microsoft.com/office/drawing/2014/main" id="{205FB54D-E3A7-EB3B-FCD6-4F2E09BC33AE}"/>
              </a:ext>
            </a:extLst>
          </p:cNvPr>
          <p:cNvSpPr/>
          <p:nvPr/>
        </p:nvSpPr>
        <p:spPr>
          <a:xfrm>
            <a:off x="5097602"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404" name="Gruppieren 403">
            <a:extLst>
              <a:ext uri="{FF2B5EF4-FFF2-40B4-BE49-F238E27FC236}">
                <a16:creationId xmlns:a16="http://schemas.microsoft.com/office/drawing/2014/main" id="{901FC5BE-4372-C3F1-1638-0072DD917C7B}"/>
              </a:ext>
            </a:extLst>
          </p:cNvPr>
          <p:cNvGrpSpPr/>
          <p:nvPr/>
        </p:nvGrpSpPr>
        <p:grpSpPr>
          <a:xfrm>
            <a:off x="4479287" y="2803249"/>
            <a:ext cx="75705" cy="277927"/>
            <a:chOff x="3476670" y="3647733"/>
            <a:chExt cx="75705" cy="277927"/>
          </a:xfrm>
        </p:grpSpPr>
        <p:sp>
          <p:nvSpPr>
            <p:cNvPr id="405" name="Rechteck 404">
              <a:extLst>
                <a:ext uri="{FF2B5EF4-FFF2-40B4-BE49-F238E27FC236}">
                  <a16:creationId xmlns:a16="http://schemas.microsoft.com/office/drawing/2014/main" id="{4404B4C6-CB15-63B1-F48E-63E49003E341}"/>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407" name="Verbinder: gekrümmt 406">
              <a:extLst>
                <a:ext uri="{FF2B5EF4-FFF2-40B4-BE49-F238E27FC236}">
                  <a16:creationId xmlns:a16="http://schemas.microsoft.com/office/drawing/2014/main" id="{F3148978-8D79-1D04-E4AD-370FCC9113F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409" name="Grafik 408">
            <a:extLst>
              <a:ext uri="{FF2B5EF4-FFF2-40B4-BE49-F238E27FC236}">
                <a16:creationId xmlns:a16="http://schemas.microsoft.com/office/drawing/2014/main" id="{F80D4281-3CD1-6559-EC2A-44C1AE182D53}"/>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500272" y="2789330"/>
            <a:ext cx="90077" cy="28388"/>
          </a:xfrm>
          <a:prstGeom prst="rect">
            <a:avLst/>
          </a:prstGeom>
        </p:spPr>
      </p:pic>
      <p:grpSp>
        <p:nvGrpSpPr>
          <p:cNvPr id="411" name="Gruppieren 410">
            <a:extLst>
              <a:ext uri="{FF2B5EF4-FFF2-40B4-BE49-F238E27FC236}">
                <a16:creationId xmlns:a16="http://schemas.microsoft.com/office/drawing/2014/main" id="{7C6B3F5A-2439-EED3-506D-A4C3AB927786}"/>
              </a:ext>
            </a:extLst>
          </p:cNvPr>
          <p:cNvGrpSpPr/>
          <p:nvPr/>
        </p:nvGrpSpPr>
        <p:grpSpPr>
          <a:xfrm flipH="1">
            <a:off x="5224501" y="2285653"/>
            <a:ext cx="19389" cy="713061"/>
            <a:chOff x="6851814" y="1766023"/>
            <a:chExt cx="78569" cy="2068826"/>
          </a:xfrm>
        </p:grpSpPr>
        <p:sp>
          <p:nvSpPr>
            <p:cNvPr id="414" name="Rechteck 413">
              <a:extLst>
                <a:ext uri="{FF2B5EF4-FFF2-40B4-BE49-F238E27FC236}">
                  <a16:creationId xmlns:a16="http://schemas.microsoft.com/office/drawing/2014/main" id="{9A33959F-437F-D68D-B577-9E74820DE418}"/>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0" name="Rechteck 419">
              <a:extLst>
                <a:ext uri="{FF2B5EF4-FFF2-40B4-BE49-F238E27FC236}">
                  <a16:creationId xmlns:a16="http://schemas.microsoft.com/office/drawing/2014/main" id="{6D5747A6-A559-035B-81C5-6B012AB11C97}"/>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25" name="Rechteck 424">
              <a:extLst>
                <a:ext uri="{FF2B5EF4-FFF2-40B4-BE49-F238E27FC236}">
                  <a16:creationId xmlns:a16="http://schemas.microsoft.com/office/drawing/2014/main" id="{1C85C7F9-FAE1-6904-98B2-EE0A87566257}"/>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7" name="Rechteck 426">
              <a:extLst>
                <a:ext uri="{FF2B5EF4-FFF2-40B4-BE49-F238E27FC236}">
                  <a16:creationId xmlns:a16="http://schemas.microsoft.com/office/drawing/2014/main" id="{461165C7-1071-A6EB-EB4E-06D10CE8B08C}"/>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8" name="Rechteck 427">
              <a:extLst>
                <a:ext uri="{FF2B5EF4-FFF2-40B4-BE49-F238E27FC236}">
                  <a16:creationId xmlns:a16="http://schemas.microsoft.com/office/drawing/2014/main" id="{BAD321FB-A828-53C1-2880-4EA706AE64C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429" name="Flussdiagramm: Datenträger mit direktem Zugriff 428">
            <a:extLst>
              <a:ext uri="{FF2B5EF4-FFF2-40B4-BE49-F238E27FC236}">
                <a16:creationId xmlns:a16="http://schemas.microsoft.com/office/drawing/2014/main" id="{8AAE4AB6-3EF2-07CB-6334-2C68AD5B3410}"/>
              </a:ext>
            </a:extLst>
          </p:cNvPr>
          <p:cNvSpPr/>
          <p:nvPr/>
        </p:nvSpPr>
        <p:spPr>
          <a:xfrm rot="5400000">
            <a:off x="5189705" y="23279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440" name="Grafik 439">
            <a:extLst>
              <a:ext uri="{FF2B5EF4-FFF2-40B4-BE49-F238E27FC236}">
                <a16:creationId xmlns:a16="http://schemas.microsoft.com/office/drawing/2014/main" id="{B35876A4-FC2A-DD2B-1D22-FCEFB7A2084B}"/>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191280" y="2268544"/>
            <a:ext cx="90077" cy="28388"/>
          </a:xfrm>
          <a:prstGeom prst="rect">
            <a:avLst/>
          </a:prstGeom>
        </p:spPr>
      </p:pic>
      <p:sp>
        <p:nvSpPr>
          <p:cNvPr id="512" name="Rechteck 511">
            <a:extLst>
              <a:ext uri="{FF2B5EF4-FFF2-40B4-BE49-F238E27FC236}">
                <a16:creationId xmlns:a16="http://schemas.microsoft.com/office/drawing/2014/main" id="{8B725E78-0846-043F-B15A-0D735E532AF8}"/>
              </a:ext>
            </a:extLst>
          </p:cNvPr>
          <p:cNvSpPr/>
          <p:nvPr/>
        </p:nvSpPr>
        <p:spPr>
          <a:xfrm>
            <a:off x="5196557"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3" name="Rechteck 512">
            <a:extLst>
              <a:ext uri="{FF2B5EF4-FFF2-40B4-BE49-F238E27FC236}">
                <a16:creationId xmlns:a16="http://schemas.microsoft.com/office/drawing/2014/main" id="{43118565-624A-19FC-7012-FFFC81D184D2}"/>
              </a:ext>
            </a:extLst>
          </p:cNvPr>
          <p:cNvSpPr/>
          <p:nvPr/>
        </p:nvSpPr>
        <p:spPr>
          <a:xfrm>
            <a:off x="5194174"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4" name="Rechteck 513">
            <a:extLst>
              <a:ext uri="{FF2B5EF4-FFF2-40B4-BE49-F238E27FC236}">
                <a16:creationId xmlns:a16="http://schemas.microsoft.com/office/drawing/2014/main" id="{0F6AF8E1-23EF-9797-19AD-2DE8E8AA309A}"/>
              </a:ext>
            </a:extLst>
          </p:cNvPr>
          <p:cNvSpPr/>
          <p:nvPr/>
        </p:nvSpPr>
        <p:spPr>
          <a:xfrm>
            <a:off x="5246563"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5" name="Rechteck 514">
            <a:extLst>
              <a:ext uri="{FF2B5EF4-FFF2-40B4-BE49-F238E27FC236}">
                <a16:creationId xmlns:a16="http://schemas.microsoft.com/office/drawing/2014/main" id="{45813071-35F8-00EE-E848-484134036223}"/>
              </a:ext>
            </a:extLst>
          </p:cNvPr>
          <p:cNvSpPr/>
          <p:nvPr/>
        </p:nvSpPr>
        <p:spPr>
          <a:xfrm>
            <a:off x="5196555"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6" name="Rechteck 515">
            <a:extLst>
              <a:ext uri="{FF2B5EF4-FFF2-40B4-BE49-F238E27FC236}">
                <a16:creationId xmlns:a16="http://schemas.microsoft.com/office/drawing/2014/main" id="{FFBFC410-8E67-2B48-0CB7-467568CF5100}"/>
              </a:ext>
            </a:extLst>
          </p:cNvPr>
          <p:cNvSpPr/>
          <p:nvPr/>
        </p:nvSpPr>
        <p:spPr>
          <a:xfrm>
            <a:off x="5156577"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517" name="Gruppieren 516">
            <a:extLst>
              <a:ext uri="{FF2B5EF4-FFF2-40B4-BE49-F238E27FC236}">
                <a16:creationId xmlns:a16="http://schemas.microsoft.com/office/drawing/2014/main" id="{BCA774DC-D361-7127-01CB-D72540E53713}"/>
              </a:ext>
            </a:extLst>
          </p:cNvPr>
          <p:cNvGrpSpPr/>
          <p:nvPr/>
        </p:nvGrpSpPr>
        <p:grpSpPr>
          <a:xfrm flipH="1">
            <a:off x="5555498" y="2288036"/>
            <a:ext cx="19389" cy="713061"/>
            <a:chOff x="6851814" y="1766023"/>
            <a:chExt cx="78569" cy="2068826"/>
          </a:xfrm>
        </p:grpSpPr>
        <p:sp>
          <p:nvSpPr>
            <p:cNvPr id="518" name="Rechteck 517">
              <a:extLst>
                <a:ext uri="{FF2B5EF4-FFF2-40B4-BE49-F238E27FC236}">
                  <a16:creationId xmlns:a16="http://schemas.microsoft.com/office/drawing/2014/main" id="{564B9468-D489-4FD8-706B-332490D0856D}"/>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19" name="Rechteck 518">
              <a:extLst>
                <a:ext uri="{FF2B5EF4-FFF2-40B4-BE49-F238E27FC236}">
                  <a16:creationId xmlns:a16="http://schemas.microsoft.com/office/drawing/2014/main" id="{D902C50C-4F8D-46B1-C5E1-A69709061601}"/>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20" name="Rechteck 519">
              <a:extLst>
                <a:ext uri="{FF2B5EF4-FFF2-40B4-BE49-F238E27FC236}">
                  <a16:creationId xmlns:a16="http://schemas.microsoft.com/office/drawing/2014/main" id="{04FBC62E-48EB-3A26-6CC7-56E3CE83D5F1}"/>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21" name="Rechteck 520">
              <a:extLst>
                <a:ext uri="{FF2B5EF4-FFF2-40B4-BE49-F238E27FC236}">
                  <a16:creationId xmlns:a16="http://schemas.microsoft.com/office/drawing/2014/main" id="{849129EA-CF40-9041-E5AF-4FABD1235C26}"/>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22" name="Rechteck 521">
              <a:extLst>
                <a:ext uri="{FF2B5EF4-FFF2-40B4-BE49-F238E27FC236}">
                  <a16:creationId xmlns:a16="http://schemas.microsoft.com/office/drawing/2014/main" id="{A558BA49-B553-BB8F-BDEA-51BA0C97749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523" name="Grafik 522">
            <a:extLst>
              <a:ext uri="{FF2B5EF4-FFF2-40B4-BE49-F238E27FC236}">
                <a16:creationId xmlns:a16="http://schemas.microsoft.com/office/drawing/2014/main" id="{B2725134-E9A5-62C3-BC0B-736BAB5DFE5B}"/>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522277" y="2270927"/>
            <a:ext cx="90077" cy="28388"/>
          </a:xfrm>
          <a:prstGeom prst="rect">
            <a:avLst/>
          </a:prstGeom>
        </p:spPr>
      </p:pic>
      <p:cxnSp>
        <p:nvCxnSpPr>
          <p:cNvPr id="524" name="Gerade Verbindung mit Pfeil 523">
            <a:extLst>
              <a:ext uri="{FF2B5EF4-FFF2-40B4-BE49-F238E27FC236}">
                <a16:creationId xmlns:a16="http://schemas.microsoft.com/office/drawing/2014/main" id="{0BAB6C8B-3153-94DB-C770-34985899ADC2}"/>
              </a:ext>
            </a:extLst>
          </p:cNvPr>
          <p:cNvCxnSpPr>
            <a:cxnSpLocks/>
          </p:cNvCxnSpPr>
          <p:nvPr/>
        </p:nvCxnSpPr>
        <p:spPr>
          <a:xfrm flipV="1">
            <a:off x="5286245"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525" name="Gerade Verbindung mit Pfeil 524">
            <a:extLst>
              <a:ext uri="{FF2B5EF4-FFF2-40B4-BE49-F238E27FC236}">
                <a16:creationId xmlns:a16="http://schemas.microsoft.com/office/drawing/2014/main" id="{6B238101-69B1-E29F-DEB1-694F60958CC1}"/>
              </a:ext>
            </a:extLst>
          </p:cNvPr>
          <p:cNvCxnSpPr>
            <a:cxnSpLocks/>
          </p:cNvCxnSpPr>
          <p:nvPr/>
        </p:nvCxnSpPr>
        <p:spPr>
          <a:xfrm flipV="1">
            <a:off x="5286245"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grpSp>
        <p:nvGrpSpPr>
          <p:cNvPr id="526" name="Gruppieren 525">
            <a:extLst>
              <a:ext uri="{FF2B5EF4-FFF2-40B4-BE49-F238E27FC236}">
                <a16:creationId xmlns:a16="http://schemas.microsoft.com/office/drawing/2014/main" id="{6E1ADC1E-A266-B5CC-02E8-668181BD4D0B}"/>
              </a:ext>
            </a:extLst>
          </p:cNvPr>
          <p:cNvGrpSpPr/>
          <p:nvPr/>
        </p:nvGrpSpPr>
        <p:grpSpPr>
          <a:xfrm>
            <a:off x="3159272" y="3552122"/>
            <a:ext cx="467578" cy="90248"/>
            <a:chOff x="4413024" y="3765960"/>
            <a:chExt cx="467578" cy="90248"/>
          </a:xfrm>
        </p:grpSpPr>
        <p:sp>
          <p:nvSpPr>
            <p:cNvPr id="527" name="Ellipse 526">
              <a:extLst>
                <a:ext uri="{FF2B5EF4-FFF2-40B4-BE49-F238E27FC236}">
                  <a16:creationId xmlns:a16="http://schemas.microsoft.com/office/drawing/2014/main" id="{096A441F-8E20-9685-FBE9-55A8D1303AE6}"/>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28" name="Ellipse 527">
              <a:extLst>
                <a:ext uri="{FF2B5EF4-FFF2-40B4-BE49-F238E27FC236}">
                  <a16:creationId xmlns:a16="http://schemas.microsoft.com/office/drawing/2014/main" id="{85E49359-1E97-2DCE-A7FF-AD65283C0D4B}"/>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529" name="Gruppieren 528">
            <a:extLst>
              <a:ext uri="{FF2B5EF4-FFF2-40B4-BE49-F238E27FC236}">
                <a16:creationId xmlns:a16="http://schemas.microsoft.com/office/drawing/2014/main" id="{FCEA7642-D5EF-D577-1683-EE66149B964A}"/>
              </a:ext>
            </a:extLst>
          </p:cNvPr>
          <p:cNvGrpSpPr/>
          <p:nvPr/>
        </p:nvGrpSpPr>
        <p:grpSpPr>
          <a:xfrm>
            <a:off x="3981453" y="2878471"/>
            <a:ext cx="814387" cy="1058530"/>
            <a:chOff x="3576637" y="2884821"/>
            <a:chExt cx="814387" cy="1058530"/>
          </a:xfrm>
        </p:grpSpPr>
        <p:sp>
          <p:nvSpPr>
            <p:cNvPr id="530" name="Rechteck 529">
              <a:extLst>
                <a:ext uri="{FF2B5EF4-FFF2-40B4-BE49-F238E27FC236}">
                  <a16:creationId xmlns:a16="http://schemas.microsoft.com/office/drawing/2014/main" id="{25491734-DFDF-A40A-02B3-97B8C11D1D09}"/>
                </a:ext>
              </a:extLst>
            </p:cNvPr>
            <p:cNvSpPr/>
            <p:nvPr/>
          </p:nvSpPr>
          <p:spPr>
            <a:xfrm rot="5400000">
              <a:off x="3884279" y="3436606"/>
              <a:ext cx="199103" cy="81438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31" name="Ellipse 530">
              <a:extLst>
                <a:ext uri="{FF2B5EF4-FFF2-40B4-BE49-F238E27FC236}">
                  <a16:creationId xmlns:a16="http://schemas.microsoft.com/office/drawing/2014/main" id="{CCDD26C9-29BA-2F11-633A-633AD3151D17}"/>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532" name="Bogen 531">
              <a:extLst>
                <a:ext uri="{FF2B5EF4-FFF2-40B4-BE49-F238E27FC236}">
                  <a16:creationId xmlns:a16="http://schemas.microsoft.com/office/drawing/2014/main" id="{9B1FF782-4BA0-3641-7A32-3348D8F39D1B}"/>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533" name="Rechteck 532">
              <a:extLst>
                <a:ext uri="{FF2B5EF4-FFF2-40B4-BE49-F238E27FC236}">
                  <a16:creationId xmlns:a16="http://schemas.microsoft.com/office/drawing/2014/main" id="{9FDB6662-1790-6F66-305F-24D544133A45}"/>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34" name="Rechteck 533">
              <a:extLst>
                <a:ext uri="{FF2B5EF4-FFF2-40B4-BE49-F238E27FC236}">
                  <a16:creationId xmlns:a16="http://schemas.microsoft.com/office/drawing/2014/main" id="{E04877F9-2561-DE47-AF6E-7D466CBA0C81}"/>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35" name="Rechteck 534">
              <a:extLst>
                <a:ext uri="{FF2B5EF4-FFF2-40B4-BE49-F238E27FC236}">
                  <a16:creationId xmlns:a16="http://schemas.microsoft.com/office/drawing/2014/main" id="{2892608E-AD8A-ACA2-59A4-37BF4A9C98B4}"/>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36" name="Rechteck 535">
              <a:extLst>
                <a:ext uri="{FF2B5EF4-FFF2-40B4-BE49-F238E27FC236}">
                  <a16:creationId xmlns:a16="http://schemas.microsoft.com/office/drawing/2014/main" id="{57829D10-FF97-D461-1984-B9147B50FDAE}"/>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37" name="Rechteck 536">
              <a:extLst>
                <a:ext uri="{FF2B5EF4-FFF2-40B4-BE49-F238E27FC236}">
                  <a16:creationId xmlns:a16="http://schemas.microsoft.com/office/drawing/2014/main" id="{54D9C720-9A87-220D-8949-D9B872384017}"/>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8" name="Rechteck 537">
              <a:extLst>
                <a:ext uri="{FF2B5EF4-FFF2-40B4-BE49-F238E27FC236}">
                  <a16:creationId xmlns:a16="http://schemas.microsoft.com/office/drawing/2014/main" id="{97CB07FE-76D0-EA83-7762-DB2C379E294F}"/>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9" name="Rechteck 538">
              <a:extLst>
                <a:ext uri="{FF2B5EF4-FFF2-40B4-BE49-F238E27FC236}">
                  <a16:creationId xmlns:a16="http://schemas.microsoft.com/office/drawing/2014/main" id="{B015741A-0682-8EB1-B7B2-D4BCC848EACC}"/>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0" name="Rechteck 539">
              <a:extLst>
                <a:ext uri="{FF2B5EF4-FFF2-40B4-BE49-F238E27FC236}">
                  <a16:creationId xmlns:a16="http://schemas.microsoft.com/office/drawing/2014/main" id="{0F5249FB-E08B-306A-90CC-E0D7845B936C}"/>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1" name="Ellipse 540">
              <a:extLst>
                <a:ext uri="{FF2B5EF4-FFF2-40B4-BE49-F238E27FC236}">
                  <a16:creationId xmlns:a16="http://schemas.microsoft.com/office/drawing/2014/main" id="{69F56199-2466-9407-37A8-A489F2A44137}"/>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542" name="Rechteck 541">
              <a:extLst>
                <a:ext uri="{FF2B5EF4-FFF2-40B4-BE49-F238E27FC236}">
                  <a16:creationId xmlns:a16="http://schemas.microsoft.com/office/drawing/2014/main" id="{530546B5-56F3-D0A7-5522-B2865B613FFA}"/>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543" name="Verbinder: gekrümmt 542">
              <a:extLst>
                <a:ext uri="{FF2B5EF4-FFF2-40B4-BE49-F238E27FC236}">
                  <a16:creationId xmlns:a16="http://schemas.microsoft.com/office/drawing/2014/main" id="{C678E5EC-DC3A-2EE7-3CB2-BDDE4F08513F}"/>
                </a:ext>
              </a:extLst>
            </p:cNvPr>
            <p:cNvCxnSpPr>
              <a:cxnSpLocks/>
              <a:endCxn id="545"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544" name="Rechteck 543">
              <a:extLst>
                <a:ext uri="{FF2B5EF4-FFF2-40B4-BE49-F238E27FC236}">
                  <a16:creationId xmlns:a16="http://schemas.microsoft.com/office/drawing/2014/main" id="{656EE714-E1BF-BF20-4A37-A5AE6FBE2BD5}"/>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45" name="Rechteck 544">
              <a:extLst>
                <a:ext uri="{FF2B5EF4-FFF2-40B4-BE49-F238E27FC236}">
                  <a16:creationId xmlns:a16="http://schemas.microsoft.com/office/drawing/2014/main" id="{806C54D2-FF5E-5512-AF22-A476FFBB0B2E}"/>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46" name="Rechteck 545">
              <a:extLst>
                <a:ext uri="{FF2B5EF4-FFF2-40B4-BE49-F238E27FC236}">
                  <a16:creationId xmlns:a16="http://schemas.microsoft.com/office/drawing/2014/main" id="{30791DC5-7D4E-4281-8EE6-286FFBAB83B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47" name="Rechteck 546">
              <a:extLst>
                <a:ext uri="{FF2B5EF4-FFF2-40B4-BE49-F238E27FC236}">
                  <a16:creationId xmlns:a16="http://schemas.microsoft.com/office/drawing/2014/main" id="{E6E2BEEE-E3EB-7EAE-A8AB-5442A66F08FD}"/>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48" name="Ellipse 547">
              <a:extLst>
                <a:ext uri="{FF2B5EF4-FFF2-40B4-BE49-F238E27FC236}">
                  <a16:creationId xmlns:a16="http://schemas.microsoft.com/office/drawing/2014/main" id="{A26E5DFF-7714-DA13-4740-C3393914F16A}"/>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549" name="Verbinder: gekrümmt 548">
              <a:extLst>
                <a:ext uri="{FF2B5EF4-FFF2-40B4-BE49-F238E27FC236}">
                  <a16:creationId xmlns:a16="http://schemas.microsoft.com/office/drawing/2014/main" id="{D0E397BC-185C-9A6B-B812-D0B6033961FD}"/>
                </a:ext>
              </a:extLst>
            </p:cNvPr>
            <p:cNvCxnSpPr>
              <a:cxnSpLocks/>
              <a:endCxn id="547"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550" name="Ellipse 549">
              <a:extLst>
                <a:ext uri="{FF2B5EF4-FFF2-40B4-BE49-F238E27FC236}">
                  <a16:creationId xmlns:a16="http://schemas.microsoft.com/office/drawing/2014/main" id="{329F0037-56FC-823F-132B-BEA1B48C01CA}"/>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1" name="Halbbogen 550">
              <a:extLst>
                <a:ext uri="{FF2B5EF4-FFF2-40B4-BE49-F238E27FC236}">
                  <a16:creationId xmlns:a16="http://schemas.microsoft.com/office/drawing/2014/main" id="{A7530FDF-49A9-D339-9C1C-F1E99477D6C2}"/>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552" name="Halbbogen 551">
              <a:extLst>
                <a:ext uri="{FF2B5EF4-FFF2-40B4-BE49-F238E27FC236}">
                  <a16:creationId xmlns:a16="http://schemas.microsoft.com/office/drawing/2014/main" id="{EB51BF79-D684-38F8-A687-C27B41F026C9}"/>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cxnSp>
        <p:nvCxnSpPr>
          <p:cNvPr id="553" name="Gerade Verbindung mit Pfeil 552">
            <a:extLst>
              <a:ext uri="{FF2B5EF4-FFF2-40B4-BE49-F238E27FC236}">
                <a16:creationId xmlns:a16="http://schemas.microsoft.com/office/drawing/2014/main" id="{37DFF13D-9D9C-7F29-7BED-24FD28060910}"/>
              </a:ext>
            </a:extLst>
          </p:cNvPr>
          <p:cNvCxnSpPr>
            <a:cxnSpLocks/>
          </p:cNvCxnSpPr>
          <p:nvPr/>
        </p:nvCxnSpPr>
        <p:spPr>
          <a:xfrm flipV="1">
            <a:off x="3272092"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4" name="Gerader Verbinder 553">
            <a:extLst>
              <a:ext uri="{FF2B5EF4-FFF2-40B4-BE49-F238E27FC236}">
                <a16:creationId xmlns:a16="http://schemas.microsoft.com/office/drawing/2014/main" id="{E679C882-948F-23EE-F1E6-19EA54075CC8}"/>
              </a:ext>
            </a:extLst>
          </p:cNvPr>
          <p:cNvCxnSpPr/>
          <p:nvPr/>
        </p:nvCxnSpPr>
        <p:spPr>
          <a:xfrm>
            <a:off x="2757635"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55" name="Gerader Verbinder 554">
            <a:extLst>
              <a:ext uri="{FF2B5EF4-FFF2-40B4-BE49-F238E27FC236}">
                <a16:creationId xmlns:a16="http://schemas.microsoft.com/office/drawing/2014/main" id="{96F55638-1059-CF43-74B1-F8EA80C06E82}"/>
              </a:ext>
            </a:extLst>
          </p:cNvPr>
          <p:cNvCxnSpPr/>
          <p:nvPr/>
        </p:nvCxnSpPr>
        <p:spPr>
          <a:xfrm>
            <a:off x="3766235"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556" name="Textfeld 555">
            <a:extLst>
              <a:ext uri="{FF2B5EF4-FFF2-40B4-BE49-F238E27FC236}">
                <a16:creationId xmlns:a16="http://schemas.microsoft.com/office/drawing/2014/main" id="{39FEE6C0-380F-8F3C-0B4C-3BB9CD14876A}"/>
              </a:ext>
            </a:extLst>
          </p:cNvPr>
          <p:cNvSpPr txBox="1"/>
          <p:nvPr/>
        </p:nvSpPr>
        <p:spPr>
          <a:xfrm>
            <a:off x="2749376"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grpSp>
        <p:nvGrpSpPr>
          <p:cNvPr id="557" name="Gruppieren 556">
            <a:extLst>
              <a:ext uri="{FF2B5EF4-FFF2-40B4-BE49-F238E27FC236}">
                <a16:creationId xmlns:a16="http://schemas.microsoft.com/office/drawing/2014/main" id="{354B2ACB-FFDC-3292-6906-3662ED4463EC}"/>
              </a:ext>
            </a:extLst>
          </p:cNvPr>
          <p:cNvGrpSpPr/>
          <p:nvPr/>
        </p:nvGrpSpPr>
        <p:grpSpPr>
          <a:xfrm>
            <a:off x="2528286" y="2999802"/>
            <a:ext cx="69580" cy="193454"/>
            <a:chOff x="2849757" y="2999802"/>
            <a:chExt cx="69580" cy="193454"/>
          </a:xfrm>
        </p:grpSpPr>
        <p:sp>
          <p:nvSpPr>
            <p:cNvPr id="558" name="Rechteck 557">
              <a:extLst>
                <a:ext uri="{FF2B5EF4-FFF2-40B4-BE49-F238E27FC236}">
                  <a16:creationId xmlns:a16="http://schemas.microsoft.com/office/drawing/2014/main" id="{E4C20E6C-3273-8F9C-2317-86BFBD996267}"/>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559" name="Gerade Verbindung mit Pfeil 558">
              <a:extLst>
                <a:ext uri="{FF2B5EF4-FFF2-40B4-BE49-F238E27FC236}">
                  <a16:creationId xmlns:a16="http://schemas.microsoft.com/office/drawing/2014/main" id="{21AAC79E-FF6E-4273-C9CA-53FBAB06A3C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560" name="Gruppieren 559">
            <a:extLst>
              <a:ext uri="{FF2B5EF4-FFF2-40B4-BE49-F238E27FC236}">
                <a16:creationId xmlns:a16="http://schemas.microsoft.com/office/drawing/2014/main" id="{00BF7B04-E2C9-1ABA-31CA-FC2DC3F3FF09}"/>
              </a:ext>
            </a:extLst>
          </p:cNvPr>
          <p:cNvGrpSpPr/>
          <p:nvPr/>
        </p:nvGrpSpPr>
        <p:grpSpPr>
          <a:xfrm>
            <a:off x="3180540" y="2991323"/>
            <a:ext cx="69580" cy="193454"/>
            <a:chOff x="2849757" y="2999802"/>
            <a:chExt cx="69580" cy="193454"/>
          </a:xfrm>
        </p:grpSpPr>
        <p:sp>
          <p:nvSpPr>
            <p:cNvPr id="561" name="Rechteck 560">
              <a:extLst>
                <a:ext uri="{FF2B5EF4-FFF2-40B4-BE49-F238E27FC236}">
                  <a16:creationId xmlns:a16="http://schemas.microsoft.com/office/drawing/2014/main" id="{1A9304B8-1A31-0F0E-18C8-EDF92BA8719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562" name="Gerade Verbindung mit Pfeil 561">
              <a:extLst>
                <a:ext uri="{FF2B5EF4-FFF2-40B4-BE49-F238E27FC236}">
                  <a16:creationId xmlns:a16="http://schemas.microsoft.com/office/drawing/2014/main" id="{893BC382-9091-4FB9-2F5F-8815192EA6D0}"/>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563" name="Ellipse 562">
            <a:extLst>
              <a:ext uri="{FF2B5EF4-FFF2-40B4-BE49-F238E27FC236}">
                <a16:creationId xmlns:a16="http://schemas.microsoft.com/office/drawing/2014/main" id="{E9F27DEF-756F-2975-A8A2-84EBDF3471A6}"/>
              </a:ext>
            </a:extLst>
          </p:cNvPr>
          <p:cNvSpPr/>
          <p:nvPr/>
        </p:nvSpPr>
        <p:spPr>
          <a:xfrm>
            <a:off x="5194174"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64" name="Ellipse 563">
            <a:extLst>
              <a:ext uri="{FF2B5EF4-FFF2-40B4-BE49-F238E27FC236}">
                <a16:creationId xmlns:a16="http://schemas.microsoft.com/office/drawing/2014/main" id="{9DAD612D-DCB0-59B2-9EDB-3AC9EE9758C9}"/>
              </a:ext>
            </a:extLst>
          </p:cNvPr>
          <p:cNvSpPr/>
          <p:nvPr/>
        </p:nvSpPr>
        <p:spPr>
          <a:xfrm>
            <a:off x="5526277"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65" name="Rechteck 564">
            <a:extLst>
              <a:ext uri="{FF2B5EF4-FFF2-40B4-BE49-F238E27FC236}">
                <a16:creationId xmlns:a16="http://schemas.microsoft.com/office/drawing/2014/main" id="{21777C60-8D06-9411-F8BC-A53B7FCA5818}"/>
              </a:ext>
            </a:extLst>
          </p:cNvPr>
          <p:cNvSpPr/>
          <p:nvPr/>
        </p:nvSpPr>
        <p:spPr>
          <a:xfrm>
            <a:off x="3982611" y="4065661"/>
            <a:ext cx="680855" cy="52812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r>
              <a:rPr lang="de-DE" sz="800" dirty="0"/>
              <a:t> </a:t>
            </a:r>
            <a:r>
              <a:rPr lang="de-DE" sz="800" dirty="0" err="1"/>
              <a:t>for</a:t>
            </a:r>
            <a:r>
              <a:rPr lang="de-DE" sz="800" dirty="0"/>
              <a:t> </a:t>
            </a:r>
            <a:r>
              <a:rPr lang="de-DE" sz="800" dirty="0" err="1"/>
              <a:t>both</a:t>
            </a:r>
            <a:endParaRPr lang="de-DE" sz="800" dirty="0"/>
          </a:p>
          <a:p>
            <a:pPr algn="ctr"/>
            <a:r>
              <a:rPr lang="de-DE" sz="800" dirty="0" err="1"/>
              <a:t>Tinning</a:t>
            </a:r>
            <a:r>
              <a:rPr lang="de-DE" sz="800" dirty="0"/>
              <a:t> </a:t>
            </a:r>
            <a:r>
              <a:rPr lang="de-DE" sz="800" dirty="0" err="1"/>
              <a:t>station</a:t>
            </a:r>
            <a:endParaRPr lang="de-DE" sz="800" dirty="0"/>
          </a:p>
        </p:txBody>
      </p:sp>
      <p:cxnSp>
        <p:nvCxnSpPr>
          <p:cNvPr id="566" name="Verbinder: gekrümmt 565">
            <a:extLst>
              <a:ext uri="{FF2B5EF4-FFF2-40B4-BE49-F238E27FC236}">
                <a16:creationId xmlns:a16="http://schemas.microsoft.com/office/drawing/2014/main" id="{3B8563C4-F7FB-958D-C15D-888832EC3A01}"/>
              </a:ext>
            </a:extLst>
          </p:cNvPr>
          <p:cNvCxnSpPr>
            <a:cxnSpLocks/>
            <a:stCxn id="565" idx="0"/>
          </p:cNvCxnSpPr>
          <p:nvPr/>
        </p:nvCxnSpPr>
        <p:spPr>
          <a:xfrm rot="5400000" flipH="1" flipV="1">
            <a:off x="4155025" y="3794627"/>
            <a:ext cx="439048" cy="103020"/>
          </a:xfrm>
          <a:prstGeom prst="curvedConnector3">
            <a:avLst>
              <a:gd name="adj1" fmla="val 43492"/>
            </a:avLst>
          </a:prstGeom>
          <a:ln/>
        </p:spPr>
        <p:style>
          <a:lnRef idx="3">
            <a:schemeClr val="dk1"/>
          </a:lnRef>
          <a:fillRef idx="0">
            <a:schemeClr val="dk1"/>
          </a:fillRef>
          <a:effectRef idx="2">
            <a:schemeClr val="dk1"/>
          </a:effectRef>
          <a:fontRef idx="minor">
            <a:schemeClr val="tx1"/>
          </a:fontRef>
        </p:style>
      </p:cxnSp>
      <p:sp>
        <p:nvSpPr>
          <p:cNvPr id="567" name="Rechteck 566">
            <a:extLst>
              <a:ext uri="{FF2B5EF4-FFF2-40B4-BE49-F238E27FC236}">
                <a16:creationId xmlns:a16="http://schemas.microsoft.com/office/drawing/2014/main" id="{B764899E-B8D4-659B-CA8F-DCD55107D3BB}"/>
              </a:ext>
            </a:extLst>
          </p:cNvPr>
          <p:cNvSpPr/>
          <p:nvPr/>
        </p:nvSpPr>
        <p:spPr>
          <a:xfrm rot="5400000">
            <a:off x="1501336" y="3193316"/>
            <a:ext cx="934369" cy="11244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8" name="Rechteck 567">
            <a:extLst>
              <a:ext uri="{FF2B5EF4-FFF2-40B4-BE49-F238E27FC236}">
                <a16:creationId xmlns:a16="http://schemas.microsoft.com/office/drawing/2014/main" id="{43DD9165-6B09-6553-1E88-E9675240DA30}"/>
              </a:ext>
            </a:extLst>
          </p:cNvPr>
          <p:cNvSpPr/>
          <p:nvPr/>
        </p:nvSpPr>
        <p:spPr>
          <a:xfrm rot="5400000">
            <a:off x="1722342" y="3840866"/>
            <a:ext cx="1442046" cy="10128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9" name="Rechteck 568">
            <a:extLst>
              <a:ext uri="{FF2B5EF4-FFF2-40B4-BE49-F238E27FC236}">
                <a16:creationId xmlns:a16="http://schemas.microsoft.com/office/drawing/2014/main" id="{5F277CDF-871A-C951-2AF8-8CDA0845ADD4}"/>
              </a:ext>
            </a:extLst>
          </p:cNvPr>
          <p:cNvSpPr/>
          <p:nvPr/>
        </p:nvSpPr>
        <p:spPr>
          <a:xfrm rot="10800000" flipH="1">
            <a:off x="2231309" y="3201585"/>
            <a:ext cx="25029" cy="128585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70" name="Rechteck 569">
            <a:extLst>
              <a:ext uri="{FF2B5EF4-FFF2-40B4-BE49-F238E27FC236}">
                <a16:creationId xmlns:a16="http://schemas.microsoft.com/office/drawing/2014/main" id="{A440E9A8-11A3-2B94-D08E-496B8C938936}"/>
              </a:ext>
            </a:extLst>
          </p:cNvPr>
          <p:cNvSpPr/>
          <p:nvPr/>
        </p:nvSpPr>
        <p:spPr>
          <a:xfrm>
            <a:off x="2172259" y="3276299"/>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1" name="Rechteck 570">
            <a:extLst>
              <a:ext uri="{FF2B5EF4-FFF2-40B4-BE49-F238E27FC236}">
                <a16:creationId xmlns:a16="http://schemas.microsoft.com/office/drawing/2014/main" id="{C8916B2A-9296-73BF-1C96-65508C459FB6}"/>
              </a:ext>
            </a:extLst>
          </p:cNvPr>
          <p:cNvSpPr/>
          <p:nvPr/>
        </p:nvSpPr>
        <p:spPr>
          <a:xfrm rot="10800000">
            <a:off x="1835983" y="3313408"/>
            <a:ext cx="467198" cy="6041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572" name="Gruppieren 571">
            <a:extLst>
              <a:ext uri="{FF2B5EF4-FFF2-40B4-BE49-F238E27FC236}">
                <a16:creationId xmlns:a16="http://schemas.microsoft.com/office/drawing/2014/main" id="{9635B78B-4D11-AFE7-0AAC-8A1FAEB2901D}"/>
              </a:ext>
            </a:extLst>
          </p:cNvPr>
          <p:cNvGrpSpPr/>
          <p:nvPr/>
        </p:nvGrpSpPr>
        <p:grpSpPr>
          <a:xfrm>
            <a:off x="5812006" y="2727877"/>
            <a:ext cx="84270" cy="848225"/>
            <a:chOff x="2875162" y="1889677"/>
            <a:chExt cx="84270" cy="848225"/>
          </a:xfrm>
        </p:grpSpPr>
        <p:sp>
          <p:nvSpPr>
            <p:cNvPr id="573" name="Ellipse 572">
              <a:extLst>
                <a:ext uri="{FF2B5EF4-FFF2-40B4-BE49-F238E27FC236}">
                  <a16:creationId xmlns:a16="http://schemas.microsoft.com/office/drawing/2014/main" id="{EBF086D9-24DF-9D4D-2313-E729F4F6D5F7}"/>
                </a:ext>
              </a:extLst>
            </p:cNvPr>
            <p:cNvSpPr/>
            <p:nvPr/>
          </p:nvSpPr>
          <p:spPr>
            <a:xfrm>
              <a:off x="2875162" y="1889677"/>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4" name="Rechteck 573">
              <a:extLst>
                <a:ext uri="{FF2B5EF4-FFF2-40B4-BE49-F238E27FC236}">
                  <a16:creationId xmlns:a16="http://schemas.microsoft.com/office/drawing/2014/main" id="{211BB1F0-F4AD-CDFC-7011-FD269459F877}"/>
                </a:ext>
              </a:extLst>
            </p:cNvPr>
            <p:cNvSpPr/>
            <p:nvPr/>
          </p:nvSpPr>
          <p:spPr>
            <a:xfrm>
              <a:off x="28789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5" name="Flussdiagramm: Datenträger mit direktem Zugriff 574">
              <a:extLst>
                <a:ext uri="{FF2B5EF4-FFF2-40B4-BE49-F238E27FC236}">
                  <a16:creationId xmlns:a16="http://schemas.microsoft.com/office/drawing/2014/main" id="{01CB491E-3552-2A02-D117-2D4B4666DB21}"/>
                </a:ext>
              </a:extLst>
            </p:cNvPr>
            <p:cNvSpPr/>
            <p:nvPr/>
          </p:nvSpPr>
          <p:spPr>
            <a:xfrm rot="5400000">
              <a:off x="28715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76" name="Flussdiagramm: Datenträger mit direktem Zugriff 575">
              <a:extLst>
                <a:ext uri="{FF2B5EF4-FFF2-40B4-BE49-F238E27FC236}">
                  <a16:creationId xmlns:a16="http://schemas.microsoft.com/office/drawing/2014/main" id="{65858994-0D97-5F0A-3A5E-54A7CD429948}"/>
                </a:ext>
              </a:extLst>
            </p:cNvPr>
            <p:cNvSpPr/>
            <p:nvPr/>
          </p:nvSpPr>
          <p:spPr>
            <a:xfrm rot="5400000">
              <a:off x="28715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77" name="Flussdiagramm: Datenträger mit direktem Zugriff 576">
              <a:extLst>
                <a:ext uri="{FF2B5EF4-FFF2-40B4-BE49-F238E27FC236}">
                  <a16:creationId xmlns:a16="http://schemas.microsoft.com/office/drawing/2014/main" id="{28AC5B2D-2CF4-7F35-A742-DE455981231A}"/>
                </a:ext>
              </a:extLst>
            </p:cNvPr>
            <p:cNvSpPr/>
            <p:nvPr/>
          </p:nvSpPr>
          <p:spPr>
            <a:xfrm rot="5400000">
              <a:off x="28715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578" name="Rechteck 577">
            <a:extLst>
              <a:ext uri="{FF2B5EF4-FFF2-40B4-BE49-F238E27FC236}">
                <a16:creationId xmlns:a16="http://schemas.microsoft.com/office/drawing/2014/main" id="{A5DC4736-C81C-8B63-D64E-C44D84B02338}"/>
              </a:ext>
            </a:extLst>
          </p:cNvPr>
          <p:cNvSpPr/>
          <p:nvPr/>
        </p:nvSpPr>
        <p:spPr>
          <a:xfrm rot="5400000">
            <a:off x="5526707" y="3889468"/>
            <a:ext cx="652434" cy="53919"/>
          </a:xfrm>
          <a:prstGeom prst="rect">
            <a:avLst/>
          </a:prstGeom>
          <a:solidFill>
            <a:schemeClr val="bg1">
              <a:lumMod val="75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579" name="Ellipse 578">
            <a:extLst>
              <a:ext uri="{FF2B5EF4-FFF2-40B4-BE49-F238E27FC236}">
                <a16:creationId xmlns:a16="http://schemas.microsoft.com/office/drawing/2014/main" id="{B974475E-5142-7225-A71D-568F320A9EE0}"/>
              </a:ext>
            </a:extLst>
          </p:cNvPr>
          <p:cNvSpPr>
            <a:spLocks noChangeAspect="1"/>
          </p:cNvSpPr>
          <p:nvPr/>
        </p:nvSpPr>
        <p:spPr>
          <a:xfrm rot="5400000">
            <a:off x="5799653" y="4008348"/>
            <a:ext cx="504000" cy="504000"/>
          </a:xfrm>
          <a:prstGeom prst="ellipse">
            <a:avLst/>
          </a:prstGeom>
          <a:solidFill>
            <a:schemeClr val="bg1">
              <a:lumMod val="50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580" name="Flussdiagramm: Datenträger mit direktem Zugriff 579">
            <a:extLst>
              <a:ext uri="{FF2B5EF4-FFF2-40B4-BE49-F238E27FC236}">
                <a16:creationId xmlns:a16="http://schemas.microsoft.com/office/drawing/2014/main" id="{811FD0D1-95EC-72E3-CCBE-83B11EF464AD}"/>
              </a:ext>
            </a:extLst>
          </p:cNvPr>
          <p:cNvSpPr/>
          <p:nvPr/>
        </p:nvSpPr>
        <p:spPr>
          <a:xfrm rot="19835810">
            <a:off x="6031141" y="42252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1" name="Flussdiagramm: Datenträger mit direktem Zugriff 580">
            <a:extLst>
              <a:ext uri="{FF2B5EF4-FFF2-40B4-BE49-F238E27FC236}">
                <a16:creationId xmlns:a16="http://schemas.microsoft.com/office/drawing/2014/main" id="{9BBF2454-5FC4-AF05-EED7-816C21655B58}"/>
              </a:ext>
            </a:extLst>
          </p:cNvPr>
          <p:cNvSpPr/>
          <p:nvPr/>
        </p:nvSpPr>
        <p:spPr>
          <a:xfrm rot="19835810">
            <a:off x="6056804" y="430376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2" name="Flussdiagramm: Datenträger mit direktem Zugriff 581">
            <a:extLst>
              <a:ext uri="{FF2B5EF4-FFF2-40B4-BE49-F238E27FC236}">
                <a16:creationId xmlns:a16="http://schemas.microsoft.com/office/drawing/2014/main" id="{46A63016-E420-F325-2331-633C1191C910}"/>
              </a:ext>
            </a:extLst>
          </p:cNvPr>
          <p:cNvSpPr/>
          <p:nvPr/>
        </p:nvSpPr>
        <p:spPr>
          <a:xfrm rot="3152920">
            <a:off x="5974136" y="431544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3" name="Flussdiagramm: Datenträger mit direktem Zugriff 582">
            <a:extLst>
              <a:ext uri="{FF2B5EF4-FFF2-40B4-BE49-F238E27FC236}">
                <a16:creationId xmlns:a16="http://schemas.microsoft.com/office/drawing/2014/main" id="{8AD08CE2-332C-329A-4E16-7A72BE1C1C46}"/>
              </a:ext>
            </a:extLst>
          </p:cNvPr>
          <p:cNvSpPr/>
          <p:nvPr/>
        </p:nvSpPr>
        <p:spPr>
          <a:xfrm rot="3152920">
            <a:off x="6066401" y="41393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4" name="Flussdiagramm: Datenträger mit direktem Zugriff 583">
            <a:extLst>
              <a:ext uri="{FF2B5EF4-FFF2-40B4-BE49-F238E27FC236}">
                <a16:creationId xmlns:a16="http://schemas.microsoft.com/office/drawing/2014/main" id="{469E73A3-9ACD-54BA-8BF7-248541C6B96D}"/>
              </a:ext>
            </a:extLst>
          </p:cNvPr>
          <p:cNvSpPr/>
          <p:nvPr/>
        </p:nvSpPr>
        <p:spPr>
          <a:xfrm rot="1182316">
            <a:off x="6013673" y="43963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5" name="Flussdiagramm: Datenträger mit direktem Zugriff 584">
            <a:extLst>
              <a:ext uri="{FF2B5EF4-FFF2-40B4-BE49-F238E27FC236}">
                <a16:creationId xmlns:a16="http://schemas.microsoft.com/office/drawing/2014/main" id="{BA97199D-BDDA-71EC-747D-137D67263966}"/>
              </a:ext>
            </a:extLst>
          </p:cNvPr>
          <p:cNvSpPr/>
          <p:nvPr/>
        </p:nvSpPr>
        <p:spPr>
          <a:xfrm rot="1182316">
            <a:off x="5986195" y="4144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6" name="Flussdiagramm: Datenträger mit direktem Zugriff 585">
            <a:extLst>
              <a:ext uri="{FF2B5EF4-FFF2-40B4-BE49-F238E27FC236}">
                <a16:creationId xmlns:a16="http://schemas.microsoft.com/office/drawing/2014/main" id="{97014100-673D-81C2-EFE8-7E41705F1A71}"/>
              </a:ext>
            </a:extLst>
          </p:cNvPr>
          <p:cNvSpPr/>
          <p:nvPr/>
        </p:nvSpPr>
        <p:spPr>
          <a:xfrm rot="3152920">
            <a:off x="6154146" y="427177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7" name="Flussdiagramm: Datenträger mit direktem Zugriff 586">
            <a:extLst>
              <a:ext uri="{FF2B5EF4-FFF2-40B4-BE49-F238E27FC236}">
                <a16:creationId xmlns:a16="http://schemas.microsoft.com/office/drawing/2014/main" id="{F59CF076-8E43-72AC-D35F-C0558DA19859}"/>
              </a:ext>
            </a:extLst>
          </p:cNvPr>
          <p:cNvSpPr/>
          <p:nvPr/>
        </p:nvSpPr>
        <p:spPr>
          <a:xfrm rot="5400000">
            <a:off x="5805861" y="384965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8" name="Flussdiagramm: Datenträger mit direktem Zugriff 587">
            <a:extLst>
              <a:ext uri="{FF2B5EF4-FFF2-40B4-BE49-F238E27FC236}">
                <a16:creationId xmlns:a16="http://schemas.microsoft.com/office/drawing/2014/main" id="{E4189BCB-3802-557B-359E-655B2BA357D2}"/>
              </a:ext>
            </a:extLst>
          </p:cNvPr>
          <p:cNvSpPr/>
          <p:nvPr/>
        </p:nvSpPr>
        <p:spPr>
          <a:xfrm rot="5400000">
            <a:off x="5804681" y="39518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9" name="Flussdiagramm: Datenträger mit direktem Zugriff 588">
            <a:extLst>
              <a:ext uri="{FF2B5EF4-FFF2-40B4-BE49-F238E27FC236}">
                <a16:creationId xmlns:a16="http://schemas.microsoft.com/office/drawing/2014/main" id="{B8406BBC-1A1E-2B43-35AC-BBEF075C0E32}"/>
              </a:ext>
            </a:extLst>
          </p:cNvPr>
          <p:cNvSpPr/>
          <p:nvPr/>
        </p:nvSpPr>
        <p:spPr>
          <a:xfrm rot="5400000">
            <a:off x="5808242" y="36516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0" name="Flussdiagramm: Datenträger mit direktem Zugriff 589">
            <a:extLst>
              <a:ext uri="{FF2B5EF4-FFF2-40B4-BE49-F238E27FC236}">
                <a16:creationId xmlns:a16="http://schemas.microsoft.com/office/drawing/2014/main" id="{8C70797B-1B15-5712-A8E3-9B3FBB8A8F0A}"/>
              </a:ext>
            </a:extLst>
          </p:cNvPr>
          <p:cNvSpPr/>
          <p:nvPr/>
        </p:nvSpPr>
        <p:spPr>
          <a:xfrm rot="5400000">
            <a:off x="5807062" y="375390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1" name="Rechteck 590">
            <a:extLst>
              <a:ext uri="{FF2B5EF4-FFF2-40B4-BE49-F238E27FC236}">
                <a16:creationId xmlns:a16="http://schemas.microsoft.com/office/drawing/2014/main" id="{AFF5F1D2-CA74-21E9-845C-141FF60CA41D}"/>
              </a:ext>
            </a:extLst>
          </p:cNvPr>
          <p:cNvSpPr/>
          <p:nvPr/>
        </p:nvSpPr>
        <p:spPr>
          <a:xfrm rot="5400000">
            <a:off x="5692968" y="3591887"/>
            <a:ext cx="593894" cy="12173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2" name="Rechteck 591">
            <a:extLst>
              <a:ext uri="{FF2B5EF4-FFF2-40B4-BE49-F238E27FC236}">
                <a16:creationId xmlns:a16="http://schemas.microsoft.com/office/drawing/2014/main" id="{F7CD459A-45B1-B30B-753B-0863D6C8F55E}"/>
              </a:ext>
            </a:extLst>
          </p:cNvPr>
          <p:cNvSpPr/>
          <p:nvPr/>
        </p:nvSpPr>
        <p:spPr>
          <a:xfrm rot="10800000">
            <a:off x="5800820" y="3618193"/>
            <a:ext cx="259721" cy="457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3" name="Flussdiagramm: Datenträger mit direktem Zugriff 592">
            <a:extLst>
              <a:ext uri="{FF2B5EF4-FFF2-40B4-BE49-F238E27FC236}">
                <a16:creationId xmlns:a16="http://schemas.microsoft.com/office/drawing/2014/main" id="{EF1FB078-8948-D57D-D091-E26C4F92E0DB}"/>
              </a:ext>
            </a:extLst>
          </p:cNvPr>
          <p:cNvSpPr/>
          <p:nvPr/>
        </p:nvSpPr>
        <p:spPr>
          <a:xfrm rot="8821425">
            <a:off x="5911029" y="43331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4" name="Flussdiagramm: Datenträger mit direktem Zugriff 593">
            <a:extLst>
              <a:ext uri="{FF2B5EF4-FFF2-40B4-BE49-F238E27FC236}">
                <a16:creationId xmlns:a16="http://schemas.microsoft.com/office/drawing/2014/main" id="{22CF6265-99DD-6EC8-5CC5-916D8B3C3611}"/>
              </a:ext>
            </a:extLst>
          </p:cNvPr>
          <p:cNvSpPr/>
          <p:nvPr/>
        </p:nvSpPr>
        <p:spPr>
          <a:xfrm rot="5400000">
            <a:off x="5816568" y="425562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5" name="Flussdiagramm: Datenträger mit direktem Zugriff 594">
            <a:extLst>
              <a:ext uri="{FF2B5EF4-FFF2-40B4-BE49-F238E27FC236}">
                <a16:creationId xmlns:a16="http://schemas.microsoft.com/office/drawing/2014/main" id="{F2620D24-5574-B458-22C6-32C4654A0444}"/>
              </a:ext>
            </a:extLst>
          </p:cNvPr>
          <p:cNvSpPr/>
          <p:nvPr/>
        </p:nvSpPr>
        <p:spPr>
          <a:xfrm rot="3152920">
            <a:off x="5846125" y="437555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6" name="Flussdiagramm: Datenträger mit direktem Zugriff 595">
            <a:extLst>
              <a:ext uri="{FF2B5EF4-FFF2-40B4-BE49-F238E27FC236}">
                <a16:creationId xmlns:a16="http://schemas.microsoft.com/office/drawing/2014/main" id="{8614DB88-6924-5DD2-33E1-EB49A4D4C5CA}"/>
              </a:ext>
            </a:extLst>
          </p:cNvPr>
          <p:cNvSpPr/>
          <p:nvPr/>
        </p:nvSpPr>
        <p:spPr>
          <a:xfrm rot="3152920">
            <a:off x="5851917" y="419637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97" name="Gruppieren 596">
            <a:extLst>
              <a:ext uri="{FF2B5EF4-FFF2-40B4-BE49-F238E27FC236}">
                <a16:creationId xmlns:a16="http://schemas.microsoft.com/office/drawing/2014/main" id="{E459EB66-2DD2-85BA-26B8-8A901802CEE5}"/>
              </a:ext>
            </a:extLst>
          </p:cNvPr>
          <p:cNvGrpSpPr/>
          <p:nvPr/>
        </p:nvGrpSpPr>
        <p:grpSpPr>
          <a:xfrm rot="10800000">
            <a:off x="5838838" y="2716456"/>
            <a:ext cx="75705" cy="277927"/>
            <a:chOff x="3476670" y="3647733"/>
            <a:chExt cx="75705" cy="277927"/>
          </a:xfrm>
        </p:grpSpPr>
        <p:sp>
          <p:nvSpPr>
            <p:cNvPr id="598" name="Rechteck 597">
              <a:extLst>
                <a:ext uri="{FF2B5EF4-FFF2-40B4-BE49-F238E27FC236}">
                  <a16:creationId xmlns:a16="http://schemas.microsoft.com/office/drawing/2014/main" id="{BA91C1E3-066A-C14C-9221-8155ECFF57F6}"/>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599" name="Verbinder: gekrümmt 598">
              <a:extLst>
                <a:ext uri="{FF2B5EF4-FFF2-40B4-BE49-F238E27FC236}">
                  <a16:creationId xmlns:a16="http://schemas.microsoft.com/office/drawing/2014/main" id="{24441B00-EC43-869D-6544-25A178511C8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600" name="Flussdiagramm: Datenträger mit direktem Zugriff 599">
            <a:extLst>
              <a:ext uri="{FF2B5EF4-FFF2-40B4-BE49-F238E27FC236}">
                <a16:creationId xmlns:a16="http://schemas.microsoft.com/office/drawing/2014/main" id="{A604F5B4-1D27-2C81-716D-BAC46AD4F77D}"/>
              </a:ext>
            </a:extLst>
          </p:cNvPr>
          <p:cNvSpPr/>
          <p:nvPr/>
        </p:nvSpPr>
        <p:spPr>
          <a:xfrm rot="5400000">
            <a:off x="5801221" y="288170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93301EDE-7E70-4118-EFF0-BCDCCD876B45}"/>
              </a:ext>
            </a:extLst>
          </p:cNvPr>
          <p:cNvSpPr/>
          <p:nvPr/>
        </p:nvSpPr>
        <p:spPr>
          <a:xfrm>
            <a:off x="10096760" y="924997"/>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D9B5C1DC-27F7-86D6-7F0D-9BACE85031D0}"/>
              </a:ext>
            </a:extLst>
          </p:cNvPr>
          <p:cNvSpPr/>
          <p:nvPr/>
        </p:nvSpPr>
        <p:spPr>
          <a:xfrm>
            <a:off x="10102475" y="1877497"/>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98A90289-A9D3-08D6-0CFB-5B9B2B8A3B28}"/>
              </a:ext>
            </a:extLst>
          </p:cNvPr>
          <p:cNvSpPr/>
          <p:nvPr/>
        </p:nvSpPr>
        <p:spPr>
          <a:xfrm>
            <a:off x="10092678" y="4322351"/>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8" name="Gruppieren 7">
            <a:extLst>
              <a:ext uri="{FF2B5EF4-FFF2-40B4-BE49-F238E27FC236}">
                <a16:creationId xmlns:a16="http://schemas.microsoft.com/office/drawing/2014/main" id="{97D14BDC-FC24-DDDE-8F72-F58860E38058}"/>
              </a:ext>
            </a:extLst>
          </p:cNvPr>
          <p:cNvGrpSpPr/>
          <p:nvPr/>
        </p:nvGrpSpPr>
        <p:grpSpPr>
          <a:xfrm rot="5400000" flipH="1">
            <a:off x="10529848" y="4362092"/>
            <a:ext cx="25807" cy="726114"/>
            <a:chOff x="6851814" y="1766023"/>
            <a:chExt cx="78569" cy="2068826"/>
          </a:xfrm>
        </p:grpSpPr>
        <p:sp>
          <p:nvSpPr>
            <p:cNvPr id="9" name="Rechteck 8">
              <a:extLst>
                <a:ext uri="{FF2B5EF4-FFF2-40B4-BE49-F238E27FC236}">
                  <a16:creationId xmlns:a16="http://schemas.microsoft.com/office/drawing/2014/main" id="{43297A8A-5F32-7CCE-FF1C-05BF950A7F34}"/>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BF4DFA5-8975-66DA-5BA7-1A0E517C76B3}"/>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1" name="Rechteck 10">
              <a:extLst>
                <a:ext uri="{FF2B5EF4-FFF2-40B4-BE49-F238E27FC236}">
                  <a16:creationId xmlns:a16="http://schemas.microsoft.com/office/drawing/2014/main" id="{9AB2421C-46D8-4BE8-0AAF-E541B8286DC7}"/>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F444B30E-A3DD-194B-874F-B22ACB8FE474}"/>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2C3F8694-C9A3-171A-D5E3-48DFF8EB549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14" name="Gruppieren 13">
            <a:extLst>
              <a:ext uri="{FF2B5EF4-FFF2-40B4-BE49-F238E27FC236}">
                <a16:creationId xmlns:a16="http://schemas.microsoft.com/office/drawing/2014/main" id="{E8C66D79-A079-3195-8B1A-35614F4DF512}"/>
              </a:ext>
            </a:extLst>
          </p:cNvPr>
          <p:cNvGrpSpPr/>
          <p:nvPr/>
        </p:nvGrpSpPr>
        <p:grpSpPr>
          <a:xfrm rot="5400000" flipH="1">
            <a:off x="10530991" y="4314573"/>
            <a:ext cx="25807" cy="726114"/>
            <a:chOff x="6851814" y="1766023"/>
            <a:chExt cx="78569" cy="2068826"/>
          </a:xfrm>
        </p:grpSpPr>
        <p:sp>
          <p:nvSpPr>
            <p:cNvPr id="15" name="Rechteck 14">
              <a:extLst>
                <a:ext uri="{FF2B5EF4-FFF2-40B4-BE49-F238E27FC236}">
                  <a16:creationId xmlns:a16="http://schemas.microsoft.com/office/drawing/2014/main" id="{53FA899F-D66A-47FE-A633-B17BC74BCC09}"/>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6D964293-8889-DF3F-EE7C-1513BED2855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1" name="Rechteck 20">
              <a:extLst>
                <a:ext uri="{FF2B5EF4-FFF2-40B4-BE49-F238E27FC236}">
                  <a16:creationId xmlns:a16="http://schemas.microsoft.com/office/drawing/2014/main" id="{85D35D36-1347-1BFE-C029-181CC872C58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C9A62CB7-C98B-A400-8856-D02BAD7BF18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D1D066F6-3829-1F83-45FC-9BFC69F04C89}"/>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5" name="Gruppieren 24">
            <a:extLst>
              <a:ext uri="{FF2B5EF4-FFF2-40B4-BE49-F238E27FC236}">
                <a16:creationId xmlns:a16="http://schemas.microsoft.com/office/drawing/2014/main" id="{5880DC53-2F4D-8171-AF92-8EA3133A5A4A}"/>
              </a:ext>
            </a:extLst>
          </p:cNvPr>
          <p:cNvGrpSpPr/>
          <p:nvPr/>
        </p:nvGrpSpPr>
        <p:grpSpPr>
          <a:xfrm rot="5400000" flipH="1">
            <a:off x="10531439" y="4267600"/>
            <a:ext cx="25807" cy="726114"/>
            <a:chOff x="6851814" y="1766023"/>
            <a:chExt cx="78569" cy="2068826"/>
          </a:xfrm>
        </p:grpSpPr>
        <p:sp>
          <p:nvSpPr>
            <p:cNvPr id="26" name="Rechteck 25">
              <a:extLst>
                <a:ext uri="{FF2B5EF4-FFF2-40B4-BE49-F238E27FC236}">
                  <a16:creationId xmlns:a16="http://schemas.microsoft.com/office/drawing/2014/main" id="{6E107EE9-0F8A-4435-8D9A-05806536A181}"/>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 name="Rechteck 33">
              <a:extLst>
                <a:ext uri="{FF2B5EF4-FFF2-40B4-BE49-F238E27FC236}">
                  <a16:creationId xmlns:a16="http://schemas.microsoft.com/office/drawing/2014/main" id="{88A5A862-975C-C7F3-5A93-CA73D15D726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5" name="Rechteck 34">
              <a:extLst>
                <a:ext uri="{FF2B5EF4-FFF2-40B4-BE49-F238E27FC236}">
                  <a16:creationId xmlns:a16="http://schemas.microsoft.com/office/drawing/2014/main" id="{23C3A7D2-C617-B849-901F-C3F7CA5B055E}"/>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6" name="Rechteck 35">
              <a:extLst>
                <a:ext uri="{FF2B5EF4-FFF2-40B4-BE49-F238E27FC236}">
                  <a16:creationId xmlns:a16="http://schemas.microsoft.com/office/drawing/2014/main" id="{AE205E45-075F-811D-3652-F9BDCB97622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FBADDBC3-A6CE-3994-89DB-C4884514D0AE}"/>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8" name="Gruppieren 37">
            <a:extLst>
              <a:ext uri="{FF2B5EF4-FFF2-40B4-BE49-F238E27FC236}">
                <a16:creationId xmlns:a16="http://schemas.microsoft.com/office/drawing/2014/main" id="{54EFCF15-8517-592F-D4AB-8305E7B8DD95}"/>
              </a:ext>
            </a:extLst>
          </p:cNvPr>
          <p:cNvGrpSpPr/>
          <p:nvPr/>
        </p:nvGrpSpPr>
        <p:grpSpPr>
          <a:xfrm rot="5400000" flipH="1">
            <a:off x="10531438" y="4219970"/>
            <a:ext cx="25807" cy="726114"/>
            <a:chOff x="6851814" y="1766023"/>
            <a:chExt cx="78569" cy="2068826"/>
          </a:xfrm>
        </p:grpSpPr>
        <p:sp>
          <p:nvSpPr>
            <p:cNvPr id="39" name="Rechteck 38">
              <a:extLst>
                <a:ext uri="{FF2B5EF4-FFF2-40B4-BE49-F238E27FC236}">
                  <a16:creationId xmlns:a16="http://schemas.microsoft.com/office/drawing/2014/main" id="{C348549E-A834-D2FD-63A6-092ED98E72ED}"/>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0" name="Rechteck 39">
              <a:extLst>
                <a:ext uri="{FF2B5EF4-FFF2-40B4-BE49-F238E27FC236}">
                  <a16:creationId xmlns:a16="http://schemas.microsoft.com/office/drawing/2014/main" id="{5A7DDC79-908B-5A9B-3CC5-FCD8A0D4D59D}"/>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1" name="Rechteck 40">
              <a:extLst>
                <a:ext uri="{FF2B5EF4-FFF2-40B4-BE49-F238E27FC236}">
                  <a16:creationId xmlns:a16="http://schemas.microsoft.com/office/drawing/2014/main" id="{40667CC4-2F9B-F0C5-C208-46B12520204F}"/>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 name="Rechteck 41">
              <a:extLst>
                <a:ext uri="{FF2B5EF4-FFF2-40B4-BE49-F238E27FC236}">
                  <a16:creationId xmlns:a16="http://schemas.microsoft.com/office/drawing/2014/main" id="{5CB06FA5-BF46-00EA-23E4-5922F3EC1F88}"/>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3" name="Rechteck 42">
              <a:extLst>
                <a:ext uri="{FF2B5EF4-FFF2-40B4-BE49-F238E27FC236}">
                  <a16:creationId xmlns:a16="http://schemas.microsoft.com/office/drawing/2014/main" id="{CA44B178-CF7E-A3CA-1715-5AC67149CF81}"/>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89" name="Rahmen 288">
            <a:extLst>
              <a:ext uri="{FF2B5EF4-FFF2-40B4-BE49-F238E27FC236}">
                <a16:creationId xmlns:a16="http://schemas.microsoft.com/office/drawing/2014/main" id="{EDA7560E-0C29-627E-CB2A-34939BDCDFF2}"/>
              </a:ext>
            </a:extLst>
          </p:cNvPr>
          <p:cNvSpPr/>
          <p:nvPr/>
        </p:nvSpPr>
        <p:spPr>
          <a:xfrm>
            <a:off x="1622285" y="1057379"/>
            <a:ext cx="9596075" cy="3653970"/>
          </a:xfrm>
          <a:prstGeom prst="frame">
            <a:avLst>
              <a:gd name="adj1" fmla="val 1722"/>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nvGrpSpPr>
          <p:cNvPr id="44" name="Gruppieren 43">
            <a:extLst>
              <a:ext uri="{FF2B5EF4-FFF2-40B4-BE49-F238E27FC236}">
                <a16:creationId xmlns:a16="http://schemas.microsoft.com/office/drawing/2014/main" id="{4A483039-9D9B-5AD2-2D6E-21CBF875B0B9}"/>
              </a:ext>
            </a:extLst>
          </p:cNvPr>
          <p:cNvGrpSpPr/>
          <p:nvPr/>
        </p:nvGrpSpPr>
        <p:grpSpPr>
          <a:xfrm rot="5400000" flipH="1">
            <a:off x="10516198" y="4043313"/>
            <a:ext cx="25807" cy="726114"/>
            <a:chOff x="6851814" y="1766023"/>
            <a:chExt cx="78569" cy="2068826"/>
          </a:xfrm>
        </p:grpSpPr>
        <p:sp>
          <p:nvSpPr>
            <p:cNvPr id="45" name="Rechteck 44">
              <a:extLst>
                <a:ext uri="{FF2B5EF4-FFF2-40B4-BE49-F238E27FC236}">
                  <a16:creationId xmlns:a16="http://schemas.microsoft.com/office/drawing/2014/main" id="{38DFA80F-CFE3-E28C-64E1-B8E7C5E52D5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 name="Rechteck 45">
              <a:extLst>
                <a:ext uri="{FF2B5EF4-FFF2-40B4-BE49-F238E27FC236}">
                  <a16:creationId xmlns:a16="http://schemas.microsoft.com/office/drawing/2014/main" id="{9ABAB0A4-9BE3-5C23-84BA-E4F329A07D63}"/>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7" name="Rechteck 46">
              <a:extLst>
                <a:ext uri="{FF2B5EF4-FFF2-40B4-BE49-F238E27FC236}">
                  <a16:creationId xmlns:a16="http://schemas.microsoft.com/office/drawing/2014/main" id="{2BAE8005-D86D-3DBF-3992-98882C6B46CD}"/>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2ED24071-CE28-D903-511C-12EF26ED1C9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 name="Rechteck 48">
              <a:extLst>
                <a:ext uri="{FF2B5EF4-FFF2-40B4-BE49-F238E27FC236}">
                  <a16:creationId xmlns:a16="http://schemas.microsoft.com/office/drawing/2014/main" id="{D4F9E29D-E0C3-AD45-BC99-3B264FDC5242}"/>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1" name="Gruppieren 50">
            <a:extLst>
              <a:ext uri="{FF2B5EF4-FFF2-40B4-BE49-F238E27FC236}">
                <a16:creationId xmlns:a16="http://schemas.microsoft.com/office/drawing/2014/main" id="{8EE23571-2C68-E051-9F7F-555E02B7ABCF}"/>
              </a:ext>
            </a:extLst>
          </p:cNvPr>
          <p:cNvGrpSpPr/>
          <p:nvPr/>
        </p:nvGrpSpPr>
        <p:grpSpPr>
          <a:xfrm rot="5400000" flipH="1">
            <a:off x="10520008" y="4102933"/>
            <a:ext cx="25807" cy="726114"/>
            <a:chOff x="6851814" y="1766023"/>
            <a:chExt cx="78569" cy="2068826"/>
          </a:xfrm>
        </p:grpSpPr>
        <p:sp>
          <p:nvSpPr>
            <p:cNvPr id="52" name="Rechteck 51">
              <a:extLst>
                <a:ext uri="{FF2B5EF4-FFF2-40B4-BE49-F238E27FC236}">
                  <a16:creationId xmlns:a16="http://schemas.microsoft.com/office/drawing/2014/main" id="{1A224837-9F19-E720-A89A-5D93C3B6A1B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 name="Rechteck 52">
              <a:extLst>
                <a:ext uri="{FF2B5EF4-FFF2-40B4-BE49-F238E27FC236}">
                  <a16:creationId xmlns:a16="http://schemas.microsoft.com/office/drawing/2014/main" id="{D59A6404-A2F8-D006-0EFD-7F4602624B3B}"/>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5" name="Rechteck 54">
              <a:extLst>
                <a:ext uri="{FF2B5EF4-FFF2-40B4-BE49-F238E27FC236}">
                  <a16:creationId xmlns:a16="http://schemas.microsoft.com/office/drawing/2014/main" id="{A8A93492-6A1D-A056-A9AF-09F330CABC7F}"/>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892715D9-3063-9C36-87EE-802125EFA5E8}"/>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743DD452-ACB8-8914-2ADB-E411619E18A4}"/>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9" name="Gruppieren 58">
            <a:extLst>
              <a:ext uri="{FF2B5EF4-FFF2-40B4-BE49-F238E27FC236}">
                <a16:creationId xmlns:a16="http://schemas.microsoft.com/office/drawing/2014/main" id="{A7089BD8-8F4A-A3D5-7883-488B1A7AFC6E}"/>
              </a:ext>
            </a:extLst>
          </p:cNvPr>
          <p:cNvGrpSpPr/>
          <p:nvPr/>
        </p:nvGrpSpPr>
        <p:grpSpPr>
          <a:xfrm rot="5400000" flipH="1">
            <a:off x="10521913" y="4159010"/>
            <a:ext cx="25807" cy="726114"/>
            <a:chOff x="6851814" y="1766023"/>
            <a:chExt cx="78569" cy="2068826"/>
          </a:xfrm>
        </p:grpSpPr>
        <p:sp>
          <p:nvSpPr>
            <p:cNvPr id="60" name="Rechteck 59">
              <a:extLst>
                <a:ext uri="{FF2B5EF4-FFF2-40B4-BE49-F238E27FC236}">
                  <a16:creationId xmlns:a16="http://schemas.microsoft.com/office/drawing/2014/main" id="{ED494C10-FE0C-FF05-E3B1-83F14322401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 name="Rechteck 61">
              <a:extLst>
                <a:ext uri="{FF2B5EF4-FFF2-40B4-BE49-F238E27FC236}">
                  <a16:creationId xmlns:a16="http://schemas.microsoft.com/office/drawing/2014/main" id="{53C2D70B-E4CC-8B4D-D0A0-63D56BAC79D3}"/>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3" name="Rechteck 62">
              <a:extLst>
                <a:ext uri="{FF2B5EF4-FFF2-40B4-BE49-F238E27FC236}">
                  <a16:creationId xmlns:a16="http://schemas.microsoft.com/office/drawing/2014/main" id="{4BFA87B3-D29F-BE32-4CD2-0A49605A150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9" name="Rechteck 458">
              <a:extLst>
                <a:ext uri="{FF2B5EF4-FFF2-40B4-BE49-F238E27FC236}">
                  <a16:creationId xmlns:a16="http://schemas.microsoft.com/office/drawing/2014/main" id="{4262C45A-9F86-E635-DF97-967E5F12AF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0" name="Rechteck 459">
              <a:extLst>
                <a:ext uri="{FF2B5EF4-FFF2-40B4-BE49-F238E27FC236}">
                  <a16:creationId xmlns:a16="http://schemas.microsoft.com/office/drawing/2014/main" id="{1959A337-53A5-9B27-8124-7D940BEFEADD}"/>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461" name="Gruppieren 460">
            <a:extLst>
              <a:ext uri="{FF2B5EF4-FFF2-40B4-BE49-F238E27FC236}">
                <a16:creationId xmlns:a16="http://schemas.microsoft.com/office/drawing/2014/main" id="{11BFA27A-4BD4-CF08-AB4A-3D184D15C145}"/>
              </a:ext>
            </a:extLst>
          </p:cNvPr>
          <p:cNvGrpSpPr/>
          <p:nvPr/>
        </p:nvGrpSpPr>
        <p:grpSpPr>
          <a:xfrm rot="5400000" flipH="1">
            <a:off x="10537153" y="4162820"/>
            <a:ext cx="25807" cy="726114"/>
            <a:chOff x="6851814" y="1766023"/>
            <a:chExt cx="78569" cy="2068826"/>
          </a:xfrm>
        </p:grpSpPr>
        <p:sp>
          <p:nvSpPr>
            <p:cNvPr id="468" name="Rechteck 467">
              <a:extLst>
                <a:ext uri="{FF2B5EF4-FFF2-40B4-BE49-F238E27FC236}">
                  <a16:creationId xmlns:a16="http://schemas.microsoft.com/office/drawing/2014/main" id="{10D81F74-1B2F-DA56-DF62-0E6F7236BC9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9" name="Rechteck 468">
              <a:extLst>
                <a:ext uri="{FF2B5EF4-FFF2-40B4-BE49-F238E27FC236}">
                  <a16:creationId xmlns:a16="http://schemas.microsoft.com/office/drawing/2014/main" id="{177BD1F3-D6CA-3B79-FCA1-3D8C7F1E4CD3}"/>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70" name="Rechteck 469">
              <a:extLst>
                <a:ext uri="{FF2B5EF4-FFF2-40B4-BE49-F238E27FC236}">
                  <a16:creationId xmlns:a16="http://schemas.microsoft.com/office/drawing/2014/main" id="{02C8CC16-958F-003A-BB12-6BEB8EA16451}"/>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1" name="Rechteck 470">
              <a:extLst>
                <a:ext uri="{FF2B5EF4-FFF2-40B4-BE49-F238E27FC236}">
                  <a16:creationId xmlns:a16="http://schemas.microsoft.com/office/drawing/2014/main" id="{1D73E1F5-A1FB-1BD9-FA4C-0F2795440ACD}"/>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4" name="Rechteck 63">
              <a:extLst>
                <a:ext uri="{FF2B5EF4-FFF2-40B4-BE49-F238E27FC236}">
                  <a16:creationId xmlns:a16="http://schemas.microsoft.com/office/drawing/2014/main" id="{5F780872-7256-0724-7713-799E0E1A041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65" name="Gruppieren 64">
            <a:extLst>
              <a:ext uri="{FF2B5EF4-FFF2-40B4-BE49-F238E27FC236}">
                <a16:creationId xmlns:a16="http://schemas.microsoft.com/office/drawing/2014/main" id="{97CDC2F9-4440-16DC-BD54-50F6B8FA6E86}"/>
              </a:ext>
            </a:extLst>
          </p:cNvPr>
          <p:cNvGrpSpPr/>
          <p:nvPr/>
        </p:nvGrpSpPr>
        <p:grpSpPr>
          <a:xfrm rot="5400000" flipH="1">
            <a:off x="10523818" y="3991841"/>
            <a:ext cx="25807" cy="726114"/>
            <a:chOff x="6851814" y="1766023"/>
            <a:chExt cx="78569" cy="2068826"/>
          </a:xfrm>
        </p:grpSpPr>
        <p:sp>
          <p:nvSpPr>
            <p:cNvPr id="66" name="Rechteck 65">
              <a:extLst>
                <a:ext uri="{FF2B5EF4-FFF2-40B4-BE49-F238E27FC236}">
                  <a16:creationId xmlns:a16="http://schemas.microsoft.com/office/drawing/2014/main" id="{9E4E6F34-435C-C828-972D-A6F3DC85178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Rechteck 66">
              <a:extLst>
                <a:ext uri="{FF2B5EF4-FFF2-40B4-BE49-F238E27FC236}">
                  <a16:creationId xmlns:a16="http://schemas.microsoft.com/office/drawing/2014/main" id="{6672DEF4-02EB-1D13-088D-3C91839F7BA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8" name="Rechteck 67">
              <a:extLst>
                <a:ext uri="{FF2B5EF4-FFF2-40B4-BE49-F238E27FC236}">
                  <a16:creationId xmlns:a16="http://schemas.microsoft.com/office/drawing/2014/main" id="{B90D7666-5D54-058F-67C4-4EA42C8E01D8}"/>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53C2D781-0697-1570-6CFA-6E15E7200041}"/>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0061619E-E386-89B2-1BEA-A5E1BA7105D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2804388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6" name="Gruppieren 465">
            <a:extLst>
              <a:ext uri="{FF2B5EF4-FFF2-40B4-BE49-F238E27FC236}">
                <a16:creationId xmlns:a16="http://schemas.microsoft.com/office/drawing/2014/main" id="{EBA290DD-3ED1-6716-DD1F-83D0DDEDEA83}"/>
              </a:ext>
            </a:extLst>
          </p:cNvPr>
          <p:cNvGrpSpPr/>
          <p:nvPr/>
        </p:nvGrpSpPr>
        <p:grpSpPr>
          <a:xfrm rot="10800000">
            <a:off x="8473250" y="2612053"/>
            <a:ext cx="69580" cy="193454"/>
            <a:chOff x="2849757" y="2999802"/>
            <a:chExt cx="69580" cy="193454"/>
          </a:xfrm>
        </p:grpSpPr>
        <p:sp>
          <p:nvSpPr>
            <p:cNvPr id="467" name="Rechteck 466">
              <a:extLst>
                <a:ext uri="{FF2B5EF4-FFF2-40B4-BE49-F238E27FC236}">
                  <a16:creationId xmlns:a16="http://schemas.microsoft.com/office/drawing/2014/main" id="{CF6F1B27-3466-336A-4947-603FE3C9C861}"/>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76" name="Gerade Verbindung mit Pfeil 475">
              <a:extLst>
                <a:ext uri="{FF2B5EF4-FFF2-40B4-BE49-F238E27FC236}">
                  <a16:creationId xmlns:a16="http://schemas.microsoft.com/office/drawing/2014/main" id="{A2BD989E-E8CF-91EC-C437-3CA69562CF62}"/>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cxnSp>
        <p:nvCxnSpPr>
          <p:cNvPr id="238" name="Verbinder: gekrümmt 237">
            <a:extLst>
              <a:ext uri="{FF2B5EF4-FFF2-40B4-BE49-F238E27FC236}">
                <a16:creationId xmlns:a16="http://schemas.microsoft.com/office/drawing/2014/main" id="{BC7BEA59-2F11-62DC-6BFF-7B211717EC32}"/>
              </a:ext>
            </a:extLst>
          </p:cNvPr>
          <p:cNvCxnSpPr>
            <a:cxnSpLocks/>
            <a:stCxn id="208" idx="0"/>
            <a:endCxn id="237" idx="0"/>
          </p:cNvCxnSpPr>
          <p:nvPr/>
        </p:nvCxnSpPr>
        <p:spPr>
          <a:xfrm rot="16200000" flipH="1" flipV="1">
            <a:off x="5097276" y="2950515"/>
            <a:ext cx="1035971" cy="1173839"/>
          </a:xfrm>
          <a:prstGeom prst="curvedConnector3">
            <a:avLst>
              <a:gd name="adj1" fmla="val 76772"/>
            </a:avLst>
          </a:prstGeom>
          <a:ln/>
        </p:spPr>
        <p:style>
          <a:lnRef idx="3">
            <a:schemeClr val="dk1"/>
          </a:lnRef>
          <a:fillRef idx="0">
            <a:schemeClr val="dk1"/>
          </a:fillRef>
          <a:effectRef idx="2">
            <a:schemeClr val="dk1"/>
          </a:effectRef>
          <a:fontRef idx="minor">
            <a:schemeClr val="tx1"/>
          </a:fontRef>
        </p:style>
      </p:cxnSp>
      <p:sp>
        <p:nvSpPr>
          <p:cNvPr id="481" name="Rechteck 480">
            <a:extLst>
              <a:ext uri="{FF2B5EF4-FFF2-40B4-BE49-F238E27FC236}">
                <a16:creationId xmlns:a16="http://schemas.microsoft.com/office/drawing/2014/main" id="{BB2D48A7-5C44-12E5-8560-10C07906AEDF}"/>
              </a:ext>
            </a:extLst>
          </p:cNvPr>
          <p:cNvSpPr/>
          <p:nvPr/>
        </p:nvSpPr>
        <p:spPr>
          <a:xfrm rot="5400000">
            <a:off x="5297096" y="3565446"/>
            <a:ext cx="1507805" cy="50530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9" name="Rechteck 458">
            <a:extLst>
              <a:ext uri="{FF2B5EF4-FFF2-40B4-BE49-F238E27FC236}">
                <a16:creationId xmlns:a16="http://schemas.microsoft.com/office/drawing/2014/main" id="{D56016DB-7E6B-D9F1-3910-F0EB645996BC}"/>
              </a:ext>
            </a:extLst>
          </p:cNvPr>
          <p:cNvSpPr/>
          <p:nvPr/>
        </p:nvSpPr>
        <p:spPr>
          <a:xfrm rot="5400000">
            <a:off x="4672754" y="2430989"/>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3" name="Ellipse 452">
            <a:extLst>
              <a:ext uri="{FF2B5EF4-FFF2-40B4-BE49-F238E27FC236}">
                <a16:creationId xmlns:a16="http://schemas.microsoft.com/office/drawing/2014/main" id="{6B988D60-903B-86C3-C72C-33B5A4AD2405}"/>
              </a:ext>
            </a:extLst>
          </p:cNvPr>
          <p:cNvSpPr/>
          <p:nvPr/>
        </p:nvSpPr>
        <p:spPr>
          <a:xfrm>
            <a:off x="8126402"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52" name="Ellipse 451">
            <a:extLst>
              <a:ext uri="{FF2B5EF4-FFF2-40B4-BE49-F238E27FC236}">
                <a16:creationId xmlns:a16="http://schemas.microsoft.com/office/drawing/2014/main" id="{0F9E84E8-0A56-B5A9-3ACC-D8C0D686C561}"/>
              </a:ext>
            </a:extLst>
          </p:cNvPr>
          <p:cNvSpPr/>
          <p:nvPr/>
        </p:nvSpPr>
        <p:spPr>
          <a:xfrm>
            <a:off x="7795630" y="273261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7470723"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43" name="Gruppieren 442">
            <a:extLst>
              <a:ext uri="{FF2B5EF4-FFF2-40B4-BE49-F238E27FC236}">
                <a16:creationId xmlns:a16="http://schemas.microsoft.com/office/drawing/2014/main" id="{8DCFAD51-652D-34FA-96C0-4F151F44461C}"/>
              </a:ext>
            </a:extLst>
          </p:cNvPr>
          <p:cNvGrpSpPr/>
          <p:nvPr/>
        </p:nvGrpSpPr>
        <p:grpSpPr>
          <a:xfrm rot="10800000">
            <a:off x="6171584" y="2609785"/>
            <a:ext cx="69580" cy="193454"/>
            <a:chOff x="2849757" y="2999802"/>
            <a:chExt cx="69580" cy="193454"/>
          </a:xfrm>
        </p:grpSpPr>
        <p:sp>
          <p:nvSpPr>
            <p:cNvPr id="444" name="Rechteck 443">
              <a:extLst>
                <a:ext uri="{FF2B5EF4-FFF2-40B4-BE49-F238E27FC236}">
                  <a16:creationId xmlns:a16="http://schemas.microsoft.com/office/drawing/2014/main" id="{FF747A45-0BFA-0A16-D62E-F70D98595F1B}"/>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5" name="Gerade Verbindung mit Pfeil 444">
              <a:extLst>
                <a:ext uri="{FF2B5EF4-FFF2-40B4-BE49-F238E27FC236}">
                  <a16:creationId xmlns:a16="http://schemas.microsoft.com/office/drawing/2014/main" id="{27E54FC0-AE8A-2F82-C204-38A04B0FBB8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38" name="Ellipse 437">
            <a:extLst>
              <a:ext uri="{FF2B5EF4-FFF2-40B4-BE49-F238E27FC236}">
                <a16:creationId xmlns:a16="http://schemas.microsoft.com/office/drawing/2014/main" id="{1A72A9C7-4B58-F3B1-815A-2C9879596295}"/>
              </a:ext>
            </a:extLst>
          </p:cNvPr>
          <p:cNvSpPr/>
          <p:nvPr/>
        </p:nvSpPr>
        <p:spPr>
          <a:xfrm>
            <a:off x="4509530" y="2996170"/>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39" name="Ellipse 438">
            <a:extLst>
              <a:ext uri="{FF2B5EF4-FFF2-40B4-BE49-F238E27FC236}">
                <a16:creationId xmlns:a16="http://schemas.microsoft.com/office/drawing/2014/main" id="{031347A9-470E-5A2F-0CC7-190CD1065F91}"/>
              </a:ext>
            </a:extLst>
          </p:cNvPr>
          <p:cNvSpPr/>
          <p:nvPr/>
        </p:nvSpPr>
        <p:spPr>
          <a:xfrm>
            <a:off x="4174696"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35" name="Gruppieren 434">
            <a:extLst>
              <a:ext uri="{FF2B5EF4-FFF2-40B4-BE49-F238E27FC236}">
                <a16:creationId xmlns:a16="http://schemas.microsoft.com/office/drawing/2014/main" id="{9F52DBC8-0273-2A18-8576-B8A996B7A106}"/>
              </a:ext>
            </a:extLst>
          </p:cNvPr>
          <p:cNvGrpSpPr/>
          <p:nvPr/>
        </p:nvGrpSpPr>
        <p:grpSpPr>
          <a:xfrm>
            <a:off x="3856143" y="2993789"/>
            <a:ext cx="69580" cy="193454"/>
            <a:chOff x="2849757" y="2999802"/>
            <a:chExt cx="69580" cy="193454"/>
          </a:xfrm>
        </p:grpSpPr>
        <p:sp>
          <p:nvSpPr>
            <p:cNvPr id="436" name="Rechteck 435">
              <a:extLst>
                <a:ext uri="{FF2B5EF4-FFF2-40B4-BE49-F238E27FC236}">
                  <a16:creationId xmlns:a16="http://schemas.microsoft.com/office/drawing/2014/main" id="{9BA7E1A2-4B34-531E-F75D-E2413EAB2F5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7" name="Gerade Verbindung mit Pfeil 436">
              <a:extLst>
                <a:ext uri="{FF2B5EF4-FFF2-40B4-BE49-F238E27FC236}">
                  <a16:creationId xmlns:a16="http://schemas.microsoft.com/office/drawing/2014/main" id="{43DCC557-25D4-CBE2-CF45-0396F6CBE2B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23" name="Ellipse 422">
            <a:extLst>
              <a:ext uri="{FF2B5EF4-FFF2-40B4-BE49-F238E27FC236}">
                <a16:creationId xmlns:a16="http://schemas.microsoft.com/office/drawing/2014/main" id="{5BF27D1F-6628-8AAA-CEAB-3EA3D6986126}"/>
              </a:ext>
            </a:extLst>
          </p:cNvPr>
          <p:cNvSpPr/>
          <p:nvPr/>
        </p:nvSpPr>
        <p:spPr>
          <a:xfrm>
            <a:off x="22053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D88FA469-4905-4CE8-826B-317175BFEEBA}"/>
              </a:ext>
            </a:extLst>
          </p:cNvPr>
          <p:cNvSpPr/>
          <p:nvPr/>
        </p:nvSpPr>
        <p:spPr>
          <a:xfrm>
            <a:off x="395983" y="4768562"/>
            <a:ext cx="1440000" cy="1980000"/>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276899"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5352350"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4639025" y="1733206"/>
            <a:ext cx="1416563" cy="660152"/>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4631503"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1785608" y="2819901"/>
            <a:ext cx="8340891"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9" name="Rechteck 108">
            <a:extLst>
              <a:ext uri="{FF2B5EF4-FFF2-40B4-BE49-F238E27FC236}">
                <a16:creationId xmlns:a16="http://schemas.microsoft.com/office/drawing/2014/main" id="{D6BE3DC5-2F9C-3597-3B5D-75EAB6AD6AA2}"/>
              </a:ext>
            </a:extLst>
          </p:cNvPr>
          <p:cNvSpPr/>
          <p:nvPr/>
        </p:nvSpPr>
        <p:spPr>
          <a:xfrm rot="5400000">
            <a:off x="11242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19595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err="1"/>
              <a:t>Cuting</a:t>
            </a:r>
            <a:endParaRPr lang="de-DE" sz="1100" dirty="0"/>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2403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54" name="Zylinder 53">
            <a:extLst>
              <a:ext uri="{FF2B5EF4-FFF2-40B4-BE49-F238E27FC236}">
                <a16:creationId xmlns:a16="http://schemas.microsoft.com/office/drawing/2014/main" id="{E2EB6F2D-00D9-D8CB-B3C9-73FF6DADAC42}"/>
              </a:ext>
            </a:extLst>
          </p:cNvPr>
          <p:cNvSpPr/>
          <p:nvPr/>
        </p:nvSpPr>
        <p:spPr>
          <a:xfrm>
            <a:off x="6336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2180023" y="279609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1" name="Gruppieren 80">
            <a:extLst>
              <a:ext uri="{FF2B5EF4-FFF2-40B4-BE49-F238E27FC236}">
                <a16:creationId xmlns:a16="http://schemas.microsoft.com/office/drawing/2014/main" id="{E58F645D-9B46-481B-3807-1CF991C3F52B}"/>
              </a:ext>
            </a:extLst>
          </p:cNvPr>
          <p:cNvGrpSpPr/>
          <p:nvPr/>
        </p:nvGrpSpPr>
        <p:grpSpPr>
          <a:xfrm>
            <a:off x="2501021" y="281127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2821417" y="280640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3155747" y="274449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490222" y="280640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3824480" y="280895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4155050" y="280640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6842814"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28" name="Rechteck 127">
            <a:extLst>
              <a:ext uri="{FF2B5EF4-FFF2-40B4-BE49-F238E27FC236}">
                <a16:creationId xmlns:a16="http://schemas.microsoft.com/office/drawing/2014/main" id="{0074B172-7F57-FC56-61A8-D63928DF8B6B}"/>
              </a:ext>
            </a:extLst>
          </p:cNvPr>
          <p:cNvSpPr/>
          <p:nvPr/>
        </p:nvSpPr>
        <p:spPr>
          <a:xfrm rot="5400000">
            <a:off x="2354533"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2524502"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3680775"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5092779"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5278925"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052920"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5360873"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052920"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5358313"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172347"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195908"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6521602"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35" name="Rechteck 134">
            <a:extLst>
              <a:ext uri="{FF2B5EF4-FFF2-40B4-BE49-F238E27FC236}">
                <a16:creationId xmlns:a16="http://schemas.microsoft.com/office/drawing/2014/main" id="{AAD6C9FC-A776-D253-45DA-D7B16BC38273}"/>
              </a:ext>
            </a:extLst>
          </p:cNvPr>
          <p:cNvSpPr/>
          <p:nvPr/>
        </p:nvSpPr>
        <p:spPr>
          <a:xfrm rot="5400000">
            <a:off x="2539160"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a:off x="3179532" y="231768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764958" y="83980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2949050"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2927026"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3442176"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081172" y="148632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233572" y="163872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165946" y="149979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064715" y="173679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131384" y="172078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125381" y="160424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208177" y="176672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3179239"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3148342"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177314" y="225254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3183613"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3155791"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3174030"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176856" y="273687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012005" y="55050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514122" y="278742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847614" y="278132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176035" y="2792484"/>
            <a:ext cx="90077" cy="28388"/>
          </a:xfrm>
          <a:prstGeom prst="rect">
            <a:avLst/>
          </a:prstGeom>
        </p:spPr>
      </p:pic>
      <p:sp>
        <p:nvSpPr>
          <p:cNvPr id="174" name="Rechteck 173">
            <a:extLst>
              <a:ext uri="{FF2B5EF4-FFF2-40B4-BE49-F238E27FC236}">
                <a16:creationId xmlns:a16="http://schemas.microsoft.com/office/drawing/2014/main" id="{B042EA01-62CC-0E37-E9D1-C59B04561965}"/>
              </a:ext>
            </a:extLst>
          </p:cNvPr>
          <p:cNvSpPr/>
          <p:nvPr/>
        </p:nvSpPr>
        <p:spPr>
          <a:xfrm>
            <a:off x="3816719"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5408291"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5522010"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5579159"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5514573"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83" name="Rechteck 182">
            <a:extLst>
              <a:ext uri="{FF2B5EF4-FFF2-40B4-BE49-F238E27FC236}">
                <a16:creationId xmlns:a16="http://schemas.microsoft.com/office/drawing/2014/main" id="{3824930F-A0AE-ED6E-3E91-E6B2A2995AAA}"/>
              </a:ext>
            </a:extLst>
          </p:cNvPr>
          <p:cNvSpPr/>
          <p:nvPr/>
        </p:nvSpPr>
        <p:spPr>
          <a:xfrm rot="16200000">
            <a:off x="6185736"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rot="10800000">
            <a:off x="6801240"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10800000">
            <a:off x="6385807"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6583741"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073771"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6558621"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58686"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6806286"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73912"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75143"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6908474"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14477"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31681"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6800947"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6767092"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6805400"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6653109"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6777221"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6803775"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6805847"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10800000">
            <a:off x="6760499"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284725"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7438496"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018854" y="3141830"/>
            <a:ext cx="364318" cy="21002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161927"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163180"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220329"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2523052"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2580201"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7498233"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7"/>
          <a:srcRect l="12368" t="11098" r="5271"/>
          <a:stretch/>
        </p:blipFill>
        <p:spPr>
          <a:xfrm>
            <a:off x="4922968" y="2656991"/>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7"/>
          <a:srcRect l="12368" t="11098" r="5271"/>
          <a:stretch/>
        </p:blipFill>
        <p:spPr>
          <a:xfrm flipH="1">
            <a:off x="4763418" y="2653742"/>
            <a:ext cx="90381" cy="107501"/>
          </a:xfrm>
          <a:prstGeom prst="rect">
            <a:avLst/>
          </a:prstGeom>
        </p:spPr>
      </p:pic>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135794"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459648" y="299209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4681539" y="4055421"/>
            <a:ext cx="693606" cy="547179"/>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r>
              <a:rPr lang="de-DE" sz="800" dirty="0"/>
              <a:t> </a:t>
            </a:r>
            <a:r>
              <a:rPr lang="de-DE" sz="800" dirty="0" err="1"/>
              <a:t>unit</a:t>
            </a:r>
            <a:r>
              <a:rPr lang="de-DE" sz="800" dirty="0"/>
              <a:t> </a:t>
            </a:r>
          </a:p>
          <a:p>
            <a:pPr algn="ctr"/>
            <a:r>
              <a:rPr lang="de-DE" sz="800" dirty="0" err="1"/>
              <a:t>for</a:t>
            </a:r>
            <a:r>
              <a:rPr lang="de-DE" sz="800" dirty="0"/>
              <a:t> </a:t>
            </a:r>
            <a:r>
              <a:rPr lang="de-DE" sz="800" dirty="0" err="1"/>
              <a:t>both</a:t>
            </a:r>
            <a:r>
              <a:rPr lang="de-DE" sz="800" dirty="0"/>
              <a:t> </a:t>
            </a:r>
            <a:r>
              <a:rPr lang="de-DE" sz="800" dirty="0" err="1"/>
              <a:t>station</a:t>
            </a:r>
            <a:endParaRPr lang="de-DE" sz="800" dirty="0"/>
          </a:p>
          <a:p>
            <a:pPr algn="ctr"/>
            <a:r>
              <a:rPr lang="de-DE" sz="800" dirty="0"/>
              <a:t>and </a:t>
            </a:r>
            <a:r>
              <a:rPr lang="de-DE" sz="800" dirty="0" err="1"/>
              <a:t>cutting</a:t>
            </a:r>
            <a:endParaRPr lang="de-DE" sz="800" dirty="0"/>
          </a:p>
        </p:txBody>
      </p: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7828109"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789524" y="2992099"/>
            <a:ext cx="90077" cy="28388"/>
          </a:xfrm>
          <a:prstGeom prst="rect">
            <a:avLst/>
          </a:prstGeom>
        </p:spPr>
      </p:pic>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8489007"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450422"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7"/>
          <a:srcRect l="12368" t="11098" r="5271"/>
          <a:stretch/>
        </p:blipFill>
        <p:spPr>
          <a:xfrm>
            <a:off x="8521884"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7"/>
          <a:srcRect l="12368" t="11098" r="5271"/>
          <a:stretch/>
        </p:blipFill>
        <p:spPr>
          <a:xfrm flipH="1">
            <a:off x="8371853" y="3046575"/>
            <a:ext cx="90381" cy="107501"/>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8157822" y="3497576"/>
            <a:ext cx="1416563"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8249892" y="3475956"/>
            <a:ext cx="1218415" cy="417457"/>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8852965" y="2816516"/>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8702368" y="269044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8767002" y="2887719"/>
            <a:ext cx="172817" cy="1128066"/>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8876378" y="330319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8876380" y="324366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8826372" y="330081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8826374" y="324128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8807142" y="3097399"/>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8971474" y="3086482"/>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8665911" y="308411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8971474"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8668471"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816620" y="3403997"/>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9132870" y="281837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9156004" y="2790739"/>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23789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5027115" y="285593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20925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2747162"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3348808"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303857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3692414"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4356831"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402199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4729805"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7034288"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299949"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390101"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5707511"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6397337"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072812"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671474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7649799"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7990073"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8328154" y="284824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8654064" y="2856299"/>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8949654" y="2437482"/>
            <a:ext cx="427241" cy="27427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17" name="Rechteck 316">
            <a:extLst>
              <a:ext uri="{FF2B5EF4-FFF2-40B4-BE49-F238E27FC236}">
                <a16:creationId xmlns:a16="http://schemas.microsoft.com/office/drawing/2014/main" id="{F7DDCAA9-6DA7-6F7A-14D6-ABB3D1E72D32}"/>
              </a:ext>
            </a:extLst>
          </p:cNvPr>
          <p:cNvSpPr/>
          <p:nvPr/>
        </p:nvSpPr>
        <p:spPr>
          <a:xfrm>
            <a:off x="5098527"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5097602"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8232015" y="4639456"/>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2433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0187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13" name="Gruppieren 312">
            <a:extLst>
              <a:ext uri="{FF2B5EF4-FFF2-40B4-BE49-F238E27FC236}">
                <a16:creationId xmlns:a16="http://schemas.microsoft.com/office/drawing/2014/main" id="{5846448B-A294-193C-61F9-81D7C8898DA3}"/>
              </a:ext>
            </a:extLst>
          </p:cNvPr>
          <p:cNvGrpSpPr/>
          <p:nvPr/>
        </p:nvGrpSpPr>
        <p:grpSpPr>
          <a:xfrm>
            <a:off x="4479287" y="2803249"/>
            <a:ext cx="75705" cy="277927"/>
            <a:chOff x="3476670" y="3647733"/>
            <a:chExt cx="75705" cy="277927"/>
          </a:xfrm>
        </p:grpSpPr>
        <p:sp>
          <p:nvSpPr>
            <p:cNvPr id="315" name="Rechteck 314">
              <a:extLst>
                <a:ext uri="{FF2B5EF4-FFF2-40B4-BE49-F238E27FC236}">
                  <a16:creationId xmlns:a16="http://schemas.microsoft.com/office/drawing/2014/main" id="{EEDBC1EF-1320-7CC0-A9E9-8B9041C8D3B5}"/>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16" name="Verbinder: gekrümmt 315">
              <a:extLst>
                <a:ext uri="{FF2B5EF4-FFF2-40B4-BE49-F238E27FC236}">
                  <a16:creationId xmlns:a16="http://schemas.microsoft.com/office/drawing/2014/main" id="{94C975EE-D33A-0973-DEE4-4E6A6045574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20" name="Grafik 319">
            <a:extLst>
              <a:ext uri="{FF2B5EF4-FFF2-40B4-BE49-F238E27FC236}">
                <a16:creationId xmlns:a16="http://schemas.microsoft.com/office/drawing/2014/main" id="{88EA1FF2-328E-4F19-BAA0-9439FDFD370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500272" y="2789330"/>
            <a:ext cx="90077" cy="28388"/>
          </a:xfrm>
          <a:prstGeom prst="rect">
            <a:avLst/>
          </a:prstGeom>
        </p:spPr>
      </p:pic>
      <p:grpSp>
        <p:nvGrpSpPr>
          <p:cNvPr id="141" name="Gruppieren 140">
            <a:extLst>
              <a:ext uri="{FF2B5EF4-FFF2-40B4-BE49-F238E27FC236}">
                <a16:creationId xmlns:a16="http://schemas.microsoft.com/office/drawing/2014/main" id="{937A9597-B47B-6235-879B-14438CAB6965}"/>
              </a:ext>
            </a:extLst>
          </p:cNvPr>
          <p:cNvGrpSpPr/>
          <p:nvPr/>
        </p:nvGrpSpPr>
        <p:grpSpPr>
          <a:xfrm flipH="1">
            <a:off x="5224501" y="2285653"/>
            <a:ext cx="19389" cy="713061"/>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79" name="Flussdiagramm: Datenträger mit direktem Zugriff 178">
            <a:extLst>
              <a:ext uri="{FF2B5EF4-FFF2-40B4-BE49-F238E27FC236}">
                <a16:creationId xmlns:a16="http://schemas.microsoft.com/office/drawing/2014/main" id="{10BA6066-27DB-2BA8-A950-FD557EE09753}"/>
              </a:ext>
            </a:extLst>
          </p:cNvPr>
          <p:cNvSpPr/>
          <p:nvPr/>
        </p:nvSpPr>
        <p:spPr>
          <a:xfrm rot="5400000">
            <a:off x="5189705" y="23279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191280" y="2268544"/>
            <a:ext cx="90077" cy="28388"/>
          </a:xfrm>
          <a:prstGeom prst="rect">
            <a:avLst/>
          </a:prstGeom>
        </p:spPr>
      </p:pic>
      <p:sp>
        <p:nvSpPr>
          <p:cNvPr id="53" name="Rechteck 52">
            <a:extLst>
              <a:ext uri="{FF2B5EF4-FFF2-40B4-BE49-F238E27FC236}">
                <a16:creationId xmlns:a16="http://schemas.microsoft.com/office/drawing/2014/main" id="{07C02E58-C111-4EA7-1847-25A85FFFF541}"/>
              </a:ext>
            </a:extLst>
          </p:cNvPr>
          <p:cNvSpPr/>
          <p:nvPr/>
        </p:nvSpPr>
        <p:spPr>
          <a:xfrm>
            <a:off x="5196557"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5194174"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5246563"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5196555"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5156577"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335" name="Gruppieren 334">
            <a:extLst>
              <a:ext uri="{FF2B5EF4-FFF2-40B4-BE49-F238E27FC236}">
                <a16:creationId xmlns:a16="http://schemas.microsoft.com/office/drawing/2014/main" id="{7423334E-98E7-0618-01BC-75BC8D8CC6C5}"/>
              </a:ext>
            </a:extLst>
          </p:cNvPr>
          <p:cNvGrpSpPr/>
          <p:nvPr/>
        </p:nvGrpSpPr>
        <p:grpSpPr>
          <a:xfrm flipH="1">
            <a:off x="5555498" y="2288036"/>
            <a:ext cx="19389" cy="713061"/>
            <a:chOff x="6851814" y="1766023"/>
            <a:chExt cx="78569" cy="2068826"/>
          </a:xfrm>
        </p:grpSpPr>
        <p:sp>
          <p:nvSpPr>
            <p:cNvPr id="336" name="Rechteck 335">
              <a:extLst>
                <a:ext uri="{FF2B5EF4-FFF2-40B4-BE49-F238E27FC236}">
                  <a16:creationId xmlns:a16="http://schemas.microsoft.com/office/drawing/2014/main" id="{618E50BD-6742-F728-C606-35CA6696B3DB}"/>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7" name="Rechteck 336">
              <a:extLst>
                <a:ext uri="{FF2B5EF4-FFF2-40B4-BE49-F238E27FC236}">
                  <a16:creationId xmlns:a16="http://schemas.microsoft.com/office/drawing/2014/main" id="{E02212D4-4A69-ACF2-983B-9AD6073A8DAA}"/>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8" name="Rechteck 337">
              <a:extLst>
                <a:ext uri="{FF2B5EF4-FFF2-40B4-BE49-F238E27FC236}">
                  <a16:creationId xmlns:a16="http://schemas.microsoft.com/office/drawing/2014/main" id="{780B4405-D36A-78B6-1424-F17591977E5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9" name="Rechteck 338">
              <a:extLst>
                <a:ext uri="{FF2B5EF4-FFF2-40B4-BE49-F238E27FC236}">
                  <a16:creationId xmlns:a16="http://schemas.microsoft.com/office/drawing/2014/main" id="{F7711CBA-B9C3-799D-4F87-28F2FE2ED8B9}"/>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0" name="Rechteck 339">
              <a:extLst>
                <a:ext uri="{FF2B5EF4-FFF2-40B4-BE49-F238E27FC236}">
                  <a16:creationId xmlns:a16="http://schemas.microsoft.com/office/drawing/2014/main" id="{A0D3D56F-C48A-FA07-0947-046052EA1AF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342" name="Grafik 341">
            <a:extLst>
              <a:ext uri="{FF2B5EF4-FFF2-40B4-BE49-F238E27FC236}">
                <a16:creationId xmlns:a16="http://schemas.microsoft.com/office/drawing/2014/main" id="{3E4FEDDB-A6B1-95E8-5B5B-8CBE2B8164D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522277" y="2270927"/>
            <a:ext cx="90077" cy="28388"/>
          </a:xfrm>
          <a:prstGeom prst="rect">
            <a:avLst/>
          </a:prstGeom>
        </p:spPr>
      </p:pic>
      <p:cxnSp>
        <p:nvCxnSpPr>
          <p:cNvPr id="345" name="Gerade Verbindung mit Pfeil 344">
            <a:extLst>
              <a:ext uri="{FF2B5EF4-FFF2-40B4-BE49-F238E27FC236}">
                <a16:creationId xmlns:a16="http://schemas.microsoft.com/office/drawing/2014/main" id="{E627E4AB-0DE5-A671-9205-78A8B42CF209}"/>
              </a:ext>
            </a:extLst>
          </p:cNvPr>
          <p:cNvCxnSpPr>
            <a:cxnSpLocks/>
          </p:cNvCxnSpPr>
          <p:nvPr/>
        </p:nvCxnSpPr>
        <p:spPr>
          <a:xfrm flipV="1">
            <a:off x="5286245"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348" name="Gerade Verbindung mit Pfeil 347">
            <a:extLst>
              <a:ext uri="{FF2B5EF4-FFF2-40B4-BE49-F238E27FC236}">
                <a16:creationId xmlns:a16="http://schemas.microsoft.com/office/drawing/2014/main" id="{23FBACD4-147E-C0F2-B36E-382881E6BB1B}"/>
              </a:ext>
            </a:extLst>
          </p:cNvPr>
          <p:cNvCxnSpPr>
            <a:cxnSpLocks/>
          </p:cNvCxnSpPr>
          <p:nvPr/>
        </p:nvCxnSpPr>
        <p:spPr>
          <a:xfrm flipV="1">
            <a:off x="5286245"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grpSp>
        <p:nvGrpSpPr>
          <p:cNvPr id="362" name="Gruppieren 361">
            <a:extLst>
              <a:ext uri="{FF2B5EF4-FFF2-40B4-BE49-F238E27FC236}">
                <a16:creationId xmlns:a16="http://schemas.microsoft.com/office/drawing/2014/main" id="{773D9A77-C000-B7F3-10CD-6BCFC4116769}"/>
              </a:ext>
            </a:extLst>
          </p:cNvPr>
          <p:cNvGrpSpPr/>
          <p:nvPr/>
        </p:nvGrpSpPr>
        <p:grpSpPr>
          <a:xfrm rot="10800000">
            <a:off x="8159103" y="2724824"/>
            <a:ext cx="75705" cy="277927"/>
            <a:chOff x="3476670" y="3647733"/>
            <a:chExt cx="75705" cy="277927"/>
          </a:xfrm>
        </p:grpSpPr>
        <p:sp>
          <p:nvSpPr>
            <p:cNvPr id="363" name="Rechteck 362">
              <a:extLst>
                <a:ext uri="{FF2B5EF4-FFF2-40B4-BE49-F238E27FC236}">
                  <a16:creationId xmlns:a16="http://schemas.microsoft.com/office/drawing/2014/main" id="{66AC8ECE-4BFD-59BD-DBD6-FB933516486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64" name="Verbinder: gekrümmt 363">
              <a:extLst>
                <a:ext uri="{FF2B5EF4-FFF2-40B4-BE49-F238E27FC236}">
                  <a16:creationId xmlns:a16="http://schemas.microsoft.com/office/drawing/2014/main" id="{2BFED965-260D-23F6-D850-83847A90BFF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365" name="Grafik 364">
            <a:extLst>
              <a:ext uri="{FF2B5EF4-FFF2-40B4-BE49-F238E27FC236}">
                <a16:creationId xmlns:a16="http://schemas.microsoft.com/office/drawing/2014/main" id="{D49C37F6-61F4-4205-C5F8-A0150899632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120518" y="2996859"/>
            <a:ext cx="90077" cy="28388"/>
          </a:xfrm>
          <a:prstGeom prst="rect">
            <a:avLst/>
          </a:prstGeom>
        </p:spPr>
      </p:pic>
      <p:sp>
        <p:nvSpPr>
          <p:cNvPr id="374" name="Rechteck: abgerundete Ecken 373">
            <a:extLst>
              <a:ext uri="{FF2B5EF4-FFF2-40B4-BE49-F238E27FC236}">
                <a16:creationId xmlns:a16="http://schemas.microsoft.com/office/drawing/2014/main" id="{C6F6B9D0-4190-9A4D-5EEE-2674B6733C09}"/>
              </a:ext>
            </a:extLst>
          </p:cNvPr>
          <p:cNvSpPr/>
          <p:nvPr/>
        </p:nvSpPr>
        <p:spPr>
          <a:xfrm>
            <a:off x="9034925"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22   </a:t>
            </a:r>
          </a:p>
        </p:txBody>
      </p:sp>
      <p:sp>
        <p:nvSpPr>
          <p:cNvPr id="375" name="Rechteck: abgerundete Ecken 374">
            <a:extLst>
              <a:ext uri="{FF2B5EF4-FFF2-40B4-BE49-F238E27FC236}">
                <a16:creationId xmlns:a16="http://schemas.microsoft.com/office/drawing/2014/main" id="{3F1F017F-3ED9-B6BF-7180-D000784F8FF9}"/>
              </a:ext>
            </a:extLst>
          </p:cNvPr>
          <p:cNvSpPr/>
          <p:nvPr/>
        </p:nvSpPr>
        <p:spPr>
          <a:xfrm>
            <a:off x="9312240" y="285657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23   </a:t>
            </a:r>
          </a:p>
        </p:txBody>
      </p:sp>
      <p:sp>
        <p:nvSpPr>
          <p:cNvPr id="376" name="Rechteck 375">
            <a:extLst>
              <a:ext uri="{FF2B5EF4-FFF2-40B4-BE49-F238E27FC236}">
                <a16:creationId xmlns:a16="http://schemas.microsoft.com/office/drawing/2014/main" id="{02457479-FF05-5E05-A7CC-DC31A0F9FA6B}"/>
              </a:ext>
            </a:extLst>
          </p:cNvPr>
          <p:cNvSpPr/>
          <p:nvPr/>
        </p:nvSpPr>
        <p:spPr>
          <a:xfrm rot="5400000">
            <a:off x="9047268" y="2743449"/>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0" name="Gruppieren 349">
            <a:extLst>
              <a:ext uri="{FF2B5EF4-FFF2-40B4-BE49-F238E27FC236}">
                <a16:creationId xmlns:a16="http://schemas.microsoft.com/office/drawing/2014/main" id="{BC703767-FC09-4D63-A41D-49357769E495}"/>
              </a:ext>
            </a:extLst>
          </p:cNvPr>
          <p:cNvGrpSpPr/>
          <p:nvPr/>
        </p:nvGrpSpPr>
        <p:grpSpPr>
          <a:xfrm>
            <a:off x="3159272" y="3552122"/>
            <a:ext cx="467578" cy="90248"/>
            <a:chOff x="4413024" y="3765960"/>
            <a:chExt cx="467578" cy="90248"/>
          </a:xfrm>
        </p:grpSpPr>
        <p:sp>
          <p:nvSpPr>
            <p:cNvPr id="347" name="Ellipse 346">
              <a:extLst>
                <a:ext uri="{FF2B5EF4-FFF2-40B4-BE49-F238E27FC236}">
                  <a16:creationId xmlns:a16="http://schemas.microsoft.com/office/drawing/2014/main" id="{3C492A4F-160F-4A15-D5B4-30DEF8C5FBF2}"/>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49" name="Ellipse 348">
              <a:extLst>
                <a:ext uri="{FF2B5EF4-FFF2-40B4-BE49-F238E27FC236}">
                  <a16:creationId xmlns:a16="http://schemas.microsoft.com/office/drawing/2014/main" id="{EBB8E8BD-7946-D9C6-4195-7AA5C2D292E7}"/>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grpSp>
        <p:nvGrpSpPr>
          <p:cNvPr id="353" name="Gruppieren 352">
            <a:extLst>
              <a:ext uri="{FF2B5EF4-FFF2-40B4-BE49-F238E27FC236}">
                <a16:creationId xmlns:a16="http://schemas.microsoft.com/office/drawing/2014/main" id="{C3AB486F-A111-B53D-0FBB-1DAE010FF2F1}"/>
              </a:ext>
            </a:extLst>
          </p:cNvPr>
          <p:cNvGrpSpPr/>
          <p:nvPr/>
        </p:nvGrpSpPr>
        <p:grpSpPr>
          <a:xfrm>
            <a:off x="3981453" y="2878471"/>
            <a:ext cx="814387" cy="1058530"/>
            <a:chOff x="3576637" y="2884821"/>
            <a:chExt cx="814387" cy="1058530"/>
          </a:xfrm>
        </p:grpSpPr>
        <p:sp>
          <p:nvSpPr>
            <p:cNvPr id="136" name="Rechteck 135">
              <a:extLst>
                <a:ext uri="{FF2B5EF4-FFF2-40B4-BE49-F238E27FC236}">
                  <a16:creationId xmlns:a16="http://schemas.microsoft.com/office/drawing/2014/main" id="{ACCFCB97-8BB1-6664-4C86-DD619D15697D}"/>
                </a:ext>
              </a:extLst>
            </p:cNvPr>
            <p:cNvSpPr/>
            <p:nvPr/>
          </p:nvSpPr>
          <p:spPr>
            <a:xfrm rot="5400000">
              <a:off x="3884279" y="3436606"/>
              <a:ext cx="199103" cy="81438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2" name="Ellipse 321">
              <a:extLst>
                <a:ext uri="{FF2B5EF4-FFF2-40B4-BE49-F238E27FC236}">
                  <a16:creationId xmlns:a16="http://schemas.microsoft.com/office/drawing/2014/main" id="{CB9CC1EF-B916-FC53-CFBB-BC0D2A8C387A}"/>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23" name="Bogen 322">
              <a:extLst>
                <a:ext uri="{FF2B5EF4-FFF2-40B4-BE49-F238E27FC236}">
                  <a16:creationId xmlns:a16="http://schemas.microsoft.com/office/drawing/2014/main" id="{1BE5042C-A832-4A77-530E-06E634AA4996}"/>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24" name="Rechteck 323">
              <a:extLst>
                <a:ext uri="{FF2B5EF4-FFF2-40B4-BE49-F238E27FC236}">
                  <a16:creationId xmlns:a16="http://schemas.microsoft.com/office/drawing/2014/main" id="{EC746675-979B-668C-D954-0140505F9A31}"/>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5" name="Rechteck 324">
              <a:extLst>
                <a:ext uri="{FF2B5EF4-FFF2-40B4-BE49-F238E27FC236}">
                  <a16:creationId xmlns:a16="http://schemas.microsoft.com/office/drawing/2014/main" id="{2070AF09-7E34-4D8C-74CA-D4085FBD7EE6}"/>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6" name="Rechteck 325">
              <a:extLst>
                <a:ext uri="{FF2B5EF4-FFF2-40B4-BE49-F238E27FC236}">
                  <a16:creationId xmlns:a16="http://schemas.microsoft.com/office/drawing/2014/main" id="{67C21F0D-5555-17DB-D578-C4D54B884C07}"/>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7" name="Rechteck 326">
              <a:extLst>
                <a:ext uri="{FF2B5EF4-FFF2-40B4-BE49-F238E27FC236}">
                  <a16:creationId xmlns:a16="http://schemas.microsoft.com/office/drawing/2014/main" id="{1423B56A-A3D7-EDAF-50F4-904430B9FAA0}"/>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28" name="Rechteck 327">
              <a:extLst>
                <a:ext uri="{FF2B5EF4-FFF2-40B4-BE49-F238E27FC236}">
                  <a16:creationId xmlns:a16="http://schemas.microsoft.com/office/drawing/2014/main" id="{AE1AD305-620D-C48E-6E72-C844DE269B04}"/>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9" name="Rechteck 328">
              <a:extLst>
                <a:ext uri="{FF2B5EF4-FFF2-40B4-BE49-F238E27FC236}">
                  <a16:creationId xmlns:a16="http://schemas.microsoft.com/office/drawing/2014/main" id="{600D350D-A5E3-5678-CF02-01844B417071}"/>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8" name="Rechteck 377">
              <a:extLst>
                <a:ext uri="{FF2B5EF4-FFF2-40B4-BE49-F238E27FC236}">
                  <a16:creationId xmlns:a16="http://schemas.microsoft.com/office/drawing/2014/main" id="{ECD391B8-7C37-2AA0-DB2D-E4485922D127}"/>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9" name="Rechteck 378">
              <a:extLst>
                <a:ext uri="{FF2B5EF4-FFF2-40B4-BE49-F238E27FC236}">
                  <a16:creationId xmlns:a16="http://schemas.microsoft.com/office/drawing/2014/main" id="{1FB62F75-2CDC-C046-05FC-101CF03E111D}"/>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80B500E6-C25A-83CE-24EF-87C9BD3ACB04}"/>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77" name="Rechteck 376">
              <a:extLst>
                <a:ext uri="{FF2B5EF4-FFF2-40B4-BE49-F238E27FC236}">
                  <a16:creationId xmlns:a16="http://schemas.microsoft.com/office/drawing/2014/main" id="{43C93355-861B-E048-3B3C-058E2EA97845}"/>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0" name="Verbinder: gekrümmt 19">
              <a:extLst>
                <a:ext uri="{FF2B5EF4-FFF2-40B4-BE49-F238E27FC236}">
                  <a16:creationId xmlns:a16="http://schemas.microsoft.com/office/drawing/2014/main" id="{023E9EE8-346D-62DD-AB40-97727BB3DFC9}"/>
                </a:ext>
              </a:extLst>
            </p:cNvPr>
            <p:cNvCxnSpPr>
              <a:cxnSpLocks/>
              <a:endCxn id="5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6" name="Rechteck 35">
              <a:extLst>
                <a:ext uri="{FF2B5EF4-FFF2-40B4-BE49-F238E27FC236}">
                  <a16:creationId xmlns:a16="http://schemas.microsoft.com/office/drawing/2014/main" id="{00476020-3C5E-612B-E05D-077EBD06A8AA}"/>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8944C9A0-07F9-7257-8FB3-83D090FA5C04}"/>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9" name="Rechteck 68">
              <a:extLst>
                <a:ext uri="{FF2B5EF4-FFF2-40B4-BE49-F238E27FC236}">
                  <a16:creationId xmlns:a16="http://schemas.microsoft.com/office/drawing/2014/main" id="{2BE67435-440C-885B-65DA-4F10303FF6E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Rechteck 100">
              <a:extLst>
                <a:ext uri="{FF2B5EF4-FFF2-40B4-BE49-F238E27FC236}">
                  <a16:creationId xmlns:a16="http://schemas.microsoft.com/office/drawing/2014/main" id="{2282658D-F22B-8709-F942-4BB192121CF5}"/>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2" name="Ellipse 101">
              <a:extLst>
                <a:ext uri="{FF2B5EF4-FFF2-40B4-BE49-F238E27FC236}">
                  <a16:creationId xmlns:a16="http://schemas.microsoft.com/office/drawing/2014/main" id="{81AFB3D8-43E9-F43A-51C5-DE6A088011AB}"/>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30" name="Verbinder: gekrümmt 329">
              <a:extLst>
                <a:ext uri="{FF2B5EF4-FFF2-40B4-BE49-F238E27FC236}">
                  <a16:creationId xmlns:a16="http://schemas.microsoft.com/office/drawing/2014/main" id="{CFFA7DE2-E9E7-3BC1-B47A-76AF59469F24}"/>
                </a:ext>
              </a:extLst>
            </p:cNvPr>
            <p:cNvCxnSpPr>
              <a:cxnSpLocks/>
              <a:endCxn id="101"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31" name="Ellipse 330">
              <a:extLst>
                <a:ext uri="{FF2B5EF4-FFF2-40B4-BE49-F238E27FC236}">
                  <a16:creationId xmlns:a16="http://schemas.microsoft.com/office/drawing/2014/main" id="{10DB483F-B5D3-89A3-C084-2F42DDCCCB42}"/>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1" name="Halbbogen 350">
              <a:extLst>
                <a:ext uri="{FF2B5EF4-FFF2-40B4-BE49-F238E27FC236}">
                  <a16:creationId xmlns:a16="http://schemas.microsoft.com/office/drawing/2014/main" id="{0731EA69-B82B-14C2-EC3B-EAEC4B8C230F}"/>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52" name="Halbbogen 351">
              <a:extLst>
                <a:ext uri="{FF2B5EF4-FFF2-40B4-BE49-F238E27FC236}">
                  <a16:creationId xmlns:a16="http://schemas.microsoft.com/office/drawing/2014/main" id="{6BF531E2-25D5-17A7-78B9-E30F6BC9F49D}"/>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grpSp>
        <p:nvGrpSpPr>
          <p:cNvPr id="354" name="Gruppieren 353">
            <a:extLst>
              <a:ext uri="{FF2B5EF4-FFF2-40B4-BE49-F238E27FC236}">
                <a16:creationId xmlns:a16="http://schemas.microsoft.com/office/drawing/2014/main" id="{8115EBD4-0CDA-E59A-C062-7E5A8EC6C78E}"/>
              </a:ext>
            </a:extLst>
          </p:cNvPr>
          <p:cNvGrpSpPr/>
          <p:nvPr/>
        </p:nvGrpSpPr>
        <p:grpSpPr>
          <a:xfrm rot="10800000">
            <a:off x="7604606" y="1858600"/>
            <a:ext cx="792160" cy="1058531"/>
            <a:chOff x="3582552" y="2884821"/>
            <a:chExt cx="792160" cy="1058531"/>
          </a:xfrm>
        </p:grpSpPr>
        <p:sp>
          <p:nvSpPr>
            <p:cNvPr id="355" name="Rechteck 354">
              <a:extLst>
                <a:ext uri="{FF2B5EF4-FFF2-40B4-BE49-F238E27FC236}">
                  <a16:creationId xmlns:a16="http://schemas.microsoft.com/office/drawing/2014/main" id="{A6D9DF68-F7FB-E98E-2ACA-B7346077513A}"/>
                </a:ext>
              </a:extLst>
            </p:cNvPr>
            <p:cNvSpPr/>
            <p:nvPr/>
          </p:nvSpPr>
          <p:spPr>
            <a:xfrm rot="5400000">
              <a:off x="3879080" y="3447721"/>
              <a:ext cx="199103" cy="792160"/>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6" name="Ellipse 355">
              <a:extLst>
                <a:ext uri="{FF2B5EF4-FFF2-40B4-BE49-F238E27FC236}">
                  <a16:creationId xmlns:a16="http://schemas.microsoft.com/office/drawing/2014/main" id="{6C45F4C5-EF76-F6CE-881E-53CEB1A3053F}"/>
                </a:ext>
              </a:extLst>
            </p:cNvPr>
            <p:cNvSpPr/>
            <p:nvPr/>
          </p:nvSpPr>
          <p:spPr>
            <a:xfrm>
              <a:off x="3744002" y="3033680"/>
              <a:ext cx="468000" cy="468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57" name="Bogen 356">
              <a:extLst>
                <a:ext uri="{FF2B5EF4-FFF2-40B4-BE49-F238E27FC236}">
                  <a16:creationId xmlns:a16="http://schemas.microsoft.com/office/drawing/2014/main" id="{279931CD-0E62-F160-59AF-FF1DCFA2274C}"/>
                </a:ext>
              </a:extLst>
            </p:cNvPr>
            <p:cNvSpPr/>
            <p:nvPr/>
          </p:nvSpPr>
          <p:spPr>
            <a:xfrm rot="12852665">
              <a:off x="3615482" y="3160815"/>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358" name="Rechteck 357">
              <a:extLst>
                <a:ext uri="{FF2B5EF4-FFF2-40B4-BE49-F238E27FC236}">
                  <a16:creationId xmlns:a16="http://schemas.microsoft.com/office/drawing/2014/main" id="{0CDAD09B-CA73-3AC0-594F-5A9421A2E185}"/>
                </a:ext>
              </a:extLst>
            </p:cNvPr>
            <p:cNvSpPr/>
            <p:nvPr/>
          </p:nvSpPr>
          <p:spPr>
            <a:xfrm>
              <a:off x="3773303" y="288482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9" name="Rechteck 358">
              <a:extLst>
                <a:ext uri="{FF2B5EF4-FFF2-40B4-BE49-F238E27FC236}">
                  <a16:creationId xmlns:a16="http://schemas.microsoft.com/office/drawing/2014/main" id="{AE526B6A-5956-8CB7-BBE3-A79ECAA30973}"/>
                </a:ext>
              </a:extLst>
            </p:cNvPr>
            <p:cNvSpPr/>
            <p:nvPr/>
          </p:nvSpPr>
          <p:spPr>
            <a:xfrm>
              <a:off x="3830452" y="288720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0" name="Rechteck 359">
              <a:extLst>
                <a:ext uri="{FF2B5EF4-FFF2-40B4-BE49-F238E27FC236}">
                  <a16:creationId xmlns:a16="http://schemas.microsoft.com/office/drawing/2014/main" id="{3E5302A2-9B32-66F0-DD29-BCADC1C47772}"/>
                </a:ext>
              </a:extLst>
            </p:cNvPr>
            <p:cNvSpPr/>
            <p:nvPr/>
          </p:nvSpPr>
          <p:spPr>
            <a:xfrm>
              <a:off x="4102013" y="288799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61" name="Rechteck 360">
              <a:extLst>
                <a:ext uri="{FF2B5EF4-FFF2-40B4-BE49-F238E27FC236}">
                  <a16:creationId xmlns:a16="http://schemas.microsoft.com/office/drawing/2014/main" id="{BDB2CCA3-FE0C-99F6-90DF-7CB6909AD371}"/>
                </a:ext>
              </a:extLst>
            </p:cNvPr>
            <p:cNvSpPr/>
            <p:nvPr/>
          </p:nvSpPr>
          <p:spPr>
            <a:xfrm>
              <a:off x="4159162" y="289037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0" name="Rechteck 379">
              <a:extLst>
                <a:ext uri="{FF2B5EF4-FFF2-40B4-BE49-F238E27FC236}">
                  <a16:creationId xmlns:a16="http://schemas.microsoft.com/office/drawing/2014/main" id="{7DC24DCC-505F-7B42-732F-C937B618ECB1}"/>
                </a:ext>
              </a:extLst>
            </p:cNvPr>
            <p:cNvSpPr/>
            <p:nvPr/>
          </p:nvSpPr>
          <p:spPr>
            <a:xfrm>
              <a:off x="3770913" y="2930058"/>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1" name="Rechteck 380">
              <a:extLst>
                <a:ext uri="{FF2B5EF4-FFF2-40B4-BE49-F238E27FC236}">
                  <a16:creationId xmlns:a16="http://schemas.microsoft.com/office/drawing/2014/main" id="{5182A6C2-C365-02EC-B332-FA88A1DFE5DF}"/>
                </a:ext>
              </a:extLst>
            </p:cNvPr>
            <p:cNvSpPr/>
            <p:nvPr/>
          </p:nvSpPr>
          <p:spPr>
            <a:xfrm>
              <a:off x="4099437" y="293085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71D5A36F-8D23-7AD5-3D05-D13EBB0CEE21}"/>
                </a:ext>
              </a:extLst>
            </p:cNvPr>
            <p:cNvSpPr/>
            <p:nvPr/>
          </p:nvSpPr>
          <p:spPr>
            <a:xfrm>
              <a:off x="3773074" y="3327855"/>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3" name="Rechteck 382">
              <a:extLst>
                <a:ext uri="{FF2B5EF4-FFF2-40B4-BE49-F238E27FC236}">
                  <a16:creationId xmlns:a16="http://schemas.microsoft.com/office/drawing/2014/main" id="{1CC4F0F3-337F-F059-71DA-A5A394BCBCE3}"/>
                </a:ext>
              </a:extLst>
            </p:cNvPr>
            <p:cNvSpPr/>
            <p:nvPr/>
          </p:nvSpPr>
          <p:spPr>
            <a:xfrm>
              <a:off x="4101598" y="3328649"/>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4" name="Ellipse 383">
              <a:extLst>
                <a:ext uri="{FF2B5EF4-FFF2-40B4-BE49-F238E27FC236}">
                  <a16:creationId xmlns:a16="http://schemas.microsoft.com/office/drawing/2014/main" id="{AF1BC4EB-300A-962F-AE88-CEFB04B66E00}"/>
                </a:ext>
              </a:extLst>
            </p:cNvPr>
            <p:cNvSpPr/>
            <p:nvPr/>
          </p:nvSpPr>
          <p:spPr>
            <a:xfrm>
              <a:off x="3869844" y="3157910"/>
              <a:ext cx="216000" cy="2160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385" name="Rechteck 384">
              <a:extLst>
                <a:ext uri="{FF2B5EF4-FFF2-40B4-BE49-F238E27FC236}">
                  <a16:creationId xmlns:a16="http://schemas.microsoft.com/office/drawing/2014/main" id="{B69D1E9B-D229-A9C8-5419-724BBF12C728}"/>
                </a:ext>
              </a:extLst>
            </p:cNvPr>
            <p:cNvSpPr/>
            <p:nvPr/>
          </p:nvSpPr>
          <p:spPr>
            <a:xfrm>
              <a:off x="3773084" y="3209641"/>
              <a:ext cx="413154"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86" name="Verbinder: gekrümmt 385">
              <a:extLst>
                <a:ext uri="{FF2B5EF4-FFF2-40B4-BE49-F238E27FC236}">
                  <a16:creationId xmlns:a16="http://schemas.microsoft.com/office/drawing/2014/main" id="{9FE3881A-9C6F-7B57-7751-6E7ABCB0546C}"/>
                </a:ext>
              </a:extLst>
            </p:cNvPr>
            <p:cNvCxnSpPr>
              <a:cxnSpLocks/>
              <a:endCxn id="388" idx="3"/>
            </p:cNvCxnSpPr>
            <p:nvPr/>
          </p:nvCxnSpPr>
          <p:spPr>
            <a:xfrm rot="10800000" flipV="1">
              <a:off x="3855947" y="3533775"/>
              <a:ext cx="206467" cy="98360"/>
            </a:xfrm>
            <a:prstGeom prst="curvedConnector3">
              <a:avLst>
                <a:gd name="adj1" fmla="val 76527"/>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87" name="Rechteck 386">
              <a:extLst>
                <a:ext uri="{FF2B5EF4-FFF2-40B4-BE49-F238E27FC236}">
                  <a16:creationId xmlns:a16="http://schemas.microsoft.com/office/drawing/2014/main" id="{DE726E11-B7E3-A528-B0CB-2F3CC4C10B8D}"/>
                </a:ext>
              </a:extLst>
            </p:cNvPr>
            <p:cNvSpPr/>
            <p:nvPr/>
          </p:nvSpPr>
          <p:spPr>
            <a:xfrm>
              <a:off x="3775336" y="361267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8" name="Rechteck 387">
              <a:extLst>
                <a:ext uri="{FF2B5EF4-FFF2-40B4-BE49-F238E27FC236}">
                  <a16:creationId xmlns:a16="http://schemas.microsoft.com/office/drawing/2014/main" id="{216B81C3-9040-4791-2F11-ECE9206BF106}"/>
                </a:ext>
              </a:extLst>
            </p:cNvPr>
            <p:cNvSpPr/>
            <p:nvPr/>
          </p:nvSpPr>
          <p:spPr>
            <a:xfrm>
              <a:off x="3832485" y="361505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9" name="Rechteck 388">
              <a:extLst>
                <a:ext uri="{FF2B5EF4-FFF2-40B4-BE49-F238E27FC236}">
                  <a16:creationId xmlns:a16="http://schemas.microsoft.com/office/drawing/2014/main" id="{4CF4E045-D158-DD78-C847-E373A9A7887E}"/>
                </a:ext>
              </a:extLst>
            </p:cNvPr>
            <p:cNvSpPr/>
            <p:nvPr/>
          </p:nvSpPr>
          <p:spPr>
            <a:xfrm>
              <a:off x="4104046" y="361584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0" name="Rechteck 389">
              <a:extLst>
                <a:ext uri="{FF2B5EF4-FFF2-40B4-BE49-F238E27FC236}">
                  <a16:creationId xmlns:a16="http://schemas.microsoft.com/office/drawing/2014/main" id="{FAE10F8C-925D-0E7C-1600-CEF7E73F6FEE}"/>
                </a:ext>
              </a:extLst>
            </p:cNvPr>
            <p:cNvSpPr/>
            <p:nvPr/>
          </p:nvSpPr>
          <p:spPr>
            <a:xfrm>
              <a:off x="4161195" y="361822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91" name="Ellipse 390">
              <a:extLst>
                <a:ext uri="{FF2B5EF4-FFF2-40B4-BE49-F238E27FC236}">
                  <a16:creationId xmlns:a16="http://schemas.microsoft.com/office/drawing/2014/main" id="{4588EA84-688B-5B91-793E-B93C7FD77D16}"/>
                </a:ext>
              </a:extLst>
            </p:cNvPr>
            <p:cNvSpPr/>
            <p:nvPr/>
          </p:nvSpPr>
          <p:spPr>
            <a:xfrm>
              <a:off x="3801175" y="3613439"/>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392" name="Verbinder: gekrümmt 391">
              <a:extLst>
                <a:ext uri="{FF2B5EF4-FFF2-40B4-BE49-F238E27FC236}">
                  <a16:creationId xmlns:a16="http://schemas.microsoft.com/office/drawing/2014/main" id="{DB972015-2779-8692-3FAF-DFD7AC4459DD}"/>
                </a:ext>
              </a:extLst>
            </p:cNvPr>
            <p:cNvCxnSpPr>
              <a:cxnSpLocks/>
              <a:endCxn id="390" idx="3"/>
            </p:cNvCxnSpPr>
            <p:nvPr/>
          </p:nvCxnSpPr>
          <p:spPr>
            <a:xfrm rot="5400000">
              <a:off x="4110870" y="3426586"/>
              <a:ext cx="282505" cy="134932"/>
            </a:xfrm>
            <a:prstGeom prst="curvedConnector2">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sp>
          <p:nvSpPr>
            <p:cNvPr id="393" name="Ellipse 392">
              <a:extLst>
                <a:ext uri="{FF2B5EF4-FFF2-40B4-BE49-F238E27FC236}">
                  <a16:creationId xmlns:a16="http://schemas.microsoft.com/office/drawing/2014/main" id="{CDE0CFA7-F567-A903-23AA-E8555E03AE58}"/>
                </a:ext>
              </a:extLst>
            </p:cNvPr>
            <p:cNvSpPr/>
            <p:nvPr/>
          </p:nvSpPr>
          <p:spPr>
            <a:xfrm>
              <a:off x="4128785" y="3615291"/>
              <a:ext cx="36000" cy="36000"/>
            </a:xfrm>
            <a:prstGeom prst="ellipse">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rot="10800000">
              <a:off x="3764757" y="3574419"/>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5" name="Halbbogen 394">
              <a:extLst>
                <a:ext uri="{FF2B5EF4-FFF2-40B4-BE49-F238E27FC236}">
                  <a16:creationId xmlns:a16="http://schemas.microsoft.com/office/drawing/2014/main" id="{05FCC4F4-E2EB-A245-FBDF-B8BE74992CDA}"/>
                </a:ext>
              </a:extLst>
            </p:cNvPr>
            <p:cNvSpPr/>
            <p:nvPr/>
          </p:nvSpPr>
          <p:spPr>
            <a:xfrm rot="10800000">
              <a:off x="4093369" y="3582245"/>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grpSp>
      <p:sp>
        <p:nvSpPr>
          <p:cNvPr id="396" name="Textfeld 395">
            <a:extLst>
              <a:ext uri="{FF2B5EF4-FFF2-40B4-BE49-F238E27FC236}">
                <a16:creationId xmlns:a16="http://schemas.microsoft.com/office/drawing/2014/main" id="{07801104-DE54-86EA-6985-4A0065F17238}"/>
              </a:ext>
            </a:extLst>
          </p:cNvPr>
          <p:cNvSpPr txBox="1"/>
          <p:nvPr/>
        </p:nvSpPr>
        <p:spPr>
          <a:xfrm>
            <a:off x="4033156" y="5384334"/>
            <a:ext cx="2043745" cy="1200329"/>
          </a:xfrm>
          <a:prstGeom prst="rect">
            <a:avLst/>
          </a:prstGeom>
          <a:noFill/>
        </p:spPr>
        <p:txBody>
          <a:bodyPr wrap="square" rtlCol="0">
            <a:spAutoFit/>
          </a:bodyPr>
          <a:lstStyle/>
          <a:p>
            <a:r>
              <a:rPr lang="de-DE" sz="900" dirty="0"/>
              <a:t>1       Cutting </a:t>
            </a:r>
            <a:r>
              <a:rPr lang="de-DE" sz="900" dirty="0" err="1"/>
              <a:t>cable</a:t>
            </a:r>
            <a:endParaRPr lang="de-DE" sz="900" dirty="0"/>
          </a:p>
          <a:p>
            <a:r>
              <a:rPr lang="de-DE" sz="900" dirty="0"/>
              <a:t>2       </a:t>
            </a:r>
            <a:r>
              <a:rPr lang="de-DE" sz="900" dirty="0" err="1"/>
              <a:t>Removing</a:t>
            </a:r>
            <a:r>
              <a:rPr lang="de-DE" sz="900" dirty="0"/>
              <a:t> </a:t>
            </a:r>
            <a:r>
              <a:rPr lang="de-DE" sz="900" dirty="0" err="1"/>
              <a:t>Isolationpart</a:t>
            </a:r>
            <a:r>
              <a:rPr lang="de-DE" sz="900" dirty="0"/>
              <a:t> Terminal 1</a:t>
            </a:r>
          </a:p>
          <a:p>
            <a:r>
              <a:rPr lang="de-DE" sz="900" dirty="0"/>
              <a:t>3       Free Station </a:t>
            </a:r>
          </a:p>
          <a:p>
            <a:r>
              <a:rPr lang="de-DE" sz="900" dirty="0"/>
              <a:t>4       </a:t>
            </a:r>
            <a:r>
              <a:rPr lang="de-DE" sz="900" dirty="0" err="1"/>
              <a:t>Feeding</a:t>
            </a:r>
            <a:r>
              <a:rPr lang="de-DE" sz="900" dirty="0"/>
              <a:t> Terminal 2 and </a:t>
            </a:r>
            <a:r>
              <a:rPr lang="de-DE" sz="900" dirty="0" err="1"/>
              <a:t>Crimping</a:t>
            </a:r>
            <a:r>
              <a:rPr lang="de-DE" sz="900" dirty="0"/>
              <a:t> 1</a:t>
            </a:r>
          </a:p>
          <a:p>
            <a:r>
              <a:rPr lang="de-DE" sz="900" dirty="0"/>
              <a:t>5       Free Station</a:t>
            </a:r>
          </a:p>
          <a:p>
            <a:r>
              <a:rPr lang="de-DE" sz="900" dirty="0"/>
              <a:t>6       Bending Terminal 1</a:t>
            </a:r>
          </a:p>
          <a:p>
            <a:r>
              <a:rPr lang="de-DE" sz="900" dirty="0"/>
              <a:t>7       </a:t>
            </a:r>
            <a:r>
              <a:rPr lang="de-DE" sz="900" dirty="0" err="1"/>
              <a:t>Tinning</a:t>
            </a:r>
            <a:r>
              <a:rPr lang="de-DE" sz="900" dirty="0"/>
              <a:t> 1 Terminal 1</a:t>
            </a:r>
          </a:p>
          <a:p>
            <a:pPr marL="228600" indent="-228600">
              <a:buAutoNum type="arabicPlain" startAt="8"/>
            </a:pPr>
            <a:r>
              <a:rPr lang="de-DE" sz="900" dirty="0" err="1"/>
              <a:t>Tinning</a:t>
            </a:r>
            <a:r>
              <a:rPr lang="de-DE" sz="900" dirty="0"/>
              <a:t> 2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446131" y="5375573"/>
            <a:ext cx="1926764" cy="1200329"/>
          </a:xfrm>
          <a:prstGeom prst="rect">
            <a:avLst/>
          </a:prstGeom>
          <a:noFill/>
        </p:spPr>
        <p:txBody>
          <a:bodyPr wrap="square" rtlCol="0">
            <a:spAutoFit/>
          </a:bodyPr>
          <a:lstStyle/>
          <a:p>
            <a:r>
              <a:rPr lang="de-DE" sz="900" dirty="0"/>
              <a:t>17     Bending Terminal 2</a:t>
            </a:r>
          </a:p>
          <a:p>
            <a:r>
              <a:rPr lang="de-DE" sz="900" dirty="0"/>
              <a:t>18     </a:t>
            </a:r>
            <a:r>
              <a:rPr lang="de-DE" sz="900" dirty="0" err="1"/>
              <a:t>Tinning</a:t>
            </a:r>
            <a:r>
              <a:rPr lang="de-DE" sz="900" dirty="0"/>
              <a:t> 1 Terminal 2</a:t>
            </a:r>
          </a:p>
          <a:p>
            <a:r>
              <a:rPr lang="de-DE" sz="900" dirty="0"/>
              <a:t>19     </a:t>
            </a:r>
            <a:r>
              <a:rPr lang="de-DE" sz="900" dirty="0" err="1"/>
              <a:t>Tinning</a:t>
            </a:r>
            <a:r>
              <a:rPr lang="de-DE" sz="900" dirty="0"/>
              <a:t> 2 Terminal 2</a:t>
            </a:r>
          </a:p>
          <a:p>
            <a:r>
              <a:rPr lang="de-DE" sz="900" dirty="0"/>
              <a:t>20     Optical </a:t>
            </a:r>
            <a:r>
              <a:rPr lang="de-DE" sz="900" dirty="0" err="1"/>
              <a:t>Inspection</a:t>
            </a:r>
            <a:r>
              <a:rPr lang="de-DE" sz="900" dirty="0"/>
              <a:t> Terminal 2</a:t>
            </a:r>
          </a:p>
          <a:p>
            <a:r>
              <a:rPr lang="de-DE" sz="900" dirty="0"/>
              <a:t>21     </a:t>
            </a:r>
            <a:r>
              <a:rPr lang="de-DE" sz="900" dirty="0" err="1"/>
              <a:t>Electrical</a:t>
            </a:r>
            <a:r>
              <a:rPr lang="de-DE" sz="900" dirty="0"/>
              <a:t> </a:t>
            </a:r>
            <a:r>
              <a:rPr lang="de-DE" sz="900" dirty="0" err="1"/>
              <a:t>Testing</a:t>
            </a:r>
            <a:r>
              <a:rPr lang="de-DE" sz="900" dirty="0"/>
              <a:t> (Option)</a:t>
            </a:r>
          </a:p>
          <a:p>
            <a:r>
              <a:rPr lang="de-DE" sz="900" dirty="0"/>
              <a:t>22     </a:t>
            </a:r>
            <a:r>
              <a:rPr lang="de-DE" sz="900" dirty="0" err="1"/>
              <a:t>Labeling</a:t>
            </a:r>
            <a:r>
              <a:rPr lang="de-DE" sz="900" dirty="0"/>
              <a:t> (Option)</a:t>
            </a:r>
          </a:p>
          <a:p>
            <a:pPr marL="228600" indent="-228600">
              <a:buAutoNum type="arabicPlain" startAt="23"/>
            </a:pPr>
            <a:r>
              <a:rPr lang="de-DE" sz="900" dirty="0"/>
              <a:t>Output Cable</a:t>
            </a:r>
          </a:p>
          <a:p>
            <a:endParaRPr lang="de-DE" sz="900" dirty="0"/>
          </a:p>
        </p:txBody>
      </p:sp>
      <p:sp>
        <p:nvSpPr>
          <p:cNvPr id="398" name="Textfeld 397">
            <a:extLst>
              <a:ext uri="{FF2B5EF4-FFF2-40B4-BE49-F238E27FC236}">
                <a16:creationId xmlns:a16="http://schemas.microsoft.com/office/drawing/2014/main" id="{8876DD53-E338-E606-E655-CD9D01B91F2A}"/>
              </a:ext>
            </a:extLst>
          </p:cNvPr>
          <p:cNvSpPr txBox="1"/>
          <p:nvPr/>
        </p:nvSpPr>
        <p:spPr>
          <a:xfrm>
            <a:off x="6203263" y="5380236"/>
            <a:ext cx="2052078" cy="1200329"/>
          </a:xfrm>
          <a:prstGeom prst="rect">
            <a:avLst/>
          </a:prstGeom>
          <a:noFill/>
        </p:spPr>
        <p:txBody>
          <a:bodyPr wrap="square" rtlCol="0">
            <a:spAutoFit/>
          </a:bodyPr>
          <a:lstStyle>
            <a:defPPr>
              <a:defRPr lang="de-DE"/>
            </a:defPPr>
            <a:lvl1pPr>
              <a:defRPr sz="900"/>
            </a:lvl1pPr>
          </a:lstStyle>
          <a:p>
            <a:r>
              <a:rPr lang="de-DE" dirty="0"/>
              <a:t>9       Optical </a:t>
            </a:r>
            <a:r>
              <a:rPr lang="de-DE" dirty="0" err="1"/>
              <a:t>Inspection</a:t>
            </a:r>
            <a:r>
              <a:rPr lang="de-DE" dirty="0"/>
              <a:t> Terminal 1</a:t>
            </a:r>
          </a:p>
          <a:p>
            <a:r>
              <a:rPr lang="de-DE" dirty="0"/>
              <a:t>10     </a:t>
            </a:r>
            <a:r>
              <a:rPr lang="de-DE" dirty="0" err="1"/>
              <a:t>Turning</a:t>
            </a:r>
            <a:r>
              <a:rPr lang="de-DE" dirty="0"/>
              <a:t> </a:t>
            </a:r>
            <a:r>
              <a:rPr lang="de-DE" dirty="0" err="1"/>
              <a:t>station</a:t>
            </a:r>
            <a:r>
              <a:rPr lang="de-DE" dirty="0"/>
              <a:t> Terminal 1 </a:t>
            </a:r>
            <a:r>
              <a:rPr lang="de-DE" dirty="0" err="1"/>
              <a:t>to</a:t>
            </a:r>
            <a:r>
              <a:rPr lang="de-DE" dirty="0"/>
              <a:t> 2</a:t>
            </a:r>
          </a:p>
          <a:p>
            <a:pPr marL="228600" indent="-228600">
              <a:buAutoNum type="arabicPlain" startAt="11"/>
            </a:pPr>
            <a:r>
              <a:rPr lang="de-DE" dirty="0" err="1"/>
              <a:t>Turning</a:t>
            </a:r>
            <a:r>
              <a:rPr lang="de-DE" dirty="0"/>
              <a:t> Position Terminal 2    3-6-9</a:t>
            </a:r>
          </a:p>
          <a:p>
            <a:pPr marL="228600" indent="-228600">
              <a:buAutoNum type="arabicPlain" startAt="11"/>
            </a:pPr>
            <a:r>
              <a:rPr lang="de-DE" dirty="0"/>
              <a:t>Insert </a:t>
            </a:r>
            <a:r>
              <a:rPr lang="de-DE" dirty="0" err="1"/>
              <a:t>Shrinksleeve</a:t>
            </a:r>
            <a:r>
              <a:rPr lang="de-DE" dirty="0"/>
              <a:t> (Option)</a:t>
            </a:r>
          </a:p>
          <a:p>
            <a:r>
              <a:rPr lang="de-DE" dirty="0"/>
              <a:t>13     </a:t>
            </a:r>
            <a:r>
              <a:rPr lang="de-DE" dirty="0" err="1"/>
              <a:t>Removing</a:t>
            </a:r>
            <a:r>
              <a:rPr lang="de-DE" dirty="0"/>
              <a:t> </a:t>
            </a:r>
            <a:r>
              <a:rPr lang="de-DE" dirty="0" err="1"/>
              <a:t>Isolationpart</a:t>
            </a:r>
            <a:r>
              <a:rPr lang="de-DE" dirty="0"/>
              <a:t> Terminal 2</a:t>
            </a:r>
          </a:p>
          <a:p>
            <a:r>
              <a:rPr lang="de-DE" dirty="0"/>
              <a:t>14     Free Station</a:t>
            </a:r>
          </a:p>
          <a:p>
            <a:r>
              <a:rPr lang="de-DE" sz="900" dirty="0"/>
              <a:t>15     </a:t>
            </a:r>
            <a:r>
              <a:rPr lang="de-DE" sz="900" dirty="0" err="1"/>
              <a:t>Feeding</a:t>
            </a:r>
            <a:r>
              <a:rPr lang="de-DE" sz="900" dirty="0"/>
              <a:t> Terminal 2 and </a:t>
            </a:r>
            <a:r>
              <a:rPr lang="de-DE" sz="900" dirty="0" err="1"/>
              <a:t>Crimping</a:t>
            </a:r>
            <a:r>
              <a:rPr lang="de-DE" sz="900" dirty="0"/>
              <a:t> 2</a:t>
            </a:r>
          </a:p>
          <a:p>
            <a:r>
              <a:rPr lang="de-DE" dirty="0"/>
              <a:t>16     Free Station</a:t>
            </a:r>
            <a:endParaRPr lang="de-DE" sz="900" dirty="0"/>
          </a:p>
        </p:txBody>
      </p:sp>
      <p:sp>
        <p:nvSpPr>
          <p:cNvPr id="401" name="Rechteck 400">
            <a:extLst>
              <a:ext uri="{FF2B5EF4-FFF2-40B4-BE49-F238E27FC236}">
                <a16:creationId xmlns:a16="http://schemas.microsoft.com/office/drawing/2014/main" id="{EB91AAFD-3F79-620C-0A94-BB6CF68ED630}"/>
              </a:ext>
            </a:extLst>
          </p:cNvPr>
          <p:cNvSpPr/>
          <p:nvPr/>
        </p:nvSpPr>
        <p:spPr>
          <a:xfrm>
            <a:off x="7610485" y="1260071"/>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a:t>
            </a:r>
          </a:p>
        </p:txBody>
      </p:sp>
      <p:sp>
        <p:nvSpPr>
          <p:cNvPr id="406" name="Bogen 405">
            <a:extLst>
              <a:ext uri="{FF2B5EF4-FFF2-40B4-BE49-F238E27FC236}">
                <a16:creationId xmlns:a16="http://schemas.microsoft.com/office/drawing/2014/main" id="{0A9F292A-FBC0-A417-C2F2-AE33EAD228AA}"/>
              </a:ext>
            </a:extLst>
          </p:cNvPr>
          <p:cNvSpPr/>
          <p:nvPr/>
        </p:nvSpPr>
        <p:spPr>
          <a:xfrm rot="5400000">
            <a:off x="18872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28459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0" name="Gerade Verbindung mit Pfeil 409">
            <a:extLst>
              <a:ext uri="{FF2B5EF4-FFF2-40B4-BE49-F238E27FC236}">
                <a16:creationId xmlns:a16="http://schemas.microsoft.com/office/drawing/2014/main" id="{F4040FF7-D6E8-4263-9AA2-8A2D07AC01EB}"/>
              </a:ext>
            </a:extLst>
          </p:cNvPr>
          <p:cNvCxnSpPr>
            <a:cxnSpLocks/>
          </p:cNvCxnSpPr>
          <p:nvPr/>
        </p:nvCxnSpPr>
        <p:spPr>
          <a:xfrm flipV="1">
            <a:off x="3272092"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2" name="Gerader Verbinder 411">
            <a:extLst>
              <a:ext uri="{FF2B5EF4-FFF2-40B4-BE49-F238E27FC236}">
                <a16:creationId xmlns:a16="http://schemas.microsoft.com/office/drawing/2014/main" id="{5402DEC2-9D89-E811-3D0B-EF1052B56D7B}"/>
              </a:ext>
            </a:extLst>
          </p:cNvPr>
          <p:cNvCxnSpPr/>
          <p:nvPr/>
        </p:nvCxnSpPr>
        <p:spPr>
          <a:xfrm>
            <a:off x="2757635"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3" name="Gerader Verbinder 412">
            <a:extLst>
              <a:ext uri="{FF2B5EF4-FFF2-40B4-BE49-F238E27FC236}">
                <a16:creationId xmlns:a16="http://schemas.microsoft.com/office/drawing/2014/main" id="{E37CEAF5-8806-55B9-E780-5755C365DB8C}"/>
              </a:ext>
            </a:extLst>
          </p:cNvPr>
          <p:cNvCxnSpPr/>
          <p:nvPr/>
        </p:nvCxnSpPr>
        <p:spPr>
          <a:xfrm>
            <a:off x="3766235"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5" name="Textfeld 414">
            <a:extLst>
              <a:ext uri="{FF2B5EF4-FFF2-40B4-BE49-F238E27FC236}">
                <a16:creationId xmlns:a16="http://schemas.microsoft.com/office/drawing/2014/main" id="{DFC23C4D-9CB1-B6F8-D780-DD778BAA7CA7}"/>
              </a:ext>
            </a:extLst>
          </p:cNvPr>
          <p:cNvSpPr txBox="1"/>
          <p:nvPr/>
        </p:nvSpPr>
        <p:spPr>
          <a:xfrm>
            <a:off x="2749376"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6872461"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376653"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385253"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368394"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434017"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6498463"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30" name="Gruppieren 429">
            <a:extLst>
              <a:ext uri="{FF2B5EF4-FFF2-40B4-BE49-F238E27FC236}">
                <a16:creationId xmlns:a16="http://schemas.microsoft.com/office/drawing/2014/main" id="{50AE0B4C-6CD9-618B-96A5-F1DA86D2691C}"/>
              </a:ext>
            </a:extLst>
          </p:cNvPr>
          <p:cNvGrpSpPr/>
          <p:nvPr/>
        </p:nvGrpSpPr>
        <p:grpSpPr>
          <a:xfrm>
            <a:off x="2528286" y="2999802"/>
            <a:ext cx="69580" cy="193454"/>
            <a:chOff x="2849757" y="2999802"/>
            <a:chExt cx="69580" cy="193454"/>
          </a:xfrm>
        </p:grpSpPr>
        <p:sp>
          <p:nvSpPr>
            <p:cNvPr id="424" name="Rechteck 423">
              <a:extLst>
                <a:ext uri="{FF2B5EF4-FFF2-40B4-BE49-F238E27FC236}">
                  <a16:creationId xmlns:a16="http://schemas.microsoft.com/office/drawing/2014/main" id="{8B429774-8B94-7203-F945-0830C0E6A020}"/>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26" name="Gerade Verbindung mit Pfeil 425">
              <a:extLst>
                <a:ext uri="{FF2B5EF4-FFF2-40B4-BE49-F238E27FC236}">
                  <a16:creationId xmlns:a16="http://schemas.microsoft.com/office/drawing/2014/main" id="{6FC554A2-E699-50C8-9C0B-2536947AE277}"/>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1" name="Gruppieren 430">
            <a:extLst>
              <a:ext uri="{FF2B5EF4-FFF2-40B4-BE49-F238E27FC236}">
                <a16:creationId xmlns:a16="http://schemas.microsoft.com/office/drawing/2014/main" id="{7C4E101E-6D3F-B73F-FCD2-132B17BBB0E5}"/>
              </a:ext>
            </a:extLst>
          </p:cNvPr>
          <p:cNvGrpSpPr/>
          <p:nvPr/>
        </p:nvGrpSpPr>
        <p:grpSpPr>
          <a:xfrm>
            <a:off x="3180540" y="2991323"/>
            <a:ext cx="69580" cy="193454"/>
            <a:chOff x="2849757" y="2999802"/>
            <a:chExt cx="69580" cy="193454"/>
          </a:xfrm>
        </p:grpSpPr>
        <p:sp>
          <p:nvSpPr>
            <p:cNvPr id="432" name="Rechteck 431">
              <a:extLst>
                <a:ext uri="{FF2B5EF4-FFF2-40B4-BE49-F238E27FC236}">
                  <a16:creationId xmlns:a16="http://schemas.microsoft.com/office/drawing/2014/main" id="{89CCD666-35A8-8250-0447-BBE2F46E6C98}"/>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3" name="Gerade Verbindung mit Pfeil 432">
              <a:extLst>
                <a:ext uri="{FF2B5EF4-FFF2-40B4-BE49-F238E27FC236}">
                  <a16:creationId xmlns:a16="http://schemas.microsoft.com/office/drawing/2014/main" id="{99F59633-1DF9-3730-851A-61003ADDBB26}"/>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1" name="Ellipse 440">
            <a:extLst>
              <a:ext uri="{FF2B5EF4-FFF2-40B4-BE49-F238E27FC236}">
                <a16:creationId xmlns:a16="http://schemas.microsoft.com/office/drawing/2014/main" id="{31B2067F-AB97-F4CE-49F4-78334ACCBE09}"/>
              </a:ext>
            </a:extLst>
          </p:cNvPr>
          <p:cNvSpPr/>
          <p:nvPr/>
        </p:nvSpPr>
        <p:spPr>
          <a:xfrm>
            <a:off x="5194174"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42" name="Ellipse 441">
            <a:extLst>
              <a:ext uri="{FF2B5EF4-FFF2-40B4-BE49-F238E27FC236}">
                <a16:creationId xmlns:a16="http://schemas.microsoft.com/office/drawing/2014/main" id="{E2AD34D2-176A-FFA8-4978-C218270EC79F}"/>
              </a:ext>
            </a:extLst>
          </p:cNvPr>
          <p:cNvSpPr/>
          <p:nvPr/>
        </p:nvSpPr>
        <p:spPr>
          <a:xfrm>
            <a:off x="5526277"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6823804"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4" name="Ellipse 453">
            <a:extLst>
              <a:ext uri="{FF2B5EF4-FFF2-40B4-BE49-F238E27FC236}">
                <a16:creationId xmlns:a16="http://schemas.microsoft.com/office/drawing/2014/main" id="{F5AC4FC0-002D-8324-EB04-802F2831ED7B}"/>
              </a:ext>
            </a:extLst>
          </p:cNvPr>
          <p:cNvSpPr/>
          <p:nvPr/>
        </p:nvSpPr>
        <p:spPr>
          <a:xfrm>
            <a:off x="8826637" y="271955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60" name="Rechteck 459">
            <a:extLst>
              <a:ext uri="{FF2B5EF4-FFF2-40B4-BE49-F238E27FC236}">
                <a16:creationId xmlns:a16="http://schemas.microsoft.com/office/drawing/2014/main" id="{5CB04050-69CD-84D9-4A18-1FC1ECBB6BFE}"/>
              </a:ext>
            </a:extLst>
          </p:cNvPr>
          <p:cNvSpPr/>
          <p:nvPr/>
        </p:nvSpPr>
        <p:spPr>
          <a:xfrm>
            <a:off x="3982611" y="4065661"/>
            <a:ext cx="680855" cy="52812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r>
              <a:rPr lang="de-DE" sz="800" dirty="0"/>
              <a:t> </a:t>
            </a:r>
            <a:r>
              <a:rPr lang="de-DE" sz="800" dirty="0" err="1"/>
              <a:t>for</a:t>
            </a:r>
            <a:r>
              <a:rPr lang="de-DE" sz="800" dirty="0"/>
              <a:t> </a:t>
            </a:r>
            <a:r>
              <a:rPr lang="de-DE" sz="800" dirty="0" err="1"/>
              <a:t>both</a:t>
            </a:r>
            <a:endParaRPr lang="de-DE" sz="800" dirty="0"/>
          </a:p>
          <a:p>
            <a:pPr algn="ctr"/>
            <a:r>
              <a:rPr lang="de-DE" sz="800" dirty="0" err="1"/>
              <a:t>Tinning</a:t>
            </a:r>
            <a:r>
              <a:rPr lang="de-DE" sz="800" dirty="0"/>
              <a:t> </a:t>
            </a:r>
            <a:r>
              <a:rPr lang="de-DE" sz="800" dirty="0" err="1"/>
              <a:t>station</a:t>
            </a:r>
            <a:endParaRPr lang="de-DE" sz="800" dirty="0"/>
          </a:p>
        </p:txBody>
      </p:sp>
      <p:cxnSp>
        <p:nvCxnSpPr>
          <p:cNvPr id="461" name="Verbinder: gekrümmt 460">
            <a:extLst>
              <a:ext uri="{FF2B5EF4-FFF2-40B4-BE49-F238E27FC236}">
                <a16:creationId xmlns:a16="http://schemas.microsoft.com/office/drawing/2014/main" id="{EE5F864C-5000-50A7-1D5F-78EA74544B6B}"/>
              </a:ext>
            </a:extLst>
          </p:cNvPr>
          <p:cNvCxnSpPr>
            <a:cxnSpLocks/>
            <a:stCxn id="460" idx="0"/>
          </p:cNvCxnSpPr>
          <p:nvPr/>
        </p:nvCxnSpPr>
        <p:spPr>
          <a:xfrm rot="5400000" flipH="1" flipV="1">
            <a:off x="4155025" y="3794627"/>
            <a:ext cx="439048" cy="103020"/>
          </a:xfrm>
          <a:prstGeom prst="curvedConnector3">
            <a:avLst>
              <a:gd name="adj1" fmla="val 43492"/>
            </a:avLst>
          </a:prstGeom>
          <a:ln/>
        </p:spPr>
        <p:style>
          <a:lnRef idx="3">
            <a:schemeClr val="dk1"/>
          </a:lnRef>
          <a:fillRef idx="0">
            <a:schemeClr val="dk1"/>
          </a:fillRef>
          <a:effectRef idx="2">
            <a:schemeClr val="dk1"/>
          </a:effectRef>
          <a:fontRef idx="minor">
            <a:schemeClr val="tx1"/>
          </a:fontRef>
        </p:style>
      </p:cxnSp>
      <p:sp>
        <p:nvSpPr>
          <p:cNvPr id="402" name="Rechteck 401">
            <a:extLst>
              <a:ext uri="{FF2B5EF4-FFF2-40B4-BE49-F238E27FC236}">
                <a16:creationId xmlns:a16="http://schemas.microsoft.com/office/drawing/2014/main" id="{A65D4B45-8A83-9CE7-4A5C-EED89F649B14}"/>
              </a:ext>
            </a:extLst>
          </p:cNvPr>
          <p:cNvSpPr/>
          <p:nvPr/>
        </p:nvSpPr>
        <p:spPr>
          <a:xfrm>
            <a:off x="8313875" y="1401696"/>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68" name="Rechteck 467">
            <a:extLst>
              <a:ext uri="{FF2B5EF4-FFF2-40B4-BE49-F238E27FC236}">
                <a16:creationId xmlns:a16="http://schemas.microsoft.com/office/drawing/2014/main" id="{D28EB021-0B93-5EB5-DBC4-BB92C5E82479}"/>
              </a:ext>
            </a:extLst>
          </p:cNvPr>
          <p:cNvSpPr/>
          <p:nvPr/>
        </p:nvSpPr>
        <p:spPr>
          <a:xfrm rot="5400000">
            <a:off x="1501336" y="3193316"/>
            <a:ext cx="934369" cy="11244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1" name="Rechteck 470">
            <a:extLst>
              <a:ext uri="{FF2B5EF4-FFF2-40B4-BE49-F238E27FC236}">
                <a16:creationId xmlns:a16="http://schemas.microsoft.com/office/drawing/2014/main" id="{19F564EB-31F1-1262-195F-56E679A0D2CE}"/>
              </a:ext>
            </a:extLst>
          </p:cNvPr>
          <p:cNvSpPr/>
          <p:nvPr/>
        </p:nvSpPr>
        <p:spPr>
          <a:xfrm rot="5400000">
            <a:off x="1722342" y="3840866"/>
            <a:ext cx="1442046" cy="10128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2" name="Titel 1">
            <a:extLst>
              <a:ext uri="{FF2B5EF4-FFF2-40B4-BE49-F238E27FC236}">
                <a16:creationId xmlns:a16="http://schemas.microsoft.com/office/drawing/2014/main" id="{34BCB49A-80E4-E2F7-4717-A2CA96680C92}"/>
              </a:ext>
            </a:extLst>
          </p:cNvPr>
          <p:cNvSpPr txBox="1">
            <a:spLocks/>
          </p:cNvSpPr>
          <p:nvPr/>
        </p:nvSpPr>
        <p:spPr>
          <a:xfrm>
            <a:off x="4047226" y="130021"/>
            <a:ext cx="2771963"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100" b="1" dirty="0">
                <a:latin typeface="+mj-lt"/>
              </a:rPr>
              <a:t>Layout linear / Version 3</a:t>
            </a:r>
          </a:p>
        </p:txBody>
      </p:sp>
      <p:sp>
        <p:nvSpPr>
          <p:cNvPr id="28" name="Rechteck 27">
            <a:extLst>
              <a:ext uri="{FF2B5EF4-FFF2-40B4-BE49-F238E27FC236}">
                <a16:creationId xmlns:a16="http://schemas.microsoft.com/office/drawing/2014/main" id="{A1C09A0B-3E17-8E6E-537B-B8FD5BB62326}"/>
              </a:ext>
            </a:extLst>
          </p:cNvPr>
          <p:cNvSpPr/>
          <p:nvPr/>
        </p:nvSpPr>
        <p:spPr>
          <a:xfrm flipV="1">
            <a:off x="1553506" y="4626296"/>
            <a:ext cx="8321537" cy="5906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29" name="Rechteck 28">
            <a:extLst>
              <a:ext uri="{FF2B5EF4-FFF2-40B4-BE49-F238E27FC236}">
                <a16:creationId xmlns:a16="http://schemas.microsoft.com/office/drawing/2014/main" id="{E731386E-512D-E1C1-7954-41D93F39568E}"/>
              </a:ext>
            </a:extLst>
          </p:cNvPr>
          <p:cNvSpPr/>
          <p:nvPr/>
        </p:nvSpPr>
        <p:spPr>
          <a:xfrm flipV="1">
            <a:off x="1558352" y="1045494"/>
            <a:ext cx="7776230"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0" name="Rechteck 29">
            <a:extLst>
              <a:ext uri="{FF2B5EF4-FFF2-40B4-BE49-F238E27FC236}">
                <a16:creationId xmlns:a16="http://schemas.microsoft.com/office/drawing/2014/main" id="{3EA6BB3C-E15D-90A2-5912-DB89E26717B5}"/>
              </a:ext>
            </a:extLst>
          </p:cNvPr>
          <p:cNvSpPr/>
          <p:nvPr/>
        </p:nvSpPr>
        <p:spPr>
          <a:xfrm rot="16200000" flipV="1">
            <a:off x="-284559" y="2837652"/>
            <a:ext cx="3627668"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462" name="Rechteck 461">
            <a:extLst>
              <a:ext uri="{FF2B5EF4-FFF2-40B4-BE49-F238E27FC236}">
                <a16:creationId xmlns:a16="http://schemas.microsoft.com/office/drawing/2014/main" id="{010CB12E-E6C9-2D3F-F0C4-91916CC41BC1}"/>
              </a:ext>
            </a:extLst>
          </p:cNvPr>
          <p:cNvSpPr/>
          <p:nvPr/>
        </p:nvSpPr>
        <p:spPr>
          <a:xfrm rot="16200000" flipV="1">
            <a:off x="8633553" y="1755279"/>
            <a:ext cx="1460889"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18" name="Rechteck 17">
            <a:extLst>
              <a:ext uri="{FF2B5EF4-FFF2-40B4-BE49-F238E27FC236}">
                <a16:creationId xmlns:a16="http://schemas.microsoft.com/office/drawing/2014/main" id="{F744ADF9-D847-CBEC-1D7A-FC78134F4104}"/>
              </a:ext>
            </a:extLst>
          </p:cNvPr>
          <p:cNvSpPr/>
          <p:nvPr/>
        </p:nvSpPr>
        <p:spPr>
          <a:xfrm rot="5400000">
            <a:off x="9334423" y="3432480"/>
            <a:ext cx="1284899" cy="68943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27" name="Rechteck 26">
            <a:extLst>
              <a:ext uri="{FF2B5EF4-FFF2-40B4-BE49-F238E27FC236}">
                <a16:creationId xmlns:a16="http://schemas.microsoft.com/office/drawing/2014/main" id="{775CFE05-F699-D31F-1589-D4DEEAB4D9EE}"/>
              </a:ext>
            </a:extLst>
          </p:cNvPr>
          <p:cNvSpPr/>
          <p:nvPr/>
        </p:nvSpPr>
        <p:spPr>
          <a:xfrm rot="5400000">
            <a:off x="8669353" y="3672465"/>
            <a:ext cx="1281360" cy="213001"/>
          </a:xfrm>
          <a:prstGeom prst="rect">
            <a:avLst/>
          </a:prstGeom>
        </p:spPr>
        <p:style>
          <a:lnRef idx="1">
            <a:schemeClr val="accent2"/>
          </a:lnRef>
          <a:fillRef idx="3">
            <a:schemeClr val="accent2"/>
          </a:fillRef>
          <a:effectRef idx="2">
            <a:schemeClr val="accent2"/>
          </a:effectRef>
          <a:fontRef idx="minor">
            <a:schemeClr val="lt1"/>
          </a:fontRef>
        </p:style>
        <p:txBody>
          <a:bodyPr vert="horz" wrap="none" rtlCol="0" anchor="ctr"/>
          <a:lstStyle/>
          <a:p>
            <a:pPr algn="ctr"/>
            <a:r>
              <a:rPr lang="de-DE" sz="1400" dirty="0"/>
              <a:t>NOK</a:t>
            </a:r>
          </a:p>
        </p:txBody>
      </p:sp>
      <p:grpSp>
        <p:nvGrpSpPr>
          <p:cNvPr id="456" name="Gruppieren 455">
            <a:extLst>
              <a:ext uri="{FF2B5EF4-FFF2-40B4-BE49-F238E27FC236}">
                <a16:creationId xmlns:a16="http://schemas.microsoft.com/office/drawing/2014/main" id="{C610C229-1B99-E191-0335-114071E09865}"/>
              </a:ext>
            </a:extLst>
          </p:cNvPr>
          <p:cNvGrpSpPr/>
          <p:nvPr/>
        </p:nvGrpSpPr>
        <p:grpSpPr>
          <a:xfrm rot="10800000" flipH="1">
            <a:off x="10092323" y="3295454"/>
            <a:ext cx="25807" cy="726114"/>
            <a:chOff x="6851814" y="1766023"/>
            <a:chExt cx="78569" cy="2068826"/>
          </a:xfrm>
        </p:grpSpPr>
        <p:sp>
          <p:nvSpPr>
            <p:cNvPr id="473" name="Rechteck 472">
              <a:extLst>
                <a:ext uri="{FF2B5EF4-FFF2-40B4-BE49-F238E27FC236}">
                  <a16:creationId xmlns:a16="http://schemas.microsoft.com/office/drawing/2014/main" id="{44DF447E-1839-DFC7-42C0-15AD8657CA91}"/>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4" name="Rechteck 473">
              <a:extLst>
                <a:ext uri="{FF2B5EF4-FFF2-40B4-BE49-F238E27FC236}">
                  <a16:creationId xmlns:a16="http://schemas.microsoft.com/office/drawing/2014/main" id="{8CA4BD7B-E0AB-1784-BE06-4A7B114F7F05}"/>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75" name="Rechteck 474">
              <a:extLst>
                <a:ext uri="{FF2B5EF4-FFF2-40B4-BE49-F238E27FC236}">
                  <a16:creationId xmlns:a16="http://schemas.microsoft.com/office/drawing/2014/main" id="{6DBF1DD0-72CB-EB69-FB7B-98D7AC54C15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4" name="Rechteck 483">
              <a:extLst>
                <a:ext uri="{FF2B5EF4-FFF2-40B4-BE49-F238E27FC236}">
                  <a16:creationId xmlns:a16="http://schemas.microsoft.com/office/drawing/2014/main" id="{9890A4B7-D7D8-1985-B786-E22132E405E7}"/>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5" name="Rechteck 484">
              <a:extLst>
                <a:ext uri="{FF2B5EF4-FFF2-40B4-BE49-F238E27FC236}">
                  <a16:creationId xmlns:a16="http://schemas.microsoft.com/office/drawing/2014/main" id="{B44E8C06-D904-B59D-3F77-AEBDAD1DA951}"/>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486" name="Gruppieren 485">
            <a:extLst>
              <a:ext uri="{FF2B5EF4-FFF2-40B4-BE49-F238E27FC236}">
                <a16:creationId xmlns:a16="http://schemas.microsoft.com/office/drawing/2014/main" id="{86E69E70-8158-DC1E-7CFC-8644224EE5C0}"/>
              </a:ext>
            </a:extLst>
          </p:cNvPr>
          <p:cNvGrpSpPr/>
          <p:nvPr/>
        </p:nvGrpSpPr>
        <p:grpSpPr>
          <a:xfrm rot="10800000" flipH="1">
            <a:off x="10139842" y="3296597"/>
            <a:ext cx="25807" cy="726114"/>
            <a:chOff x="6851814" y="1766023"/>
            <a:chExt cx="78569" cy="2068826"/>
          </a:xfrm>
        </p:grpSpPr>
        <p:sp>
          <p:nvSpPr>
            <p:cNvPr id="487" name="Rechteck 486">
              <a:extLst>
                <a:ext uri="{FF2B5EF4-FFF2-40B4-BE49-F238E27FC236}">
                  <a16:creationId xmlns:a16="http://schemas.microsoft.com/office/drawing/2014/main" id="{0F5B30B8-8C50-8A87-069C-7662ED9FFF6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8" name="Rechteck 487">
              <a:extLst>
                <a:ext uri="{FF2B5EF4-FFF2-40B4-BE49-F238E27FC236}">
                  <a16:creationId xmlns:a16="http://schemas.microsoft.com/office/drawing/2014/main" id="{8C0E86AA-823A-FFDB-92A4-CD7B4BAC270B}"/>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89" name="Rechteck 488">
              <a:extLst>
                <a:ext uri="{FF2B5EF4-FFF2-40B4-BE49-F238E27FC236}">
                  <a16:creationId xmlns:a16="http://schemas.microsoft.com/office/drawing/2014/main" id="{45B674F5-DB18-9839-A2DE-1EF91A9A05B7}"/>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0" name="Rechteck 489">
              <a:extLst>
                <a:ext uri="{FF2B5EF4-FFF2-40B4-BE49-F238E27FC236}">
                  <a16:creationId xmlns:a16="http://schemas.microsoft.com/office/drawing/2014/main" id="{C2B9F55F-E881-0ADB-C3AE-E8991E54202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1" name="Rechteck 490">
              <a:extLst>
                <a:ext uri="{FF2B5EF4-FFF2-40B4-BE49-F238E27FC236}">
                  <a16:creationId xmlns:a16="http://schemas.microsoft.com/office/drawing/2014/main" id="{E3F969CB-DBA6-7F3A-3614-043F9BA542D5}"/>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492" name="Gruppieren 491">
            <a:extLst>
              <a:ext uri="{FF2B5EF4-FFF2-40B4-BE49-F238E27FC236}">
                <a16:creationId xmlns:a16="http://schemas.microsoft.com/office/drawing/2014/main" id="{0D4AD025-3974-E5E7-27BB-7C4D494C4FEC}"/>
              </a:ext>
            </a:extLst>
          </p:cNvPr>
          <p:cNvGrpSpPr/>
          <p:nvPr/>
        </p:nvGrpSpPr>
        <p:grpSpPr>
          <a:xfrm rot="10800000" flipH="1">
            <a:off x="10186815" y="3297045"/>
            <a:ext cx="25807" cy="726114"/>
            <a:chOff x="6851814" y="1766023"/>
            <a:chExt cx="78569" cy="2068826"/>
          </a:xfrm>
        </p:grpSpPr>
        <p:sp>
          <p:nvSpPr>
            <p:cNvPr id="493" name="Rechteck 492">
              <a:extLst>
                <a:ext uri="{FF2B5EF4-FFF2-40B4-BE49-F238E27FC236}">
                  <a16:creationId xmlns:a16="http://schemas.microsoft.com/office/drawing/2014/main" id="{1D454FD1-ACDA-2993-8190-5E1F504553D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4" name="Rechteck 493">
              <a:extLst>
                <a:ext uri="{FF2B5EF4-FFF2-40B4-BE49-F238E27FC236}">
                  <a16:creationId xmlns:a16="http://schemas.microsoft.com/office/drawing/2014/main" id="{E939B008-65B0-C643-3B30-CA26C680B4EA}"/>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95" name="Rechteck 494">
              <a:extLst>
                <a:ext uri="{FF2B5EF4-FFF2-40B4-BE49-F238E27FC236}">
                  <a16:creationId xmlns:a16="http://schemas.microsoft.com/office/drawing/2014/main" id="{E30A0E1C-6C8C-4756-35E6-F9DA8A6E595F}"/>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6" name="Rechteck 495">
              <a:extLst>
                <a:ext uri="{FF2B5EF4-FFF2-40B4-BE49-F238E27FC236}">
                  <a16:creationId xmlns:a16="http://schemas.microsoft.com/office/drawing/2014/main" id="{F6CD43C3-30BF-6DA2-C242-465B03EF0E9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7" name="Rechteck 496">
              <a:extLst>
                <a:ext uri="{FF2B5EF4-FFF2-40B4-BE49-F238E27FC236}">
                  <a16:creationId xmlns:a16="http://schemas.microsoft.com/office/drawing/2014/main" id="{940FE6A8-194E-5067-7AA5-1834B8054A97}"/>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498" name="Gruppieren 497">
            <a:extLst>
              <a:ext uri="{FF2B5EF4-FFF2-40B4-BE49-F238E27FC236}">
                <a16:creationId xmlns:a16="http://schemas.microsoft.com/office/drawing/2014/main" id="{162727F6-AD5D-47B8-1C7A-C093319AACBF}"/>
              </a:ext>
            </a:extLst>
          </p:cNvPr>
          <p:cNvGrpSpPr/>
          <p:nvPr/>
        </p:nvGrpSpPr>
        <p:grpSpPr>
          <a:xfrm rot="10800000" flipH="1">
            <a:off x="10234445" y="3297044"/>
            <a:ext cx="25807" cy="726114"/>
            <a:chOff x="6851814" y="1766023"/>
            <a:chExt cx="78569" cy="2068826"/>
          </a:xfrm>
        </p:grpSpPr>
        <p:sp>
          <p:nvSpPr>
            <p:cNvPr id="499" name="Rechteck 498">
              <a:extLst>
                <a:ext uri="{FF2B5EF4-FFF2-40B4-BE49-F238E27FC236}">
                  <a16:creationId xmlns:a16="http://schemas.microsoft.com/office/drawing/2014/main" id="{3E31DB6C-E8C2-DE53-1573-F3C67E34E83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0" name="Rechteck 499">
              <a:extLst>
                <a:ext uri="{FF2B5EF4-FFF2-40B4-BE49-F238E27FC236}">
                  <a16:creationId xmlns:a16="http://schemas.microsoft.com/office/drawing/2014/main" id="{E4EE49B9-F8D3-72FE-FF96-8E4104BD1A69}"/>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01" name="Rechteck 500">
              <a:extLst>
                <a:ext uri="{FF2B5EF4-FFF2-40B4-BE49-F238E27FC236}">
                  <a16:creationId xmlns:a16="http://schemas.microsoft.com/office/drawing/2014/main" id="{E0C68458-1493-9B6D-12EF-4502AACEFB56}"/>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2" name="Rechteck 501">
              <a:extLst>
                <a:ext uri="{FF2B5EF4-FFF2-40B4-BE49-F238E27FC236}">
                  <a16:creationId xmlns:a16="http://schemas.microsoft.com/office/drawing/2014/main" id="{0BEF9B63-2A76-C0A1-E708-65716A8E6BA0}"/>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3" name="Rechteck 502">
              <a:extLst>
                <a:ext uri="{FF2B5EF4-FFF2-40B4-BE49-F238E27FC236}">
                  <a16:creationId xmlns:a16="http://schemas.microsoft.com/office/drawing/2014/main" id="{DA4A8E12-DFB7-FA48-FEFF-3C86B33043E6}"/>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504" name="Rechteck 503">
            <a:extLst>
              <a:ext uri="{FF2B5EF4-FFF2-40B4-BE49-F238E27FC236}">
                <a16:creationId xmlns:a16="http://schemas.microsoft.com/office/drawing/2014/main" id="{57940351-4959-ED52-6A33-D548EA10DE85}"/>
              </a:ext>
            </a:extLst>
          </p:cNvPr>
          <p:cNvSpPr/>
          <p:nvPr/>
        </p:nvSpPr>
        <p:spPr>
          <a:xfrm rot="16200000">
            <a:off x="8805860" y="3577336"/>
            <a:ext cx="2183223"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505" name="Rechteck 504">
            <a:extLst>
              <a:ext uri="{FF2B5EF4-FFF2-40B4-BE49-F238E27FC236}">
                <a16:creationId xmlns:a16="http://schemas.microsoft.com/office/drawing/2014/main" id="{9166C1CE-5979-6FF2-EADD-87203E9DB39C}"/>
              </a:ext>
            </a:extLst>
          </p:cNvPr>
          <p:cNvSpPr/>
          <p:nvPr/>
        </p:nvSpPr>
        <p:spPr>
          <a:xfrm flipV="1">
            <a:off x="9388185" y="2458542"/>
            <a:ext cx="539229"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506" name="Rechteck 505">
            <a:extLst>
              <a:ext uri="{FF2B5EF4-FFF2-40B4-BE49-F238E27FC236}">
                <a16:creationId xmlns:a16="http://schemas.microsoft.com/office/drawing/2014/main" id="{D73C1DB6-A6A0-A535-6AEC-E66CED8DB336}"/>
              </a:ext>
            </a:extLst>
          </p:cNvPr>
          <p:cNvSpPr/>
          <p:nvPr/>
        </p:nvSpPr>
        <p:spPr>
          <a:xfrm rot="10800000">
            <a:off x="9373878" y="2683302"/>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7" name="Rechteck 506">
            <a:extLst>
              <a:ext uri="{FF2B5EF4-FFF2-40B4-BE49-F238E27FC236}">
                <a16:creationId xmlns:a16="http://schemas.microsoft.com/office/drawing/2014/main" id="{CBC9B855-DEA2-B4FD-C370-800E0073B76D}"/>
              </a:ext>
            </a:extLst>
          </p:cNvPr>
          <p:cNvSpPr/>
          <p:nvPr/>
        </p:nvSpPr>
        <p:spPr>
          <a:xfrm rot="10800000">
            <a:off x="9438511" y="2880574"/>
            <a:ext cx="172817" cy="1303282"/>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8" name="Rechteck 507">
            <a:extLst>
              <a:ext uri="{FF2B5EF4-FFF2-40B4-BE49-F238E27FC236}">
                <a16:creationId xmlns:a16="http://schemas.microsoft.com/office/drawing/2014/main" id="{8173279D-87BA-1C11-728D-E9F8667DA8DF}"/>
              </a:ext>
            </a:extLst>
          </p:cNvPr>
          <p:cNvSpPr/>
          <p:nvPr/>
        </p:nvSpPr>
        <p:spPr>
          <a:xfrm rot="10800000">
            <a:off x="9547888" y="329604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9" name="Rechteck 508">
            <a:extLst>
              <a:ext uri="{FF2B5EF4-FFF2-40B4-BE49-F238E27FC236}">
                <a16:creationId xmlns:a16="http://schemas.microsoft.com/office/drawing/2014/main" id="{C0790686-107A-D674-DB28-FB1AFB489237}"/>
              </a:ext>
            </a:extLst>
          </p:cNvPr>
          <p:cNvSpPr/>
          <p:nvPr/>
        </p:nvSpPr>
        <p:spPr>
          <a:xfrm rot="10800000">
            <a:off x="9547890" y="323652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0" name="Rechteck 509">
            <a:extLst>
              <a:ext uri="{FF2B5EF4-FFF2-40B4-BE49-F238E27FC236}">
                <a16:creationId xmlns:a16="http://schemas.microsoft.com/office/drawing/2014/main" id="{44A329E8-46EC-4C8D-749A-D3A6F3D16B52}"/>
              </a:ext>
            </a:extLst>
          </p:cNvPr>
          <p:cNvSpPr/>
          <p:nvPr/>
        </p:nvSpPr>
        <p:spPr>
          <a:xfrm rot="10800000">
            <a:off x="9497882" y="3293669"/>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1" name="Rechteck 510">
            <a:extLst>
              <a:ext uri="{FF2B5EF4-FFF2-40B4-BE49-F238E27FC236}">
                <a16:creationId xmlns:a16="http://schemas.microsoft.com/office/drawing/2014/main" id="{A2A00B46-2D94-0531-962E-F9B7ED02E8A3}"/>
              </a:ext>
            </a:extLst>
          </p:cNvPr>
          <p:cNvSpPr/>
          <p:nvPr/>
        </p:nvSpPr>
        <p:spPr>
          <a:xfrm rot="10800000">
            <a:off x="9497884" y="323414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103" name="Gerade Verbindung mit Pfeil 102">
            <a:extLst>
              <a:ext uri="{FF2B5EF4-FFF2-40B4-BE49-F238E27FC236}">
                <a16:creationId xmlns:a16="http://schemas.microsoft.com/office/drawing/2014/main" id="{CED1F3B4-F513-26DF-EF36-38F6E2031803}"/>
              </a:ext>
            </a:extLst>
          </p:cNvPr>
          <p:cNvCxnSpPr>
            <a:cxnSpLocks/>
          </p:cNvCxnSpPr>
          <p:nvPr/>
        </p:nvCxnSpPr>
        <p:spPr>
          <a:xfrm rot="10800000" flipV="1">
            <a:off x="9478652" y="3090254"/>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130" name="Ellipse 129">
            <a:extLst>
              <a:ext uri="{FF2B5EF4-FFF2-40B4-BE49-F238E27FC236}">
                <a16:creationId xmlns:a16="http://schemas.microsoft.com/office/drawing/2014/main" id="{BD5CFA95-7216-E97B-1B4F-E1CDC578EB3F}"/>
              </a:ext>
            </a:extLst>
          </p:cNvPr>
          <p:cNvSpPr/>
          <p:nvPr/>
        </p:nvSpPr>
        <p:spPr>
          <a:xfrm>
            <a:off x="9498147" y="2712414"/>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139" name="Gruppieren 138">
            <a:extLst>
              <a:ext uri="{FF2B5EF4-FFF2-40B4-BE49-F238E27FC236}">
                <a16:creationId xmlns:a16="http://schemas.microsoft.com/office/drawing/2014/main" id="{7FC2B90F-6D4E-3A79-8D19-A427D86D237D}"/>
              </a:ext>
            </a:extLst>
          </p:cNvPr>
          <p:cNvGrpSpPr/>
          <p:nvPr/>
        </p:nvGrpSpPr>
        <p:grpSpPr>
          <a:xfrm rot="10800000" flipH="1">
            <a:off x="9526856" y="2816261"/>
            <a:ext cx="19389" cy="600095"/>
            <a:chOff x="6851814" y="1766023"/>
            <a:chExt cx="78569" cy="2068826"/>
          </a:xfrm>
        </p:grpSpPr>
        <p:sp>
          <p:nvSpPr>
            <p:cNvPr id="159" name="Rechteck 158">
              <a:extLst>
                <a:ext uri="{FF2B5EF4-FFF2-40B4-BE49-F238E27FC236}">
                  <a16:creationId xmlns:a16="http://schemas.microsoft.com/office/drawing/2014/main" id="{20972311-233B-B7DD-6CAA-94EEE981340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60" name="Rechteck 159">
              <a:extLst>
                <a:ext uri="{FF2B5EF4-FFF2-40B4-BE49-F238E27FC236}">
                  <a16:creationId xmlns:a16="http://schemas.microsoft.com/office/drawing/2014/main" id="{440037A2-C10E-D4D9-9FE6-2E30D3E6C0FE}"/>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61" name="Rechteck 160">
              <a:extLst>
                <a:ext uri="{FF2B5EF4-FFF2-40B4-BE49-F238E27FC236}">
                  <a16:creationId xmlns:a16="http://schemas.microsoft.com/office/drawing/2014/main" id="{E7AD9216-8350-91EE-9E7F-F8B28520C964}"/>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62" name="Rechteck 161">
              <a:extLst>
                <a:ext uri="{FF2B5EF4-FFF2-40B4-BE49-F238E27FC236}">
                  <a16:creationId xmlns:a16="http://schemas.microsoft.com/office/drawing/2014/main" id="{1FCFDD5A-7C10-B548-28E8-994BB0592B8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63" name="Rechteck 162">
              <a:extLst>
                <a:ext uri="{FF2B5EF4-FFF2-40B4-BE49-F238E27FC236}">
                  <a16:creationId xmlns:a16="http://schemas.microsoft.com/office/drawing/2014/main" id="{71392158-F407-76BC-9734-A79597F5FC08}"/>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164" name="Grafik 163">
            <a:extLst>
              <a:ext uri="{FF2B5EF4-FFF2-40B4-BE49-F238E27FC236}">
                <a16:creationId xmlns:a16="http://schemas.microsoft.com/office/drawing/2014/main" id="{55F09970-E7F2-A63D-3E95-5310C7239C27}"/>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9490511" y="3403742"/>
            <a:ext cx="90077" cy="28388"/>
          </a:xfrm>
          <a:prstGeom prst="rect">
            <a:avLst/>
          </a:prstGeom>
        </p:spPr>
      </p:pic>
      <p:sp>
        <p:nvSpPr>
          <p:cNvPr id="2" name="Rechteck 1">
            <a:extLst>
              <a:ext uri="{FF2B5EF4-FFF2-40B4-BE49-F238E27FC236}">
                <a16:creationId xmlns:a16="http://schemas.microsoft.com/office/drawing/2014/main" id="{63C88628-D6A3-30A6-1301-AB7204794480}"/>
              </a:ext>
            </a:extLst>
          </p:cNvPr>
          <p:cNvSpPr/>
          <p:nvPr/>
        </p:nvSpPr>
        <p:spPr>
          <a:xfrm rot="10800000" flipH="1">
            <a:off x="2231309" y="3201585"/>
            <a:ext cx="25029" cy="128585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69" name="Rechteck 468">
            <a:extLst>
              <a:ext uri="{FF2B5EF4-FFF2-40B4-BE49-F238E27FC236}">
                <a16:creationId xmlns:a16="http://schemas.microsoft.com/office/drawing/2014/main" id="{8ABC2AEC-F862-746C-F680-631D8F2286DB}"/>
              </a:ext>
            </a:extLst>
          </p:cNvPr>
          <p:cNvSpPr/>
          <p:nvPr/>
        </p:nvSpPr>
        <p:spPr>
          <a:xfrm>
            <a:off x="2172259" y="3276299"/>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0" name="Rechteck 469">
            <a:extLst>
              <a:ext uri="{FF2B5EF4-FFF2-40B4-BE49-F238E27FC236}">
                <a16:creationId xmlns:a16="http://schemas.microsoft.com/office/drawing/2014/main" id="{B9A72DFD-2C21-0422-F9F9-76EB0BCC0E49}"/>
              </a:ext>
            </a:extLst>
          </p:cNvPr>
          <p:cNvSpPr/>
          <p:nvPr/>
        </p:nvSpPr>
        <p:spPr>
          <a:xfrm rot="10800000">
            <a:off x="1835983" y="3313408"/>
            <a:ext cx="467198" cy="6041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482" name="Gruppieren 481">
            <a:extLst>
              <a:ext uri="{FF2B5EF4-FFF2-40B4-BE49-F238E27FC236}">
                <a16:creationId xmlns:a16="http://schemas.microsoft.com/office/drawing/2014/main" id="{E7081FCC-1D28-38B8-3C47-4711C8A874C8}"/>
              </a:ext>
            </a:extLst>
          </p:cNvPr>
          <p:cNvGrpSpPr/>
          <p:nvPr/>
        </p:nvGrpSpPr>
        <p:grpSpPr>
          <a:xfrm>
            <a:off x="5812006" y="2727877"/>
            <a:ext cx="84270" cy="848225"/>
            <a:chOff x="2875162" y="1889677"/>
            <a:chExt cx="84270" cy="848225"/>
          </a:xfrm>
        </p:grpSpPr>
        <p:sp>
          <p:nvSpPr>
            <p:cNvPr id="483" name="Ellipse 482">
              <a:extLst>
                <a:ext uri="{FF2B5EF4-FFF2-40B4-BE49-F238E27FC236}">
                  <a16:creationId xmlns:a16="http://schemas.microsoft.com/office/drawing/2014/main" id="{0D868991-A143-6D9D-9054-E70387550542}"/>
                </a:ext>
              </a:extLst>
            </p:cNvPr>
            <p:cNvSpPr/>
            <p:nvPr/>
          </p:nvSpPr>
          <p:spPr>
            <a:xfrm>
              <a:off x="2875162" y="1889677"/>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165" name="Rechteck 164">
              <a:extLst>
                <a:ext uri="{FF2B5EF4-FFF2-40B4-BE49-F238E27FC236}">
                  <a16:creationId xmlns:a16="http://schemas.microsoft.com/office/drawing/2014/main" id="{4FA41439-225F-47E3-40BD-6AFE50BB8EF0}"/>
                </a:ext>
              </a:extLst>
            </p:cNvPr>
            <p:cNvSpPr/>
            <p:nvPr/>
          </p:nvSpPr>
          <p:spPr>
            <a:xfrm>
              <a:off x="28789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66" name="Flussdiagramm: Datenträger mit direktem Zugriff 165">
              <a:extLst>
                <a:ext uri="{FF2B5EF4-FFF2-40B4-BE49-F238E27FC236}">
                  <a16:creationId xmlns:a16="http://schemas.microsoft.com/office/drawing/2014/main" id="{9D49787A-3279-39E7-6E56-0AB7B81530B4}"/>
                </a:ext>
              </a:extLst>
            </p:cNvPr>
            <p:cNvSpPr/>
            <p:nvPr/>
          </p:nvSpPr>
          <p:spPr>
            <a:xfrm rot="5400000">
              <a:off x="28715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7" name="Flussdiagramm: Datenträger mit direktem Zugriff 166">
              <a:extLst>
                <a:ext uri="{FF2B5EF4-FFF2-40B4-BE49-F238E27FC236}">
                  <a16:creationId xmlns:a16="http://schemas.microsoft.com/office/drawing/2014/main" id="{53D1FE06-33E1-E656-F76B-DAE7514EBF22}"/>
                </a:ext>
              </a:extLst>
            </p:cNvPr>
            <p:cNvSpPr/>
            <p:nvPr/>
          </p:nvSpPr>
          <p:spPr>
            <a:xfrm rot="5400000">
              <a:off x="28715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8" name="Flussdiagramm: Datenträger mit direktem Zugriff 167">
              <a:extLst>
                <a:ext uri="{FF2B5EF4-FFF2-40B4-BE49-F238E27FC236}">
                  <a16:creationId xmlns:a16="http://schemas.microsoft.com/office/drawing/2014/main" id="{78691B89-CC70-81D3-7CD8-86C1B4D15EE0}"/>
                </a:ext>
              </a:extLst>
            </p:cNvPr>
            <p:cNvSpPr/>
            <p:nvPr/>
          </p:nvSpPr>
          <p:spPr>
            <a:xfrm rot="5400000">
              <a:off x="28715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169" name="Rechteck 168">
            <a:extLst>
              <a:ext uri="{FF2B5EF4-FFF2-40B4-BE49-F238E27FC236}">
                <a16:creationId xmlns:a16="http://schemas.microsoft.com/office/drawing/2014/main" id="{E7641ACE-FCEC-28FF-A72F-50A7D6E0DCA8}"/>
              </a:ext>
            </a:extLst>
          </p:cNvPr>
          <p:cNvSpPr/>
          <p:nvPr/>
        </p:nvSpPr>
        <p:spPr>
          <a:xfrm rot="5400000">
            <a:off x="5526707" y="3889468"/>
            <a:ext cx="652434" cy="53919"/>
          </a:xfrm>
          <a:prstGeom prst="rect">
            <a:avLst/>
          </a:prstGeom>
          <a:solidFill>
            <a:schemeClr val="bg1">
              <a:lumMod val="75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170" name="Ellipse 169">
            <a:extLst>
              <a:ext uri="{FF2B5EF4-FFF2-40B4-BE49-F238E27FC236}">
                <a16:creationId xmlns:a16="http://schemas.microsoft.com/office/drawing/2014/main" id="{F04FB185-3F68-F2A7-8D28-C5C08A8C23E7}"/>
              </a:ext>
            </a:extLst>
          </p:cNvPr>
          <p:cNvSpPr>
            <a:spLocks noChangeAspect="1"/>
          </p:cNvSpPr>
          <p:nvPr/>
        </p:nvSpPr>
        <p:spPr>
          <a:xfrm rot="5400000">
            <a:off x="5799653" y="4008348"/>
            <a:ext cx="504000" cy="504000"/>
          </a:xfrm>
          <a:prstGeom prst="ellipse">
            <a:avLst/>
          </a:prstGeom>
          <a:solidFill>
            <a:schemeClr val="bg1">
              <a:lumMod val="50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171" name="Flussdiagramm: Datenträger mit direktem Zugriff 170">
            <a:extLst>
              <a:ext uri="{FF2B5EF4-FFF2-40B4-BE49-F238E27FC236}">
                <a16:creationId xmlns:a16="http://schemas.microsoft.com/office/drawing/2014/main" id="{2B4DF15B-573A-3938-5A37-536B2A6D59F3}"/>
              </a:ext>
            </a:extLst>
          </p:cNvPr>
          <p:cNvSpPr/>
          <p:nvPr/>
        </p:nvSpPr>
        <p:spPr>
          <a:xfrm rot="19835810">
            <a:off x="6031141" y="42252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2" name="Flussdiagramm: Datenträger mit direktem Zugriff 171">
            <a:extLst>
              <a:ext uri="{FF2B5EF4-FFF2-40B4-BE49-F238E27FC236}">
                <a16:creationId xmlns:a16="http://schemas.microsoft.com/office/drawing/2014/main" id="{45DD39DB-1CE5-33B4-E4E3-3141FC5F32BA}"/>
              </a:ext>
            </a:extLst>
          </p:cNvPr>
          <p:cNvSpPr/>
          <p:nvPr/>
        </p:nvSpPr>
        <p:spPr>
          <a:xfrm rot="19835810">
            <a:off x="6056804" y="430376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3" name="Flussdiagramm: Datenträger mit direktem Zugriff 172">
            <a:extLst>
              <a:ext uri="{FF2B5EF4-FFF2-40B4-BE49-F238E27FC236}">
                <a16:creationId xmlns:a16="http://schemas.microsoft.com/office/drawing/2014/main" id="{1FCAD0B4-DB6B-B8E2-AC33-E4027B165E03}"/>
              </a:ext>
            </a:extLst>
          </p:cNvPr>
          <p:cNvSpPr/>
          <p:nvPr/>
        </p:nvSpPr>
        <p:spPr>
          <a:xfrm rot="3152920">
            <a:off x="5974136" y="431544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82" name="Flussdiagramm: Datenträger mit direktem Zugriff 181">
            <a:extLst>
              <a:ext uri="{FF2B5EF4-FFF2-40B4-BE49-F238E27FC236}">
                <a16:creationId xmlns:a16="http://schemas.microsoft.com/office/drawing/2014/main" id="{C6E9C633-CCBB-B646-80E3-F53E9A2E398E}"/>
              </a:ext>
            </a:extLst>
          </p:cNvPr>
          <p:cNvSpPr/>
          <p:nvPr/>
        </p:nvSpPr>
        <p:spPr>
          <a:xfrm rot="3152920">
            <a:off x="6066401" y="41393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4" name="Flussdiagramm: Datenträger mit direktem Zugriff 203">
            <a:extLst>
              <a:ext uri="{FF2B5EF4-FFF2-40B4-BE49-F238E27FC236}">
                <a16:creationId xmlns:a16="http://schemas.microsoft.com/office/drawing/2014/main" id="{B70B8281-EDD1-443F-D257-26099606644B}"/>
              </a:ext>
            </a:extLst>
          </p:cNvPr>
          <p:cNvSpPr/>
          <p:nvPr/>
        </p:nvSpPr>
        <p:spPr>
          <a:xfrm rot="1182316">
            <a:off x="6013673" y="43963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6" name="Flussdiagramm: Datenträger mit direktem Zugriff 215">
            <a:extLst>
              <a:ext uri="{FF2B5EF4-FFF2-40B4-BE49-F238E27FC236}">
                <a16:creationId xmlns:a16="http://schemas.microsoft.com/office/drawing/2014/main" id="{4B57DF78-5D7A-1910-DF85-38456D7204BD}"/>
              </a:ext>
            </a:extLst>
          </p:cNvPr>
          <p:cNvSpPr/>
          <p:nvPr/>
        </p:nvSpPr>
        <p:spPr>
          <a:xfrm rot="1182316">
            <a:off x="5986195" y="4144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7" name="Flussdiagramm: Datenträger mit direktem Zugriff 216">
            <a:extLst>
              <a:ext uri="{FF2B5EF4-FFF2-40B4-BE49-F238E27FC236}">
                <a16:creationId xmlns:a16="http://schemas.microsoft.com/office/drawing/2014/main" id="{563B5D18-1E1A-8B1F-0BE0-885AC0041F6A}"/>
              </a:ext>
            </a:extLst>
          </p:cNvPr>
          <p:cNvSpPr/>
          <p:nvPr/>
        </p:nvSpPr>
        <p:spPr>
          <a:xfrm rot="3152920">
            <a:off x="6154146" y="427177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3" name="Flussdiagramm: Datenträger mit direktem Zugriff 222">
            <a:extLst>
              <a:ext uri="{FF2B5EF4-FFF2-40B4-BE49-F238E27FC236}">
                <a16:creationId xmlns:a16="http://schemas.microsoft.com/office/drawing/2014/main" id="{D8AA6545-76EE-DFDD-6B60-A8BF0B171A1C}"/>
              </a:ext>
            </a:extLst>
          </p:cNvPr>
          <p:cNvSpPr/>
          <p:nvPr/>
        </p:nvSpPr>
        <p:spPr>
          <a:xfrm rot="5400000">
            <a:off x="5805861" y="384965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5" name="Flussdiagramm: Datenträger mit direktem Zugriff 224">
            <a:extLst>
              <a:ext uri="{FF2B5EF4-FFF2-40B4-BE49-F238E27FC236}">
                <a16:creationId xmlns:a16="http://schemas.microsoft.com/office/drawing/2014/main" id="{65AFC3C5-E0AA-ADA1-F965-3D56FEC20585}"/>
              </a:ext>
            </a:extLst>
          </p:cNvPr>
          <p:cNvSpPr/>
          <p:nvPr/>
        </p:nvSpPr>
        <p:spPr>
          <a:xfrm rot="5400000">
            <a:off x="5804681" y="39518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7" name="Flussdiagramm: Datenträger mit direktem Zugriff 226">
            <a:extLst>
              <a:ext uri="{FF2B5EF4-FFF2-40B4-BE49-F238E27FC236}">
                <a16:creationId xmlns:a16="http://schemas.microsoft.com/office/drawing/2014/main" id="{605D5AC9-F381-FE8C-A9F7-55F3CCF541C5}"/>
              </a:ext>
            </a:extLst>
          </p:cNvPr>
          <p:cNvSpPr/>
          <p:nvPr/>
        </p:nvSpPr>
        <p:spPr>
          <a:xfrm rot="5400000">
            <a:off x="5808242" y="36516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Flussdiagramm: Datenträger mit direktem Zugriff 227">
            <a:extLst>
              <a:ext uri="{FF2B5EF4-FFF2-40B4-BE49-F238E27FC236}">
                <a16:creationId xmlns:a16="http://schemas.microsoft.com/office/drawing/2014/main" id="{0B00C7AE-A184-31D7-551D-70F4FBD8BA8E}"/>
              </a:ext>
            </a:extLst>
          </p:cNvPr>
          <p:cNvSpPr/>
          <p:nvPr/>
        </p:nvSpPr>
        <p:spPr>
          <a:xfrm rot="5400000">
            <a:off x="5807062" y="375390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0" name="Rechteck 229">
            <a:extLst>
              <a:ext uri="{FF2B5EF4-FFF2-40B4-BE49-F238E27FC236}">
                <a16:creationId xmlns:a16="http://schemas.microsoft.com/office/drawing/2014/main" id="{F9E781A4-A3D5-66C8-0C66-0C388354DAB2}"/>
              </a:ext>
            </a:extLst>
          </p:cNvPr>
          <p:cNvSpPr/>
          <p:nvPr/>
        </p:nvSpPr>
        <p:spPr>
          <a:xfrm rot="5400000">
            <a:off x="5692968" y="3591887"/>
            <a:ext cx="593894" cy="12173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6F9ED804-414B-5243-D641-343C253EEB82}"/>
              </a:ext>
            </a:extLst>
          </p:cNvPr>
          <p:cNvSpPr/>
          <p:nvPr/>
        </p:nvSpPr>
        <p:spPr>
          <a:xfrm rot="10800000">
            <a:off x="5800820" y="3618193"/>
            <a:ext cx="259721" cy="457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32" name="Flussdiagramm: Datenträger mit direktem Zugriff 231">
            <a:extLst>
              <a:ext uri="{FF2B5EF4-FFF2-40B4-BE49-F238E27FC236}">
                <a16:creationId xmlns:a16="http://schemas.microsoft.com/office/drawing/2014/main" id="{49708CA1-6520-80DF-51E5-886D5726DF45}"/>
              </a:ext>
            </a:extLst>
          </p:cNvPr>
          <p:cNvSpPr/>
          <p:nvPr/>
        </p:nvSpPr>
        <p:spPr>
          <a:xfrm rot="8821425">
            <a:off x="5911029" y="43331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3" name="Flussdiagramm: Datenträger mit direktem Zugriff 232">
            <a:extLst>
              <a:ext uri="{FF2B5EF4-FFF2-40B4-BE49-F238E27FC236}">
                <a16:creationId xmlns:a16="http://schemas.microsoft.com/office/drawing/2014/main" id="{E5096D68-0BA9-411B-00A5-2E7851350A21}"/>
              </a:ext>
            </a:extLst>
          </p:cNvPr>
          <p:cNvSpPr/>
          <p:nvPr/>
        </p:nvSpPr>
        <p:spPr>
          <a:xfrm rot="5400000">
            <a:off x="5816568" y="425562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4" name="Flussdiagramm: Datenträger mit direktem Zugriff 233">
            <a:extLst>
              <a:ext uri="{FF2B5EF4-FFF2-40B4-BE49-F238E27FC236}">
                <a16:creationId xmlns:a16="http://schemas.microsoft.com/office/drawing/2014/main" id="{6434622B-15E5-061F-4343-F40721713604}"/>
              </a:ext>
            </a:extLst>
          </p:cNvPr>
          <p:cNvSpPr/>
          <p:nvPr/>
        </p:nvSpPr>
        <p:spPr>
          <a:xfrm rot="3152920">
            <a:off x="5846125" y="437555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9" name="Flussdiagramm: Datenträger mit direktem Zugriff 238">
            <a:extLst>
              <a:ext uri="{FF2B5EF4-FFF2-40B4-BE49-F238E27FC236}">
                <a16:creationId xmlns:a16="http://schemas.microsoft.com/office/drawing/2014/main" id="{344C2343-0C63-203F-796A-C4673F26C5E8}"/>
              </a:ext>
            </a:extLst>
          </p:cNvPr>
          <p:cNvSpPr/>
          <p:nvPr/>
        </p:nvSpPr>
        <p:spPr>
          <a:xfrm rot="3152920">
            <a:off x="5851917" y="419637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40" name="Gruppieren 239">
            <a:extLst>
              <a:ext uri="{FF2B5EF4-FFF2-40B4-BE49-F238E27FC236}">
                <a16:creationId xmlns:a16="http://schemas.microsoft.com/office/drawing/2014/main" id="{06210E0D-3ED5-7C60-5AC6-97C2A0FC3CE9}"/>
              </a:ext>
            </a:extLst>
          </p:cNvPr>
          <p:cNvGrpSpPr/>
          <p:nvPr/>
        </p:nvGrpSpPr>
        <p:grpSpPr>
          <a:xfrm rot="10800000">
            <a:off x="5838838" y="2716456"/>
            <a:ext cx="75705" cy="277927"/>
            <a:chOff x="3476670" y="3647733"/>
            <a:chExt cx="75705" cy="277927"/>
          </a:xfrm>
        </p:grpSpPr>
        <p:sp>
          <p:nvSpPr>
            <p:cNvPr id="241" name="Rechteck 240">
              <a:extLst>
                <a:ext uri="{FF2B5EF4-FFF2-40B4-BE49-F238E27FC236}">
                  <a16:creationId xmlns:a16="http://schemas.microsoft.com/office/drawing/2014/main" id="{49E62907-ECC8-F2FD-0D46-43EECB594A3C}"/>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2" name="Verbinder: gekrümmt 241">
              <a:extLst>
                <a:ext uri="{FF2B5EF4-FFF2-40B4-BE49-F238E27FC236}">
                  <a16:creationId xmlns:a16="http://schemas.microsoft.com/office/drawing/2014/main" id="{20672444-4CDB-959B-4171-343FF2DFE24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243" name="Flussdiagramm: Datenträger mit direktem Zugriff 242">
            <a:extLst>
              <a:ext uri="{FF2B5EF4-FFF2-40B4-BE49-F238E27FC236}">
                <a16:creationId xmlns:a16="http://schemas.microsoft.com/office/drawing/2014/main" id="{AEDEC19F-94A9-FE81-0B55-8113C486361E}"/>
              </a:ext>
            </a:extLst>
          </p:cNvPr>
          <p:cNvSpPr/>
          <p:nvPr/>
        </p:nvSpPr>
        <p:spPr>
          <a:xfrm rot="5400000">
            <a:off x="5801221" y="288170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 name="Flussdiagramm: Datenträger mit direktem Zugriff 5">
            <a:extLst>
              <a:ext uri="{FF2B5EF4-FFF2-40B4-BE49-F238E27FC236}">
                <a16:creationId xmlns:a16="http://schemas.microsoft.com/office/drawing/2014/main" id="{056591C9-EDD6-C0DD-D2BB-6D7D9E9B663B}"/>
              </a:ext>
            </a:extLst>
          </p:cNvPr>
          <p:cNvSpPr/>
          <p:nvPr/>
        </p:nvSpPr>
        <p:spPr>
          <a:xfrm rot="5400000">
            <a:off x="6158411" y="288647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 name="Flussdiagramm: Datenträger mit direktem Zugriff 16">
            <a:extLst>
              <a:ext uri="{FF2B5EF4-FFF2-40B4-BE49-F238E27FC236}">
                <a16:creationId xmlns:a16="http://schemas.microsoft.com/office/drawing/2014/main" id="{F01F81A8-77EE-1C3E-0A32-7853AFD0C9A0}"/>
              </a:ext>
            </a:extLst>
          </p:cNvPr>
          <p:cNvSpPr/>
          <p:nvPr/>
        </p:nvSpPr>
        <p:spPr>
          <a:xfrm rot="5400000">
            <a:off x="6484642" y="289361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 name="Flussdiagramm: Datenträger mit direktem Zugriff 20">
            <a:extLst>
              <a:ext uri="{FF2B5EF4-FFF2-40B4-BE49-F238E27FC236}">
                <a16:creationId xmlns:a16="http://schemas.microsoft.com/office/drawing/2014/main" id="{E9D9450A-32B2-3BE9-026B-2A9FE915376D}"/>
              </a:ext>
            </a:extLst>
          </p:cNvPr>
          <p:cNvSpPr/>
          <p:nvPr/>
        </p:nvSpPr>
        <p:spPr>
          <a:xfrm rot="5400000">
            <a:off x="6806110" y="289837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 name="Flussdiagramm: Datenträger mit direktem Zugriff 25">
            <a:extLst>
              <a:ext uri="{FF2B5EF4-FFF2-40B4-BE49-F238E27FC236}">
                <a16:creationId xmlns:a16="http://schemas.microsoft.com/office/drawing/2014/main" id="{515EC16F-5D91-1060-E71E-5528C6DA1F2F}"/>
              </a:ext>
            </a:extLst>
          </p:cNvPr>
          <p:cNvSpPr/>
          <p:nvPr/>
        </p:nvSpPr>
        <p:spPr>
          <a:xfrm rot="5400000">
            <a:off x="7137107" y="289361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1" name="Flussdiagramm: Datenträger mit direktem Zugriff 30">
            <a:extLst>
              <a:ext uri="{FF2B5EF4-FFF2-40B4-BE49-F238E27FC236}">
                <a16:creationId xmlns:a16="http://schemas.microsoft.com/office/drawing/2014/main" id="{037262A1-2947-5607-B644-2887FFC49286}"/>
              </a:ext>
            </a:extLst>
          </p:cNvPr>
          <p:cNvSpPr/>
          <p:nvPr/>
        </p:nvSpPr>
        <p:spPr>
          <a:xfrm rot="5400000">
            <a:off x="7460961" y="289837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3" name="Flussdiagramm: Datenträger mit direktem Zugriff 32">
            <a:extLst>
              <a:ext uri="{FF2B5EF4-FFF2-40B4-BE49-F238E27FC236}">
                <a16:creationId xmlns:a16="http://schemas.microsoft.com/office/drawing/2014/main" id="{053C6558-1E4E-E455-FA30-051E3CFBC7D5}"/>
              </a:ext>
            </a:extLst>
          </p:cNvPr>
          <p:cNvSpPr/>
          <p:nvPr/>
        </p:nvSpPr>
        <p:spPr>
          <a:xfrm rot="5400000">
            <a:off x="7789576" y="288647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 name="Flussdiagramm: Datenträger mit direktem Zugriff 49">
            <a:extLst>
              <a:ext uri="{FF2B5EF4-FFF2-40B4-BE49-F238E27FC236}">
                <a16:creationId xmlns:a16="http://schemas.microsoft.com/office/drawing/2014/main" id="{CC712329-36D3-B698-8B56-2E86A74C4F61}"/>
              </a:ext>
            </a:extLst>
          </p:cNvPr>
          <p:cNvSpPr/>
          <p:nvPr/>
        </p:nvSpPr>
        <p:spPr>
          <a:xfrm rot="5400000">
            <a:off x="8120573" y="288885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5" name="Flussdiagramm: Datenträger mit direktem Zugriff 454">
            <a:extLst>
              <a:ext uri="{FF2B5EF4-FFF2-40B4-BE49-F238E27FC236}">
                <a16:creationId xmlns:a16="http://schemas.microsoft.com/office/drawing/2014/main" id="{6A2B17EB-0E38-B2E2-C090-88F1F690D2EA}"/>
              </a:ext>
            </a:extLst>
          </p:cNvPr>
          <p:cNvSpPr/>
          <p:nvPr/>
        </p:nvSpPr>
        <p:spPr>
          <a:xfrm rot="5400000">
            <a:off x="8453946" y="289599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7" name="Flussdiagramm: Datenträger mit direktem Zugriff 456">
            <a:extLst>
              <a:ext uri="{FF2B5EF4-FFF2-40B4-BE49-F238E27FC236}">
                <a16:creationId xmlns:a16="http://schemas.microsoft.com/office/drawing/2014/main" id="{AF56228F-106F-435D-BA66-2FE9E6CC09EC}"/>
              </a:ext>
            </a:extLst>
          </p:cNvPr>
          <p:cNvSpPr/>
          <p:nvPr/>
        </p:nvSpPr>
        <p:spPr>
          <a:xfrm rot="5400000">
            <a:off x="8815900" y="328890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63" name="Gruppieren 462">
            <a:extLst>
              <a:ext uri="{FF2B5EF4-FFF2-40B4-BE49-F238E27FC236}">
                <a16:creationId xmlns:a16="http://schemas.microsoft.com/office/drawing/2014/main" id="{2E647A0C-93DD-C70E-A0DB-7B4C9CA62523}"/>
              </a:ext>
            </a:extLst>
          </p:cNvPr>
          <p:cNvGrpSpPr/>
          <p:nvPr/>
        </p:nvGrpSpPr>
        <p:grpSpPr>
          <a:xfrm>
            <a:off x="4847234" y="2998917"/>
            <a:ext cx="69580" cy="193454"/>
            <a:chOff x="2849757" y="2999802"/>
            <a:chExt cx="69580" cy="193454"/>
          </a:xfrm>
        </p:grpSpPr>
        <p:sp>
          <p:nvSpPr>
            <p:cNvPr id="464" name="Rechteck 463">
              <a:extLst>
                <a:ext uri="{FF2B5EF4-FFF2-40B4-BE49-F238E27FC236}">
                  <a16:creationId xmlns:a16="http://schemas.microsoft.com/office/drawing/2014/main" id="{B890BDCB-31EF-2C02-60D6-F9000B86DCE9}"/>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65" name="Gerade Verbindung mit Pfeil 464">
              <a:extLst>
                <a:ext uri="{FF2B5EF4-FFF2-40B4-BE49-F238E27FC236}">
                  <a16:creationId xmlns:a16="http://schemas.microsoft.com/office/drawing/2014/main" id="{6ED3E6A4-2226-79E3-EBF4-7E2C424E38A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8" name="Gruppieren 217">
            <a:extLst>
              <a:ext uri="{FF2B5EF4-FFF2-40B4-BE49-F238E27FC236}">
                <a16:creationId xmlns:a16="http://schemas.microsoft.com/office/drawing/2014/main" id="{A2B7AA3F-3CC5-B640-E556-E69F459775C2}"/>
              </a:ext>
            </a:extLst>
          </p:cNvPr>
          <p:cNvGrpSpPr/>
          <p:nvPr/>
        </p:nvGrpSpPr>
        <p:grpSpPr>
          <a:xfrm>
            <a:off x="4819052" y="280578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842186" y="2778148"/>
            <a:ext cx="90077" cy="28388"/>
          </a:xfrm>
          <a:prstGeom prst="rect">
            <a:avLst/>
          </a:prstGeom>
        </p:spPr>
      </p:pic>
    </p:spTree>
    <p:extLst>
      <p:ext uri="{BB962C8B-B14F-4D97-AF65-F5344CB8AC3E}">
        <p14:creationId xmlns:p14="http://schemas.microsoft.com/office/powerpoint/2010/main" val="140421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8" name="Verbinder: gekrümmt 237">
            <a:extLst>
              <a:ext uri="{FF2B5EF4-FFF2-40B4-BE49-F238E27FC236}">
                <a16:creationId xmlns:a16="http://schemas.microsoft.com/office/drawing/2014/main" id="{BC7BEA59-2F11-62DC-6BFF-7B211717EC32}"/>
              </a:ext>
            </a:extLst>
          </p:cNvPr>
          <p:cNvCxnSpPr>
            <a:cxnSpLocks/>
            <a:endCxn id="237" idx="0"/>
          </p:cNvCxnSpPr>
          <p:nvPr/>
        </p:nvCxnSpPr>
        <p:spPr>
          <a:xfrm rot="5400000">
            <a:off x="5348364" y="3068755"/>
            <a:ext cx="1024539" cy="921189"/>
          </a:xfrm>
          <a:prstGeom prst="curvedConnector3">
            <a:avLst>
              <a:gd name="adj1" fmla="val 78510"/>
            </a:avLst>
          </a:prstGeom>
          <a:ln/>
        </p:spPr>
        <p:style>
          <a:lnRef idx="3">
            <a:schemeClr val="dk1"/>
          </a:lnRef>
          <a:fillRef idx="0">
            <a:schemeClr val="dk1"/>
          </a:fillRef>
          <a:effectRef idx="2">
            <a:schemeClr val="dk1"/>
          </a:effectRef>
          <a:fontRef idx="minor">
            <a:schemeClr val="tx1"/>
          </a:fontRef>
        </p:style>
      </p:cxnSp>
      <p:sp>
        <p:nvSpPr>
          <p:cNvPr id="120" name="Rechteck 119">
            <a:extLst>
              <a:ext uri="{FF2B5EF4-FFF2-40B4-BE49-F238E27FC236}">
                <a16:creationId xmlns:a16="http://schemas.microsoft.com/office/drawing/2014/main" id="{B38364BA-B878-38A4-5D7D-1C74AD4F112C}"/>
              </a:ext>
            </a:extLst>
          </p:cNvPr>
          <p:cNvSpPr/>
          <p:nvPr/>
        </p:nvSpPr>
        <p:spPr>
          <a:xfrm rot="5400000">
            <a:off x="5318525" y="3565446"/>
            <a:ext cx="1507805" cy="50530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0" name="Gruppieren 19">
            <a:extLst>
              <a:ext uri="{FF2B5EF4-FFF2-40B4-BE49-F238E27FC236}">
                <a16:creationId xmlns:a16="http://schemas.microsoft.com/office/drawing/2014/main" id="{ACFE0D5F-CE55-03B2-F731-CDA0707147EE}"/>
              </a:ext>
            </a:extLst>
          </p:cNvPr>
          <p:cNvGrpSpPr/>
          <p:nvPr/>
        </p:nvGrpSpPr>
        <p:grpSpPr>
          <a:xfrm rot="10800000">
            <a:off x="7845336" y="2609346"/>
            <a:ext cx="69580" cy="193454"/>
            <a:chOff x="2849757" y="2999802"/>
            <a:chExt cx="69580" cy="193454"/>
          </a:xfrm>
        </p:grpSpPr>
        <p:sp>
          <p:nvSpPr>
            <p:cNvPr id="27" name="Rechteck 26">
              <a:extLst>
                <a:ext uri="{FF2B5EF4-FFF2-40B4-BE49-F238E27FC236}">
                  <a16:creationId xmlns:a16="http://schemas.microsoft.com/office/drawing/2014/main" id="{583FB0EC-AC27-6401-BF1A-BE88E8F196D7}"/>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36" name="Gerade Verbindung mit Pfeil 35">
              <a:extLst>
                <a:ext uri="{FF2B5EF4-FFF2-40B4-BE49-F238E27FC236}">
                  <a16:creationId xmlns:a16="http://schemas.microsoft.com/office/drawing/2014/main" id="{8548AD3D-AAC7-8D95-A99A-172026412AA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8" name="Gruppieren 7">
            <a:extLst>
              <a:ext uri="{FF2B5EF4-FFF2-40B4-BE49-F238E27FC236}">
                <a16:creationId xmlns:a16="http://schemas.microsoft.com/office/drawing/2014/main" id="{91EB62AD-6A9B-8E12-6B1E-14E83BA5CF07}"/>
              </a:ext>
            </a:extLst>
          </p:cNvPr>
          <p:cNvGrpSpPr/>
          <p:nvPr/>
        </p:nvGrpSpPr>
        <p:grpSpPr>
          <a:xfrm>
            <a:off x="4474445" y="2996250"/>
            <a:ext cx="69580" cy="193454"/>
            <a:chOff x="2849757" y="2999802"/>
            <a:chExt cx="69580" cy="193454"/>
          </a:xfrm>
        </p:grpSpPr>
        <p:sp>
          <p:nvSpPr>
            <p:cNvPr id="17" name="Rechteck 16">
              <a:extLst>
                <a:ext uri="{FF2B5EF4-FFF2-40B4-BE49-F238E27FC236}">
                  <a16:creationId xmlns:a16="http://schemas.microsoft.com/office/drawing/2014/main" id="{F9488ED4-77DD-3B16-ABBF-379404C8457E}"/>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18" name="Gerade Verbindung mit Pfeil 17">
              <a:extLst>
                <a:ext uri="{FF2B5EF4-FFF2-40B4-BE49-F238E27FC236}">
                  <a16:creationId xmlns:a16="http://schemas.microsoft.com/office/drawing/2014/main" id="{C538A8FF-19C7-F1A8-B658-BE522A8D0EDE}"/>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cxnSp>
        <p:nvCxnSpPr>
          <p:cNvPr id="461" name="Verbinder: gekrümmt 460">
            <a:extLst>
              <a:ext uri="{FF2B5EF4-FFF2-40B4-BE49-F238E27FC236}">
                <a16:creationId xmlns:a16="http://schemas.microsoft.com/office/drawing/2014/main" id="{EE5F864C-5000-50A7-1D5F-78EA74544B6B}"/>
              </a:ext>
            </a:extLst>
          </p:cNvPr>
          <p:cNvCxnSpPr>
            <a:cxnSpLocks/>
            <a:stCxn id="460" idx="0"/>
          </p:cNvCxnSpPr>
          <p:nvPr/>
        </p:nvCxnSpPr>
        <p:spPr>
          <a:xfrm rot="16200000" flipV="1">
            <a:off x="4012862" y="3397204"/>
            <a:ext cx="1245982" cy="42238"/>
          </a:xfrm>
          <a:prstGeom prst="curvedConnector3">
            <a:avLst>
              <a:gd name="adj1" fmla="val 50000"/>
            </a:avLst>
          </a:prstGeom>
          <a:ln/>
        </p:spPr>
        <p:style>
          <a:lnRef idx="3">
            <a:schemeClr val="dk1"/>
          </a:lnRef>
          <a:fillRef idx="0">
            <a:schemeClr val="dk1"/>
          </a:fillRef>
          <a:effectRef idx="2">
            <a:schemeClr val="dk1"/>
          </a:effectRef>
          <a:fontRef idx="minor">
            <a:schemeClr val="tx1"/>
          </a:fontRef>
        </p:style>
      </p:cxnSp>
      <p:sp>
        <p:nvSpPr>
          <p:cNvPr id="459" name="Rechteck 458">
            <a:extLst>
              <a:ext uri="{FF2B5EF4-FFF2-40B4-BE49-F238E27FC236}">
                <a16:creationId xmlns:a16="http://schemas.microsoft.com/office/drawing/2014/main" id="{D56016DB-7E6B-D9F1-3910-F0EB645996BC}"/>
              </a:ext>
            </a:extLst>
          </p:cNvPr>
          <p:cNvSpPr/>
          <p:nvPr/>
        </p:nvSpPr>
        <p:spPr>
          <a:xfrm rot="5400000">
            <a:off x="4665593" y="2430989"/>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7506445"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43" name="Gruppieren 442">
            <a:extLst>
              <a:ext uri="{FF2B5EF4-FFF2-40B4-BE49-F238E27FC236}">
                <a16:creationId xmlns:a16="http://schemas.microsoft.com/office/drawing/2014/main" id="{8DCFAD51-652D-34FA-96C0-4F151F44461C}"/>
              </a:ext>
            </a:extLst>
          </p:cNvPr>
          <p:cNvGrpSpPr/>
          <p:nvPr/>
        </p:nvGrpSpPr>
        <p:grpSpPr>
          <a:xfrm rot="10800000">
            <a:off x="6207306" y="2609785"/>
            <a:ext cx="69580" cy="193454"/>
            <a:chOff x="2849757" y="2999802"/>
            <a:chExt cx="69580" cy="193454"/>
          </a:xfrm>
        </p:grpSpPr>
        <p:sp>
          <p:nvSpPr>
            <p:cNvPr id="444" name="Rechteck 443">
              <a:extLst>
                <a:ext uri="{FF2B5EF4-FFF2-40B4-BE49-F238E27FC236}">
                  <a16:creationId xmlns:a16="http://schemas.microsoft.com/office/drawing/2014/main" id="{FF747A45-0BFA-0A16-D62E-F70D98595F1B}"/>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5" name="Gerade Verbindung mit Pfeil 444">
              <a:extLst>
                <a:ext uri="{FF2B5EF4-FFF2-40B4-BE49-F238E27FC236}">
                  <a16:creationId xmlns:a16="http://schemas.microsoft.com/office/drawing/2014/main" id="{27E54FC0-AE8A-2F82-C204-38A04B0FBB8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5" name="Gruppieren 434">
            <a:extLst>
              <a:ext uri="{FF2B5EF4-FFF2-40B4-BE49-F238E27FC236}">
                <a16:creationId xmlns:a16="http://schemas.microsoft.com/office/drawing/2014/main" id="{9F52DBC8-0273-2A18-8576-B8A996B7A106}"/>
              </a:ext>
            </a:extLst>
          </p:cNvPr>
          <p:cNvGrpSpPr/>
          <p:nvPr/>
        </p:nvGrpSpPr>
        <p:grpSpPr>
          <a:xfrm>
            <a:off x="4158547" y="2993789"/>
            <a:ext cx="69580" cy="193454"/>
            <a:chOff x="2849757" y="2999802"/>
            <a:chExt cx="69580" cy="193454"/>
          </a:xfrm>
        </p:grpSpPr>
        <p:sp>
          <p:nvSpPr>
            <p:cNvPr id="436" name="Rechteck 435">
              <a:extLst>
                <a:ext uri="{FF2B5EF4-FFF2-40B4-BE49-F238E27FC236}">
                  <a16:creationId xmlns:a16="http://schemas.microsoft.com/office/drawing/2014/main" id="{9BA7E1A2-4B34-531E-F75D-E2413EAB2F5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7" name="Gerade Verbindung mit Pfeil 436">
              <a:extLst>
                <a:ext uri="{FF2B5EF4-FFF2-40B4-BE49-F238E27FC236}">
                  <a16:creationId xmlns:a16="http://schemas.microsoft.com/office/drawing/2014/main" id="{43DCC557-25D4-CBE2-CF45-0396F6CBE2B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23" name="Ellipse 422">
            <a:extLst>
              <a:ext uri="{FF2B5EF4-FFF2-40B4-BE49-F238E27FC236}">
                <a16:creationId xmlns:a16="http://schemas.microsoft.com/office/drawing/2014/main" id="{5BF27D1F-6628-8AAA-CEAB-3EA3D6986126}"/>
              </a:ext>
            </a:extLst>
          </p:cNvPr>
          <p:cNvSpPr/>
          <p:nvPr/>
        </p:nvSpPr>
        <p:spPr>
          <a:xfrm>
            <a:off x="25482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D88FA469-4905-4CE8-826B-317175BFEEBA}"/>
              </a:ext>
            </a:extLst>
          </p:cNvPr>
          <p:cNvSpPr/>
          <p:nvPr/>
        </p:nvSpPr>
        <p:spPr>
          <a:xfrm>
            <a:off x="738883" y="4768562"/>
            <a:ext cx="1440000" cy="1876078"/>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rot="5400000">
            <a:off x="9077248" y="3432480"/>
            <a:ext cx="1284899" cy="68943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005434"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5345189"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4616175" y="1748896"/>
            <a:ext cx="1416563" cy="628773"/>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4624342"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2128508" y="2819901"/>
            <a:ext cx="7415542"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9" name="Rechteck 108">
            <a:extLst>
              <a:ext uri="{FF2B5EF4-FFF2-40B4-BE49-F238E27FC236}">
                <a16:creationId xmlns:a16="http://schemas.microsoft.com/office/drawing/2014/main" id="{D6BE3DC5-2F9C-3597-3B5D-75EAB6AD6AA2}"/>
              </a:ext>
            </a:extLst>
          </p:cNvPr>
          <p:cNvSpPr/>
          <p:nvPr/>
        </p:nvSpPr>
        <p:spPr>
          <a:xfrm rot="5400000">
            <a:off x="14671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23024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err="1"/>
              <a:t>Cuting</a:t>
            </a:r>
            <a:endParaRPr lang="de-DE" sz="1100" dirty="0"/>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5832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54" name="Zylinder 53">
            <a:extLst>
              <a:ext uri="{FF2B5EF4-FFF2-40B4-BE49-F238E27FC236}">
                <a16:creationId xmlns:a16="http://schemas.microsoft.com/office/drawing/2014/main" id="{E2EB6F2D-00D9-D8CB-B3C9-73FF6DADAC42}"/>
              </a:ext>
            </a:extLst>
          </p:cNvPr>
          <p:cNvSpPr/>
          <p:nvPr/>
        </p:nvSpPr>
        <p:spPr>
          <a:xfrm>
            <a:off x="9765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2522923" y="279609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73" name="Rechteck 72">
            <a:extLst>
              <a:ext uri="{FF2B5EF4-FFF2-40B4-BE49-F238E27FC236}">
                <a16:creationId xmlns:a16="http://schemas.microsoft.com/office/drawing/2014/main" id="{6E3495E2-4F5E-64AD-719A-D351370371C6}"/>
              </a:ext>
            </a:extLst>
          </p:cNvPr>
          <p:cNvSpPr/>
          <p:nvPr/>
        </p:nvSpPr>
        <p:spPr>
          <a:xfrm rot="10800000" flipH="1">
            <a:off x="2568564" y="3227183"/>
            <a:ext cx="25029" cy="128585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81" name="Gruppieren 80">
            <a:extLst>
              <a:ext uri="{FF2B5EF4-FFF2-40B4-BE49-F238E27FC236}">
                <a16:creationId xmlns:a16="http://schemas.microsoft.com/office/drawing/2014/main" id="{E58F645D-9B46-481B-3807-1CF991C3F52B}"/>
              </a:ext>
            </a:extLst>
          </p:cNvPr>
          <p:cNvGrpSpPr/>
          <p:nvPr/>
        </p:nvGrpSpPr>
        <p:grpSpPr>
          <a:xfrm>
            <a:off x="2803425" y="281127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3123821" y="280640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3458151" y="274449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792626" y="280640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4126884" y="280895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4455067" y="280640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6878536"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6" name="Gruppieren 5">
            <a:extLst>
              <a:ext uri="{FF2B5EF4-FFF2-40B4-BE49-F238E27FC236}">
                <a16:creationId xmlns:a16="http://schemas.microsoft.com/office/drawing/2014/main" id="{4F45DF49-5A88-7C59-7AC6-85F2F8DEF968}"/>
              </a:ext>
            </a:extLst>
          </p:cNvPr>
          <p:cNvGrpSpPr/>
          <p:nvPr/>
        </p:nvGrpSpPr>
        <p:grpSpPr>
          <a:xfrm>
            <a:off x="5831054" y="2727877"/>
            <a:ext cx="84270" cy="848225"/>
            <a:chOff x="2875162" y="1889677"/>
            <a:chExt cx="84270" cy="848225"/>
          </a:xfrm>
        </p:grpSpPr>
        <p:sp>
          <p:nvSpPr>
            <p:cNvPr id="434" name="Ellipse 433">
              <a:extLst>
                <a:ext uri="{FF2B5EF4-FFF2-40B4-BE49-F238E27FC236}">
                  <a16:creationId xmlns:a16="http://schemas.microsoft.com/office/drawing/2014/main" id="{DD74DF63-9DFC-378C-AB35-9BC15F46C3E9}"/>
                </a:ext>
              </a:extLst>
            </p:cNvPr>
            <p:cNvSpPr/>
            <p:nvPr/>
          </p:nvSpPr>
          <p:spPr>
            <a:xfrm>
              <a:off x="2875162" y="1889677"/>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123" name="Rechteck 122">
              <a:extLst>
                <a:ext uri="{FF2B5EF4-FFF2-40B4-BE49-F238E27FC236}">
                  <a16:creationId xmlns:a16="http://schemas.microsoft.com/office/drawing/2014/main" id="{7FF9CB88-7098-6BDB-FE52-C227A076CBBA}"/>
                </a:ext>
              </a:extLst>
            </p:cNvPr>
            <p:cNvSpPr/>
            <p:nvPr/>
          </p:nvSpPr>
          <p:spPr>
            <a:xfrm>
              <a:off x="28789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7" name="Flussdiagramm: Datenträger mit direktem Zugriff 116">
              <a:extLst>
                <a:ext uri="{FF2B5EF4-FFF2-40B4-BE49-F238E27FC236}">
                  <a16:creationId xmlns:a16="http://schemas.microsoft.com/office/drawing/2014/main" id="{CC1A8905-7DDE-34E0-DE3A-E62514BB59E9}"/>
                </a:ext>
              </a:extLst>
            </p:cNvPr>
            <p:cNvSpPr/>
            <p:nvPr/>
          </p:nvSpPr>
          <p:spPr>
            <a:xfrm rot="5400000">
              <a:off x="28715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8" name="Flussdiagramm: Datenträger mit direktem Zugriff 117">
              <a:extLst>
                <a:ext uri="{FF2B5EF4-FFF2-40B4-BE49-F238E27FC236}">
                  <a16:creationId xmlns:a16="http://schemas.microsoft.com/office/drawing/2014/main" id="{0530DD74-AFFA-547F-813F-6736FD5E629B}"/>
                </a:ext>
              </a:extLst>
            </p:cNvPr>
            <p:cNvSpPr/>
            <p:nvPr/>
          </p:nvSpPr>
          <p:spPr>
            <a:xfrm rot="5400000">
              <a:off x="28715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9" name="Flussdiagramm: Datenträger mit direktem Zugriff 118">
              <a:extLst>
                <a:ext uri="{FF2B5EF4-FFF2-40B4-BE49-F238E27FC236}">
                  <a16:creationId xmlns:a16="http://schemas.microsoft.com/office/drawing/2014/main" id="{94FF3375-600C-7594-2005-8B2390FD854D}"/>
                </a:ext>
              </a:extLst>
            </p:cNvPr>
            <p:cNvSpPr/>
            <p:nvPr/>
          </p:nvSpPr>
          <p:spPr>
            <a:xfrm rot="5400000">
              <a:off x="28715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128" name="Rechteck 127">
            <a:extLst>
              <a:ext uri="{FF2B5EF4-FFF2-40B4-BE49-F238E27FC236}">
                <a16:creationId xmlns:a16="http://schemas.microsoft.com/office/drawing/2014/main" id="{0074B172-7F57-FC56-61A8-D63928DF8B6B}"/>
              </a:ext>
            </a:extLst>
          </p:cNvPr>
          <p:cNvSpPr/>
          <p:nvPr/>
        </p:nvSpPr>
        <p:spPr>
          <a:xfrm rot="5400000">
            <a:off x="2656937"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2826906"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3983179"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5085618"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5271764"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045759"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5353712"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045759"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5351152"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208069"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231630"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6557324"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35" name="Rechteck 134">
            <a:extLst>
              <a:ext uri="{FF2B5EF4-FFF2-40B4-BE49-F238E27FC236}">
                <a16:creationId xmlns:a16="http://schemas.microsoft.com/office/drawing/2014/main" id="{AAD6C9FC-A776-D253-45DA-D7B16BC38273}"/>
              </a:ext>
            </a:extLst>
          </p:cNvPr>
          <p:cNvSpPr/>
          <p:nvPr/>
        </p:nvSpPr>
        <p:spPr>
          <a:xfrm rot="5400000">
            <a:off x="2841564"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a:off x="3481936" y="231768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067362" y="83980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3251454"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3229430"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3744580"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83576" y="148632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535976" y="163872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468350" y="149979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67119" y="173679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433788" y="172078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27785" y="160424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510581" y="176672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3481643"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3450746"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479718" y="225254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3486017"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3458195"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3476434"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479260" y="273687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314409" y="55050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816526" y="278742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150018" y="278132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476052" y="2792484"/>
            <a:ext cx="90077" cy="28388"/>
          </a:xfrm>
          <a:prstGeom prst="rect">
            <a:avLst/>
          </a:prstGeom>
        </p:spPr>
      </p:pic>
      <p:sp>
        <p:nvSpPr>
          <p:cNvPr id="174" name="Rechteck 173">
            <a:extLst>
              <a:ext uri="{FF2B5EF4-FFF2-40B4-BE49-F238E27FC236}">
                <a16:creationId xmlns:a16="http://schemas.microsoft.com/office/drawing/2014/main" id="{B042EA01-62CC-0E37-E9D1-C59B04561965}"/>
              </a:ext>
            </a:extLst>
          </p:cNvPr>
          <p:cNvSpPr/>
          <p:nvPr/>
        </p:nvSpPr>
        <p:spPr>
          <a:xfrm>
            <a:off x="4119123"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5401130"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5514849"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5571998"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5507412"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83" name="Rechteck 182">
            <a:extLst>
              <a:ext uri="{FF2B5EF4-FFF2-40B4-BE49-F238E27FC236}">
                <a16:creationId xmlns:a16="http://schemas.microsoft.com/office/drawing/2014/main" id="{3824930F-A0AE-ED6E-3E91-E6B2A2995AAA}"/>
              </a:ext>
            </a:extLst>
          </p:cNvPr>
          <p:cNvSpPr/>
          <p:nvPr/>
        </p:nvSpPr>
        <p:spPr>
          <a:xfrm rot="16200000">
            <a:off x="6221458"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rot="10800000">
            <a:off x="6836962"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10800000">
            <a:off x="6421529"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6619463"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109493"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6594343"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94408"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6842008"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909634"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010865"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6944196"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50199"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67403"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6836669"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6802814"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6841122"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6688831"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6812943"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6839497"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6841569"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10800000">
            <a:off x="6796221"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320447"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7474218"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010730" y="3147573"/>
            <a:ext cx="399621" cy="22908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197649"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198902"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256051"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2825456"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2882605"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7533955"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7"/>
          <a:srcRect l="12368" t="11098" r="5271"/>
          <a:stretch/>
        </p:blipFill>
        <p:spPr>
          <a:xfrm>
            <a:off x="4915807" y="2656991"/>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7"/>
          <a:srcRect l="12368" t="11098" r="5271"/>
          <a:stretch/>
        </p:blipFill>
        <p:spPr>
          <a:xfrm flipH="1">
            <a:off x="4756257" y="2653742"/>
            <a:ext cx="90381" cy="107501"/>
          </a:xfrm>
          <a:prstGeom prst="rect">
            <a:avLst/>
          </a:prstGeom>
        </p:spPr>
      </p:pic>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171516"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495370" y="299209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5011431" y="4041619"/>
            <a:ext cx="777214" cy="53775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r>
              <a:rPr lang="de-DE" sz="800" dirty="0"/>
              <a:t> </a:t>
            </a:r>
            <a:r>
              <a:rPr lang="de-DE" sz="800" dirty="0" err="1"/>
              <a:t>unit</a:t>
            </a:r>
            <a:r>
              <a:rPr lang="de-DE" sz="800" dirty="0"/>
              <a:t> </a:t>
            </a:r>
          </a:p>
          <a:p>
            <a:pPr algn="ctr"/>
            <a:r>
              <a:rPr lang="de-DE" sz="800" dirty="0" err="1"/>
              <a:t>for</a:t>
            </a:r>
            <a:r>
              <a:rPr lang="de-DE" sz="800" dirty="0"/>
              <a:t> </a:t>
            </a:r>
            <a:r>
              <a:rPr lang="de-DE" sz="800" dirty="0" err="1"/>
              <a:t>both</a:t>
            </a:r>
            <a:r>
              <a:rPr lang="de-DE" sz="800" dirty="0"/>
              <a:t> </a:t>
            </a:r>
            <a:r>
              <a:rPr lang="de-DE" sz="800" dirty="0" err="1"/>
              <a:t>station</a:t>
            </a:r>
            <a:endParaRPr lang="de-DE" sz="800" dirty="0"/>
          </a:p>
          <a:p>
            <a:pPr algn="ctr"/>
            <a:r>
              <a:rPr lang="de-DE" sz="800" dirty="0"/>
              <a:t>and </a:t>
            </a:r>
            <a:r>
              <a:rPr lang="de-DE" sz="800" dirty="0" err="1"/>
              <a:t>cutting</a:t>
            </a:r>
            <a:endParaRPr lang="de-DE" sz="800" dirty="0"/>
          </a:p>
        </p:txBody>
      </p: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7863831"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825246"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7"/>
          <a:srcRect l="12368" t="11098" r="5271"/>
          <a:stretch/>
        </p:blipFill>
        <p:spPr>
          <a:xfrm>
            <a:off x="8250419"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7"/>
          <a:srcRect l="12368" t="11098" r="5271"/>
          <a:stretch/>
        </p:blipFill>
        <p:spPr>
          <a:xfrm flipH="1">
            <a:off x="8100388" y="3046575"/>
            <a:ext cx="90381" cy="107501"/>
          </a:xfrm>
          <a:prstGeom prst="rect">
            <a:avLst/>
          </a:prstGeom>
        </p:spPr>
      </p:pic>
      <p:sp>
        <p:nvSpPr>
          <p:cNvPr id="256" name="Rechteck 255">
            <a:extLst>
              <a:ext uri="{FF2B5EF4-FFF2-40B4-BE49-F238E27FC236}">
                <a16:creationId xmlns:a16="http://schemas.microsoft.com/office/drawing/2014/main" id="{8546A53A-3C86-18C4-8CBA-B21CC5299419}"/>
              </a:ext>
            </a:extLst>
          </p:cNvPr>
          <p:cNvSpPr/>
          <p:nvPr/>
        </p:nvSpPr>
        <p:spPr>
          <a:xfrm rot="16200000">
            <a:off x="7886357" y="3497576"/>
            <a:ext cx="1416563"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57" name="Rechteck 256">
            <a:extLst>
              <a:ext uri="{FF2B5EF4-FFF2-40B4-BE49-F238E27FC236}">
                <a16:creationId xmlns:a16="http://schemas.microsoft.com/office/drawing/2014/main" id="{47A65C23-55DE-DE61-E980-BBFFAF12A7C4}"/>
              </a:ext>
            </a:extLst>
          </p:cNvPr>
          <p:cNvSpPr/>
          <p:nvPr/>
        </p:nvSpPr>
        <p:spPr>
          <a:xfrm rot="16200000">
            <a:off x="7978427" y="3475956"/>
            <a:ext cx="1218415" cy="417457"/>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58" name="Gruppieren 257">
            <a:extLst>
              <a:ext uri="{FF2B5EF4-FFF2-40B4-BE49-F238E27FC236}">
                <a16:creationId xmlns:a16="http://schemas.microsoft.com/office/drawing/2014/main" id="{27F42543-5BD4-58C9-3DFA-B9D5281EDC5E}"/>
              </a:ext>
            </a:extLst>
          </p:cNvPr>
          <p:cNvGrpSpPr/>
          <p:nvPr/>
        </p:nvGrpSpPr>
        <p:grpSpPr>
          <a:xfrm rot="10800000" flipH="1">
            <a:off x="8581500" y="2816516"/>
            <a:ext cx="19389" cy="600095"/>
            <a:chOff x="6851814" y="1766023"/>
            <a:chExt cx="78569" cy="2068826"/>
          </a:xfrm>
        </p:grpSpPr>
        <p:sp>
          <p:nvSpPr>
            <p:cNvPr id="259" name="Rechteck 258">
              <a:extLst>
                <a:ext uri="{FF2B5EF4-FFF2-40B4-BE49-F238E27FC236}">
                  <a16:creationId xmlns:a16="http://schemas.microsoft.com/office/drawing/2014/main" id="{25FD2AA5-3055-6B35-E071-A85DABD14FAC}"/>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0" name="Rechteck 259">
              <a:extLst>
                <a:ext uri="{FF2B5EF4-FFF2-40B4-BE49-F238E27FC236}">
                  <a16:creationId xmlns:a16="http://schemas.microsoft.com/office/drawing/2014/main" id="{C72FC098-EB23-8F36-C71B-755FCBC9AAE3}"/>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61" name="Rechteck 260">
              <a:extLst>
                <a:ext uri="{FF2B5EF4-FFF2-40B4-BE49-F238E27FC236}">
                  <a16:creationId xmlns:a16="http://schemas.microsoft.com/office/drawing/2014/main" id="{48B6124E-98A3-50D9-D22C-EC5183A906DD}"/>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2" name="Rechteck 261">
              <a:extLst>
                <a:ext uri="{FF2B5EF4-FFF2-40B4-BE49-F238E27FC236}">
                  <a16:creationId xmlns:a16="http://schemas.microsoft.com/office/drawing/2014/main" id="{550F253A-CC30-F49B-92CF-9BD7F6DBAB9F}"/>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3" name="Rechteck 262">
              <a:extLst>
                <a:ext uri="{FF2B5EF4-FFF2-40B4-BE49-F238E27FC236}">
                  <a16:creationId xmlns:a16="http://schemas.microsoft.com/office/drawing/2014/main" id="{4D8562B4-30B4-EDC6-4480-C9AC6A49203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264" name="Rechteck 263">
            <a:extLst>
              <a:ext uri="{FF2B5EF4-FFF2-40B4-BE49-F238E27FC236}">
                <a16:creationId xmlns:a16="http://schemas.microsoft.com/office/drawing/2014/main" id="{C0D4EF7A-E569-1350-38AF-8A9BAD6DB941}"/>
              </a:ext>
            </a:extLst>
          </p:cNvPr>
          <p:cNvSpPr/>
          <p:nvPr/>
        </p:nvSpPr>
        <p:spPr>
          <a:xfrm rot="10800000">
            <a:off x="8430903" y="2690447"/>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5" name="Rechteck 264">
            <a:extLst>
              <a:ext uri="{FF2B5EF4-FFF2-40B4-BE49-F238E27FC236}">
                <a16:creationId xmlns:a16="http://schemas.microsoft.com/office/drawing/2014/main" id="{BDADF0BE-AE5F-4244-1CC8-FC40BF47EF34}"/>
              </a:ext>
            </a:extLst>
          </p:cNvPr>
          <p:cNvSpPr/>
          <p:nvPr/>
        </p:nvSpPr>
        <p:spPr>
          <a:xfrm rot="10800000">
            <a:off x="8495536" y="2887718"/>
            <a:ext cx="172817" cy="128489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66" name="Rechteck 265">
            <a:extLst>
              <a:ext uri="{FF2B5EF4-FFF2-40B4-BE49-F238E27FC236}">
                <a16:creationId xmlns:a16="http://schemas.microsoft.com/office/drawing/2014/main" id="{597A972F-F2D7-FE90-9752-FBA1EF74B98D}"/>
              </a:ext>
            </a:extLst>
          </p:cNvPr>
          <p:cNvSpPr/>
          <p:nvPr/>
        </p:nvSpPr>
        <p:spPr>
          <a:xfrm rot="10800000">
            <a:off x="8604913" y="3303193"/>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7" name="Rechteck 266">
            <a:extLst>
              <a:ext uri="{FF2B5EF4-FFF2-40B4-BE49-F238E27FC236}">
                <a16:creationId xmlns:a16="http://schemas.microsoft.com/office/drawing/2014/main" id="{74F3D9A2-9E73-173A-29FC-B913911BBFA7}"/>
              </a:ext>
            </a:extLst>
          </p:cNvPr>
          <p:cNvSpPr/>
          <p:nvPr/>
        </p:nvSpPr>
        <p:spPr>
          <a:xfrm rot="10800000">
            <a:off x="8604915" y="324366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8" name="Rechteck 267">
            <a:extLst>
              <a:ext uri="{FF2B5EF4-FFF2-40B4-BE49-F238E27FC236}">
                <a16:creationId xmlns:a16="http://schemas.microsoft.com/office/drawing/2014/main" id="{1F3C8937-866D-346A-7291-08333322C09D}"/>
              </a:ext>
            </a:extLst>
          </p:cNvPr>
          <p:cNvSpPr/>
          <p:nvPr/>
        </p:nvSpPr>
        <p:spPr>
          <a:xfrm rot="10800000">
            <a:off x="8554907" y="3300814"/>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69" name="Rechteck 268">
            <a:extLst>
              <a:ext uri="{FF2B5EF4-FFF2-40B4-BE49-F238E27FC236}">
                <a16:creationId xmlns:a16="http://schemas.microsoft.com/office/drawing/2014/main" id="{7231B40C-5805-2193-7980-501412B98D6F}"/>
              </a:ext>
            </a:extLst>
          </p:cNvPr>
          <p:cNvSpPr/>
          <p:nvPr/>
        </p:nvSpPr>
        <p:spPr>
          <a:xfrm rot="10800000">
            <a:off x="8554909" y="324128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270" name="Gerade Verbindung mit Pfeil 269">
            <a:extLst>
              <a:ext uri="{FF2B5EF4-FFF2-40B4-BE49-F238E27FC236}">
                <a16:creationId xmlns:a16="http://schemas.microsoft.com/office/drawing/2014/main" id="{4E5470DD-6523-44ED-718D-4175BB886798}"/>
              </a:ext>
            </a:extLst>
          </p:cNvPr>
          <p:cNvCxnSpPr>
            <a:cxnSpLocks/>
          </p:cNvCxnSpPr>
          <p:nvPr/>
        </p:nvCxnSpPr>
        <p:spPr>
          <a:xfrm rot="10800000" flipV="1">
            <a:off x="8535677" y="3097399"/>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271" name="Ellipse 270">
            <a:extLst>
              <a:ext uri="{FF2B5EF4-FFF2-40B4-BE49-F238E27FC236}">
                <a16:creationId xmlns:a16="http://schemas.microsoft.com/office/drawing/2014/main" id="{B55DF868-08EF-B489-013D-6A3EE1ACA654}"/>
              </a:ext>
            </a:extLst>
          </p:cNvPr>
          <p:cNvSpPr/>
          <p:nvPr/>
        </p:nvSpPr>
        <p:spPr>
          <a:xfrm rot="10800000">
            <a:off x="8700009" y="3086482"/>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2" name="Ellipse 271">
            <a:extLst>
              <a:ext uri="{FF2B5EF4-FFF2-40B4-BE49-F238E27FC236}">
                <a16:creationId xmlns:a16="http://schemas.microsoft.com/office/drawing/2014/main" id="{3F7640D0-38F1-D003-C368-C93A0C68800F}"/>
              </a:ext>
            </a:extLst>
          </p:cNvPr>
          <p:cNvSpPr/>
          <p:nvPr/>
        </p:nvSpPr>
        <p:spPr>
          <a:xfrm rot="10800000">
            <a:off x="8394446" y="3084111"/>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3" name="Ellipse 272">
            <a:extLst>
              <a:ext uri="{FF2B5EF4-FFF2-40B4-BE49-F238E27FC236}">
                <a16:creationId xmlns:a16="http://schemas.microsoft.com/office/drawing/2014/main" id="{50908FD7-C1E3-3A80-F736-FE64A458FBAC}"/>
              </a:ext>
            </a:extLst>
          </p:cNvPr>
          <p:cNvSpPr/>
          <p:nvPr/>
        </p:nvSpPr>
        <p:spPr>
          <a:xfrm rot="10800000">
            <a:off x="8700009"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4" name="Ellipse 273">
            <a:extLst>
              <a:ext uri="{FF2B5EF4-FFF2-40B4-BE49-F238E27FC236}">
                <a16:creationId xmlns:a16="http://schemas.microsoft.com/office/drawing/2014/main" id="{CADA1BCA-3D73-6F2E-BC36-505B3B34F2E7}"/>
              </a:ext>
            </a:extLst>
          </p:cNvPr>
          <p:cNvSpPr/>
          <p:nvPr/>
        </p:nvSpPr>
        <p:spPr>
          <a:xfrm rot="10800000">
            <a:off x="8397006" y="4214650"/>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278" name="Grafik 277">
            <a:extLst>
              <a:ext uri="{FF2B5EF4-FFF2-40B4-BE49-F238E27FC236}">
                <a16:creationId xmlns:a16="http://schemas.microsoft.com/office/drawing/2014/main" id="{9002B4EA-6D24-6E2B-49F1-A3B63568A11F}"/>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545155" y="3403997"/>
            <a:ext cx="90077" cy="28388"/>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a:off x="8861405" y="2818374"/>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8884539" y="2790739"/>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27218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5381905" y="28511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24354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3059088"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3660734"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3350496"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400434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4744959"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4333916"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500363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7377188"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735718"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723458"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6102799"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6740237"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415712"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705764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8092713"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8380599"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152" name="Rechteck: abgerundete Ecken 151">
            <a:extLst>
              <a:ext uri="{FF2B5EF4-FFF2-40B4-BE49-F238E27FC236}">
                <a16:creationId xmlns:a16="http://schemas.microsoft.com/office/drawing/2014/main" id="{9B6FBFDC-618E-E9D3-CF32-164B9373FFC6}"/>
              </a:ext>
            </a:extLst>
          </p:cNvPr>
          <p:cNvSpPr/>
          <p:nvPr/>
        </p:nvSpPr>
        <p:spPr>
          <a:xfrm>
            <a:off x="8768684" y="284824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9068403" y="2856299"/>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21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8698393" y="2457687"/>
            <a:ext cx="427241" cy="233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31" name="Rechteck 230">
            <a:extLst>
              <a:ext uri="{FF2B5EF4-FFF2-40B4-BE49-F238E27FC236}">
                <a16:creationId xmlns:a16="http://schemas.microsoft.com/office/drawing/2014/main" id="{A82FCBB2-97FF-9E46-C158-251CAF786A2A}"/>
              </a:ext>
            </a:extLst>
          </p:cNvPr>
          <p:cNvSpPr/>
          <p:nvPr/>
        </p:nvSpPr>
        <p:spPr>
          <a:xfrm rot="5400000">
            <a:off x="8412178" y="3672465"/>
            <a:ext cx="1281360" cy="213001"/>
          </a:xfrm>
          <a:prstGeom prst="rect">
            <a:avLst/>
          </a:prstGeom>
        </p:spPr>
        <p:style>
          <a:lnRef idx="1">
            <a:schemeClr val="accent2"/>
          </a:lnRef>
          <a:fillRef idx="3">
            <a:schemeClr val="accent2"/>
          </a:fillRef>
          <a:effectRef idx="2">
            <a:schemeClr val="accent2"/>
          </a:effectRef>
          <a:fontRef idx="minor">
            <a:schemeClr val="lt1"/>
          </a:fontRef>
        </p:style>
        <p:txBody>
          <a:bodyPr vert="horz" wrap="none" rtlCol="0" anchor="ctr"/>
          <a:lstStyle/>
          <a:p>
            <a:pPr algn="ctr"/>
            <a:r>
              <a:rPr lang="de-DE" sz="1400" dirty="0"/>
              <a:t>NOK</a:t>
            </a:r>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10800000" flipH="1">
            <a:off x="9835148" y="3295454"/>
            <a:ext cx="25807" cy="72611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10800000" flipH="1">
            <a:off x="9882667" y="3296597"/>
            <a:ext cx="25807" cy="72611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10800000" flipH="1">
            <a:off x="9929640" y="3297045"/>
            <a:ext cx="25807" cy="72611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10800000" flipH="1">
            <a:off x="9977270" y="3297044"/>
            <a:ext cx="25807" cy="72611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17" name="Rechteck 316">
            <a:extLst>
              <a:ext uri="{FF2B5EF4-FFF2-40B4-BE49-F238E27FC236}">
                <a16:creationId xmlns:a16="http://schemas.microsoft.com/office/drawing/2014/main" id="{F7DDCAA9-6DA7-6F7A-14D6-ABB3D1E72D32}"/>
              </a:ext>
            </a:extLst>
          </p:cNvPr>
          <p:cNvSpPr/>
          <p:nvPr/>
        </p:nvSpPr>
        <p:spPr>
          <a:xfrm>
            <a:off x="5091366"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5090441"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8018366" y="4685841"/>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5862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3616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41" name="Gruppieren 140">
            <a:extLst>
              <a:ext uri="{FF2B5EF4-FFF2-40B4-BE49-F238E27FC236}">
                <a16:creationId xmlns:a16="http://schemas.microsoft.com/office/drawing/2014/main" id="{937A9597-B47B-6235-879B-14438CAB6965}"/>
              </a:ext>
            </a:extLst>
          </p:cNvPr>
          <p:cNvGrpSpPr/>
          <p:nvPr/>
        </p:nvGrpSpPr>
        <p:grpSpPr>
          <a:xfrm flipH="1">
            <a:off x="5217340" y="2285653"/>
            <a:ext cx="19389" cy="713061"/>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184119" y="2268544"/>
            <a:ext cx="90077" cy="28388"/>
          </a:xfrm>
          <a:prstGeom prst="rect">
            <a:avLst/>
          </a:prstGeom>
        </p:spPr>
      </p:pic>
      <p:sp>
        <p:nvSpPr>
          <p:cNvPr id="53" name="Rechteck 52">
            <a:extLst>
              <a:ext uri="{FF2B5EF4-FFF2-40B4-BE49-F238E27FC236}">
                <a16:creationId xmlns:a16="http://schemas.microsoft.com/office/drawing/2014/main" id="{07C02E58-C111-4EA7-1847-25A85FFFF541}"/>
              </a:ext>
            </a:extLst>
          </p:cNvPr>
          <p:cNvSpPr/>
          <p:nvPr/>
        </p:nvSpPr>
        <p:spPr>
          <a:xfrm>
            <a:off x="5189396"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5187013"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5239402"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5189394"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5136716"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335" name="Gruppieren 334">
            <a:extLst>
              <a:ext uri="{FF2B5EF4-FFF2-40B4-BE49-F238E27FC236}">
                <a16:creationId xmlns:a16="http://schemas.microsoft.com/office/drawing/2014/main" id="{7423334E-98E7-0618-01BC-75BC8D8CC6C5}"/>
              </a:ext>
            </a:extLst>
          </p:cNvPr>
          <p:cNvGrpSpPr/>
          <p:nvPr/>
        </p:nvGrpSpPr>
        <p:grpSpPr>
          <a:xfrm flipH="1">
            <a:off x="5548337" y="2288036"/>
            <a:ext cx="19389" cy="713061"/>
            <a:chOff x="6851814" y="1766023"/>
            <a:chExt cx="78569" cy="2068826"/>
          </a:xfrm>
        </p:grpSpPr>
        <p:sp>
          <p:nvSpPr>
            <p:cNvPr id="336" name="Rechteck 335">
              <a:extLst>
                <a:ext uri="{FF2B5EF4-FFF2-40B4-BE49-F238E27FC236}">
                  <a16:creationId xmlns:a16="http://schemas.microsoft.com/office/drawing/2014/main" id="{618E50BD-6742-F728-C606-35CA6696B3DB}"/>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7" name="Rechteck 336">
              <a:extLst>
                <a:ext uri="{FF2B5EF4-FFF2-40B4-BE49-F238E27FC236}">
                  <a16:creationId xmlns:a16="http://schemas.microsoft.com/office/drawing/2014/main" id="{E02212D4-4A69-ACF2-983B-9AD6073A8DAA}"/>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8" name="Rechteck 337">
              <a:extLst>
                <a:ext uri="{FF2B5EF4-FFF2-40B4-BE49-F238E27FC236}">
                  <a16:creationId xmlns:a16="http://schemas.microsoft.com/office/drawing/2014/main" id="{780B4405-D36A-78B6-1424-F17591977E5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9" name="Rechteck 338">
              <a:extLst>
                <a:ext uri="{FF2B5EF4-FFF2-40B4-BE49-F238E27FC236}">
                  <a16:creationId xmlns:a16="http://schemas.microsoft.com/office/drawing/2014/main" id="{F7711CBA-B9C3-799D-4F87-28F2FE2ED8B9}"/>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0" name="Rechteck 339">
              <a:extLst>
                <a:ext uri="{FF2B5EF4-FFF2-40B4-BE49-F238E27FC236}">
                  <a16:creationId xmlns:a16="http://schemas.microsoft.com/office/drawing/2014/main" id="{A0D3D56F-C48A-FA07-0947-046052EA1AF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342" name="Grafik 341">
            <a:extLst>
              <a:ext uri="{FF2B5EF4-FFF2-40B4-BE49-F238E27FC236}">
                <a16:creationId xmlns:a16="http://schemas.microsoft.com/office/drawing/2014/main" id="{3E4FEDDB-A6B1-95E8-5B5B-8CBE2B8164D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515116" y="2270927"/>
            <a:ext cx="90077" cy="28388"/>
          </a:xfrm>
          <a:prstGeom prst="rect">
            <a:avLst/>
          </a:prstGeom>
        </p:spPr>
      </p:pic>
      <p:cxnSp>
        <p:nvCxnSpPr>
          <p:cNvPr id="345" name="Gerade Verbindung mit Pfeil 344">
            <a:extLst>
              <a:ext uri="{FF2B5EF4-FFF2-40B4-BE49-F238E27FC236}">
                <a16:creationId xmlns:a16="http://schemas.microsoft.com/office/drawing/2014/main" id="{E627E4AB-0DE5-A671-9205-78A8B42CF209}"/>
              </a:ext>
            </a:extLst>
          </p:cNvPr>
          <p:cNvCxnSpPr>
            <a:cxnSpLocks/>
          </p:cNvCxnSpPr>
          <p:nvPr/>
        </p:nvCxnSpPr>
        <p:spPr>
          <a:xfrm flipV="1">
            <a:off x="5279084"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348" name="Gerade Verbindung mit Pfeil 347">
            <a:extLst>
              <a:ext uri="{FF2B5EF4-FFF2-40B4-BE49-F238E27FC236}">
                <a16:creationId xmlns:a16="http://schemas.microsoft.com/office/drawing/2014/main" id="{23FBACD4-147E-C0F2-B36E-382881E6BB1B}"/>
              </a:ext>
            </a:extLst>
          </p:cNvPr>
          <p:cNvCxnSpPr>
            <a:cxnSpLocks/>
          </p:cNvCxnSpPr>
          <p:nvPr/>
        </p:nvCxnSpPr>
        <p:spPr>
          <a:xfrm flipV="1">
            <a:off x="5279084"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376" name="Rechteck 375">
            <a:extLst>
              <a:ext uri="{FF2B5EF4-FFF2-40B4-BE49-F238E27FC236}">
                <a16:creationId xmlns:a16="http://schemas.microsoft.com/office/drawing/2014/main" id="{02457479-FF05-5E05-A7CC-DC31A0F9FA6B}"/>
              </a:ext>
            </a:extLst>
          </p:cNvPr>
          <p:cNvSpPr/>
          <p:nvPr/>
        </p:nvSpPr>
        <p:spPr>
          <a:xfrm rot="5400000">
            <a:off x="8775803" y="2743449"/>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0" name="Gruppieren 349">
            <a:extLst>
              <a:ext uri="{FF2B5EF4-FFF2-40B4-BE49-F238E27FC236}">
                <a16:creationId xmlns:a16="http://schemas.microsoft.com/office/drawing/2014/main" id="{BC703767-FC09-4D63-A41D-49357769E495}"/>
              </a:ext>
            </a:extLst>
          </p:cNvPr>
          <p:cNvGrpSpPr/>
          <p:nvPr/>
        </p:nvGrpSpPr>
        <p:grpSpPr>
          <a:xfrm>
            <a:off x="3268796" y="3552122"/>
            <a:ext cx="467578" cy="90248"/>
            <a:chOff x="4413024" y="3765960"/>
            <a:chExt cx="467578" cy="90248"/>
          </a:xfrm>
        </p:grpSpPr>
        <p:sp>
          <p:nvSpPr>
            <p:cNvPr id="347" name="Ellipse 346">
              <a:extLst>
                <a:ext uri="{FF2B5EF4-FFF2-40B4-BE49-F238E27FC236}">
                  <a16:creationId xmlns:a16="http://schemas.microsoft.com/office/drawing/2014/main" id="{3C492A4F-160F-4A15-D5B4-30DEF8C5FBF2}"/>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49" name="Ellipse 348">
              <a:extLst>
                <a:ext uri="{FF2B5EF4-FFF2-40B4-BE49-F238E27FC236}">
                  <a16:creationId xmlns:a16="http://schemas.microsoft.com/office/drawing/2014/main" id="{EBB8E8BD-7946-D9C6-4195-7AA5C2D292E7}"/>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329" name="Rechteck 328">
            <a:extLst>
              <a:ext uri="{FF2B5EF4-FFF2-40B4-BE49-F238E27FC236}">
                <a16:creationId xmlns:a16="http://schemas.microsoft.com/office/drawing/2014/main" id="{600D350D-A5E3-5678-CF02-01844B417071}"/>
              </a:ext>
            </a:extLst>
          </p:cNvPr>
          <p:cNvSpPr/>
          <p:nvPr/>
        </p:nvSpPr>
        <p:spPr>
          <a:xfrm>
            <a:off x="4484445" y="241631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2" name="Halbbogen 351">
            <a:extLst>
              <a:ext uri="{FF2B5EF4-FFF2-40B4-BE49-F238E27FC236}">
                <a16:creationId xmlns:a16="http://schemas.microsoft.com/office/drawing/2014/main" id="{6BF531E2-25D5-17A7-78B9-E30F6BC9F49D}"/>
              </a:ext>
            </a:extLst>
          </p:cNvPr>
          <p:cNvSpPr/>
          <p:nvPr/>
        </p:nvSpPr>
        <p:spPr>
          <a:xfrm rot="10800000">
            <a:off x="7818782" y="2944234"/>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80" name="Rechteck 379">
            <a:extLst>
              <a:ext uri="{FF2B5EF4-FFF2-40B4-BE49-F238E27FC236}">
                <a16:creationId xmlns:a16="http://schemas.microsoft.com/office/drawing/2014/main" id="{7DC24DCC-505F-7B42-732F-C937B618ECB1}"/>
              </a:ext>
            </a:extLst>
          </p:cNvPr>
          <p:cNvSpPr/>
          <p:nvPr/>
        </p:nvSpPr>
        <p:spPr>
          <a:xfrm rot="10800000">
            <a:off x="7826336" y="3137130"/>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a:off x="4469970" y="2704448"/>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6" name="Textfeld 395">
            <a:extLst>
              <a:ext uri="{FF2B5EF4-FFF2-40B4-BE49-F238E27FC236}">
                <a16:creationId xmlns:a16="http://schemas.microsoft.com/office/drawing/2014/main" id="{07801104-DE54-86EA-6985-4A0065F17238}"/>
              </a:ext>
            </a:extLst>
          </p:cNvPr>
          <p:cNvSpPr txBox="1"/>
          <p:nvPr/>
        </p:nvSpPr>
        <p:spPr>
          <a:xfrm>
            <a:off x="4376056" y="5384334"/>
            <a:ext cx="2043745" cy="1200329"/>
          </a:xfrm>
          <a:prstGeom prst="rect">
            <a:avLst/>
          </a:prstGeom>
          <a:noFill/>
        </p:spPr>
        <p:txBody>
          <a:bodyPr wrap="square" rtlCol="0">
            <a:spAutoFit/>
          </a:bodyPr>
          <a:lstStyle/>
          <a:p>
            <a:r>
              <a:rPr lang="de-DE" sz="900" dirty="0"/>
              <a:t>1       Cutting </a:t>
            </a:r>
            <a:r>
              <a:rPr lang="de-DE" sz="900" dirty="0" err="1"/>
              <a:t>cable</a:t>
            </a:r>
            <a:endParaRPr lang="de-DE" sz="900" dirty="0"/>
          </a:p>
          <a:p>
            <a:r>
              <a:rPr lang="de-DE" sz="900" dirty="0"/>
              <a:t>2       </a:t>
            </a:r>
            <a:r>
              <a:rPr lang="de-DE" sz="900" dirty="0" err="1"/>
              <a:t>Removing</a:t>
            </a:r>
            <a:r>
              <a:rPr lang="de-DE" sz="900" dirty="0"/>
              <a:t> </a:t>
            </a:r>
            <a:r>
              <a:rPr lang="de-DE" sz="900" dirty="0" err="1"/>
              <a:t>Isolationpart</a:t>
            </a:r>
            <a:r>
              <a:rPr lang="de-DE" sz="900" dirty="0"/>
              <a:t> Terminal 1</a:t>
            </a:r>
          </a:p>
          <a:p>
            <a:r>
              <a:rPr lang="de-DE" sz="900" dirty="0"/>
              <a:t>3       Free Station </a:t>
            </a:r>
          </a:p>
          <a:p>
            <a:r>
              <a:rPr lang="de-DE" sz="900" dirty="0"/>
              <a:t>4       </a:t>
            </a:r>
            <a:r>
              <a:rPr lang="de-DE" sz="900" dirty="0" err="1"/>
              <a:t>Feeding</a:t>
            </a:r>
            <a:r>
              <a:rPr lang="de-DE" sz="900" dirty="0"/>
              <a:t> Terminal 2 and </a:t>
            </a:r>
            <a:r>
              <a:rPr lang="de-DE" sz="900" dirty="0" err="1"/>
              <a:t>Crimping</a:t>
            </a:r>
            <a:r>
              <a:rPr lang="de-DE" sz="900" dirty="0"/>
              <a:t> 1</a:t>
            </a:r>
          </a:p>
          <a:p>
            <a:r>
              <a:rPr lang="de-DE" sz="900" dirty="0"/>
              <a:t>5       Free Station</a:t>
            </a:r>
          </a:p>
          <a:p>
            <a:r>
              <a:rPr lang="de-DE" sz="900" dirty="0"/>
              <a:t>6       Bending Terminal 1</a:t>
            </a:r>
          </a:p>
          <a:p>
            <a:pPr marL="228600" indent="-228600">
              <a:buAutoNum type="arabicPlain" startAt="7"/>
            </a:pPr>
            <a:r>
              <a:rPr lang="de-DE" sz="900" dirty="0" err="1"/>
              <a:t>Tinning</a:t>
            </a:r>
            <a:r>
              <a:rPr lang="de-DE" sz="900" dirty="0"/>
              <a:t> 1 Terminal 1</a:t>
            </a:r>
          </a:p>
          <a:p>
            <a:pPr marL="228600" indent="-228600">
              <a:buFontTx/>
              <a:buAutoNum type="arabicPlain" startAt="7"/>
            </a:pPr>
            <a:r>
              <a:rPr lang="de-DE" sz="900" dirty="0"/>
              <a:t>Optical </a:t>
            </a:r>
            <a:r>
              <a:rPr lang="de-DE" sz="900" dirty="0" err="1"/>
              <a:t>Inspection</a:t>
            </a:r>
            <a:r>
              <a:rPr lang="de-DE" sz="900" dirty="0"/>
              <a:t>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789031" y="5375573"/>
            <a:ext cx="1926764" cy="923330"/>
          </a:xfrm>
          <a:prstGeom prst="rect">
            <a:avLst/>
          </a:prstGeom>
          <a:noFill/>
        </p:spPr>
        <p:txBody>
          <a:bodyPr wrap="square" rtlCol="0">
            <a:spAutoFit/>
          </a:bodyPr>
          <a:lstStyle/>
          <a:p>
            <a:r>
              <a:rPr lang="de-DE" sz="900" dirty="0"/>
              <a:t>16     Bending Terminal 2</a:t>
            </a:r>
          </a:p>
          <a:p>
            <a:r>
              <a:rPr lang="de-DE" sz="900" dirty="0"/>
              <a:t>17     </a:t>
            </a:r>
            <a:r>
              <a:rPr lang="de-DE" sz="900" dirty="0" err="1"/>
              <a:t>Tinning</a:t>
            </a:r>
            <a:r>
              <a:rPr lang="de-DE" sz="900" dirty="0"/>
              <a:t> 1 Terminal 2</a:t>
            </a:r>
          </a:p>
          <a:p>
            <a:r>
              <a:rPr lang="de-DE" sz="900" dirty="0"/>
              <a:t>18     Optical </a:t>
            </a:r>
            <a:r>
              <a:rPr lang="de-DE" sz="900" dirty="0" err="1"/>
              <a:t>Inspection</a:t>
            </a:r>
            <a:r>
              <a:rPr lang="de-DE" sz="900" dirty="0"/>
              <a:t> Terminal 2</a:t>
            </a:r>
          </a:p>
          <a:p>
            <a:r>
              <a:rPr lang="de-DE" sz="900" dirty="0"/>
              <a:t>19     </a:t>
            </a:r>
            <a:r>
              <a:rPr lang="de-DE" sz="900" dirty="0" err="1"/>
              <a:t>Electrical</a:t>
            </a:r>
            <a:r>
              <a:rPr lang="de-DE" sz="900" dirty="0"/>
              <a:t> </a:t>
            </a:r>
            <a:r>
              <a:rPr lang="de-DE" sz="900" dirty="0" err="1"/>
              <a:t>Testing</a:t>
            </a:r>
            <a:r>
              <a:rPr lang="de-DE" sz="900" dirty="0"/>
              <a:t> (Option)</a:t>
            </a:r>
          </a:p>
          <a:p>
            <a:r>
              <a:rPr lang="de-DE" sz="900" dirty="0"/>
              <a:t>20     </a:t>
            </a:r>
            <a:r>
              <a:rPr lang="de-DE" sz="900" dirty="0" err="1"/>
              <a:t>Labeling</a:t>
            </a:r>
            <a:r>
              <a:rPr lang="de-DE" sz="900" dirty="0"/>
              <a:t> (Option)</a:t>
            </a:r>
          </a:p>
          <a:p>
            <a:r>
              <a:rPr lang="de-DE" sz="900" dirty="0"/>
              <a:t>21     Output Cable</a:t>
            </a:r>
          </a:p>
        </p:txBody>
      </p:sp>
      <p:sp>
        <p:nvSpPr>
          <p:cNvPr id="398" name="Textfeld 397">
            <a:extLst>
              <a:ext uri="{FF2B5EF4-FFF2-40B4-BE49-F238E27FC236}">
                <a16:creationId xmlns:a16="http://schemas.microsoft.com/office/drawing/2014/main" id="{8876DD53-E338-E606-E655-CD9D01B91F2A}"/>
              </a:ext>
            </a:extLst>
          </p:cNvPr>
          <p:cNvSpPr txBox="1"/>
          <p:nvPr/>
        </p:nvSpPr>
        <p:spPr>
          <a:xfrm>
            <a:off x="6546163" y="5380236"/>
            <a:ext cx="2052078" cy="1061829"/>
          </a:xfrm>
          <a:prstGeom prst="rect">
            <a:avLst/>
          </a:prstGeom>
          <a:noFill/>
        </p:spPr>
        <p:txBody>
          <a:bodyPr wrap="square" rtlCol="0">
            <a:spAutoFit/>
          </a:bodyPr>
          <a:lstStyle>
            <a:defPPr>
              <a:defRPr lang="de-DE"/>
            </a:defPPr>
            <a:lvl1pPr>
              <a:defRPr sz="900"/>
            </a:lvl1pPr>
          </a:lstStyle>
          <a:p>
            <a:r>
              <a:rPr lang="de-DE" dirty="0"/>
              <a:t>9       </a:t>
            </a:r>
            <a:r>
              <a:rPr lang="de-DE" dirty="0" err="1"/>
              <a:t>Turning</a:t>
            </a:r>
            <a:r>
              <a:rPr lang="de-DE" dirty="0"/>
              <a:t> </a:t>
            </a:r>
            <a:r>
              <a:rPr lang="de-DE" dirty="0" err="1"/>
              <a:t>station</a:t>
            </a:r>
            <a:r>
              <a:rPr lang="de-DE" dirty="0"/>
              <a:t> Terminal 1 </a:t>
            </a:r>
            <a:r>
              <a:rPr lang="de-DE" dirty="0" err="1"/>
              <a:t>to</a:t>
            </a:r>
            <a:r>
              <a:rPr lang="de-DE" dirty="0"/>
              <a:t> 2</a:t>
            </a:r>
          </a:p>
          <a:p>
            <a:r>
              <a:rPr lang="de-DE" dirty="0"/>
              <a:t>10     </a:t>
            </a:r>
            <a:r>
              <a:rPr lang="de-DE" dirty="0" err="1"/>
              <a:t>Turning</a:t>
            </a:r>
            <a:r>
              <a:rPr lang="de-DE" dirty="0"/>
              <a:t> Position Terminal 2    3-6-9</a:t>
            </a:r>
          </a:p>
          <a:p>
            <a:pPr marL="228600" indent="-228600">
              <a:buAutoNum type="arabicPlain" startAt="11"/>
            </a:pPr>
            <a:r>
              <a:rPr lang="de-DE" dirty="0"/>
              <a:t>Insert </a:t>
            </a:r>
            <a:r>
              <a:rPr lang="de-DE" dirty="0" err="1"/>
              <a:t>Shrinksleeve</a:t>
            </a:r>
            <a:r>
              <a:rPr lang="de-DE" dirty="0"/>
              <a:t> (Option)</a:t>
            </a:r>
          </a:p>
          <a:p>
            <a:r>
              <a:rPr lang="de-DE" dirty="0"/>
              <a:t>12     </a:t>
            </a:r>
            <a:r>
              <a:rPr lang="de-DE" dirty="0" err="1"/>
              <a:t>Removing</a:t>
            </a:r>
            <a:r>
              <a:rPr lang="de-DE" dirty="0"/>
              <a:t> </a:t>
            </a:r>
            <a:r>
              <a:rPr lang="de-DE" dirty="0" err="1"/>
              <a:t>Isolationpart</a:t>
            </a:r>
            <a:r>
              <a:rPr lang="de-DE" dirty="0"/>
              <a:t> Terminal 2</a:t>
            </a:r>
          </a:p>
          <a:p>
            <a:r>
              <a:rPr lang="de-DE" dirty="0"/>
              <a:t>13     Free Station</a:t>
            </a:r>
          </a:p>
          <a:p>
            <a:r>
              <a:rPr lang="de-DE" sz="900" dirty="0"/>
              <a:t>14     </a:t>
            </a:r>
            <a:r>
              <a:rPr lang="de-DE" sz="900" dirty="0" err="1"/>
              <a:t>Feeding</a:t>
            </a:r>
            <a:r>
              <a:rPr lang="de-DE" sz="900" dirty="0"/>
              <a:t> Terminal 2 and </a:t>
            </a:r>
            <a:r>
              <a:rPr lang="de-DE" sz="900" dirty="0" err="1"/>
              <a:t>Crimping</a:t>
            </a:r>
            <a:r>
              <a:rPr lang="de-DE" sz="900" dirty="0"/>
              <a:t> 2</a:t>
            </a:r>
          </a:p>
          <a:p>
            <a:r>
              <a:rPr lang="de-DE" dirty="0"/>
              <a:t>15     Free Station</a:t>
            </a:r>
            <a:endParaRPr lang="de-DE" sz="900" dirty="0"/>
          </a:p>
        </p:txBody>
      </p:sp>
      <p:sp>
        <p:nvSpPr>
          <p:cNvPr id="401" name="Rechteck 400">
            <a:extLst>
              <a:ext uri="{FF2B5EF4-FFF2-40B4-BE49-F238E27FC236}">
                <a16:creationId xmlns:a16="http://schemas.microsoft.com/office/drawing/2014/main" id="{EB91AAFD-3F79-620C-0A94-BB6CF68ED630}"/>
              </a:ext>
            </a:extLst>
          </p:cNvPr>
          <p:cNvSpPr/>
          <p:nvPr/>
        </p:nvSpPr>
        <p:spPr>
          <a:xfrm>
            <a:off x="7662611" y="1800077"/>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a:t>
            </a:r>
          </a:p>
        </p:txBody>
      </p:sp>
      <p:sp>
        <p:nvSpPr>
          <p:cNvPr id="406" name="Bogen 405">
            <a:extLst>
              <a:ext uri="{FF2B5EF4-FFF2-40B4-BE49-F238E27FC236}">
                <a16:creationId xmlns:a16="http://schemas.microsoft.com/office/drawing/2014/main" id="{0A9F292A-FBC0-A417-C2F2-AE33EAD228AA}"/>
              </a:ext>
            </a:extLst>
          </p:cNvPr>
          <p:cNvSpPr/>
          <p:nvPr/>
        </p:nvSpPr>
        <p:spPr>
          <a:xfrm rot="5400000">
            <a:off x="22301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31888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0" name="Gerade Verbindung mit Pfeil 409">
            <a:extLst>
              <a:ext uri="{FF2B5EF4-FFF2-40B4-BE49-F238E27FC236}">
                <a16:creationId xmlns:a16="http://schemas.microsoft.com/office/drawing/2014/main" id="{F4040FF7-D6E8-4263-9AA2-8A2D07AC01EB}"/>
              </a:ext>
            </a:extLst>
          </p:cNvPr>
          <p:cNvCxnSpPr>
            <a:cxnSpLocks/>
          </p:cNvCxnSpPr>
          <p:nvPr/>
        </p:nvCxnSpPr>
        <p:spPr>
          <a:xfrm flipV="1">
            <a:off x="3743583"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2" name="Gerader Verbinder 411">
            <a:extLst>
              <a:ext uri="{FF2B5EF4-FFF2-40B4-BE49-F238E27FC236}">
                <a16:creationId xmlns:a16="http://schemas.microsoft.com/office/drawing/2014/main" id="{5402DEC2-9D89-E811-3D0B-EF1052B56D7B}"/>
              </a:ext>
            </a:extLst>
          </p:cNvPr>
          <p:cNvCxnSpPr/>
          <p:nvPr/>
        </p:nvCxnSpPr>
        <p:spPr>
          <a:xfrm>
            <a:off x="3229126"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3" name="Gerader Verbinder 412">
            <a:extLst>
              <a:ext uri="{FF2B5EF4-FFF2-40B4-BE49-F238E27FC236}">
                <a16:creationId xmlns:a16="http://schemas.microsoft.com/office/drawing/2014/main" id="{E37CEAF5-8806-55B9-E780-5755C365DB8C}"/>
              </a:ext>
            </a:extLst>
          </p:cNvPr>
          <p:cNvCxnSpPr/>
          <p:nvPr/>
        </p:nvCxnSpPr>
        <p:spPr>
          <a:xfrm>
            <a:off x="4237726"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5" name="Textfeld 414">
            <a:extLst>
              <a:ext uri="{FF2B5EF4-FFF2-40B4-BE49-F238E27FC236}">
                <a16:creationId xmlns:a16="http://schemas.microsoft.com/office/drawing/2014/main" id="{DFC23C4D-9CB1-B6F8-D780-DD778BAA7CA7}"/>
              </a:ext>
            </a:extLst>
          </p:cNvPr>
          <p:cNvSpPr txBox="1"/>
          <p:nvPr/>
        </p:nvSpPr>
        <p:spPr>
          <a:xfrm>
            <a:off x="3220867"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6879619"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383811"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392411"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375552"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459348"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6523794"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30" name="Gruppieren 429">
            <a:extLst>
              <a:ext uri="{FF2B5EF4-FFF2-40B4-BE49-F238E27FC236}">
                <a16:creationId xmlns:a16="http://schemas.microsoft.com/office/drawing/2014/main" id="{50AE0B4C-6CD9-618B-96A5-F1DA86D2691C}"/>
              </a:ext>
            </a:extLst>
          </p:cNvPr>
          <p:cNvGrpSpPr/>
          <p:nvPr/>
        </p:nvGrpSpPr>
        <p:grpSpPr>
          <a:xfrm>
            <a:off x="2830690" y="2999802"/>
            <a:ext cx="69580" cy="193454"/>
            <a:chOff x="2849757" y="2999802"/>
            <a:chExt cx="69580" cy="193454"/>
          </a:xfrm>
        </p:grpSpPr>
        <p:sp>
          <p:nvSpPr>
            <p:cNvPr id="424" name="Rechteck 423">
              <a:extLst>
                <a:ext uri="{FF2B5EF4-FFF2-40B4-BE49-F238E27FC236}">
                  <a16:creationId xmlns:a16="http://schemas.microsoft.com/office/drawing/2014/main" id="{8B429774-8B94-7203-F945-0830C0E6A020}"/>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26" name="Gerade Verbindung mit Pfeil 425">
              <a:extLst>
                <a:ext uri="{FF2B5EF4-FFF2-40B4-BE49-F238E27FC236}">
                  <a16:creationId xmlns:a16="http://schemas.microsoft.com/office/drawing/2014/main" id="{6FC554A2-E699-50C8-9C0B-2536947AE277}"/>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1" name="Gruppieren 430">
            <a:extLst>
              <a:ext uri="{FF2B5EF4-FFF2-40B4-BE49-F238E27FC236}">
                <a16:creationId xmlns:a16="http://schemas.microsoft.com/office/drawing/2014/main" id="{7C4E101E-6D3F-B73F-FCD2-132B17BBB0E5}"/>
              </a:ext>
            </a:extLst>
          </p:cNvPr>
          <p:cNvGrpSpPr/>
          <p:nvPr/>
        </p:nvGrpSpPr>
        <p:grpSpPr>
          <a:xfrm>
            <a:off x="3482944" y="2991323"/>
            <a:ext cx="69580" cy="193454"/>
            <a:chOff x="2849757" y="2999802"/>
            <a:chExt cx="69580" cy="193454"/>
          </a:xfrm>
        </p:grpSpPr>
        <p:sp>
          <p:nvSpPr>
            <p:cNvPr id="432" name="Rechteck 431">
              <a:extLst>
                <a:ext uri="{FF2B5EF4-FFF2-40B4-BE49-F238E27FC236}">
                  <a16:creationId xmlns:a16="http://schemas.microsoft.com/office/drawing/2014/main" id="{89CCD666-35A8-8250-0447-BBE2F46E6C98}"/>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3" name="Gerade Verbindung mit Pfeil 432">
              <a:extLst>
                <a:ext uri="{FF2B5EF4-FFF2-40B4-BE49-F238E27FC236}">
                  <a16:creationId xmlns:a16="http://schemas.microsoft.com/office/drawing/2014/main" id="{99F59633-1DF9-3730-851A-61003ADDBB26}"/>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1" name="Ellipse 440">
            <a:extLst>
              <a:ext uri="{FF2B5EF4-FFF2-40B4-BE49-F238E27FC236}">
                <a16:creationId xmlns:a16="http://schemas.microsoft.com/office/drawing/2014/main" id="{31B2067F-AB97-F4CE-49F4-78334ACCBE09}"/>
              </a:ext>
            </a:extLst>
          </p:cNvPr>
          <p:cNvSpPr/>
          <p:nvPr/>
        </p:nvSpPr>
        <p:spPr>
          <a:xfrm>
            <a:off x="5187013"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42" name="Ellipse 441">
            <a:extLst>
              <a:ext uri="{FF2B5EF4-FFF2-40B4-BE49-F238E27FC236}">
                <a16:creationId xmlns:a16="http://schemas.microsoft.com/office/drawing/2014/main" id="{E2AD34D2-176A-FFA8-4978-C218270EC79F}"/>
              </a:ext>
            </a:extLst>
          </p:cNvPr>
          <p:cNvSpPr/>
          <p:nvPr/>
        </p:nvSpPr>
        <p:spPr>
          <a:xfrm>
            <a:off x="5519116"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6859526"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54" name="Ellipse 453">
            <a:extLst>
              <a:ext uri="{FF2B5EF4-FFF2-40B4-BE49-F238E27FC236}">
                <a16:creationId xmlns:a16="http://schemas.microsoft.com/office/drawing/2014/main" id="{F5AC4FC0-002D-8324-EB04-802F2831ED7B}"/>
              </a:ext>
            </a:extLst>
          </p:cNvPr>
          <p:cNvSpPr/>
          <p:nvPr/>
        </p:nvSpPr>
        <p:spPr>
          <a:xfrm>
            <a:off x="8555172" y="271955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60" name="Rechteck 459">
            <a:extLst>
              <a:ext uri="{FF2B5EF4-FFF2-40B4-BE49-F238E27FC236}">
                <a16:creationId xmlns:a16="http://schemas.microsoft.com/office/drawing/2014/main" id="{5CB04050-69CD-84D9-4A18-1FC1ECBB6BFE}"/>
              </a:ext>
            </a:extLst>
          </p:cNvPr>
          <p:cNvSpPr/>
          <p:nvPr/>
        </p:nvSpPr>
        <p:spPr>
          <a:xfrm>
            <a:off x="4316544" y="4041314"/>
            <a:ext cx="680855" cy="52812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r>
              <a:rPr lang="de-DE" sz="800" dirty="0"/>
              <a:t> </a:t>
            </a:r>
            <a:r>
              <a:rPr lang="de-DE" sz="800" dirty="0" err="1"/>
              <a:t>for</a:t>
            </a:r>
            <a:r>
              <a:rPr lang="de-DE" sz="800" dirty="0"/>
              <a:t> </a:t>
            </a:r>
            <a:r>
              <a:rPr lang="de-DE" sz="800" dirty="0" err="1"/>
              <a:t>both</a:t>
            </a:r>
            <a:endParaRPr lang="de-DE" sz="800" dirty="0"/>
          </a:p>
          <a:p>
            <a:pPr algn="ctr"/>
            <a:r>
              <a:rPr lang="de-DE" sz="800" dirty="0" err="1"/>
              <a:t>Tinning</a:t>
            </a:r>
            <a:r>
              <a:rPr lang="de-DE" sz="800" dirty="0"/>
              <a:t> </a:t>
            </a:r>
            <a:r>
              <a:rPr lang="de-DE" sz="800" dirty="0" err="1"/>
              <a:t>station</a:t>
            </a:r>
            <a:endParaRPr lang="de-DE" sz="800" dirty="0"/>
          </a:p>
        </p:txBody>
      </p:sp>
      <p:sp>
        <p:nvSpPr>
          <p:cNvPr id="402" name="Rechteck 401">
            <a:extLst>
              <a:ext uri="{FF2B5EF4-FFF2-40B4-BE49-F238E27FC236}">
                <a16:creationId xmlns:a16="http://schemas.microsoft.com/office/drawing/2014/main" id="{A65D4B45-8A83-9CE7-4A5C-EED89F649B14}"/>
              </a:ext>
            </a:extLst>
          </p:cNvPr>
          <p:cNvSpPr/>
          <p:nvPr/>
        </p:nvSpPr>
        <p:spPr>
          <a:xfrm>
            <a:off x="7699135" y="1358295"/>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68" name="Rechteck 467">
            <a:extLst>
              <a:ext uri="{FF2B5EF4-FFF2-40B4-BE49-F238E27FC236}">
                <a16:creationId xmlns:a16="http://schemas.microsoft.com/office/drawing/2014/main" id="{D28EB021-0B93-5EB5-DBC4-BB92C5E82479}"/>
              </a:ext>
            </a:extLst>
          </p:cNvPr>
          <p:cNvSpPr/>
          <p:nvPr/>
        </p:nvSpPr>
        <p:spPr>
          <a:xfrm rot="5400000">
            <a:off x="1844236" y="3193316"/>
            <a:ext cx="934369" cy="11244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9" name="Rechteck 468">
            <a:extLst>
              <a:ext uri="{FF2B5EF4-FFF2-40B4-BE49-F238E27FC236}">
                <a16:creationId xmlns:a16="http://schemas.microsoft.com/office/drawing/2014/main" id="{8ABC2AEC-F862-746C-F680-631D8F2286DB}"/>
              </a:ext>
            </a:extLst>
          </p:cNvPr>
          <p:cNvSpPr/>
          <p:nvPr/>
        </p:nvSpPr>
        <p:spPr>
          <a:xfrm>
            <a:off x="2515159" y="3276299"/>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0" name="Rechteck 469">
            <a:extLst>
              <a:ext uri="{FF2B5EF4-FFF2-40B4-BE49-F238E27FC236}">
                <a16:creationId xmlns:a16="http://schemas.microsoft.com/office/drawing/2014/main" id="{B9A72DFD-2C21-0422-F9F9-76EB0BCC0E49}"/>
              </a:ext>
            </a:extLst>
          </p:cNvPr>
          <p:cNvSpPr/>
          <p:nvPr/>
        </p:nvSpPr>
        <p:spPr>
          <a:xfrm rot="10800000">
            <a:off x="2178883" y="3313408"/>
            <a:ext cx="467198" cy="6041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1" name="Rechteck 470">
            <a:extLst>
              <a:ext uri="{FF2B5EF4-FFF2-40B4-BE49-F238E27FC236}">
                <a16:creationId xmlns:a16="http://schemas.microsoft.com/office/drawing/2014/main" id="{19F564EB-31F1-1262-195F-56E679A0D2CE}"/>
              </a:ext>
            </a:extLst>
          </p:cNvPr>
          <p:cNvSpPr/>
          <p:nvPr/>
        </p:nvSpPr>
        <p:spPr>
          <a:xfrm rot="5400000">
            <a:off x="2065242" y="3840866"/>
            <a:ext cx="1442046" cy="10128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2" name="Titel 1">
            <a:extLst>
              <a:ext uri="{FF2B5EF4-FFF2-40B4-BE49-F238E27FC236}">
                <a16:creationId xmlns:a16="http://schemas.microsoft.com/office/drawing/2014/main" id="{34BCB49A-80E4-E2F7-4717-A2CA96680C92}"/>
              </a:ext>
            </a:extLst>
          </p:cNvPr>
          <p:cNvSpPr txBox="1">
            <a:spLocks/>
          </p:cNvSpPr>
          <p:nvPr/>
        </p:nvSpPr>
        <p:spPr>
          <a:xfrm>
            <a:off x="4047226" y="130021"/>
            <a:ext cx="2771963"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100" b="1" dirty="0">
                <a:latin typeface="+mj-lt"/>
              </a:rPr>
              <a:t>Layout linear / Version 4</a:t>
            </a:r>
          </a:p>
        </p:txBody>
      </p:sp>
      <p:sp>
        <p:nvSpPr>
          <p:cNvPr id="28" name="Rechteck 27">
            <a:extLst>
              <a:ext uri="{FF2B5EF4-FFF2-40B4-BE49-F238E27FC236}">
                <a16:creationId xmlns:a16="http://schemas.microsoft.com/office/drawing/2014/main" id="{A1C09A0B-3E17-8E6E-537B-B8FD5BB62326}"/>
              </a:ext>
            </a:extLst>
          </p:cNvPr>
          <p:cNvSpPr/>
          <p:nvPr/>
        </p:nvSpPr>
        <p:spPr>
          <a:xfrm flipV="1">
            <a:off x="1858054" y="4634409"/>
            <a:ext cx="7757433" cy="4909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29" name="Rechteck 28">
            <a:extLst>
              <a:ext uri="{FF2B5EF4-FFF2-40B4-BE49-F238E27FC236}">
                <a16:creationId xmlns:a16="http://schemas.microsoft.com/office/drawing/2014/main" id="{E731386E-512D-E1C1-7954-41D93F39568E}"/>
              </a:ext>
            </a:extLst>
          </p:cNvPr>
          <p:cNvSpPr/>
          <p:nvPr/>
        </p:nvSpPr>
        <p:spPr>
          <a:xfrm flipV="1">
            <a:off x="1900238" y="1045492"/>
            <a:ext cx="7223749" cy="519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0" name="Rechteck 29">
            <a:extLst>
              <a:ext uri="{FF2B5EF4-FFF2-40B4-BE49-F238E27FC236}">
                <a16:creationId xmlns:a16="http://schemas.microsoft.com/office/drawing/2014/main" id="{3EA6BB3C-E15D-90A2-5912-DB89E26717B5}"/>
              </a:ext>
            </a:extLst>
          </p:cNvPr>
          <p:cNvSpPr/>
          <p:nvPr/>
        </p:nvSpPr>
        <p:spPr>
          <a:xfrm rot="16200000" flipV="1">
            <a:off x="58341" y="2837652"/>
            <a:ext cx="3627668"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50" name="Rechteck 49">
            <a:extLst>
              <a:ext uri="{FF2B5EF4-FFF2-40B4-BE49-F238E27FC236}">
                <a16:creationId xmlns:a16="http://schemas.microsoft.com/office/drawing/2014/main" id="{EC402FFC-B33F-BC38-3FCE-CD15F8F672A6}"/>
              </a:ext>
            </a:extLst>
          </p:cNvPr>
          <p:cNvSpPr/>
          <p:nvPr/>
        </p:nvSpPr>
        <p:spPr>
          <a:xfrm rot="16200000">
            <a:off x="8548685" y="3577336"/>
            <a:ext cx="2183223"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462" name="Rechteck 461">
            <a:extLst>
              <a:ext uri="{FF2B5EF4-FFF2-40B4-BE49-F238E27FC236}">
                <a16:creationId xmlns:a16="http://schemas.microsoft.com/office/drawing/2014/main" id="{010CB12E-E6C9-2D3F-F0C4-91916CC41BC1}"/>
              </a:ext>
            </a:extLst>
          </p:cNvPr>
          <p:cNvSpPr/>
          <p:nvPr/>
        </p:nvSpPr>
        <p:spPr>
          <a:xfrm rot="16200000" flipV="1">
            <a:off x="8426386" y="1755279"/>
            <a:ext cx="1460889"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458" name="Rechteck 457">
            <a:extLst>
              <a:ext uri="{FF2B5EF4-FFF2-40B4-BE49-F238E27FC236}">
                <a16:creationId xmlns:a16="http://schemas.microsoft.com/office/drawing/2014/main" id="{A04D8656-90FC-1D96-AD13-4656F19B4048}"/>
              </a:ext>
            </a:extLst>
          </p:cNvPr>
          <p:cNvSpPr/>
          <p:nvPr/>
        </p:nvSpPr>
        <p:spPr>
          <a:xfrm flipV="1">
            <a:off x="9131010" y="2458542"/>
            <a:ext cx="539229"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cxnSp>
        <p:nvCxnSpPr>
          <p:cNvPr id="473" name="Gerader Verbinder 472">
            <a:extLst>
              <a:ext uri="{FF2B5EF4-FFF2-40B4-BE49-F238E27FC236}">
                <a16:creationId xmlns:a16="http://schemas.microsoft.com/office/drawing/2014/main" id="{1B5428E0-0428-482C-C80A-ED8C3935CCC2}"/>
              </a:ext>
            </a:extLst>
          </p:cNvPr>
          <p:cNvCxnSpPr>
            <a:cxnSpLocks/>
          </p:cNvCxnSpPr>
          <p:nvPr/>
        </p:nvCxnSpPr>
        <p:spPr>
          <a:xfrm>
            <a:off x="7886332" y="3042994"/>
            <a:ext cx="108279" cy="1883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75" name="Gerader Verbinder 474">
            <a:extLst>
              <a:ext uri="{FF2B5EF4-FFF2-40B4-BE49-F238E27FC236}">
                <a16:creationId xmlns:a16="http://schemas.microsoft.com/office/drawing/2014/main" id="{6CC62A1E-7EC7-083B-BF2A-B273C146B673}"/>
              </a:ext>
            </a:extLst>
          </p:cNvPr>
          <p:cNvCxnSpPr>
            <a:cxnSpLocks/>
          </p:cNvCxnSpPr>
          <p:nvPr/>
        </p:nvCxnSpPr>
        <p:spPr>
          <a:xfrm flipH="1">
            <a:off x="4537096" y="2581190"/>
            <a:ext cx="156279" cy="182210"/>
          </a:xfrm>
          <a:prstGeom prst="line">
            <a:avLst/>
          </a:prstGeom>
        </p:spPr>
        <p:style>
          <a:lnRef idx="2">
            <a:schemeClr val="accent1"/>
          </a:lnRef>
          <a:fillRef idx="0">
            <a:schemeClr val="accent1"/>
          </a:fillRef>
          <a:effectRef idx="1">
            <a:schemeClr val="accent1"/>
          </a:effectRef>
          <a:fontRef idx="minor">
            <a:schemeClr val="tx1"/>
          </a:fontRef>
        </p:style>
      </p:cxnSp>
      <p:sp>
        <p:nvSpPr>
          <p:cNvPr id="58" name="Rechteck 57">
            <a:extLst>
              <a:ext uri="{FF2B5EF4-FFF2-40B4-BE49-F238E27FC236}">
                <a16:creationId xmlns:a16="http://schemas.microsoft.com/office/drawing/2014/main" id="{1DB0296B-F3B5-2285-3EBB-16E484071739}"/>
              </a:ext>
            </a:extLst>
          </p:cNvPr>
          <p:cNvSpPr/>
          <p:nvPr/>
        </p:nvSpPr>
        <p:spPr>
          <a:xfrm rot="10800000">
            <a:off x="9116703" y="2683302"/>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2" name="Rechteck 451">
            <a:extLst>
              <a:ext uri="{FF2B5EF4-FFF2-40B4-BE49-F238E27FC236}">
                <a16:creationId xmlns:a16="http://schemas.microsoft.com/office/drawing/2014/main" id="{EC15D4A3-0C13-741A-C6C2-7C8CAE1E3537}"/>
              </a:ext>
            </a:extLst>
          </p:cNvPr>
          <p:cNvSpPr/>
          <p:nvPr/>
        </p:nvSpPr>
        <p:spPr>
          <a:xfrm rot="10800000">
            <a:off x="9181336" y="2880574"/>
            <a:ext cx="172817" cy="1303282"/>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53" name="Rechteck 452">
            <a:extLst>
              <a:ext uri="{FF2B5EF4-FFF2-40B4-BE49-F238E27FC236}">
                <a16:creationId xmlns:a16="http://schemas.microsoft.com/office/drawing/2014/main" id="{AE3DA050-7DE4-A153-DF85-902E765829EB}"/>
              </a:ext>
            </a:extLst>
          </p:cNvPr>
          <p:cNvSpPr/>
          <p:nvPr/>
        </p:nvSpPr>
        <p:spPr>
          <a:xfrm rot="10800000">
            <a:off x="9290713" y="329604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56" name="Rechteck 455">
            <a:extLst>
              <a:ext uri="{FF2B5EF4-FFF2-40B4-BE49-F238E27FC236}">
                <a16:creationId xmlns:a16="http://schemas.microsoft.com/office/drawing/2014/main" id="{73D4B97F-7CAD-B393-2BB1-18A0BF2839B4}"/>
              </a:ext>
            </a:extLst>
          </p:cNvPr>
          <p:cNvSpPr/>
          <p:nvPr/>
        </p:nvSpPr>
        <p:spPr>
          <a:xfrm rot="10800000">
            <a:off x="9290715" y="323652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3" name="Rechteck 462">
            <a:extLst>
              <a:ext uri="{FF2B5EF4-FFF2-40B4-BE49-F238E27FC236}">
                <a16:creationId xmlns:a16="http://schemas.microsoft.com/office/drawing/2014/main" id="{9DC03837-5AB6-99C4-0526-6BF856CFA4EF}"/>
              </a:ext>
            </a:extLst>
          </p:cNvPr>
          <p:cNvSpPr/>
          <p:nvPr/>
        </p:nvSpPr>
        <p:spPr>
          <a:xfrm rot="10800000">
            <a:off x="9240707" y="3293669"/>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64" name="Rechteck 463">
            <a:extLst>
              <a:ext uri="{FF2B5EF4-FFF2-40B4-BE49-F238E27FC236}">
                <a16:creationId xmlns:a16="http://schemas.microsoft.com/office/drawing/2014/main" id="{9BFA4286-37C4-B3C8-B4D6-E11FDBAC3067}"/>
              </a:ext>
            </a:extLst>
          </p:cNvPr>
          <p:cNvSpPr/>
          <p:nvPr/>
        </p:nvSpPr>
        <p:spPr>
          <a:xfrm rot="10800000">
            <a:off x="9240709" y="323414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cxnSp>
        <p:nvCxnSpPr>
          <p:cNvPr id="465" name="Gerade Verbindung mit Pfeil 464">
            <a:extLst>
              <a:ext uri="{FF2B5EF4-FFF2-40B4-BE49-F238E27FC236}">
                <a16:creationId xmlns:a16="http://schemas.microsoft.com/office/drawing/2014/main" id="{6DBBCA4B-EBB2-27FC-E134-AB271F5BCBAA}"/>
              </a:ext>
            </a:extLst>
          </p:cNvPr>
          <p:cNvCxnSpPr>
            <a:cxnSpLocks/>
          </p:cNvCxnSpPr>
          <p:nvPr/>
        </p:nvCxnSpPr>
        <p:spPr>
          <a:xfrm rot="10800000" flipV="1">
            <a:off x="9221477" y="3090254"/>
            <a:ext cx="0" cy="14626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466" name="Ellipse 465">
            <a:extLst>
              <a:ext uri="{FF2B5EF4-FFF2-40B4-BE49-F238E27FC236}">
                <a16:creationId xmlns:a16="http://schemas.microsoft.com/office/drawing/2014/main" id="{3F457E2C-EF91-D749-28B7-52362BB188F5}"/>
              </a:ext>
            </a:extLst>
          </p:cNvPr>
          <p:cNvSpPr/>
          <p:nvPr/>
        </p:nvSpPr>
        <p:spPr>
          <a:xfrm>
            <a:off x="9240972" y="2712414"/>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81" name="Gruppieren 480">
            <a:extLst>
              <a:ext uri="{FF2B5EF4-FFF2-40B4-BE49-F238E27FC236}">
                <a16:creationId xmlns:a16="http://schemas.microsoft.com/office/drawing/2014/main" id="{94FC0045-1FF1-8F4F-08AE-BA54ADD890FD}"/>
              </a:ext>
            </a:extLst>
          </p:cNvPr>
          <p:cNvGrpSpPr/>
          <p:nvPr/>
        </p:nvGrpSpPr>
        <p:grpSpPr>
          <a:xfrm rot="10800000" flipH="1">
            <a:off x="9269681" y="2816261"/>
            <a:ext cx="19389" cy="600095"/>
            <a:chOff x="6851814" y="1766023"/>
            <a:chExt cx="78569" cy="2068826"/>
          </a:xfrm>
        </p:grpSpPr>
        <p:sp>
          <p:nvSpPr>
            <p:cNvPr id="482" name="Rechteck 481">
              <a:extLst>
                <a:ext uri="{FF2B5EF4-FFF2-40B4-BE49-F238E27FC236}">
                  <a16:creationId xmlns:a16="http://schemas.microsoft.com/office/drawing/2014/main" id="{BA1F5142-DD9B-A669-DC74-B6AC4F6C9272}"/>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3" name="Rechteck 482">
              <a:extLst>
                <a:ext uri="{FF2B5EF4-FFF2-40B4-BE49-F238E27FC236}">
                  <a16:creationId xmlns:a16="http://schemas.microsoft.com/office/drawing/2014/main" id="{D839225A-A7D0-8097-A187-F0F969B61AE8}"/>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84" name="Rechteck 483">
              <a:extLst>
                <a:ext uri="{FF2B5EF4-FFF2-40B4-BE49-F238E27FC236}">
                  <a16:creationId xmlns:a16="http://schemas.microsoft.com/office/drawing/2014/main" id="{C618F932-A6AC-16C9-FF0E-5760AE84A04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5" name="Rechteck 484">
              <a:extLst>
                <a:ext uri="{FF2B5EF4-FFF2-40B4-BE49-F238E27FC236}">
                  <a16:creationId xmlns:a16="http://schemas.microsoft.com/office/drawing/2014/main" id="{1D0C86BF-6E90-391F-186B-20DAE6E2F76C}"/>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6" name="Rechteck 485">
              <a:extLst>
                <a:ext uri="{FF2B5EF4-FFF2-40B4-BE49-F238E27FC236}">
                  <a16:creationId xmlns:a16="http://schemas.microsoft.com/office/drawing/2014/main" id="{3465DE4C-E595-BFD7-50E2-038916A4BFF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487" name="Grafik 486">
            <a:extLst>
              <a:ext uri="{FF2B5EF4-FFF2-40B4-BE49-F238E27FC236}">
                <a16:creationId xmlns:a16="http://schemas.microsoft.com/office/drawing/2014/main" id="{509B2112-57F6-8B99-D50F-05A42FCCCDA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9233336" y="3403742"/>
            <a:ext cx="90077" cy="28388"/>
          </a:xfrm>
          <a:prstGeom prst="rect">
            <a:avLst/>
          </a:prstGeom>
        </p:spPr>
      </p:pic>
      <p:sp>
        <p:nvSpPr>
          <p:cNvPr id="477" name="Rechteck 476">
            <a:extLst>
              <a:ext uri="{FF2B5EF4-FFF2-40B4-BE49-F238E27FC236}">
                <a16:creationId xmlns:a16="http://schemas.microsoft.com/office/drawing/2014/main" id="{6884A20D-1391-6C03-5B94-1AEF4858A72F}"/>
              </a:ext>
            </a:extLst>
          </p:cNvPr>
          <p:cNvSpPr/>
          <p:nvPr/>
        </p:nvSpPr>
        <p:spPr>
          <a:xfrm rot="5400000">
            <a:off x="5548136" y="3889468"/>
            <a:ext cx="652434" cy="53919"/>
          </a:xfrm>
          <a:prstGeom prst="rect">
            <a:avLst/>
          </a:prstGeom>
          <a:solidFill>
            <a:schemeClr val="bg1">
              <a:lumMod val="75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476" name="Ellipse 475">
            <a:extLst>
              <a:ext uri="{FF2B5EF4-FFF2-40B4-BE49-F238E27FC236}">
                <a16:creationId xmlns:a16="http://schemas.microsoft.com/office/drawing/2014/main" id="{7884A855-24BB-7B07-1E64-AA6D047C272E}"/>
              </a:ext>
            </a:extLst>
          </p:cNvPr>
          <p:cNvSpPr>
            <a:spLocks noChangeAspect="1"/>
          </p:cNvSpPr>
          <p:nvPr/>
        </p:nvSpPr>
        <p:spPr>
          <a:xfrm rot="5400000">
            <a:off x="5821082" y="4008348"/>
            <a:ext cx="504000" cy="504000"/>
          </a:xfrm>
          <a:prstGeom prst="ellipse">
            <a:avLst/>
          </a:prstGeom>
          <a:solidFill>
            <a:schemeClr val="bg1">
              <a:lumMod val="50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111" name="Flussdiagramm: Datenträger mit direktem Zugriff 110">
            <a:extLst>
              <a:ext uri="{FF2B5EF4-FFF2-40B4-BE49-F238E27FC236}">
                <a16:creationId xmlns:a16="http://schemas.microsoft.com/office/drawing/2014/main" id="{CA65ADE4-1B8E-0543-30F2-857A357F8680}"/>
              </a:ext>
            </a:extLst>
          </p:cNvPr>
          <p:cNvSpPr/>
          <p:nvPr/>
        </p:nvSpPr>
        <p:spPr>
          <a:xfrm rot="19835810">
            <a:off x="6052570" y="42252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Flussdiagramm: Datenträger mit direktem Zugriff 111">
            <a:extLst>
              <a:ext uri="{FF2B5EF4-FFF2-40B4-BE49-F238E27FC236}">
                <a16:creationId xmlns:a16="http://schemas.microsoft.com/office/drawing/2014/main" id="{60B69C78-FF0E-6FE3-845D-9775CA99A1B9}"/>
              </a:ext>
            </a:extLst>
          </p:cNvPr>
          <p:cNvSpPr/>
          <p:nvPr/>
        </p:nvSpPr>
        <p:spPr>
          <a:xfrm rot="19835810">
            <a:off x="6078233" y="430376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3" name="Flussdiagramm: Datenträger mit direktem Zugriff 112">
            <a:extLst>
              <a:ext uri="{FF2B5EF4-FFF2-40B4-BE49-F238E27FC236}">
                <a16:creationId xmlns:a16="http://schemas.microsoft.com/office/drawing/2014/main" id="{4527F419-717C-3EB0-CA71-89527FE26813}"/>
              </a:ext>
            </a:extLst>
          </p:cNvPr>
          <p:cNvSpPr/>
          <p:nvPr/>
        </p:nvSpPr>
        <p:spPr>
          <a:xfrm rot="3152920">
            <a:off x="5995565" y="431544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4" name="Flussdiagramm: Datenträger mit direktem Zugriff 113">
            <a:extLst>
              <a:ext uri="{FF2B5EF4-FFF2-40B4-BE49-F238E27FC236}">
                <a16:creationId xmlns:a16="http://schemas.microsoft.com/office/drawing/2014/main" id="{3A22D148-7D54-B80E-7768-558A6FF76025}"/>
              </a:ext>
            </a:extLst>
          </p:cNvPr>
          <p:cNvSpPr/>
          <p:nvPr/>
        </p:nvSpPr>
        <p:spPr>
          <a:xfrm rot="3152920">
            <a:off x="6087830" y="41393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Flussdiagramm: Datenträger mit direktem Zugriff 114">
            <a:extLst>
              <a:ext uri="{FF2B5EF4-FFF2-40B4-BE49-F238E27FC236}">
                <a16:creationId xmlns:a16="http://schemas.microsoft.com/office/drawing/2014/main" id="{C7CDF857-FD2A-5A87-9D50-BC61302A5210}"/>
              </a:ext>
            </a:extLst>
          </p:cNvPr>
          <p:cNvSpPr/>
          <p:nvPr/>
        </p:nvSpPr>
        <p:spPr>
          <a:xfrm rot="1182316">
            <a:off x="6035102" y="43963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6" name="Flussdiagramm: Datenträger mit direktem Zugriff 115">
            <a:extLst>
              <a:ext uri="{FF2B5EF4-FFF2-40B4-BE49-F238E27FC236}">
                <a16:creationId xmlns:a16="http://schemas.microsoft.com/office/drawing/2014/main" id="{31AE4DCA-3F86-C86F-78B9-54B705AEF539}"/>
              </a:ext>
            </a:extLst>
          </p:cNvPr>
          <p:cNvSpPr/>
          <p:nvPr/>
        </p:nvSpPr>
        <p:spPr>
          <a:xfrm rot="1182316">
            <a:off x="6007624" y="4144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8" name="Flussdiagramm: Datenträger mit direktem Zugriff 477">
            <a:extLst>
              <a:ext uri="{FF2B5EF4-FFF2-40B4-BE49-F238E27FC236}">
                <a16:creationId xmlns:a16="http://schemas.microsoft.com/office/drawing/2014/main" id="{048C1673-6A19-5727-F8BB-C7C53309B6D9}"/>
              </a:ext>
            </a:extLst>
          </p:cNvPr>
          <p:cNvSpPr/>
          <p:nvPr/>
        </p:nvSpPr>
        <p:spPr>
          <a:xfrm rot="3152920">
            <a:off x="6175575" y="427177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9" name="Flussdiagramm: Datenträger mit direktem Zugriff 478">
            <a:extLst>
              <a:ext uri="{FF2B5EF4-FFF2-40B4-BE49-F238E27FC236}">
                <a16:creationId xmlns:a16="http://schemas.microsoft.com/office/drawing/2014/main" id="{B505BDD1-3D7C-BEB5-DF5C-CFA21F226391}"/>
              </a:ext>
            </a:extLst>
          </p:cNvPr>
          <p:cNvSpPr/>
          <p:nvPr/>
        </p:nvSpPr>
        <p:spPr>
          <a:xfrm rot="5400000">
            <a:off x="5827290" y="384965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0" name="Flussdiagramm: Datenträger mit direktem Zugriff 479">
            <a:extLst>
              <a:ext uri="{FF2B5EF4-FFF2-40B4-BE49-F238E27FC236}">
                <a16:creationId xmlns:a16="http://schemas.microsoft.com/office/drawing/2014/main" id="{C681A224-74B2-4EEF-D78A-2950A33A39B0}"/>
              </a:ext>
            </a:extLst>
          </p:cNvPr>
          <p:cNvSpPr/>
          <p:nvPr/>
        </p:nvSpPr>
        <p:spPr>
          <a:xfrm rot="5400000">
            <a:off x="5826110" y="39518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8" name="Flussdiagramm: Datenträger mit direktem Zugriff 487">
            <a:extLst>
              <a:ext uri="{FF2B5EF4-FFF2-40B4-BE49-F238E27FC236}">
                <a16:creationId xmlns:a16="http://schemas.microsoft.com/office/drawing/2014/main" id="{AAB2A7ED-A049-5974-E341-A01A89435833}"/>
              </a:ext>
            </a:extLst>
          </p:cNvPr>
          <p:cNvSpPr/>
          <p:nvPr/>
        </p:nvSpPr>
        <p:spPr>
          <a:xfrm rot="5400000">
            <a:off x="5829671" y="36516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9" name="Flussdiagramm: Datenträger mit direktem Zugriff 488">
            <a:extLst>
              <a:ext uri="{FF2B5EF4-FFF2-40B4-BE49-F238E27FC236}">
                <a16:creationId xmlns:a16="http://schemas.microsoft.com/office/drawing/2014/main" id="{06A17AAF-7D66-1C36-6D31-D396EF1A587D}"/>
              </a:ext>
            </a:extLst>
          </p:cNvPr>
          <p:cNvSpPr/>
          <p:nvPr/>
        </p:nvSpPr>
        <p:spPr>
          <a:xfrm rot="5400000">
            <a:off x="5828491" y="375390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0" name="Rechteck 489">
            <a:extLst>
              <a:ext uri="{FF2B5EF4-FFF2-40B4-BE49-F238E27FC236}">
                <a16:creationId xmlns:a16="http://schemas.microsoft.com/office/drawing/2014/main" id="{4ADAB3CD-BD67-F76C-45AF-BC48CD2022E0}"/>
              </a:ext>
            </a:extLst>
          </p:cNvPr>
          <p:cNvSpPr/>
          <p:nvPr/>
        </p:nvSpPr>
        <p:spPr>
          <a:xfrm rot="5400000">
            <a:off x="5714397" y="3591887"/>
            <a:ext cx="593894" cy="12173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2" name="Rechteck 491">
            <a:extLst>
              <a:ext uri="{FF2B5EF4-FFF2-40B4-BE49-F238E27FC236}">
                <a16:creationId xmlns:a16="http://schemas.microsoft.com/office/drawing/2014/main" id="{7726DB8B-C9A6-110A-685A-FACEF37EB701}"/>
              </a:ext>
            </a:extLst>
          </p:cNvPr>
          <p:cNvSpPr/>
          <p:nvPr/>
        </p:nvSpPr>
        <p:spPr>
          <a:xfrm rot="10800000">
            <a:off x="5822249" y="3618193"/>
            <a:ext cx="259721" cy="457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8" name="Gruppieren 77">
            <a:extLst>
              <a:ext uri="{FF2B5EF4-FFF2-40B4-BE49-F238E27FC236}">
                <a16:creationId xmlns:a16="http://schemas.microsoft.com/office/drawing/2014/main" id="{88F6367B-CBAA-07F7-88D0-4ACF42B47219}"/>
              </a:ext>
            </a:extLst>
          </p:cNvPr>
          <p:cNvGrpSpPr/>
          <p:nvPr/>
        </p:nvGrpSpPr>
        <p:grpSpPr>
          <a:xfrm rot="10800000">
            <a:off x="5865029" y="2716456"/>
            <a:ext cx="75705" cy="277927"/>
            <a:chOff x="3476670" y="3647733"/>
            <a:chExt cx="75705" cy="277927"/>
          </a:xfrm>
        </p:grpSpPr>
        <p:sp>
          <p:nvSpPr>
            <p:cNvPr id="79" name="Rechteck 78">
              <a:extLst>
                <a:ext uri="{FF2B5EF4-FFF2-40B4-BE49-F238E27FC236}">
                  <a16:creationId xmlns:a16="http://schemas.microsoft.com/office/drawing/2014/main" id="{4D24A9C9-2FAD-4909-FE51-49F8A9B2A4F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0" name="Verbinder: gekrümmt 79">
              <a:extLst>
                <a:ext uri="{FF2B5EF4-FFF2-40B4-BE49-F238E27FC236}">
                  <a16:creationId xmlns:a16="http://schemas.microsoft.com/office/drawing/2014/main" id="{16054D7C-94C1-1760-1E08-2088E59C4D0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506" name="Flussdiagramm: Datenträger mit direktem Zugriff 505">
            <a:extLst>
              <a:ext uri="{FF2B5EF4-FFF2-40B4-BE49-F238E27FC236}">
                <a16:creationId xmlns:a16="http://schemas.microsoft.com/office/drawing/2014/main" id="{3F951283-D433-D719-C33B-5E0F0560B7BB}"/>
              </a:ext>
            </a:extLst>
          </p:cNvPr>
          <p:cNvSpPr/>
          <p:nvPr/>
        </p:nvSpPr>
        <p:spPr>
          <a:xfrm rot="5400000">
            <a:off x="5827412" y="288170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7" name="Flussdiagramm: Datenträger mit direktem Zugriff 506">
            <a:extLst>
              <a:ext uri="{FF2B5EF4-FFF2-40B4-BE49-F238E27FC236}">
                <a16:creationId xmlns:a16="http://schemas.microsoft.com/office/drawing/2014/main" id="{7B3E35C8-AB52-67E9-06F8-C3D95F19F57A}"/>
              </a:ext>
            </a:extLst>
          </p:cNvPr>
          <p:cNvSpPr/>
          <p:nvPr/>
        </p:nvSpPr>
        <p:spPr>
          <a:xfrm rot="8821425">
            <a:off x="5932458" y="43331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8" name="Flussdiagramm: Datenträger mit direktem Zugriff 507">
            <a:extLst>
              <a:ext uri="{FF2B5EF4-FFF2-40B4-BE49-F238E27FC236}">
                <a16:creationId xmlns:a16="http://schemas.microsoft.com/office/drawing/2014/main" id="{F97484BF-80BD-9384-7A0C-F6C39B3F9F6B}"/>
              </a:ext>
            </a:extLst>
          </p:cNvPr>
          <p:cNvSpPr/>
          <p:nvPr/>
        </p:nvSpPr>
        <p:spPr>
          <a:xfrm rot="5400000">
            <a:off x="5837997" y="425562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9" name="Flussdiagramm: Datenträger mit direktem Zugriff 508">
            <a:extLst>
              <a:ext uri="{FF2B5EF4-FFF2-40B4-BE49-F238E27FC236}">
                <a16:creationId xmlns:a16="http://schemas.microsoft.com/office/drawing/2014/main" id="{77BA0E57-A207-9356-C87B-0C6F50ECDC68}"/>
              </a:ext>
            </a:extLst>
          </p:cNvPr>
          <p:cNvSpPr/>
          <p:nvPr/>
        </p:nvSpPr>
        <p:spPr>
          <a:xfrm rot="3152920">
            <a:off x="5867554" y="437555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0" name="Flussdiagramm: Datenträger mit direktem Zugriff 509">
            <a:extLst>
              <a:ext uri="{FF2B5EF4-FFF2-40B4-BE49-F238E27FC236}">
                <a16:creationId xmlns:a16="http://schemas.microsoft.com/office/drawing/2014/main" id="{57B8C945-2603-3455-AB05-831DF48E5237}"/>
              </a:ext>
            </a:extLst>
          </p:cNvPr>
          <p:cNvSpPr/>
          <p:nvPr/>
        </p:nvSpPr>
        <p:spPr>
          <a:xfrm rot="3152920">
            <a:off x="5873346" y="419637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1" name="Flussdiagramm: Datenträger mit direktem Zugriff 510">
            <a:extLst>
              <a:ext uri="{FF2B5EF4-FFF2-40B4-BE49-F238E27FC236}">
                <a16:creationId xmlns:a16="http://schemas.microsoft.com/office/drawing/2014/main" id="{D800447E-2889-036D-E484-B5F89A95680F}"/>
              </a:ext>
            </a:extLst>
          </p:cNvPr>
          <p:cNvSpPr/>
          <p:nvPr/>
        </p:nvSpPr>
        <p:spPr>
          <a:xfrm rot="5400000">
            <a:off x="6194057" y="288574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9" name="Flussdiagramm: Datenträger mit direktem Zugriff 68">
            <a:extLst>
              <a:ext uri="{FF2B5EF4-FFF2-40B4-BE49-F238E27FC236}">
                <a16:creationId xmlns:a16="http://schemas.microsoft.com/office/drawing/2014/main" id="{E378403A-5106-EC5F-9501-662CB583DFD5}"/>
              </a:ext>
            </a:extLst>
          </p:cNvPr>
          <p:cNvSpPr/>
          <p:nvPr/>
        </p:nvSpPr>
        <p:spPr>
          <a:xfrm rot="5400000">
            <a:off x="6522671" y="288812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Flussdiagramm: Datenträger mit direktem Zugriff 100">
            <a:extLst>
              <a:ext uri="{FF2B5EF4-FFF2-40B4-BE49-F238E27FC236}">
                <a16:creationId xmlns:a16="http://schemas.microsoft.com/office/drawing/2014/main" id="{618DC1F0-03DD-9A5F-A819-1962C342F3EA}"/>
              </a:ext>
            </a:extLst>
          </p:cNvPr>
          <p:cNvSpPr/>
          <p:nvPr/>
        </p:nvSpPr>
        <p:spPr>
          <a:xfrm rot="5400000">
            <a:off x="6844142" y="289288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2" name="Flussdiagramm: Datenträger mit direktem Zugriff 101">
            <a:extLst>
              <a:ext uri="{FF2B5EF4-FFF2-40B4-BE49-F238E27FC236}">
                <a16:creationId xmlns:a16="http://schemas.microsoft.com/office/drawing/2014/main" id="{06AB7FE3-AD7A-6676-5D94-6C245CEB4CE7}"/>
              </a:ext>
            </a:extLst>
          </p:cNvPr>
          <p:cNvSpPr/>
          <p:nvPr/>
        </p:nvSpPr>
        <p:spPr>
          <a:xfrm rot="5400000">
            <a:off x="7170373" y="288336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3" name="Flussdiagramm: Datenträger mit direktem Zugriff 102">
            <a:extLst>
              <a:ext uri="{FF2B5EF4-FFF2-40B4-BE49-F238E27FC236}">
                <a16:creationId xmlns:a16="http://schemas.microsoft.com/office/drawing/2014/main" id="{A09D2BCC-EE71-1955-D494-7BBF8BF5F314}"/>
              </a:ext>
            </a:extLst>
          </p:cNvPr>
          <p:cNvSpPr/>
          <p:nvPr/>
        </p:nvSpPr>
        <p:spPr>
          <a:xfrm rot="5400000">
            <a:off x="7496606" y="288812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1" name="Flussdiagramm: Datenträger mit direktem Zugriff 120">
            <a:extLst>
              <a:ext uri="{FF2B5EF4-FFF2-40B4-BE49-F238E27FC236}">
                <a16:creationId xmlns:a16="http://schemas.microsoft.com/office/drawing/2014/main" id="{7B2CA781-7A77-4F94-861F-CF94BDAF9E32}"/>
              </a:ext>
            </a:extLst>
          </p:cNvPr>
          <p:cNvSpPr/>
          <p:nvPr/>
        </p:nvSpPr>
        <p:spPr>
          <a:xfrm rot="5400000">
            <a:off x="7825221" y="288574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6" name="Flussdiagramm: Datenträger mit direktem Zugriff 125">
            <a:extLst>
              <a:ext uri="{FF2B5EF4-FFF2-40B4-BE49-F238E27FC236}">
                <a16:creationId xmlns:a16="http://schemas.microsoft.com/office/drawing/2014/main" id="{04B1E444-8CEB-2339-5867-3D2F01FD47E2}"/>
              </a:ext>
            </a:extLst>
          </p:cNvPr>
          <p:cNvSpPr/>
          <p:nvPr/>
        </p:nvSpPr>
        <p:spPr>
          <a:xfrm rot="5400000">
            <a:off x="8546743" y="3300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 name="Gruppieren 1">
            <a:extLst>
              <a:ext uri="{FF2B5EF4-FFF2-40B4-BE49-F238E27FC236}">
                <a16:creationId xmlns:a16="http://schemas.microsoft.com/office/drawing/2014/main" id="{929C3B6D-249E-99D8-75AA-2A4C08560F72}"/>
              </a:ext>
            </a:extLst>
          </p:cNvPr>
          <p:cNvGrpSpPr/>
          <p:nvPr/>
        </p:nvGrpSpPr>
        <p:grpSpPr>
          <a:xfrm>
            <a:off x="4839310" y="2995333"/>
            <a:ext cx="69580" cy="193454"/>
            <a:chOff x="2849757" y="2999802"/>
            <a:chExt cx="69580" cy="193454"/>
          </a:xfrm>
        </p:grpSpPr>
        <p:sp>
          <p:nvSpPr>
            <p:cNvPr id="21" name="Rechteck 20">
              <a:extLst>
                <a:ext uri="{FF2B5EF4-FFF2-40B4-BE49-F238E27FC236}">
                  <a16:creationId xmlns:a16="http://schemas.microsoft.com/office/drawing/2014/main" id="{5462C323-A237-4BD5-2282-71E8B306510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26" name="Gerade Verbindung mit Pfeil 25">
              <a:extLst>
                <a:ext uri="{FF2B5EF4-FFF2-40B4-BE49-F238E27FC236}">
                  <a16:creationId xmlns:a16="http://schemas.microsoft.com/office/drawing/2014/main" id="{A47F1649-C2CE-0922-11AC-898050102802}"/>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8" name="Gruppieren 217">
            <a:extLst>
              <a:ext uri="{FF2B5EF4-FFF2-40B4-BE49-F238E27FC236}">
                <a16:creationId xmlns:a16="http://schemas.microsoft.com/office/drawing/2014/main" id="{A2B7AA3F-3CC5-B640-E556-E69F459775C2}"/>
              </a:ext>
            </a:extLst>
          </p:cNvPr>
          <p:cNvGrpSpPr/>
          <p:nvPr/>
        </p:nvGrpSpPr>
        <p:grpSpPr>
          <a:xfrm>
            <a:off x="4811891" y="280578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31" name="Gruppieren 30">
            <a:extLst>
              <a:ext uri="{FF2B5EF4-FFF2-40B4-BE49-F238E27FC236}">
                <a16:creationId xmlns:a16="http://schemas.microsoft.com/office/drawing/2014/main" id="{61E914B8-DFF2-9AFC-3FA0-D9856BA06098}"/>
              </a:ext>
            </a:extLst>
          </p:cNvPr>
          <p:cNvGrpSpPr/>
          <p:nvPr/>
        </p:nvGrpSpPr>
        <p:grpSpPr>
          <a:xfrm rot="10800000">
            <a:off x="8189027" y="2606789"/>
            <a:ext cx="69580" cy="193454"/>
            <a:chOff x="2849757" y="2999802"/>
            <a:chExt cx="69580" cy="193454"/>
          </a:xfrm>
        </p:grpSpPr>
        <p:sp>
          <p:nvSpPr>
            <p:cNvPr id="33" name="Rechteck 32">
              <a:extLst>
                <a:ext uri="{FF2B5EF4-FFF2-40B4-BE49-F238E27FC236}">
                  <a16:creationId xmlns:a16="http://schemas.microsoft.com/office/drawing/2014/main" id="{8E0C8E31-2BA0-ADFA-63C9-D40B7FD49424}"/>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5" name="Gerade Verbindung mit Pfeil 454">
              <a:extLst>
                <a:ext uri="{FF2B5EF4-FFF2-40B4-BE49-F238E27FC236}">
                  <a16:creationId xmlns:a16="http://schemas.microsoft.com/office/drawing/2014/main" id="{9305CBF7-3066-1B13-E217-29606DFE0F4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8217542"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22" name="Flussdiagramm: Datenträger mit direktem Zugriff 121">
            <a:extLst>
              <a:ext uri="{FF2B5EF4-FFF2-40B4-BE49-F238E27FC236}">
                <a16:creationId xmlns:a16="http://schemas.microsoft.com/office/drawing/2014/main" id="{C663B9B0-B1E2-2620-72DF-EB203B9A86DF}"/>
              </a:ext>
            </a:extLst>
          </p:cNvPr>
          <p:cNvSpPr/>
          <p:nvPr/>
        </p:nvSpPr>
        <p:spPr>
          <a:xfrm rot="5400000">
            <a:off x="8182410" y="288811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835025" y="2778148"/>
            <a:ext cx="90077" cy="28388"/>
          </a:xfrm>
          <a:prstGeom prst="rect">
            <a:avLst/>
          </a:prstGeom>
        </p:spPr>
      </p:pic>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178957" y="2992099"/>
            <a:ext cx="90077" cy="28388"/>
          </a:xfrm>
          <a:prstGeom prst="rect">
            <a:avLst/>
          </a:prstGeom>
        </p:spPr>
      </p:pic>
    </p:spTree>
    <p:extLst>
      <p:ext uri="{BB962C8B-B14F-4D97-AF65-F5344CB8AC3E}">
        <p14:creationId xmlns:p14="http://schemas.microsoft.com/office/powerpoint/2010/main" val="1706919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r>
              <a:rPr lang="de-DE" sz="1400" b="1" u="sng" dirty="0">
                <a:latin typeface="+mj-lt"/>
              </a:rPr>
              <a:t>Insert and </a:t>
            </a:r>
            <a:r>
              <a:rPr lang="de-DE" sz="1400" b="1" u="sng" dirty="0" err="1">
                <a:latin typeface="+mj-lt"/>
              </a:rPr>
              <a:t>cutting</a:t>
            </a:r>
            <a:r>
              <a:rPr lang="de-DE" sz="1400" b="1" u="sng" dirty="0">
                <a:latin typeface="+mj-lt"/>
              </a:rPr>
              <a:t> Cable</a:t>
            </a:r>
          </a:p>
        </p:txBody>
      </p:sp>
      <p:sp>
        <p:nvSpPr>
          <p:cNvPr id="33" name="Textfeld 32">
            <a:extLst>
              <a:ext uri="{FF2B5EF4-FFF2-40B4-BE49-F238E27FC236}">
                <a16:creationId xmlns:a16="http://schemas.microsoft.com/office/drawing/2014/main" id="{286D554E-B5BC-8180-F195-CCEC5941ED0F}"/>
              </a:ext>
            </a:extLst>
          </p:cNvPr>
          <p:cNvSpPr txBox="1"/>
          <p:nvPr/>
        </p:nvSpPr>
        <p:spPr>
          <a:xfrm>
            <a:off x="12998204" y="543595"/>
            <a:ext cx="4200189" cy="2885405"/>
          </a:xfrm>
          <a:prstGeom prst="rect">
            <a:avLst/>
          </a:prstGeom>
          <a:noFill/>
        </p:spPr>
        <p:txBody>
          <a:bodyPr wrap="none" rtlCol="0">
            <a:spAutoFit/>
          </a:bodyPr>
          <a:lstStyle/>
          <a:p>
            <a:pPr algn="l"/>
            <a:r>
              <a:rPr lang="de-DE" sz="1050" b="0" i="0" u="none" strike="noStrike" baseline="0" dirty="0">
                <a:solidFill>
                  <a:srgbClr val="009BA3"/>
                </a:solidFill>
                <a:latin typeface="+mj-lt"/>
              </a:rPr>
              <a:t>15.4 Cutting </a:t>
            </a:r>
            <a:r>
              <a:rPr lang="de-DE" sz="1050" b="0" i="0" u="none" strike="noStrike" baseline="0" dirty="0" err="1">
                <a:solidFill>
                  <a:srgbClr val="009BA3"/>
                </a:solidFill>
                <a:latin typeface="+mj-lt"/>
              </a:rPr>
              <a:t>to</a:t>
            </a:r>
            <a:r>
              <a:rPr lang="de-DE" sz="1050" b="0" i="0" u="none" strike="noStrike" baseline="0" dirty="0">
                <a:solidFill>
                  <a:srgbClr val="009BA3"/>
                </a:solidFill>
                <a:latin typeface="+mj-lt"/>
              </a:rPr>
              <a:t> </a:t>
            </a:r>
            <a:r>
              <a:rPr lang="de-DE" sz="1050" b="0" i="0" u="none" strike="noStrike" baseline="0" dirty="0" err="1">
                <a:solidFill>
                  <a:srgbClr val="009BA3"/>
                </a:solidFill>
                <a:latin typeface="+mj-lt"/>
              </a:rPr>
              <a:t>length</a:t>
            </a:r>
            <a:endParaRPr lang="de-DE" sz="1050" b="0" i="0" u="none" strike="noStrike" baseline="0" dirty="0">
              <a:solidFill>
                <a:srgbClr val="009BA3"/>
              </a:solidFill>
              <a:latin typeface="+mj-lt"/>
            </a:endParaRPr>
          </a:p>
          <a:p>
            <a:pPr algn="l"/>
            <a:endParaRPr lang="de-DE" sz="300" b="0" i="0" u="none" strike="noStrike" baseline="0" dirty="0">
              <a:solidFill>
                <a:srgbClr val="009BA3"/>
              </a:solidFill>
              <a:latin typeface="+mj-lt"/>
            </a:endParaRPr>
          </a:p>
          <a:p>
            <a:pPr algn="l"/>
            <a:r>
              <a:rPr lang="de-DE" sz="900" b="0" i="0" u="none" strike="noStrike" baseline="0" dirty="0">
                <a:solidFill>
                  <a:srgbClr val="000000"/>
                </a:solidFill>
                <a:latin typeface="+mj-lt"/>
              </a:rPr>
              <a:t>1. Cable </a:t>
            </a:r>
            <a:r>
              <a:rPr lang="de-DE" sz="900" b="0" i="0" u="none" strike="noStrike" baseline="0" dirty="0" err="1">
                <a:solidFill>
                  <a:srgbClr val="000000"/>
                </a:solidFill>
                <a:latin typeface="+mj-lt"/>
              </a:rPr>
              <a:t>entry</a:t>
            </a:r>
            <a:endParaRPr lang="de-DE" sz="900" b="0" i="0" u="none" strike="noStrike" baseline="0" dirty="0">
              <a:solidFill>
                <a:srgbClr val="000000"/>
              </a:solidFill>
              <a:latin typeface="+mj-lt"/>
            </a:endParaRPr>
          </a:p>
          <a:p>
            <a:pPr algn="l"/>
            <a:r>
              <a:rPr lang="en-US" sz="800" b="0" i="0" u="none" strike="noStrike" baseline="0" dirty="0">
                <a:solidFill>
                  <a:srgbClr val="009BA3"/>
                </a:solidFill>
                <a:latin typeface="+mj-lt"/>
              </a:rPr>
              <a:t>     - </a:t>
            </a:r>
            <a:r>
              <a:rPr lang="en-US" sz="800" b="0" i="0" u="none" strike="noStrike" baseline="0" dirty="0">
                <a:solidFill>
                  <a:srgbClr val="000000"/>
                </a:solidFill>
                <a:latin typeface="+mj-lt"/>
              </a:rPr>
              <a:t>Reliably inputting of the cable, cable transport mustn´t be hindered by machine parts</a:t>
            </a:r>
          </a:p>
          <a:p>
            <a:pPr algn="l"/>
            <a:r>
              <a:rPr lang="en-US" sz="800" dirty="0">
                <a:solidFill>
                  <a:srgbClr val="009BA3"/>
                </a:solidFill>
                <a:latin typeface="+mj-lt"/>
              </a:rPr>
              <a:t>     - </a:t>
            </a:r>
            <a:r>
              <a:rPr lang="en-US" sz="800" b="0" i="0" u="none" strike="noStrike" baseline="0" dirty="0">
                <a:solidFill>
                  <a:srgbClr val="000000"/>
                </a:solidFill>
                <a:latin typeface="+mj-lt"/>
              </a:rPr>
              <a:t>Conical straightening device, declining with at least 4 + 5 rolls, scale and quick-fastener</a:t>
            </a:r>
          </a:p>
          <a:p>
            <a:pPr algn="l"/>
            <a:r>
              <a:rPr lang="en-US" sz="800" dirty="0">
                <a:solidFill>
                  <a:srgbClr val="009BA3"/>
                </a:solidFill>
                <a:latin typeface="+mj-lt"/>
              </a:rPr>
              <a:t>     - </a:t>
            </a:r>
            <a:r>
              <a:rPr lang="en-US" sz="800" b="0" i="0" u="none" strike="noStrike" baseline="0" dirty="0">
                <a:solidFill>
                  <a:srgbClr val="000000"/>
                </a:solidFill>
                <a:latin typeface="+mj-lt"/>
              </a:rPr>
              <a:t>Cable feeding: min 2,5m / sec, freely programmable</a:t>
            </a:r>
          </a:p>
          <a:p>
            <a:pPr algn="l"/>
            <a:r>
              <a:rPr lang="de-DE" sz="800" dirty="0">
                <a:solidFill>
                  <a:srgbClr val="009BA3"/>
                </a:solidFill>
                <a:latin typeface="+mj-lt"/>
              </a:rPr>
              <a:t>     - </a:t>
            </a:r>
            <a:r>
              <a:rPr lang="de-DE" sz="800" b="0" i="0" u="none" strike="noStrike" baseline="0" dirty="0" err="1">
                <a:solidFill>
                  <a:srgbClr val="000000"/>
                </a:solidFill>
                <a:latin typeface="+mj-lt"/>
              </a:rPr>
              <a:t>Acceleration</a:t>
            </a:r>
            <a:r>
              <a:rPr lang="de-DE" sz="800" b="0" i="0" u="none" strike="noStrike" baseline="0" dirty="0">
                <a:solidFill>
                  <a:srgbClr val="000000"/>
                </a:solidFill>
                <a:latin typeface="+mj-lt"/>
              </a:rPr>
              <a:t> </a:t>
            </a:r>
            <a:r>
              <a:rPr lang="de-DE" sz="800" b="0" i="0" u="none" strike="noStrike" baseline="0" dirty="0" err="1">
                <a:solidFill>
                  <a:srgbClr val="000000"/>
                </a:solidFill>
                <a:latin typeface="+mj-lt"/>
              </a:rPr>
              <a:t>freely</a:t>
            </a:r>
            <a:r>
              <a:rPr lang="de-DE" sz="800" b="0" i="0" u="none" strike="noStrike" baseline="0" dirty="0">
                <a:solidFill>
                  <a:srgbClr val="000000"/>
                </a:solidFill>
                <a:latin typeface="+mj-lt"/>
              </a:rPr>
              <a:t> </a:t>
            </a:r>
            <a:r>
              <a:rPr lang="de-DE" sz="800" b="0" i="0" u="none" strike="noStrike" baseline="0" dirty="0" err="1">
                <a:solidFill>
                  <a:srgbClr val="000000"/>
                </a:solidFill>
                <a:latin typeface="+mj-lt"/>
              </a:rPr>
              <a:t>programmable</a:t>
            </a:r>
            <a:endParaRPr lang="de-DE" sz="800" b="0" i="0" u="none" strike="noStrike" baseline="0" dirty="0">
              <a:solidFill>
                <a:srgbClr val="000000"/>
              </a:solidFill>
              <a:latin typeface="+mj-lt"/>
            </a:endParaRPr>
          </a:p>
          <a:p>
            <a:pPr algn="l"/>
            <a:r>
              <a:rPr lang="de-DE" sz="800" dirty="0">
                <a:solidFill>
                  <a:srgbClr val="009BA3"/>
                </a:solidFill>
                <a:latin typeface="+mj-lt"/>
              </a:rPr>
              <a:t>     - </a:t>
            </a:r>
            <a:r>
              <a:rPr lang="de-DE" sz="800" b="0" i="0" u="none" strike="noStrike" baseline="0" dirty="0" err="1">
                <a:solidFill>
                  <a:srgbClr val="000000"/>
                </a:solidFill>
                <a:latin typeface="+mj-lt"/>
              </a:rPr>
              <a:t>Length</a:t>
            </a:r>
            <a:r>
              <a:rPr lang="de-DE" sz="800" b="0" i="0" u="none" strike="noStrike" baseline="0" dirty="0">
                <a:solidFill>
                  <a:srgbClr val="000000"/>
                </a:solidFill>
                <a:latin typeface="+mj-lt"/>
              </a:rPr>
              <a:t> </a:t>
            </a:r>
            <a:r>
              <a:rPr lang="de-DE" sz="800" b="0" i="0" u="none" strike="noStrike" baseline="0" dirty="0" err="1">
                <a:solidFill>
                  <a:srgbClr val="000000"/>
                </a:solidFill>
                <a:latin typeface="+mj-lt"/>
              </a:rPr>
              <a:t>repeat</a:t>
            </a:r>
            <a:r>
              <a:rPr lang="de-DE" sz="800" b="0" i="0" u="none" strike="noStrike" baseline="0" dirty="0">
                <a:solidFill>
                  <a:srgbClr val="000000"/>
                </a:solidFill>
                <a:latin typeface="+mj-lt"/>
              </a:rPr>
              <a:t> </a:t>
            </a:r>
            <a:r>
              <a:rPr lang="de-DE" sz="800" b="0" i="0" u="none" strike="noStrike" baseline="0" dirty="0" err="1">
                <a:solidFill>
                  <a:srgbClr val="000000"/>
                </a:solidFill>
                <a:latin typeface="+mj-lt"/>
              </a:rPr>
              <a:t>accuracy</a:t>
            </a:r>
            <a:r>
              <a:rPr lang="de-DE" sz="800" b="0" i="0" u="none" strike="noStrike" baseline="0" dirty="0">
                <a:solidFill>
                  <a:srgbClr val="000000"/>
                </a:solidFill>
                <a:latin typeface="+mj-lt"/>
              </a:rPr>
              <a:t>:</a:t>
            </a:r>
          </a:p>
          <a:p>
            <a:pPr algn="l"/>
            <a:r>
              <a:rPr lang="en-US" sz="800" b="0" i="0" u="none" strike="noStrike" baseline="0" dirty="0">
                <a:solidFill>
                  <a:srgbClr val="000000"/>
                </a:solidFill>
                <a:latin typeface="+mj-lt"/>
              </a:rPr>
              <a:t>	o Cable length smaller 500mm &lt; +/-1mm</a:t>
            </a:r>
          </a:p>
          <a:p>
            <a:pPr algn="l"/>
            <a:r>
              <a:rPr lang="es-ES" sz="800" b="0" i="0" u="none" strike="noStrike" baseline="0" dirty="0">
                <a:solidFill>
                  <a:srgbClr val="000000"/>
                </a:solidFill>
                <a:latin typeface="+mj-lt"/>
              </a:rPr>
              <a:t>	o Cable length &gt;=500mm &lt; 0,2%</a:t>
            </a:r>
          </a:p>
          <a:p>
            <a:pPr algn="l"/>
            <a:r>
              <a:rPr lang="en-US" sz="800" dirty="0">
                <a:solidFill>
                  <a:srgbClr val="009BA3"/>
                </a:solidFill>
                <a:latin typeface="+mj-lt"/>
              </a:rPr>
              <a:t>      -</a:t>
            </a:r>
            <a:r>
              <a:rPr lang="en-US" sz="800" b="0" i="0" u="none" strike="noStrike" baseline="0" dirty="0">
                <a:solidFill>
                  <a:srgbClr val="009BA3"/>
                </a:solidFill>
                <a:latin typeface="+mj-lt"/>
              </a:rPr>
              <a:t> </a:t>
            </a:r>
            <a:r>
              <a:rPr lang="en-US" sz="800" b="0" i="0" u="none" strike="noStrike" baseline="0" dirty="0">
                <a:solidFill>
                  <a:srgbClr val="000000"/>
                </a:solidFill>
                <a:latin typeface="+mj-lt"/>
              </a:rPr>
              <a:t>Observing the + tolerance area has to be adjustable by correction factor</a:t>
            </a:r>
          </a:p>
          <a:p>
            <a:pPr algn="l"/>
            <a:r>
              <a:rPr lang="en-US" sz="800" dirty="0">
                <a:solidFill>
                  <a:srgbClr val="009BA3"/>
                </a:solidFill>
                <a:latin typeface="+mj-lt"/>
              </a:rPr>
              <a:t>      -</a:t>
            </a:r>
            <a:r>
              <a:rPr lang="en-US" sz="800" b="0" i="0" u="none" strike="noStrike" baseline="0" dirty="0">
                <a:solidFill>
                  <a:srgbClr val="009BA3"/>
                </a:solidFill>
                <a:latin typeface="+mj-lt"/>
              </a:rPr>
              <a:t> </a:t>
            </a:r>
            <a:r>
              <a:rPr lang="en-US" sz="800" b="0" i="0" u="none" strike="noStrike" baseline="0" dirty="0">
                <a:solidFill>
                  <a:srgbClr val="000000"/>
                </a:solidFill>
                <a:latin typeface="+mj-lt"/>
              </a:rPr>
              <a:t>Mechanical knot control ( diameter specific and marked adjusting disc)</a:t>
            </a:r>
          </a:p>
          <a:p>
            <a:pPr algn="l"/>
            <a:r>
              <a:rPr lang="en-US" sz="800" dirty="0">
                <a:solidFill>
                  <a:srgbClr val="009BA3"/>
                </a:solidFill>
                <a:latin typeface="+mj-lt"/>
              </a:rPr>
              <a:t>      -</a:t>
            </a:r>
            <a:r>
              <a:rPr lang="en-US" sz="800" b="0" i="0" u="none" strike="noStrike" baseline="0" dirty="0">
                <a:solidFill>
                  <a:srgbClr val="009BA3"/>
                </a:solidFill>
                <a:latin typeface="+mj-lt"/>
              </a:rPr>
              <a:t> </a:t>
            </a:r>
            <a:r>
              <a:rPr lang="en-US" sz="800" b="0" i="0" u="none" strike="noStrike" baseline="0" dirty="0">
                <a:solidFill>
                  <a:srgbClr val="000000"/>
                </a:solidFill>
                <a:latin typeface="+mj-lt"/>
              </a:rPr>
              <a:t>Minimum cable waste ( 1. Cable, zero cut)</a:t>
            </a:r>
          </a:p>
          <a:p>
            <a:pPr algn="l"/>
            <a:r>
              <a:rPr lang="de-DE" sz="900" b="0" i="0" u="none" strike="noStrike" baseline="0" dirty="0">
                <a:solidFill>
                  <a:srgbClr val="000000"/>
                </a:solidFill>
                <a:latin typeface="+mj-lt"/>
              </a:rPr>
              <a:t>2. Cut-in </a:t>
            </a:r>
            <a:r>
              <a:rPr lang="de-DE" sz="900" b="0" i="0" u="none" strike="noStrike" baseline="0" dirty="0" err="1">
                <a:solidFill>
                  <a:srgbClr val="000000"/>
                </a:solidFill>
                <a:latin typeface="+mj-lt"/>
              </a:rPr>
              <a:t>units</a:t>
            </a:r>
            <a:endParaRPr lang="de-DE" sz="900" b="0" i="0" u="none" strike="noStrike" baseline="0" dirty="0">
              <a:solidFill>
                <a:srgbClr val="000000"/>
              </a:solidFill>
              <a:latin typeface="+mj-lt"/>
            </a:endParaRPr>
          </a:p>
          <a:p>
            <a:pPr algn="l"/>
            <a:r>
              <a:rPr lang="en-US" sz="800" b="0" i="0" u="none" strike="noStrike" baseline="0" dirty="0">
                <a:solidFill>
                  <a:srgbClr val="009BA3"/>
                </a:solidFill>
                <a:latin typeface="+mj-lt"/>
              </a:rPr>
              <a:t>      - </a:t>
            </a:r>
            <a:r>
              <a:rPr lang="en-US" sz="800" b="0" i="0" u="none" strike="noStrike" baseline="0" dirty="0">
                <a:solidFill>
                  <a:srgbClr val="000000"/>
                </a:solidFill>
                <a:latin typeface="+mj-lt"/>
              </a:rPr>
              <a:t>Pre-switching of a cable roller with cable store, types or power specified by the consultant</a:t>
            </a:r>
          </a:p>
          <a:p>
            <a:pPr algn="l"/>
            <a:r>
              <a:rPr lang="de-DE" sz="800" dirty="0">
                <a:solidFill>
                  <a:srgbClr val="009BA3"/>
                </a:solidFill>
                <a:latin typeface="+mj-lt"/>
              </a:rPr>
              <a:t>      -</a:t>
            </a:r>
            <a:r>
              <a:rPr lang="de-DE" sz="800" b="0" i="0" u="none" strike="noStrike" baseline="0" dirty="0">
                <a:solidFill>
                  <a:srgbClr val="009BA3"/>
                </a:solidFill>
                <a:latin typeface="+mj-lt"/>
              </a:rPr>
              <a:t> </a:t>
            </a:r>
            <a:r>
              <a:rPr lang="de-DE" sz="800" b="0" i="0" u="none" strike="noStrike" baseline="0" dirty="0">
                <a:solidFill>
                  <a:srgbClr val="000000"/>
                </a:solidFill>
                <a:latin typeface="+mj-lt"/>
              </a:rPr>
              <a:t>Interface </a:t>
            </a:r>
            <a:r>
              <a:rPr lang="de-DE" sz="800" b="0" i="0" u="none" strike="noStrike" baseline="0" dirty="0" err="1">
                <a:solidFill>
                  <a:srgbClr val="000000"/>
                </a:solidFill>
                <a:latin typeface="+mj-lt"/>
              </a:rPr>
              <a:t>description</a:t>
            </a:r>
            <a:r>
              <a:rPr lang="de-DE" sz="800" b="0" i="0" u="none" strike="noStrike" baseline="0" dirty="0">
                <a:solidFill>
                  <a:srgbClr val="000000"/>
                </a:solidFill>
                <a:latin typeface="+mj-lt"/>
              </a:rPr>
              <a:t> </a:t>
            </a:r>
            <a:r>
              <a:rPr lang="de-DE" sz="800" b="0" i="0" u="none" strike="noStrike" baseline="0" dirty="0" err="1">
                <a:solidFill>
                  <a:srgbClr val="000000"/>
                </a:solidFill>
                <a:latin typeface="+mj-lt"/>
              </a:rPr>
              <a:t>cut</a:t>
            </a:r>
            <a:r>
              <a:rPr lang="de-DE" sz="800" b="0" i="0" u="none" strike="noStrike" baseline="0" dirty="0">
                <a:solidFill>
                  <a:srgbClr val="000000"/>
                </a:solidFill>
                <a:latin typeface="+mj-lt"/>
              </a:rPr>
              <a:t>-in </a:t>
            </a:r>
            <a:r>
              <a:rPr lang="de-DE" sz="800" b="0" i="0" u="none" strike="noStrike" baseline="0" dirty="0" err="1">
                <a:solidFill>
                  <a:srgbClr val="000000"/>
                </a:solidFill>
                <a:latin typeface="+mj-lt"/>
              </a:rPr>
              <a:t>units</a:t>
            </a:r>
            <a:endParaRPr lang="de-DE" sz="800" b="0" i="0" u="none" strike="noStrike" baseline="0" dirty="0">
              <a:solidFill>
                <a:srgbClr val="000000"/>
              </a:solidFill>
              <a:latin typeface="+mj-lt"/>
            </a:endParaRPr>
          </a:p>
          <a:p>
            <a:pPr algn="l"/>
            <a:r>
              <a:rPr lang="en-US" sz="800" dirty="0">
                <a:solidFill>
                  <a:srgbClr val="009BA3"/>
                </a:solidFill>
                <a:latin typeface="+mj-lt"/>
              </a:rPr>
              <a:t>      -</a:t>
            </a:r>
            <a:r>
              <a:rPr lang="en-US" sz="800" b="0" i="0" u="none" strike="noStrike" baseline="0" dirty="0">
                <a:solidFill>
                  <a:srgbClr val="009BA3"/>
                </a:solidFill>
                <a:latin typeface="+mj-lt"/>
              </a:rPr>
              <a:t> </a:t>
            </a:r>
            <a:r>
              <a:rPr lang="en-US" sz="800" b="0" i="0" u="none" strike="noStrike" baseline="0" dirty="0">
                <a:solidFill>
                  <a:srgbClr val="000000"/>
                </a:solidFill>
                <a:latin typeface="+mj-lt"/>
              </a:rPr>
              <a:t>Automatic identification if the actual stripping blade is the correct one for the loaded order.</a:t>
            </a:r>
          </a:p>
          <a:p>
            <a:pPr algn="l"/>
            <a:r>
              <a:rPr lang="de-DE" sz="900" b="0" i="0" u="none" strike="noStrike" baseline="0" dirty="0">
                <a:solidFill>
                  <a:srgbClr val="000000"/>
                </a:solidFill>
                <a:latin typeface="+mj-lt"/>
              </a:rPr>
              <a:t>3. </a:t>
            </a:r>
            <a:r>
              <a:rPr lang="de-DE" sz="900" b="0" i="0" u="none" strike="noStrike" baseline="0" dirty="0" err="1">
                <a:solidFill>
                  <a:srgbClr val="000000"/>
                </a:solidFill>
                <a:latin typeface="+mj-lt"/>
              </a:rPr>
              <a:t>Length</a:t>
            </a:r>
            <a:r>
              <a:rPr lang="de-DE" sz="900" b="0" i="0" u="none" strike="noStrike" baseline="0" dirty="0">
                <a:solidFill>
                  <a:srgbClr val="000000"/>
                </a:solidFill>
                <a:latin typeface="+mj-lt"/>
              </a:rPr>
              <a:t> </a:t>
            </a:r>
            <a:r>
              <a:rPr lang="de-DE" sz="900" b="0" i="0" u="none" strike="noStrike" baseline="0" dirty="0" err="1">
                <a:solidFill>
                  <a:srgbClr val="000000"/>
                </a:solidFill>
                <a:latin typeface="+mj-lt"/>
              </a:rPr>
              <a:t>cutting</a:t>
            </a:r>
            <a:endParaRPr lang="de-DE" sz="900" b="0" i="0" u="none" strike="noStrike" baseline="0" dirty="0">
              <a:solidFill>
                <a:srgbClr val="000000"/>
              </a:solidFill>
              <a:latin typeface="+mj-lt"/>
            </a:endParaRPr>
          </a:p>
          <a:p>
            <a:pPr algn="l"/>
            <a:r>
              <a:rPr lang="de-DE" sz="800" dirty="0">
                <a:solidFill>
                  <a:srgbClr val="009BA3"/>
                </a:solidFill>
                <a:latin typeface="+mj-lt"/>
              </a:rPr>
              <a:t>      -</a:t>
            </a:r>
            <a:r>
              <a:rPr lang="de-DE" sz="800" b="0" i="0" u="none" strike="noStrike" baseline="0" dirty="0">
                <a:solidFill>
                  <a:srgbClr val="009BA3"/>
                </a:solidFill>
                <a:latin typeface="+mj-lt"/>
              </a:rPr>
              <a:t> </a:t>
            </a:r>
            <a:r>
              <a:rPr lang="de-DE" sz="800" b="0" i="0" u="none" strike="noStrike" baseline="0" dirty="0" err="1">
                <a:solidFill>
                  <a:srgbClr val="000000"/>
                </a:solidFill>
                <a:latin typeface="+mj-lt"/>
              </a:rPr>
              <a:t>Length</a:t>
            </a:r>
            <a:r>
              <a:rPr lang="de-DE" sz="800" b="0" i="0" u="none" strike="noStrike" baseline="0" dirty="0">
                <a:solidFill>
                  <a:srgbClr val="000000"/>
                </a:solidFill>
                <a:latin typeface="+mj-lt"/>
              </a:rPr>
              <a:t> </a:t>
            </a:r>
            <a:r>
              <a:rPr lang="de-DE" sz="800" b="0" i="0" u="none" strike="noStrike" baseline="0" dirty="0" err="1">
                <a:solidFill>
                  <a:srgbClr val="000000"/>
                </a:solidFill>
                <a:latin typeface="+mj-lt"/>
              </a:rPr>
              <a:t>area</a:t>
            </a:r>
            <a:r>
              <a:rPr lang="de-DE" sz="800" b="0" i="0" u="none" strike="noStrike" baseline="0" dirty="0">
                <a:solidFill>
                  <a:srgbClr val="000000"/>
                </a:solidFill>
                <a:latin typeface="+mj-lt"/>
              </a:rPr>
              <a:t>: 500 - 2000mm</a:t>
            </a:r>
          </a:p>
          <a:p>
            <a:pPr algn="l"/>
            <a:r>
              <a:rPr lang="de-DE" sz="800" dirty="0">
                <a:solidFill>
                  <a:srgbClr val="009BA3"/>
                </a:solidFill>
                <a:latin typeface="+mj-lt"/>
              </a:rPr>
              <a:t>      - </a:t>
            </a:r>
            <a:r>
              <a:rPr lang="de-DE" sz="800" b="0" i="0" u="none" strike="noStrike" baseline="0" dirty="0">
                <a:solidFill>
                  <a:srgbClr val="000000"/>
                </a:solidFill>
                <a:latin typeface="+mj-lt"/>
              </a:rPr>
              <a:t>Cutting blades</a:t>
            </a:r>
          </a:p>
          <a:p>
            <a:pPr algn="l"/>
            <a:r>
              <a:rPr lang="en-US" sz="800" b="0" i="0" u="none" strike="noStrike" baseline="0" dirty="0">
                <a:solidFill>
                  <a:srgbClr val="000000"/>
                </a:solidFill>
                <a:latin typeface="+mj-lt"/>
              </a:rPr>
              <a:t>	o Blade quality: standard materials and options, tolerances</a:t>
            </a:r>
          </a:p>
          <a:p>
            <a:pPr algn="l"/>
            <a:r>
              <a:rPr lang="en-US" sz="800" b="0" i="0" u="none" strike="noStrike" baseline="0" dirty="0">
                <a:solidFill>
                  <a:srgbClr val="000000"/>
                </a:solidFill>
                <a:latin typeface="+mj-lt"/>
              </a:rPr>
              <a:t>	o Lifetime for each type</a:t>
            </a:r>
            <a:endParaRPr lang="de-DE" sz="500" dirty="0">
              <a:latin typeface="+mj-lt"/>
            </a:endParaRPr>
          </a:p>
        </p:txBody>
      </p:sp>
      <p:pic>
        <p:nvPicPr>
          <p:cNvPr id="16" name="Grafik 15">
            <a:extLst>
              <a:ext uri="{FF2B5EF4-FFF2-40B4-BE49-F238E27FC236}">
                <a16:creationId xmlns:a16="http://schemas.microsoft.com/office/drawing/2014/main" id="{07523D7B-7DEB-9B71-7C45-B84F96D16C42}"/>
              </a:ext>
            </a:extLst>
          </p:cNvPr>
          <p:cNvPicPr>
            <a:picLocks noChangeAspect="1"/>
          </p:cNvPicPr>
          <p:nvPr/>
        </p:nvPicPr>
        <p:blipFill>
          <a:blip r:embed="rId2"/>
          <a:stretch>
            <a:fillRect/>
          </a:stretch>
        </p:blipFill>
        <p:spPr>
          <a:xfrm>
            <a:off x="431801" y="844509"/>
            <a:ext cx="3746500" cy="1753589"/>
          </a:xfrm>
          <a:prstGeom prst="rect">
            <a:avLst/>
          </a:prstGeom>
        </p:spPr>
      </p:pic>
      <p:sp>
        <p:nvSpPr>
          <p:cNvPr id="6" name="Textfeld 5">
            <a:extLst>
              <a:ext uri="{FF2B5EF4-FFF2-40B4-BE49-F238E27FC236}">
                <a16:creationId xmlns:a16="http://schemas.microsoft.com/office/drawing/2014/main" id="{5E341060-4392-545D-835F-72BA10A8095E}"/>
              </a:ext>
            </a:extLst>
          </p:cNvPr>
          <p:cNvSpPr txBox="1"/>
          <p:nvPr/>
        </p:nvSpPr>
        <p:spPr>
          <a:xfrm>
            <a:off x="6230427" y="812183"/>
            <a:ext cx="4805874" cy="1067985"/>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Automatic cable unwinder for tension-free material feed for all 3 named cable cross-sections</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8001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a:t>
            </a:r>
          </a:p>
          <a:p>
            <a:pPr marL="342900" indent="-342900" defTabSz="457200">
              <a:spcBef>
                <a:spcPct val="20000"/>
              </a:spcBef>
              <a:buFont typeface="Arial"/>
              <a:buChar char="•"/>
            </a:pPr>
            <a:endParaRPr lang="de-DE" sz="900" dirty="0">
              <a:latin typeface="Calibri" panose="020F0502020204030204" pitchFamily="34" charset="0"/>
              <a:ea typeface="Calibri" panose="020F0502020204030204" pitchFamily="34" charset="0"/>
              <a:cs typeface="Calibri" panose="020F0502020204030204" pitchFamily="34" charset="0"/>
            </a:endParaRPr>
          </a:p>
        </p:txBody>
      </p:sp>
      <p:pic>
        <p:nvPicPr>
          <p:cNvPr id="3" name="Grafik 2">
            <a:extLst>
              <a:ext uri="{FF2B5EF4-FFF2-40B4-BE49-F238E27FC236}">
                <a16:creationId xmlns:a16="http://schemas.microsoft.com/office/drawing/2014/main" id="{8600E69C-57D6-A2F4-0845-DF0CE0578382}"/>
              </a:ext>
            </a:extLst>
          </p:cNvPr>
          <p:cNvPicPr>
            <a:picLocks noChangeAspect="1"/>
          </p:cNvPicPr>
          <p:nvPr/>
        </p:nvPicPr>
        <p:blipFill>
          <a:blip r:embed="rId3"/>
          <a:stretch>
            <a:fillRect/>
          </a:stretch>
        </p:blipFill>
        <p:spPr>
          <a:xfrm>
            <a:off x="936457" y="3926884"/>
            <a:ext cx="3165643" cy="2332086"/>
          </a:xfrm>
          <a:prstGeom prst="rect">
            <a:avLst/>
          </a:prstGeom>
        </p:spPr>
      </p:pic>
      <p:sp>
        <p:nvSpPr>
          <p:cNvPr id="5" name="Textfeld 4">
            <a:extLst>
              <a:ext uri="{FF2B5EF4-FFF2-40B4-BE49-F238E27FC236}">
                <a16:creationId xmlns:a16="http://schemas.microsoft.com/office/drawing/2014/main" id="{5FA20405-9279-8714-7CE0-5C8D22141C65}"/>
              </a:ext>
            </a:extLst>
          </p:cNvPr>
          <p:cNvSpPr txBox="1"/>
          <p:nvPr/>
        </p:nvSpPr>
        <p:spPr>
          <a:xfrm>
            <a:off x="6230427" y="3606385"/>
            <a:ext cx="3746341" cy="3090077"/>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Cutting and Pull Unit for Isolation Part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Extraction cylinder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gripper with interchangeable knives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knifes </a:t>
            </a:r>
            <a:r>
              <a:rPr lang="en-US" sz="900" dirty="0" err="1">
                <a:latin typeface="Calibri" panose="020F0502020204030204" pitchFamily="34" charset="0"/>
                <a:ea typeface="Calibri" panose="020F0502020204030204" pitchFamily="34" charset="0"/>
                <a:cs typeface="Calibri" panose="020F0502020204030204" pitchFamily="34" charset="0"/>
              </a:rPr>
              <a:t>Typ</a:t>
            </a:r>
            <a:r>
              <a:rPr lang="en-US" sz="900" dirty="0">
                <a:latin typeface="Calibri" panose="020F0502020204030204" pitchFamily="34" charset="0"/>
                <a:ea typeface="Calibri" panose="020F0502020204030204" pitchFamily="34" charset="0"/>
                <a:cs typeface="Calibri" panose="020F0502020204030204" pitchFamily="34" charset="0"/>
              </a:rPr>
              <a:t>:  V-blades included in the basic scope</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Turning unit pneumatic</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Holder Cable</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Cylinder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Gripper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Gripper fingers for all cable types</a:t>
            </a:r>
          </a:p>
          <a:p>
            <a:pPr marL="342900" lvl="1" indent="-342900" defTabSz="457200">
              <a:spcBef>
                <a:spcPct val="20000"/>
              </a:spcBef>
              <a:buFont typeface="Arial"/>
              <a:buChar char="•"/>
            </a:pPr>
            <a:r>
              <a:rPr lang="en-US" sz="900" dirty="0" err="1">
                <a:latin typeface="Calibri" panose="020F0502020204030204" pitchFamily="34" charset="0"/>
                <a:ea typeface="Calibri" panose="020F0502020204030204" pitchFamily="34" charset="0"/>
                <a:cs typeface="Calibri" panose="020F0502020204030204" pitchFamily="34" charset="0"/>
              </a:rPr>
              <a:t>Elctrical</a:t>
            </a:r>
            <a:r>
              <a:rPr lang="en-US" sz="900" dirty="0">
                <a:latin typeface="Calibri" panose="020F0502020204030204" pitchFamily="34" charset="0"/>
                <a:ea typeface="Calibri" panose="020F0502020204030204" pitchFamily="34" charset="0"/>
                <a:cs typeface="Calibri" panose="020F0502020204030204" pitchFamily="34" charset="0"/>
              </a:rPr>
              <a:t>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Extraction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of</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the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insulation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ends</a:t>
            </a:r>
            <a:r>
              <a:rPr lang="de-DE" altLang="de-DE" sz="900" dirty="0">
                <a:latin typeface="Calibri" panose="020F0502020204030204" pitchFamily="34" charset="0"/>
                <a:ea typeface="Calibri" panose="020F0502020204030204" pitchFamily="34" charset="0"/>
                <a:cs typeface="Calibri" panose="020F0502020204030204" pitchFamily="34" charset="0"/>
              </a:rPr>
              <a:t> and </a:t>
            </a:r>
            <a:r>
              <a:rPr lang="de-DE" altLang="de-DE" sz="900" dirty="0" err="1">
                <a:latin typeface="Calibri" panose="020F0502020204030204" pitchFamily="34" charset="0"/>
                <a:ea typeface="Calibri" panose="020F0502020204030204" pitchFamily="34" charset="0"/>
                <a:cs typeface="Calibri" panose="020F0502020204030204" pitchFamily="34" charset="0"/>
              </a:rPr>
              <a:t>resulting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protection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p>
          <a:p>
            <a:pPr marL="628650" lvl="1" indent="-171450" defTabSz="457200">
              <a:spcBef>
                <a:spcPct val="20000"/>
              </a:spcBef>
              <a:buFont typeface="Symbol" panose="05050102010706020507" pitchFamily="18" charset="2"/>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Suction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unit</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size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designed</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1-shift  </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a:t>
            </a:r>
          </a:p>
          <a:p>
            <a:pPr lvl="1" defTabSz="457200">
              <a:spcBef>
                <a:spcPct val="20000"/>
              </a:spcBef>
            </a:pPr>
            <a:endParaRPr lang="en-US" sz="900" dirty="0">
              <a:latin typeface="Calibri" panose="020F0502020204030204" pitchFamily="34" charset="0"/>
              <a:ea typeface="Calibri" panose="020F0502020204030204" pitchFamily="34" charset="0"/>
              <a:cs typeface="Calibri" panose="020F0502020204030204" pitchFamily="34" charset="0"/>
            </a:endParaRPr>
          </a:p>
        </p:txBody>
      </p:sp>
      <p:sp>
        <p:nvSpPr>
          <p:cNvPr id="7" name="Titel 1">
            <a:extLst>
              <a:ext uri="{FF2B5EF4-FFF2-40B4-BE49-F238E27FC236}">
                <a16:creationId xmlns:a16="http://schemas.microsoft.com/office/drawing/2014/main" id="{AF194CBE-2195-4C3B-3633-131CC301975C}"/>
              </a:ext>
            </a:extLst>
          </p:cNvPr>
          <p:cNvSpPr txBox="1">
            <a:spLocks/>
          </p:cNvSpPr>
          <p:nvPr/>
        </p:nvSpPr>
        <p:spPr>
          <a:xfrm>
            <a:off x="3434107" y="2985899"/>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400" b="1" u="sng" dirty="0">
                <a:latin typeface="+mj-lt"/>
              </a:rPr>
              <a:t>Stripping Cable</a:t>
            </a:r>
            <a:endParaRPr lang="de-DE" sz="1400" u="sng" dirty="0"/>
          </a:p>
        </p:txBody>
      </p:sp>
    </p:spTree>
    <p:extLst>
      <p:ext uri="{BB962C8B-B14F-4D97-AF65-F5344CB8AC3E}">
        <p14:creationId xmlns:p14="http://schemas.microsoft.com/office/powerpoint/2010/main" val="3459956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err="1">
                <a:latin typeface="+mj-lt"/>
              </a:rPr>
              <a:t>Crimping</a:t>
            </a:r>
            <a:r>
              <a:rPr lang="de-DE" sz="1400" b="1" dirty="0">
                <a:latin typeface="+mj-lt"/>
              </a:rPr>
              <a:t> Unit</a:t>
            </a:r>
          </a:p>
        </p:txBody>
      </p:sp>
      <p:pic>
        <p:nvPicPr>
          <p:cNvPr id="28" name="Grafik 27">
            <a:extLst>
              <a:ext uri="{FF2B5EF4-FFF2-40B4-BE49-F238E27FC236}">
                <a16:creationId xmlns:a16="http://schemas.microsoft.com/office/drawing/2014/main" id="{5BA1C3ED-3A8F-E95A-5A7B-DCA9DB6DD9ED}"/>
              </a:ext>
            </a:extLst>
          </p:cNvPr>
          <p:cNvPicPr>
            <a:picLocks noChangeAspect="1"/>
          </p:cNvPicPr>
          <p:nvPr/>
        </p:nvPicPr>
        <p:blipFill>
          <a:blip r:embed="rId2"/>
          <a:stretch>
            <a:fillRect/>
          </a:stretch>
        </p:blipFill>
        <p:spPr>
          <a:xfrm>
            <a:off x="430131" y="1180184"/>
            <a:ext cx="4370469" cy="2157404"/>
          </a:xfrm>
          <a:prstGeom prst="rect">
            <a:avLst/>
          </a:prstGeom>
        </p:spPr>
      </p:pic>
      <p:sp>
        <p:nvSpPr>
          <p:cNvPr id="4" name="Textfeld 3">
            <a:extLst>
              <a:ext uri="{FF2B5EF4-FFF2-40B4-BE49-F238E27FC236}">
                <a16:creationId xmlns:a16="http://schemas.microsoft.com/office/drawing/2014/main" id="{187874C9-8EA8-24DA-1033-B20EC5B8F3CB}"/>
              </a:ext>
            </a:extLst>
          </p:cNvPr>
          <p:cNvSpPr txBox="1"/>
          <p:nvPr/>
        </p:nvSpPr>
        <p:spPr>
          <a:xfrm>
            <a:off x="6028981" y="976386"/>
            <a:ext cx="4854919" cy="4752070"/>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including</a:t>
            </a:r>
            <a:r>
              <a:rPr lang="de-DE" sz="1400" b="1" u="sng" dirty="0">
                <a:latin typeface="Calibri" panose="020F0502020204030204" pitchFamily="34" charset="0"/>
                <a:ea typeface="Calibri" panose="020F0502020204030204" pitchFamily="34" charset="0"/>
                <a:cs typeface="Calibri" panose="020F0502020204030204" pitchFamily="34" charset="0"/>
              </a:rPr>
              <a:t> in </a:t>
            </a:r>
            <a:r>
              <a:rPr lang="de-DE" sz="1400" b="1" u="sng" dirty="0" err="1">
                <a:latin typeface="Calibri" panose="020F0502020204030204" pitchFamily="34" charset="0"/>
                <a:ea typeface="Calibri" panose="020F0502020204030204" pitchFamily="34" charset="0"/>
                <a:cs typeface="Calibri" panose="020F0502020204030204" pitchFamily="34" charset="0"/>
              </a:rPr>
              <a:t>the</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offer</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Feeding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Automatic feeding unit for all types of cable lugs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Cable lug hopper for 1 shift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Camera for position detection</a:t>
            </a:r>
          </a:p>
          <a:p>
            <a:pPr marL="628650" lvl="1" indent="-171450" defTabSz="457200">
              <a:spcBef>
                <a:spcPct val="20000"/>
              </a:spcBef>
              <a:buFont typeface="Symbol" panose="05050102010706020507" pitchFamily="18" charset="2"/>
              <a:buChar char="-"/>
            </a:pPr>
            <a:r>
              <a:rPr lang="en-US" sz="900" dirty="0" err="1">
                <a:latin typeface="Calibri" panose="020F0502020204030204" pitchFamily="34" charset="0"/>
                <a:ea typeface="Calibri" panose="020F0502020204030204" pitchFamily="34" charset="0"/>
                <a:cs typeface="Calibri" panose="020F0502020204030204" pitchFamily="34" charset="0"/>
              </a:rPr>
              <a:t>Scara</a:t>
            </a:r>
            <a:r>
              <a:rPr lang="en-US" sz="900" dirty="0">
                <a:latin typeface="Calibri" panose="020F0502020204030204" pitchFamily="34" charset="0"/>
                <a:ea typeface="Calibri" panose="020F0502020204030204" pitchFamily="34" charset="0"/>
                <a:cs typeface="Calibri" panose="020F0502020204030204" pitchFamily="34" charset="0"/>
              </a:rPr>
              <a:t> robot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gripper for all types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Alignment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alignment unit for all </a:t>
            </a:r>
            <a:r>
              <a:rPr lang="en-US" sz="900" dirty="0" err="1">
                <a:latin typeface="Calibri" panose="020F0502020204030204" pitchFamily="34" charset="0"/>
                <a:ea typeface="Calibri" panose="020F0502020204030204" pitchFamily="34" charset="0"/>
                <a:cs typeface="Calibri" panose="020F0502020204030204" pitchFamily="34" charset="0"/>
              </a:rPr>
              <a:t>typs</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gripper for centering cable lug</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Handover station for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180° turning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pneumatic </a:t>
            </a:r>
            <a:r>
              <a:rPr lang="en-US" sz="900" dirty="0" err="1">
                <a:latin typeface="Calibri" panose="020F0502020204030204" pitchFamily="34" charset="0"/>
                <a:ea typeface="Calibri" panose="020F0502020204030204" pitchFamily="34" charset="0"/>
                <a:cs typeface="Calibri" panose="020F0502020204030204" pitchFamily="34" charset="0"/>
              </a:rPr>
              <a:t>zylinder</a:t>
            </a:r>
            <a:r>
              <a:rPr lang="en-US" sz="900" dirty="0">
                <a:latin typeface="Calibri" panose="020F0502020204030204" pitchFamily="34" charset="0"/>
                <a:ea typeface="Calibri" panose="020F0502020204030204" pitchFamily="34" charset="0"/>
                <a:cs typeface="Calibri" panose="020F0502020204030204" pitchFamily="34" charset="0"/>
              </a:rPr>
              <a:t> for delivery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pneumatic gripping unit with floating unit</a:t>
            </a:r>
          </a:p>
          <a:p>
            <a:pPr marL="342900" lvl="1" indent="-342900" defTabSz="457200">
              <a:spcBef>
                <a:spcPct val="20000"/>
              </a:spcBef>
              <a:buFont typeface="Arial"/>
              <a:buChar char="•"/>
            </a:pPr>
            <a:r>
              <a:rPr lang="en-US" sz="900" dirty="0" err="1">
                <a:latin typeface="Calibri" panose="020F0502020204030204" pitchFamily="34" charset="0"/>
                <a:ea typeface="Calibri" panose="020F0502020204030204" pitchFamily="34" charset="0"/>
                <a:cs typeface="Calibri" panose="020F0502020204030204" pitchFamily="34" charset="0"/>
              </a:rPr>
              <a:t>Elctrical</a:t>
            </a:r>
            <a:r>
              <a:rPr lang="en-US" sz="900" dirty="0">
                <a:latin typeface="Calibri" panose="020F0502020204030204" pitchFamily="34" charset="0"/>
                <a:ea typeface="Calibri" panose="020F0502020204030204" pitchFamily="34" charset="0"/>
                <a:cs typeface="Calibri" panose="020F0502020204030204" pitchFamily="34" charset="0"/>
              </a:rPr>
              <a:t>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Crimp </a:t>
            </a:r>
            <a:r>
              <a:rPr lang="de-DE" altLang="de-DE" sz="900" dirty="0" err="1">
                <a:latin typeface="Calibri" panose="020F0502020204030204" pitchFamily="34" charset="0"/>
                <a:ea typeface="Calibri" panose="020F0502020204030204" pitchFamily="34" charset="0"/>
                <a:cs typeface="Calibri" panose="020F0502020204030204" pitchFamily="34" charset="0"/>
              </a:rPr>
              <a:t>station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Basic </a:t>
            </a:r>
            <a:r>
              <a:rPr lang="de-DE" altLang="de-DE" sz="900" dirty="0" err="1">
                <a:latin typeface="Calibri" panose="020F0502020204030204" pitchFamily="34" charset="0"/>
                <a:ea typeface="Calibri" panose="020F0502020204030204" pitchFamily="34" charset="0"/>
                <a:cs typeface="Calibri" panose="020F0502020204030204" pitchFamily="34" charset="0"/>
              </a:rPr>
              <a:t>structure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Electromechanical</a:t>
            </a:r>
            <a:r>
              <a:rPr lang="de-DE" altLang="de-DE" sz="900" dirty="0">
                <a:latin typeface="Calibri" panose="020F0502020204030204" pitchFamily="34" charset="0"/>
                <a:ea typeface="Calibri" panose="020F0502020204030204" pitchFamily="34" charset="0"/>
                <a:cs typeface="Calibri" panose="020F0502020204030204" pitchFamily="34" charset="0"/>
              </a:rPr>
              <a:t> NC </a:t>
            </a:r>
            <a:r>
              <a:rPr lang="de-DE" altLang="de-DE" sz="900" dirty="0" err="1">
                <a:latin typeface="Calibri" panose="020F0502020204030204" pitchFamily="34" charset="0"/>
                <a:ea typeface="Calibri" panose="020F0502020204030204" pitchFamily="34" charset="0"/>
                <a:cs typeface="Calibri" panose="020F0502020204030204" pitchFamily="34" charset="0"/>
              </a:rPr>
              <a:t>joining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module</a:t>
            </a:r>
            <a:r>
              <a:rPr lang="de-DE" altLang="de-DE" sz="900" dirty="0">
                <a:latin typeface="Calibri" panose="020F0502020204030204" pitchFamily="34" charset="0"/>
                <a:ea typeface="Calibri" panose="020F0502020204030204" pitchFamily="34" charset="0"/>
                <a:cs typeface="Calibri" panose="020F0502020204030204" pitchFamily="34" charset="0"/>
              </a:rPr>
              <a:t> Fa Kistler  0-25KN</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Crimp </a:t>
            </a:r>
            <a:r>
              <a:rPr lang="de-DE" altLang="de-DE" sz="900" dirty="0" err="1">
                <a:latin typeface="Calibri" panose="020F0502020204030204" pitchFamily="34" charset="0"/>
                <a:ea typeface="Calibri" panose="020F0502020204030204" pitchFamily="34" charset="0"/>
                <a:cs typeface="Calibri" panose="020F0502020204030204" pitchFamily="34" charset="0"/>
              </a:rPr>
              <a:t>tool</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from</a:t>
            </a:r>
            <a:r>
              <a:rPr lang="de-DE" altLang="de-DE" sz="900" dirty="0">
                <a:latin typeface="Calibri" panose="020F0502020204030204" pitchFamily="34" charset="0"/>
                <a:ea typeface="Calibri" panose="020F0502020204030204" pitchFamily="34" charset="0"/>
                <a:cs typeface="Calibri" panose="020F0502020204030204" pitchFamily="34" charset="0"/>
              </a:rPr>
              <a:t> Schäfer (</a:t>
            </a:r>
            <a:r>
              <a:rPr lang="de-DE" altLang="de-DE" sz="900" dirty="0" err="1">
                <a:latin typeface="Calibri" panose="020F0502020204030204" pitchFamily="34" charset="0"/>
                <a:ea typeface="Calibri" panose="020F0502020204030204" pitchFamily="34" charset="0"/>
                <a:cs typeface="Calibri" panose="020F0502020204030204" pitchFamily="34" charset="0"/>
              </a:rPr>
              <a:t>according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to</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specification</a:t>
            </a:r>
            <a:r>
              <a:rPr lang="de-DE" altLang="de-DE" sz="900" dirty="0">
                <a:latin typeface="Calibri" panose="020F0502020204030204" pitchFamily="34" charset="0"/>
                <a:ea typeface="Calibri" panose="020F0502020204030204" pitchFamily="34" charset="0"/>
                <a:cs typeface="Calibri" panose="020F0502020204030204" pitchFamily="34" charset="0"/>
              </a:rPr>
              <a:t>)</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Coding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crimp </a:t>
            </a:r>
            <a:r>
              <a:rPr lang="de-DE" altLang="de-DE" sz="900" dirty="0" err="1">
                <a:latin typeface="Calibri" panose="020F0502020204030204" pitchFamily="34" charset="0"/>
                <a:ea typeface="Calibri" panose="020F0502020204030204" pitchFamily="34" charset="0"/>
                <a:cs typeface="Calibri" panose="020F0502020204030204" pitchFamily="34" charset="0"/>
              </a:rPr>
              <a:t>tool</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Interchangeable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crimping</a:t>
            </a:r>
            <a:r>
              <a:rPr lang="de-DE" altLang="de-DE" sz="900" dirty="0">
                <a:latin typeface="Calibri" panose="020F0502020204030204" pitchFamily="34" charset="0"/>
                <a:ea typeface="Calibri" panose="020F0502020204030204" pitchFamily="34" charset="0"/>
                <a:cs typeface="Calibri" panose="020F0502020204030204" pitchFamily="34" charset="0"/>
              </a:rPr>
              <a:t> dies</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Coding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crimping</a:t>
            </a:r>
            <a:r>
              <a:rPr lang="de-DE" altLang="de-DE" sz="900" dirty="0">
                <a:latin typeface="Calibri" panose="020F0502020204030204" pitchFamily="34" charset="0"/>
                <a:ea typeface="Calibri" panose="020F0502020204030204" pitchFamily="34" charset="0"/>
                <a:cs typeface="Calibri" panose="020F0502020204030204" pitchFamily="34" charset="0"/>
              </a:rPr>
              <a:t> dies</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Welding </a:t>
            </a:r>
            <a:r>
              <a:rPr lang="de-DE" altLang="de-DE" sz="900" dirty="0" err="1">
                <a:latin typeface="Calibri" panose="020F0502020204030204" pitchFamily="34" charset="0"/>
                <a:ea typeface="Calibri" panose="020F0502020204030204" pitchFamily="34" charset="0"/>
                <a:cs typeface="Calibri" panose="020F0502020204030204" pitchFamily="34" charset="0"/>
              </a:rPr>
              <a:t>console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a:t>
            </a:r>
            <a:r>
              <a:rPr lang="de-DE" altLang="de-DE" sz="900" dirty="0" err="1">
                <a:latin typeface="Calibri" panose="020F0502020204030204" pitchFamily="34" charset="0"/>
                <a:ea typeface="Calibri" panose="020F0502020204030204" pitchFamily="34" charset="0"/>
                <a:cs typeface="Calibri" panose="020F0502020204030204" pitchFamily="34" charset="0"/>
              </a:rPr>
              <a:t>plate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311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a:latin typeface="+mj-lt"/>
              </a:rPr>
              <a:t>Bending Unit</a:t>
            </a:r>
          </a:p>
        </p:txBody>
      </p:sp>
      <p:pic>
        <p:nvPicPr>
          <p:cNvPr id="20" name="Grafik 19">
            <a:extLst>
              <a:ext uri="{FF2B5EF4-FFF2-40B4-BE49-F238E27FC236}">
                <a16:creationId xmlns:a16="http://schemas.microsoft.com/office/drawing/2014/main" id="{479D4C70-436B-F656-3DBE-78BEBA6FA68A}"/>
              </a:ext>
            </a:extLst>
          </p:cNvPr>
          <p:cNvPicPr>
            <a:picLocks noChangeAspect="1"/>
          </p:cNvPicPr>
          <p:nvPr/>
        </p:nvPicPr>
        <p:blipFill>
          <a:blip r:embed="rId2"/>
          <a:stretch>
            <a:fillRect/>
          </a:stretch>
        </p:blipFill>
        <p:spPr>
          <a:xfrm>
            <a:off x="685800" y="696800"/>
            <a:ext cx="3137309" cy="2681225"/>
          </a:xfrm>
          <a:prstGeom prst="rect">
            <a:avLst/>
          </a:prstGeom>
        </p:spPr>
      </p:pic>
      <p:sp>
        <p:nvSpPr>
          <p:cNvPr id="3" name="Textfeld 2">
            <a:extLst>
              <a:ext uri="{FF2B5EF4-FFF2-40B4-BE49-F238E27FC236}">
                <a16:creationId xmlns:a16="http://schemas.microsoft.com/office/drawing/2014/main" id="{1CC547D2-B74B-6762-DD89-54E8025C3FAE}"/>
              </a:ext>
            </a:extLst>
          </p:cNvPr>
          <p:cNvSpPr txBox="1"/>
          <p:nvPr/>
        </p:nvSpPr>
        <p:spPr>
          <a:xfrm>
            <a:off x="6021629" y="907873"/>
            <a:ext cx="3985971" cy="2259080"/>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Fixing unit for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clamping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Interchangeable jaws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Coding for jaws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Bending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swivel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Adjustable from -90° till +90°</a:t>
            </a:r>
          </a:p>
          <a:p>
            <a:pPr marL="342900" lvl="1" indent="-342900" defTabSz="457200">
              <a:spcBef>
                <a:spcPct val="20000"/>
              </a:spcBef>
              <a:buFont typeface="Arial"/>
              <a:buChar char="•"/>
            </a:pPr>
            <a:r>
              <a:rPr lang="en-US" sz="900" dirty="0" err="1">
                <a:latin typeface="Calibri" panose="020F0502020204030204" pitchFamily="34" charset="0"/>
                <a:ea typeface="Calibri" panose="020F0502020204030204" pitchFamily="34" charset="0"/>
                <a:cs typeface="Calibri" panose="020F0502020204030204" pitchFamily="34" charset="0"/>
              </a:rPr>
              <a:t>Elctrical</a:t>
            </a:r>
            <a:r>
              <a:rPr lang="en-US" sz="900" dirty="0">
                <a:latin typeface="Calibri" panose="020F0502020204030204" pitchFamily="34" charset="0"/>
                <a:ea typeface="Calibri" panose="020F0502020204030204" pitchFamily="34" charset="0"/>
                <a:cs typeface="Calibri" panose="020F0502020204030204" pitchFamily="34" charset="0"/>
              </a:rPr>
              <a:t>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Base frame</a:t>
            </a:r>
          </a:p>
        </p:txBody>
      </p:sp>
      <p:pic>
        <p:nvPicPr>
          <p:cNvPr id="4" name="Grafik 3">
            <a:extLst>
              <a:ext uri="{FF2B5EF4-FFF2-40B4-BE49-F238E27FC236}">
                <a16:creationId xmlns:a16="http://schemas.microsoft.com/office/drawing/2014/main" id="{8776125F-FF9E-A29D-651A-53A4A0A6A561}"/>
              </a:ext>
            </a:extLst>
          </p:cNvPr>
          <p:cNvPicPr>
            <a:picLocks noChangeAspect="1"/>
          </p:cNvPicPr>
          <p:nvPr/>
        </p:nvPicPr>
        <p:blipFill>
          <a:blip r:embed="rId3"/>
          <a:stretch>
            <a:fillRect/>
          </a:stretch>
        </p:blipFill>
        <p:spPr>
          <a:xfrm>
            <a:off x="9219148" y="1418197"/>
            <a:ext cx="1576904" cy="1572653"/>
          </a:xfrm>
          <a:prstGeom prst="rect">
            <a:avLst/>
          </a:prstGeom>
        </p:spPr>
      </p:pic>
    </p:spTree>
    <p:extLst>
      <p:ext uri="{BB962C8B-B14F-4D97-AF65-F5344CB8AC3E}">
        <p14:creationId xmlns:p14="http://schemas.microsoft.com/office/powerpoint/2010/main" val="1513289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err="1">
                <a:latin typeface="+mj-lt"/>
              </a:rPr>
              <a:t>Tinning</a:t>
            </a:r>
            <a:r>
              <a:rPr lang="de-DE" sz="1400" b="1" u="sng" dirty="0">
                <a:latin typeface="+mj-lt"/>
              </a:rPr>
              <a:t> Unit</a:t>
            </a:r>
          </a:p>
        </p:txBody>
      </p:sp>
      <p:pic>
        <p:nvPicPr>
          <p:cNvPr id="4" name="Grafik 3">
            <a:extLst>
              <a:ext uri="{FF2B5EF4-FFF2-40B4-BE49-F238E27FC236}">
                <a16:creationId xmlns:a16="http://schemas.microsoft.com/office/drawing/2014/main" id="{99EF3F32-0011-56F3-FCDB-2462A636C0FD}"/>
              </a:ext>
            </a:extLst>
          </p:cNvPr>
          <p:cNvPicPr>
            <a:picLocks noChangeAspect="1"/>
          </p:cNvPicPr>
          <p:nvPr/>
        </p:nvPicPr>
        <p:blipFill>
          <a:blip r:embed="rId2"/>
          <a:stretch>
            <a:fillRect/>
          </a:stretch>
        </p:blipFill>
        <p:spPr>
          <a:xfrm>
            <a:off x="702665" y="854352"/>
            <a:ext cx="3164486" cy="2574648"/>
          </a:xfrm>
          <a:prstGeom prst="rect">
            <a:avLst/>
          </a:prstGeom>
        </p:spPr>
      </p:pic>
      <p:sp>
        <p:nvSpPr>
          <p:cNvPr id="3" name="Textfeld 2">
            <a:extLst>
              <a:ext uri="{FF2B5EF4-FFF2-40B4-BE49-F238E27FC236}">
                <a16:creationId xmlns:a16="http://schemas.microsoft.com/office/drawing/2014/main" id="{FFB98FC8-E593-1086-8949-8F8BF0756223}"/>
              </a:ext>
            </a:extLst>
          </p:cNvPr>
          <p:cNvSpPr txBox="1"/>
          <p:nvPr/>
        </p:nvSpPr>
        <p:spPr>
          <a:xfrm>
            <a:off x="5182759" y="848277"/>
            <a:ext cx="6163019" cy="5247590"/>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err="1">
                <a:latin typeface="Calibri" panose="020F0502020204030204" pitchFamily="34" charset="0"/>
                <a:ea typeface="Calibri" panose="020F0502020204030204" pitchFamily="34" charset="0"/>
                <a:cs typeface="Calibri" panose="020F0502020204030204" pitchFamily="34" charset="0"/>
              </a:rPr>
              <a:t>Automatical</a:t>
            </a:r>
            <a:r>
              <a:rPr lang="en-US" sz="1000" dirty="0">
                <a:latin typeface="Calibri" panose="020F0502020204030204" pitchFamily="34" charset="0"/>
                <a:ea typeface="Calibri" panose="020F0502020204030204" pitchFamily="34" charset="0"/>
                <a:cs typeface="Calibri" panose="020F0502020204030204" pitchFamily="34" charset="0"/>
              </a:rPr>
              <a:t> tin feeding unit</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Wire length and dispensing speed are customizable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Feeding of tin material Ø0.75 – 3.00 mm</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x-y-positioning unit for tin supply (+/- 10mm)</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Induction coil</a:t>
            </a:r>
          </a:p>
          <a:p>
            <a:pPr marL="628650" lvl="1" indent="-171450" defTabSz="457200">
              <a:spcBef>
                <a:spcPct val="20000"/>
              </a:spcBef>
              <a:buFont typeface="Symbol" panose="05050102010706020507" pitchFamily="18" charset="2"/>
              <a:buChar char="-"/>
            </a:pPr>
            <a:r>
              <a:rPr lang="en-US" sz="1000" b="0" i="0" u="none" strike="noStrike" baseline="0" dirty="0">
                <a:solidFill>
                  <a:srgbClr val="000000"/>
                </a:solidFill>
                <a:latin typeface="CIDFont+F2"/>
              </a:rPr>
              <a:t>Heating temperature adjustable    (ca. 20°steps are possible!)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Heating time </a:t>
            </a:r>
            <a:r>
              <a:rPr lang="en-US" sz="1000" dirty="0" err="1">
                <a:solidFill>
                  <a:srgbClr val="000000"/>
                </a:solidFill>
                <a:latin typeface="CIDFont+F2"/>
                <a:ea typeface="Calibri" panose="020F0502020204030204" pitchFamily="34" charset="0"/>
                <a:cs typeface="Calibri" panose="020F0502020204030204" pitchFamily="34" charset="0"/>
              </a:rPr>
              <a:t>ist</a:t>
            </a:r>
            <a:r>
              <a:rPr lang="en-US" sz="1000" dirty="0">
                <a:solidFill>
                  <a:srgbClr val="000000"/>
                </a:solidFill>
                <a:latin typeface="CIDFont+F2"/>
                <a:ea typeface="Calibri" panose="020F0502020204030204" pitchFamily="34" charset="0"/>
                <a:cs typeface="Calibri" panose="020F0502020204030204" pitchFamily="34" charset="0"/>
              </a:rPr>
              <a:t> adjustable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Induction generator / output power 30 kW HF</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Inductor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Cooling unit</a:t>
            </a:r>
          </a:p>
          <a:p>
            <a:pPr marL="342900" lvl="1" indent="-342900" defTabSz="457200">
              <a:spcBef>
                <a:spcPct val="20000"/>
              </a:spcBef>
              <a:buFont typeface="Arial"/>
              <a:buChar char="•"/>
            </a:pPr>
            <a:r>
              <a:rPr lang="en-US" sz="1000" dirty="0" err="1">
                <a:latin typeface="Calibri" panose="020F0502020204030204" pitchFamily="34" charset="0"/>
                <a:ea typeface="Calibri" panose="020F0502020204030204" pitchFamily="34" charset="0"/>
                <a:cs typeface="Calibri" panose="020F0502020204030204" pitchFamily="34" charset="0"/>
              </a:rPr>
              <a:t>Elctrical</a:t>
            </a:r>
            <a:r>
              <a:rPr lang="en-US" sz="1000" dirty="0">
                <a:latin typeface="Calibri" panose="020F0502020204030204" pitchFamily="34" charset="0"/>
                <a:ea typeface="Calibri" panose="020F0502020204030204" pitchFamily="34" charset="0"/>
                <a:cs typeface="Calibri" panose="020F0502020204030204" pitchFamily="34" charset="0"/>
              </a:rPr>
              <a:t>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Suction unit</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Base frame</a:t>
            </a:r>
          </a:p>
          <a:p>
            <a:pPr marL="342900" lvl="1" indent="-342900" defTabSz="457200">
              <a:spcBef>
                <a:spcPct val="20000"/>
              </a:spcBef>
              <a:buFont typeface="Arial"/>
              <a:buChar char="•"/>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Note: Exact cycle time could not yet be determined. Too many different parameters that have to be</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matched to each other.</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Which heating temp for different types</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Which tin diameter is the optimum for different types</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Tin quantity --&gt; different for each type</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Tin feed speed</a:t>
            </a:r>
          </a:p>
          <a:p>
            <a:pPr marL="0"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Interaction of all parameters for all different types can only be determined during commissioning. This can lead to a deterioration in cycle </a:t>
            </a:r>
            <a:r>
              <a:rPr lang="en-US" sz="1000" dirty="0" err="1">
                <a:latin typeface="Calibri" panose="020F0502020204030204" pitchFamily="34" charset="0"/>
                <a:ea typeface="Calibri" panose="020F0502020204030204" pitchFamily="34" charset="0"/>
                <a:cs typeface="Calibri" panose="020F0502020204030204" pitchFamily="34" charset="0"/>
              </a:rPr>
              <a:t>times.Translated</a:t>
            </a:r>
            <a:r>
              <a:rPr lang="en-US" sz="1000" dirty="0">
                <a:latin typeface="Calibri" panose="020F0502020204030204" pitchFamily="34" charset="0"/>
                <a:ea typeface="Calibri" panose="020F0502020204030204" pitchFamily="34" charset="0"/>
                <a:cs typeface="Calibri" panose="020F0502020204030204" pitchFamily="34" charset="0"/>
              </a:rPr>
              <a:t> with DeepL.com (free version)</a:t>
            </a:r>
          </a:p>
        </p:txBody>
      </p:sp>
      <p:pic>
        <p:nvPicPr>
          <p:cNvPr id="7" name="Grafik 6">
            <a:extLst>
              <a:ext uri="{FF2B5EF4-FFF2-40B4-BE49-F238E27FC236}">
                <a16:creationId xmlns:a16="http://schemas.microsoft.com/office/drawing/2014/main" id="{9A17FC24-3BC3-A7CA-3B51-C50EF28DC849}"/>
              </a:ext>
            </a:extLst>
          </p:cNvPr>
          <p:cNvPicPr>
            <a:picLocks noChangeAspect="1"/>
          </p:cNvPicPr>
          <p:nvPr/>
        </p:nvPicPr>
        <p:blipFill>
          <a:blip r:embed="rId3"/>
          <a:stretch>
            <a:fillRect/>
          </a:stretch>
        </p:blipFill>
        <p:spPr>
          <a:xfrm>
            <a:off x="8892289" y="2395500"/>
            <a:ext cx="1894689" cy="806439"/>
          </a:xfrm>
          <a:prstGeom prst="rect">
            <a:avLst/>
          </a:prstGeom>
        </p:spPr>
      </p:pic>
    </p:spTree>
    <p:extLst>
      <p:ext uri="{BB962C8B-B14F-4D97-AF65-F5344CB8AC3E}">
        <p14:creationId xmlns:p14="http://schemas.microsoft.com/office/powerpoint/2010/main" val="3884295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019856-C6BB-CD5C-4A54-14282EFE1EBD}"/>
              </a:ext>
            </a:extLst>
          </p:cNvPr>
          <p:cNvSpPr>
            <a:spLocks noGrp="1"/>
          </p:cNvSpPr>
          <p:nvPr>
            <p:ph type="title"/>
          </p:nvPr>
        </p:nvSpPr>
        <p:spPr/>
        <p:txBody>
          <a:bodyPr/>
          <a:lstStyle/>
          <a:p>
            <a:r>
              <a:rPr lang="de-DE" sz="1400" b="1" dirty="0">
                <a:latin typeface="+mj-lt"/>
              </a:rPr>
              <a:t>Visual </a:t>
            </a:r>
            <a:r>
              <a:rPr lang="de-DE" sz="1400" b="1" dirty="0" err="1">
                <a:latin typeface="+mj-lt"/>
              </a:rPr>
              <a:t>Inspection</a:t>
            </a:r>
            <a:r>
              <a:rPr lang="de-DE" sz="1400" b="1" dirty="0">
                <a:latin typeface="+mj-lt"/>
              </a:rPr>
              <a:t> Terminal</a:t>
            </a:r>
            <a:endParaRPr lang="de-DE" sz="1400" dirty="0"/>
          </a:p>
        </p:txBody>
      </p:sp>
      <p:pic>
        <p:nvPicPr>
          <p:cNvPr id="10" name="Grafik 9">
            <a:extLst>
              <a:ext uri="{FF2B5EF4-FFF2-40B4-BE49-F238E27FC236}">
                <a16:creationId xmlns:a16="http://schemas.microsoft.com/office/drawing/2014/main" id="{8262B9D4-DDDB-FCD9-D698-080B6985915D}"/>
              </a:ext>
            </a:extLst>
          </p:cNvPr>
          <p:cNvPicPr>
            <a:picLocks noChangeAspect="1"/>
          </p:cNvPicPr>
          <p:nvPr/>
        </p:nvPicPr>
        <p:blipFill>
          <a:blip r:embed="rId2"/>
          <a:stretch>
            <a:fillRect/>
          </a:stretch>
        </p:blipFill>
        <p:spPr>
          <a:xfrm>
            <a:off x="748313" y="968177"/>
            <a:ext cx="2752211" cy="2309016"/>
          </a:xfrm>
          <a:prstGeom prst="rect">
            <a:avLst/>
          </a:prstGeom>
        </p:spPr>
      </p:pic>
      <p:sp>
        <p:nvSpPr>
          <p:cNvPr id="3" name="Textfeld 2">
            <a:extLst>
              <a:ext uri="{FF2B5EF4-FFF2-40B4-BE49-F238E27FC236}">
                <a16:creationId xmlns:a16="http://schemas.microsoft.com/office/drawing/2014/main" id="{EBAFB13F-928D-1AFE-0CFF-18343975CB4E}"/>
              </a:ext>
            </a:extLst>
          </p:cNvPr>
          <p:cNvSpPr txBox="1"/>
          <p:nvPr/>
        </p:nvSpPr>
        <p:spPr>
          <a:xfrm>
            <a:off x="5048251" y="968177"/>
            <a:ext cx="6618038" cy="5155257"/>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Camera unit</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2x Baumer VCXG.2-127M	</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Connection </a:t>
            </a:r>
            <a:r>
              <a:rPr lang="de-DE" sz="1000" dirty="0" err="1">
                <a:solidFill>
                  <a:srgbClr val="000000"/>
                </a:solidFill>
                <a:latin typeface="CIDFont+F2"/>
              </a:rPr>
              <a:t>cable</a:t>
            </a:r>
            <a:r>
              <a:rPr lang="de-DE" sz="1000" dirty="0">
                <a:solidFill>
                  <a:srgbClr val="000000"/>
                </a:solidFill>
                <a:latin typeface="CIDFont+F2"/>
              </a:rPr>
              <a:t> (Netzwerk + IO), 10m </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Lighting</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Controller + SW-Paket + </a:t>
            </a:r>
            <a:r>
              <a:rPr lang="de-DE" sz="1000" dirty="0" err="1">
                <a:solidFill>
                  <a:srgbClr val="000000"/>
                </a:solidFill>
                <a:latin typeface="CIDFont+F2"/>
              </a:rPr>
              <a:t>Zub</a:t>
            </a:r>
            <a:r>
              <a:rPr lang="de-DE" sz="1000" dirty="0">
                <a:solidFill>
                  <a:srgbClr val="000000"/>
                </a:solidFill>
                <a:latin typeface="CIDFont+F2"/>
              </a:rPr>
              <a:t>	RELISTE </a:t>
            </a:r>
            <a:r>
              <a:rPr lang="de-DE" sz="1000" dirty="0" err="1">
                <a:solidFill>
                  <a:srgbClr val="000000"/>
                </a:solidFill>
                <a:latin typeface="CIDFont+F2"/>
              </a:rPr>
              <a:t>VisionController</a:t>
            </a:r>
            <a:r>
              <a:rPr lang="de-DE" sz="1000" dirty="0">
                <a:solidFill>
                  <a:srgbClr val="000000"/>
                </a:solidFill>
                <a:latin typeface="CIDFont+F2"/>
              </a:rPr>
              <a:t> + RELISTE </a:t>
            </a:r>
            <a:r>
              <a:rPr lang="de-DE" sz="1000" dirty="0" err="1">
                <a:solidFill>
                  <a:srgbClr val="000000"/>
                </a:solidFill>
                <a:latin typeface="CIDFont+F2"/>
              </a:rPr>
              <a:t>EasySightPro</a:t>
            </a:r>
            <a:r>
              <a:rPr lang="de-DE" sz="1000" dirty="0">
                <a:solidFill>
                  <a:srgbClr val="000000"/>
                </a:solidFill>
                <a:latin typeface="CIDFont+F2"/>
              </a:rPr>
              <a:t> + </a:t>
            </a:r>
            <a:r>
              <a:rPr lang="de-DE" sz="1000" dirty="0" err="1">
                <a:solidFill>
                  <a:srgbClr val="000000"/>
                </a:solidFill>
                <a:latin typeface="CIDFont+F2"/>
              </a:rPr>
              <a:t>Cognex</a:t>
            </a:r>
            <a:r>
              <a:rPr lang="de-DE" sz="1000" dirty="0">
                <a:solidFill>
                  <a:srgbClr val="000000"/>
                </a:solidFill>
                <a:latin typeface="CIDFont+F2"/>
              </a:rPr>
              <a:t> </a:t>
            </a:r>
            <a:r>
              <a:rPr lang="de-DE" sz="1000" dirty="0" err="1">
                <a:solidFill>
                  <a:srgbClr val="000000"/>
                </a:solidFill>
                <a:latin typeface="CIDFont+F2"/>
              </a:rPr>
              <a:t>VisionPro</a:t>
            </a:r>
            <a:r>
              <a:rPr lang="de-DE" sz="1000" dirty="0">
                <a:solidFill>
                  <a:srgbClr val="000000"/>
                </a:solidFill>
                <a:latin typeface="CIDFont+F2"/>
              </a:rPr>
              <a:t> + 24" Monitor + Keyboard/Mouse</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Network </a:t>
            </a:r>
            <a:r>
              <a:rPr lang="de-DE" sz="1000" dirty="0" err="1">
                <a:solidFill>
                  <a:srgbClr val="000000"/>
                </a:solidFill>
                <a:latin typeface="CIDFont+F2"/>
              </a:rPr>
              <a:t>cards</a:t>
            </a:r>
            <a:r>
              <a:rPr lang="de-DE" sz="1000" dirty="0">
                <a:solidFill>
                  <a:srgbClr val="000000"/>
                </a:solidFill>
                <a:latin typeface="CIDFont+F2"/>
              </a:rPr>
              <a:t> </a:t>
            </a:r>
            <a:r>
              <a:rPr lang="de-DE" sz="1000" dirty="0" err="1">
                <a:solidFill>
                  <a:srgbClr val="000000"/>
                </a:solidFill>
                <a:latin typeface="CIDFont+F2"/>
              </a:rPr>
              <a:t>Camera</a:t>
            </a:r>
            <a:r>
              <a:rPr lang="de-DE" sz="1000" dirty="0">
                <a:solidFill>
                  <a:srgbClr val="000000"/>
                </a:solidFill>
                <a:latin typeface="CIDFont+F2"/>
              </a:rPr>
              <a:t> </a:t>
            </a:r>
            <a:r>
              <a:rPr lang="de-DE" sz="1000" dirty="0" err="1">
                <a:solidFill>
                  <a:srgbClr val="000000"/>
                </a:solidFill>
                <a:latin typeface="CIDFont+F2"/>
              </a:rPr>
              <a:t>integrated</a:t>
            </a:r>
            <a:r>
              <a:rPr lang="de-DE" sz="1000" dirty="0">
                <a:solidFill>
                  <a:srgbClr val="000000"/>
                </a:solidFill>
                <a:latin typeface="CIDFont+F2"/>
              </a:rPr>
              <a:t>	</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Profinet</a:t>
            </a:r>
            <a:r>
              <a:rPr lang="de-DE" sz="1000" dirty="0">
                <a:solidFill>
                  <a:srgbClr val="000000"/>
                </a:solidFill>
                <a:latin typeface="CIDFont+F2"/>
              </a:rPr>
              <a:t>-card 	</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1x 8TB </a:t>
            </a:r>
            <a:r>
              <a:rPr lang="de-DE" sz="1000" dirty="0" err="1">
                <a:solidFill>
                  <a:srgbClr val="000000"/>
                </a:solidFill>
                <a:latin typeface="CIDFont+F2"/>
              </a:rPr>
              <a:t>hard</a:t>
            </a:r>
            <a:r>
              <a:rPr lang="de-DE" sz="1000" dirty="0">
                <a:solidFill>
                  <a:srgbClr val="000000"/>
                </a:solidFill>
                <a:latin typeface="CIDFont+F2"/>
              </a:rPr>
              <a:t> </a:t>
            </a:r>
            <a:r>
              <a:rPr lang="de-DE" sz="1000" dirty="0" err="1">
                <a:solidFill>
                  <a:srgbClr val="000000"/>
                </a:solidFill>
                <a:latin typeface="CIDFont+F2"/>
              </a:rPr>
              <a:t>disk</a:t>
            </a:r>
            <a:r>
              <a:rPr lang="de-DE" sz="1000" dirty="0">
                <a:solidFill>
                  <a:srgbClr val="000000"/>
                </a:solidFill>
                <a:latin typeface="CIDFont+F2"/>
              </a:rPr>
              <a:t> </a:t>
            </a:r>
            <a:r>
              <a:rPr lang="de-DE" sz="1000" dirty="0" err="1">
                <a:solidFill>
                  <a:srgbClr val="000000"/>
                </a:solidFill>
                <a:latin typeface="CIDFont+F2"/>
              </a:rPr>
              <a:t>integrated</a:t>
            </a:r>
            <a:r>
              <a:rPr lang="de-DE" sz="1000" dirty="0">
                <a:solidFill>
                  <a:srgbClr val="000000"/>
                </a:solidFill>
                <a:latin typeface="CIDFont+F2"/>
              </a:rPr>
              <a:t> in </a:t>
            </a:r>
            <a:r>
              <a:rPr lang="de-DE" sz="1000" dirty="0" err="1">
                <a:solidFill>
                  <a:srgbClr val="000000"/>
                </a:solidFill>
                <a:latin typeface="CIDFont+F2"/>
              </a:rPr>
              <a:t>controller</a:t>
            </a:r>
            <a:r>
              <a:rPr lang="de-DE" sz="1000" dirty="0">
                <a:solidFill>
                  <a:srgbClr val="000000"/>
                </a:solidFill>
                <a:latin typeface="CIDFont+F2"/>
              </a:rPr>
              <a:t>	</a:t>
            </a:r>
          </a:p>
          <a:p>
            <a:pPr marL="342900" lvl="1" indent="-342900" defTabSz="457200">
              <a:spcBef>
                <a:spcPct val="20000"/>
              </a:spcBef>
              <a:buFont typeface="Arial"/>
              <a:buChar char="•"/>
            </a:pPr>
            <a:r>
              <a:rPr lang="de-DE" sz="1000" dirty="0">
                <a:latin typeface="Calibri" panose="020F0502020204030204" pitchFamily="34" charset="0"/>
                <a:ea typeface="Calibri" panose="020F0502020204030204" pitchFamily="34" charset="0"/>
                <a:cs typeface="Calibri" panose="020F0502020204030204" pitchFamily="34" charset="0"/>
              </a:rPr>
              <a:t>Solid </a:t>
            </a:r>
            <a:r>
              <a:rPr lang="de-DE" sz="1000" dirty="0" err="1">
                <a:latin typeface="Calibri" panose="020F0502020204030204" pitchFamily="34" charset="0"/>
                <a:ea typeface="Calibri" panose="020F0502020204030204" pitchFamily="34" charset="0"/>
                <a:cs typeface="Calibri" panose="020F0502020204030204" pitchFamily="34" charset="0"/>
              </a:rPr>
              <a:t>camera</a:t>
            </a:r>
            <a:r>
              <a:rPr lang="de-DE" sz="1000" dirty="0">
                <a:latin typeface="Calibri" panose="020F0502020204030204" pitchFamily="34" charset="0"/>
                <a:ea typeface="Calibri" panose="020F0502020204030204" pitchFamily="34" charset="0"/>
                <a:cs typeface="Calibri" panose="020F0502020204030204" pitchFamily="34" charset="0"/>
              </a:rPr>
              <a:t> frame</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Decoupled</a:t>
            </a:r>
            <a:r>
              <a:rPr lang="de-DE" sz="1000" dirty="0">
                <a:solidFill>
                  <a:srgbClr val="000000"/>
                </a:solidFill>
                <a:latin typeface="CIDFont+F2"/>
              </a:rPr>
              <a:t> </a:t>
            </a:r>
            <a:r>
              <a:rPr lang="de-DE" sz="1000" dirty="0" err="1">
                <a:solidFill>
                  <a:srgbClr val="000000"/>
                </a:solidFill>
                <a:latin typeface="CIDFont+F2"/>
              </a:rPr>
              <a:t>from</a:t>
            </a:r>
            <a:r>
              <a:rPr lang="de-DE" sz="1000" dirty="0">
                <a:solidFill>
                  <a:srgbClr val="000000"/>
                </a:solidFill>
                <a:latin typeface="CIDFont+F2"/>
              </a:rPr>
              <a:t>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machine</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Firmly</a:t>
            </a:r>
            <a:r>
              <a:rPr lang="de-DE" sz="1000" dirty="0">
                <a:solidFill>
                  <a:srgbClr val="000000"/>
                </a:solidFill>
                <a:latin typeface="CIDFont+F2"/>
              </a:rPr>
              <a:t> </a:t>
            </a:r>
            <a:r>
              <a:rPr lang="de-DE" sz="1000" dirty="0" err="1">
                <a:solidFill>
                  <a:srgbClr val="000000"/>
                </a:solidFill>
                <a:latin typeface="CIDFont+F2"/>
              </a:rPr>
              <a:t>anchored</a:t>
            </a:r>
            <a:r>
              <a:rPr lang="de-DE" sz="1000" dirty="0">
                <a:solidFill>
                  <a:srgbClr val="000000"/>
                </a:solidFill>
                <a:latin typeface="CIDFont+F2"/>
              </a:rPr>
              <a:t> on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floor</a:t>
            </a:r>
            <a:endParaRPr lang="de-DE" sz="1000" dirty="0">
              <a:solidFill>
                <a:srgbClr val="000000"/>
              </a:solidFill>
              <a:latin typeface="CIDFont+F2"/>
            </a:endParaRPr>
          </a:p>
          <a:p>
            <a:pPr marL="342900" lvl="1" indent="-342900" defTabSz="457200">
              <a:spcBef>
                <a:spcPct val="20000"/>
              </a:spcBef>
              <a:buFont typeface="Arial"/>
              <a:buChar char="•"/>
            </a:pPr>
            <a:r>
              <a:rPr lang="en-US" sz="1000" dirty="0" err="1">
                <a:latin typeface="Calibri" panose="020F0502020204030204" pitchFamily="34" charset="0"/>
                <a:ea typeface="Calibri" panose="020F0502020204030204" pitchFamily="34" charset="0"/>
                <a:cs typeface="Calibri" panose="020F0502020204030204" pitchFamily="34" charset="0"/>
              </a:rPr>
              <a:t>Elctrical</a:t>
            </a:r>
            <a:r>
              <a:rPr lang="en-US" sz="1000" dirty="0">
                <a:latin typeface="Calibri" panose="020F0502020204030204" pitchFamily="34" charset="0"/>
                <a:ea typeface="Calibri" panose="020F0502020204030204" pitchFamily="34" charset="0"/>
                <a:cs typeface="Calibri" panose="020F0502020204030204" pitchFamily="34" charset="0"/>
              </a:rPr>
              <a:t>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Housing (darkened chamber)</a:t>
            </a:r>
          </a:p>
          <a:p>
            <a:pPr marL="628650" lvl="1" indent="-171450" defTabSz="457200">
              <a:spcBef>
                <a:spcPct val="20000"/>
              </a:spcBef>
              <a:buFont typeface="Symbol" panose="05050102010706020507" pitchFamily="18" charset="2"/>
              <a:buChar char="-"/>
            </a:pPr>
            <a:r>
              <a:rPr lang="de-DE" sz="1000" dirty="0" err="1">
                <a:latin typeface="Calibri" panose="020F0502020204030204" pitchFamily="34" charset="0"/>
                <a:ea typeface="Calibri" panose="020F0502020204030204" pitchFamily="34" charset="0"/>
                <a:cs typeface="Calibri" panose="020F0502020204030204" pitchFamily="34" charset="0"/>
              </a:rPr>
              <a:t>Currently</a:t>
            </a:r>
            <a:r>
              <a:rPr lang="de-DE" sz="1000" dirty="0">
                <a:latin typeface="Calibri" panose="020F0502020204030204" pitchFamily="34" charset="0"/>
                <a:ea typeface="Calibri" panose="020F0502020204030204" pitchFamily="34" charset="0"/>
                <a:cs typeface="Calibri" panose="020F0502020204030204" pitchFamily="34" charset="0"/>
              </a:rPr>
              <a:t> not </a:t>
            </a:r>
            <a:r>
              <a:rPr lang="de-DE" sz="1000" dirty="0" err="1">
                <a:latin typeface="Calibri" panose="020F0502020204030204" pitchFamily="34" charset="0"/>
                <a:ea typeface="Calibri" panose="020F0502020204030204" pitchFamily="34" charset="0"/>
                <a:cs typeface="Calibri" panose="020F0502020204030204" pitchFamily="34" charset="0"/>
              </a:rPr>
              <a:t>planned</a:t>
            </a:r>
            <a:r>
              <a:rPr lang="de-DE" sz="1000" dirty="0">
                <a:latin typeface="Calibri" panose="020F0502020204030204" pitchFamily="34" charset="0"/>
                <a:ea typeface="Calibri" panose="020F0502020204030204" pitchFamily="34" charset="0"/>
                <a:cs typeface="Calibri" panose="020F0502020204030204" pitchFamily="34" charset="0"/>
              </a:rPr>
              <a:t> and </a:t>
            </a:r>
            <a:r>
              <a:rPr lang="de-DE" sz="1000" dirty="0" err="1">
                <a:latin typeface="Calibri" panose="020F0502020204030204" pitchFamily="34" charset="0"/>
                <a:ea typeface="Calibri" panose="020F0502020204030204" pitchFamily="34" charset="0"/>
                <a:cs typeface="Calibri" panose="020F0502020204030204" pitchFamily="34" charset="0"/>
              </a:rPr>
              <a:t>therefore</a:t>
            </a:r>
            <a:r>
              <a:rPr lang="de-DE" sz="1000" dirty="0">
                <a:latin typeface="Calibri" panose="020F0502020204030204" pitchFamily="34" charset="0"/>
                <a:ea typeface="Calibri" panose="020F0502020204030204" pitchFamily="34" charset="0"/>
                <a:cs typeface="Calibri" panose="020F0502020204030204" pitchFamily="34" charset="0"/>
              </a:rPr>
              <a:t> not </a:t>
            </a:r>
            <a:r>
              <a:rPr lang="de-DE" sz="1000" dirty="0" err="1">
                <a:latin typeface="Calibri" panose="020F0502020204030204" pitchFamily="34" charset="0"/>
                <a:ea typeface="Calibri" panose="020F0502020204030204" pitchFamily="34" charset="0"/>
                <a:cs typeface="Calibri" panose="020F0502020204030204" pitchFamily="34" charset="0"/>
              </a:rPr>
              <a:t>included</a:t>
            </a:r>
            <a:r>
              <a:rPr lang="de-DE" sz="1000" dirty="0">
                <a:latin typeface="Calibri" panose="020F0502020204030204" pitchFamily="34" charset="0"/>
                <a:ea typeface="Calibri" panose="020F0502020204030204" pitchFamily="34" charset="0"/>
                <a:cs typeface="Calibri" panose="020F0502020204030204" pitchFamily="34" charset="0"/>
              </a:rPr>
              <a:t> in </a:t>
            </a:r>
            <a:r>
              <a:rPr lang="de-DE" sz="1000" dirty="0" err="1">
                <a:latin typeface="Calibri" panose="020F0502020204030204" pitchFamily="34" charset="0"/>
                <a:ea typeface="Calibri" panose="020F0502020204030204" pitchFamily="34" charset="0"/>
                <a:cs typeface="Calibri" panose="020F0502020204030204" pitchFamily="34" charset="0"/>
              </a:rPr>
              <a:t>the</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scope</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of</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delivery</a:t>
            </a:r>
            <a:r>
              <a:rPr lang="de-DE" sz="1000" dirty="0">
                <a:latin typeface="Calibri" panose="020F0502020204030204" pitchFamily="34" charset="0"/>
                <a:ea typeface="Calibri" panose="020F0502020204030204" pitchFamily="34" charset="0"/>
                <a:cs typeface="Calibri" panose="020F0502020204030204" pitchFamily="34" charset="0"/>
              </a:rPr>
              <a:t> </a:t>
            </a:r>
          </a:p>
          <a:p>
            <a:pPr lvl="1" defTabSz="457200">
              <a:spcBef>
                <a:spcPct val="20000"/>
              </a:spcBef>
            </a:pP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no</a:t>
            </a:r>
            <a:r>
              <a:rPr lang="de-DE" sz="1000" dirty="0">
                <a:latin typeface="Calibri" panose="020F0502020204030204" pitchFamily="34" charset="0"/>
                <a:ea typeface="Calibri" panose="020F0502020204030204" pitchFamily="34" charset="0"/>
                <a:cs typeface="Calibri" panose="020F0502020204030204" pitchFamily="34" charset="0"/>
              </a:rPr>
              <a:t> sample </a:t>
            </a:r>
            <a:r>
              <a:rPr lang="de-DE" sz="1000" dirty="0" err="1">
                <a:latin typeface="Calibri" panose="020F0502020204030204" pitchFamily="34" charset="0"/>
                <a:ea typeface="Calibri" panose="020F0502020204030204" pitchFamily="34" charset="0"/>
                <a:cs typeface="Calibri" panose="020F0502020204030204" pitchFamily="34" charset="0"/>
              </a:rPr>
              <a:t>parts</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available</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for</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quotation</a:t>
            </a:r>
            <a:r>
              <a:rPr lang="de-DE" sz="1000" dirty="0">
                <a:latin typeface="Calibri" panose="020F0502020204030204" pitchFamily="34" charset="0"/>
                <a:ea typeface="Calibri" panose="020F0502020204030204" pitchFamily="34" charset="0"/>
                <a:cs typeface="Calibri" panose="020F0502020204030204" pitchFamily="34" charset="0"/>
              </a:rPr>
              <a:t>)</a:t>
            </a: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r>
              <a:rPr lang="de-DE" altLang="de-DE" sz="1000" dirty="0"/>
              <a:t>Note: The </a:t>
            </a:r>
            <a:r>
              <a:rPr lang="de-DE" altLang="de-DE" sz="1000" dirty="0" err="1"/>
              <a:t>camera</a:t>
            </a:r>
            <a:r>
              <a:rPr lang="de-DE" altLang="de-DE" sz="1000" dirty="0"/>
              <a:t> </a:t>
            </a:r>
            <a:r>
              <a:rPr lang="de-DE" altLang="de-DE" sz="1000" dirty="0" err="1"/>
              <a:t>job</a:t>
            </a:r>
            <a:r>
              <a:rPr lang="de-DE" altLang="de-DE" sz="1000" dirty="0"/>
              <a:t> </a:t>
            </a:r>
            <a:r>
              <a:rPr lang="de-DE" altLang="de-DE" sz="1000" dirty="0" err="1"/>
              <a:t>could</a:t>
            </a:r>
            <a:r>
              <a:rPr lang="de-DE" altLang="de-DE" sz="1000" dirty="0"/>
              <a:t> not </a:t>
            </a:r>
            <a:r>
              <a:rPr lang="de-DE" altLang="de-DE" sz="1000" dirty="0" err="1"/>
              <a:t>yet</a:t>
            </a:r>
            <a:r>
              <a:rPr lang="de-DE" altLang="de-DE" sz="1000" dirty="0"/>
              <a:t> </a:t>
            </a:r>
            <a:r>
              <a:rPr lang="de-DE" altLang="de-DE" sz="1000" dirty="0" err="1"/>
              <a:t>be</a:t>
            </a:r>
            <a:r>
              <a:rPr lang="de-DE" altLang="de-DE" sz="1000" dirty="0"/>
              <a:t> </a:t>
            </a:r>
            <a:r>
              <a:rPr lang="de-DE" altLang="de-DE" sz="1000" dirty="0" err="1"/>
              <a:t>tested</a:t>
            </a:r>
            <a:r>
              <a:rPr lang="de-DE" altLang="de-DE" sz="1000" dirty="0"/>
              <a:t>, </a:t>
            </a:r>
            <a:r>
              <a:rPr lang="de-DE" altLang="de-DE" sz="1000" dirty="0" err="1"/>
              <a:t>as</a:t>
            </a:r>
            <a:r>
              <a:rPr lang="de-DE" altLang="de-DE" sz="1000" dirty="0"/>
              <a:t> </a:t>
            </a:r>
            <a:r>
              <a:rPr lang="de-DE" altLang="de-DE" sz="1000" dirty="0" err="1"/>
              <a:t>no</a:t>
            </a:r>
            <a:r>
              <a:rPr lang="de-DE" altLang="de-DE" sz="1000" dirty="0"/>
              <a:t> sample </a:t>
            </a:r>
            <a:r>
              <a:rPr lang="de-DE" altLang="de-DE" sz="1000" dirty="0" err="1"/>
              <a:t>parts</a:t>
            </a:r>
            <a:r>
              <a:rPr lang="de-DE" altLang="de-DE" sz="1000" dirty="0"/>
              <a:t> </a:t>
            </a:r>
            <a:r>
              <a:rPr lang="de-DE" altLang="de-DE" sz="1000" dirty="0" err="1"/>
              <a:t>are</a:t>
            </a:r>
            <a:r>
              <a:rPr lang="de-DE" altLang="de-DE" sz="1000" dirty="0"/>
              <a:t> </a:t>
            </a:r>
            <a:r>
              <a:rPr lang="de-DE" altLang="de-DE" sz="1000" dirty="0" err="1"/>
              <a:t>available</a:t>
            </a:r>
            <a:r>
              <a:rPr lang="de-DE" altLang="de-DE" sz="1000" dirty="0"/>
              <a:t> </a:t>
            </a:r>
            <a:r>
              <a:rPr lang="de-DE" altLang="de-DE" sz="1000" dirty="0" err="1"/>
              <a:t>yet</a:t>
            </a:r>
            <a:r>
              <a:rPr lang="de-DE" altLang="de-DE" sz="1000" dirty="0"/>
              <a:t>! </a:t>
            </a:r>
          </a:p>
          <a:p>
            <a:r>
              <a:rPr lang="de-DE" altLang="de-DE" sz="1000" dirty="0"/>
              <a:t>            </a:t>
            </a:r>
            <a:r>
              <a:rPr lang="de-DE" altLang="de-DE" sz="1000" dirty="0" err="1"/>
              <a:t>No</a:t>
            </a:r>
            <a:r>
              <a:rPr lang="de-DE" altLang="de-DE" sz="1000" dirty="0"/>
              <a:t> </a:t>
            </a:r>
            <a:r>
              <a:rPr lang="de-DE" altLang="de-DE" sz="1000" dirty="0" err="1"/>
              <a:t>statement</a:t>
            </a:r>
            <a:r>
              <a:rPr lang="de-DE" altLang="de-DE" sz="1000" dirty="0"/>
              <a:t> </a:t>
            </a:r>
            <a:r>
              <a:rPr lang="de-DE" altLang="de-DE" sz="1000" dirty="0" err="1"/>
              <a:t>can</a:t>
            </a:r>
            <a:r>
              <a:rPr lang="de-DE" altLang="de-DE" sz="1000" dirty="0"/>
              <a:t> </a:t>
            </a:r>
            <a:r>
              <a:rPr lang="de-DE" altLang="de-DE" sz="1000" dirty="0" err="1"/>
              <a:t>yet</a:t>
            </a:r>
            <a:r>
              <a:rPr lang="de-DE" altLang="de-DE" sz="1000" dirty="0"/>
              <a:t> </a:t>
            </a:r>
            <a:r>
              <a:rPr lang="de-DE" altLang="de-DE" sz="1000" dirty="0" err="1"/>
              <a:t>be</a:t>
            </a:r>
            <a:r>
              <a:rPr lang="de-DE" altLang="de-DE" sz="1000" dirty="0"/>
              <a:t> </a:t>
            </a:r>
            <a:r>
              <a:rPr lang="de-DE" altLang="de-DE" sz="1000" dirty="0" err="1"/>
              <a:t>made</a:t>
            </a:r>
            <a:r>
              <a:rPr lang="de-DE" altLang="de-DE" sz="1000" dirty="0"/>
              <a:t> </a:t>
            </a:r>
            <a:r>
              <a:rPr lang="de-DE" altLang="de-DE" sz="1000" dirty="0" err="1"/>
              <a:t>about</a:t>
            </a:r>
            <a:r>
              <a:rPr lang="de-DE" altLang="de-DE" sz="1000" dirty="0"/>
              <a:t> </a:t>
            </a:r>
            <a:r>
              <a:rPr lang="de-DE" altLang="de-DE" sz="1000" dirty="0" err="1"/>
              <a:t>the</a:t>
            </a:r>
            <a:r>
              <a:rPr lang="de-DE" altLang="de-DE" sz="1000" dirty="0"/>
              <a:t> </a:t>
            </a:r>
            <a:r>
              <a:rPr lang="de-DE" altLang="de-DE" sz="1000" dirty="0" err="1"/>
              <a:t>selectivity</a:t>
            </a:r>
            <a:r>
              <a:rPr lang="de-DE" altLang="de-DE" sz="1000" dirty="0"/>
              <a:t> </a:t>
            </a:r>
            <a:r>
              <a:rPr lang="de-DE" altLang="de-DE" sz="1000" dirty="0" err="1"/>
              <a:t>of</a:t>
            </a:r>
            <a:r>
              <a:rPr lang="de-DE" altLang="de-DE" sz="1000" dirty="0"/>
              <a:t> IO/NOK</a:t>
            </a:r>
          </a:p>
          <a:p>
            <a:r>
              <a:rPr lang="de-DE" altLang="de-DE" sz="1000" dirty="0"/>
              <a:t>            Dräxlmaier </a:t>
            </a:r>
            <a:r>
              <a:rPr lang="de-DE" altLang="de-DE" sz="1000" dirty="0" err="1"/>
              <a:t>has</a:t>
            </a:r>
            <a:r>
              <a:rPr lang="de-DE" altLang="de-DE" sz="1000" dirty="0"/>
              <a:t> not </a:t>
            </a:r>
            <a:r>
              <a:rPr lang="de-DE" altLang="de-DE" sz="1000" dirty="0" err="1"/>
              <a:t>yet</a:t>
            </a:r>
            <a:r>
              <a:rPr lang="de-DE" altLang="de-DE" sz="1000" dirty="0"/>
              <a:t> </a:t>
            </a:r>
            <a:r>
              <a:rPr lang="de-DE" altLang="de-DE" sz="1000" dirty="0" err="1"/>
              <a:t>provided</a:t>
            </a:r>
            <a:r>
              <a:rPr lang="de-DE" altLang="de-DE" sz="1000" dirty="0"/>
              <a:t> a </a:t>
            </a:r>
            <a:r>
              <a:rPr lang="de-DE" altLang="de-DE" sz="1000" dirty="0" err="1"/>
              <a:t>precise</a:t>
            </a:r>
            <a:r>
              <a:rPr lang="de-DE" altLang="de-DE" sz="1000" dirty="0"/>
              <a:t> </a:t>
            </a:r>
            <a:r>
              <a:rPr lang="de-DE" altLang="de-DE" sz="1000" dirty="0" err="1"/>
              <a:t>definition</a:t>
            </a:r>
            <a:r>
              <a:rPr lang="de-DE" altLang="de-DE" sz="1000" dirty="0"/>
              <a:t> </a:t>
            </a:r>
            <a:r>
              <a:rPr lang="de-DE" altLang="de-DE" sz="1000" dirty="0" err="1"/>
              <a:t>of</a:t>
            </a:r>
            <a:r>
              <a:rPr lang="de-DE" altLang="de-DE" sz="1000" dirty="0"/>
              <a:t> NOK</a:t>
            </a: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7361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a:latin typeface="+mj-lt"/>
              </a:rPr>
              <a:t>Change Unit </a:t>
            </a:r>
            <a:r>
              <a:rPr lang="de-DE" sz="1400" b="1" u="sng" dirty="0" err="1">
                <a:latin typeface="+mj-lt"/>
              </a:rPr>
              <a:t>from</a:t>
            </a:r>
            <a:r>
              <a:rPr lang="de-DE" sz="1400" b="1" u="sng" dirty="0">
                <a:latin typeface="+mj-lt"/>
              </a:rPr>
              <a:t> Terminal 1 </a:t>
            </a:r>
            <a:r>
              <a:rPr lang="de-DE" sz="1400" b="1" u="sng" dirty="0" err="1">
                <a:latin typeface="+mj-lt"/>
              </a:rPr>
              <a:t>to</a:t>
            </a:r>
            <a:r>
              <a:rPr lang="de-DE" sz="1400" b="1" u="sng" dirty="0">
                <a:latin typeface="+mj-lt"/>
              </a:rPr>
              <a:t> Terminal 2</a:t>
            </a: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2757678"/>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Support unit cable</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roller</a:t>
            </a:r>
            <a:r>
              <a:rPr lang="de-DE" sz="900" dirty="0">
                <a:solidFill>
                  <a:srgbClr val="000000"/>
                </a:solidFill>
                <a:latin typeface="CIDFont+F2"/>
              </a:rPr>
              <a:t> </a:t>
            </a:r>
            <a:r>
              <a:rPr lang="de-DE" sz="900" dirty="0" err="1">
                <a:solidFill>
                  <a:srgbClr val="000000"/>
                </a:solidFill>
                <a:latin typeface="CIDFont+F2"/>
              </a:rPr>
              <a:t>guide</a:t>
            </a:r>
            <a:r>
              <a:rPr lang="de-DE" sz="900" dirty="0">
                <a:solidFill>
                  <a:srgbClr val="000000"/>
                </a:solidFill>
                <a:latin typeface="CIDFont+F2"/>
              </a:rPr>
              <a:t> </a:t>
            </a:r>
            <a:r>
              <a:rPr lang="de-DE" sz="900" dirty="0" err="1">
                <a:solidFill>
                  <a:srgbClr val="000000"/>
                </a:solidFill>
                <a:latin typeface="CIDFont+F2"/>
              </a:rPr>
              <a:t>units</a:t>
            </a:r>
            <a:r>
              <a:rPr lang="de-DE" sz="900" dirty="0">
                <a:solidFill>
                  <a:srgbClr val="000000"/>
                </a:solidFill>
                <a:latin typeface="CIDFont+F2"/>
              </a:rPr>
              <a:t> </a:t>
            </a:r>
            <a:r>
              <a:rPr lang="de-DE" sz="900" dirty="0" err="1">
                <a:solidFill>
                  <a:srgbClr val="000000"/>
                </a:solidFill>
                <a:latin typeface="CIDFont+F2"/>
              </a:rPr>
              <a:t>pneumatically</a:t>
            </a:r>
            <a:r>
              <a:rPr lang="de-DE" sz="900" dirty="0">
                <a:solidFill>
                  <a:srgbClr val="000000"/>
                </a:solidFill>
                <a:latin typeface="CIDFont+F2"/>
              </a:rPr>
              <a:t> </a:t>
            </a:r>
            <a:r>
              <a:rPr lang="de-DE" sz="900" dirty="0" err="1">
                <a:solidFill>
                  <a:srgbClr val="000000"/>
                </a:solidFill>
                <a:latin typeface="CIDFont+F2"/>
              </a:rPr>
              <a:t>delivered</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Pull </a:t>
            </a:r>
            <a:r>
              <a:rPr lang="de-DE" sz="900" dirty="0" err="1">
                <a:latin typeface="Calibri" panose="020F0502020204030204" pitchFamily="34" charset="0"/>
                <a:ea typeface="Calibri" panose="020F0502020204030204" pitchFamily="34" charset="0"/>
                <a:cs typeface="Calibri" panose="020F0502020204030204" pitchFamily="34" charset="0"/>
              </a:rPr>
              <a:t>unit</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Electric pull </a:t>
            </a:r>
            <a:r>
              <a:rPr lang="de-DE" sz="900" dirty="0" err="1">
                <a:solidFill>
                  <a:srgbClr val="000000"/>
                </a:solidFill>
                <a:latin typeface="CIDFont+F2"/>
              </a:rPr>
              <a:t>axis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Axis frame</a:t>
            </a: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marL="342900" lvl="1" indent="-342900" defTabSz="457200">
              <a:spcBef>
                <a:spcPct val="20000"/>
              </a:spcBef>
              <a:buFont typeface="Arial"/>
              <a:buChar char="•"/>
            </a:pPr>
            <a:r>
              <a:rPr lang="de-DE" sz="900" dirty="0" err="1">
                <a:latin typeface="Calibri" panose="020F0502020204030204" pitchFamily="34" charset="0"/>
                <a:ea typeface="Calibri" panose="020F0502020204030204" pitchFamily="34" charset="0"/>
                <a:cs typeface="Calibri" panose="020F0502020204030204" pitchFamily="34" charset="0"/>
              </a:rPr>
              <a:t>Pneumatic</a:t>
            </a:r>
            <a:r>
              <a:rPr lang="de-DE" sz="900" dirty="0">
                <a:latin typeface="Calibri" panose="020F0502020204030204" pitchFamily="34" charset="0"/>
                <a:ea typeface="Calibri" panose="020F0502020204030204" pitchFamily="34" charset="0"/>
                <a:cs typeface="Calibri" panose="020F0502020204030204" pitchFamily="34" charset="0"/>
              </a:rPr>
              <a:t> </a:t>
            </a:r>
            <a:r>
              <a:rPr lang="de-DE" sz="900" dirty="0" err="1">
                <a:latin typeface="Calibri" panose="020F0502020204030204" pitchFamily="34" charset="0"/>
                <a:ea typeface="Calibri" panose="020F0502020204030204" pitchFamily="34" charset="0"/>
                <a:cs typeface="Calibri" panose="020F0502020204030204" pitchFamily="34" charset="0"/>
              </a:rPr>
              <a:t>pusher</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a:solidFill>
                  <a:srgbClr val="000000"/>
                </a:solidFill>
                <a:latin typeface="CIDFont+F2"/>
              </a:rPr>
              <a:t>2x </a:t>
            </a:r>
            <a:r>
              <a:rPr lang="de-DE" altLang="de-DE" sz="900" dirty="0" err="1">
                <a:solidFill>
                  <a:srgbClr val="000000"/>
                </a:solidFill>
                <a:latin typeface="CIDFont+F2"/>
              </a:rPr>
              <a:t>pneumatic</a:t>
            </a:r>
            <a:r>
              <a:rPr lang="de-DE" altLang="de-DE" sz="900" dirty="0">
                <a:solidFill>
                  <a:srgbClr val="000000"/>
                </a:solidFill>
                <a:latin typeface="CIDFont+F2"/>
              </a:rPr>
              <a:t> </a:t>
            </a:r>
            <a:r>
              <a:rPr lang="de-DE" altLang="de-DE" sz="900" dirty="0" err="1">
                <a:solidFill>
                  <a:srgbClr val="000000"/>
                </a:solidFill>
                <a:latin typeface="CIDFont+F2"/>
              </a:rPr>
              <a:t>pushers</a:t>
            </a:r>
            <a:r>
              <a:rPr lang="de-DE" altLang="de-DE" sz="900" dirty="0">
                <a:solidFill>
                  <a:srgbClr val="000000"/>
                </a:solidFill>
                <a:latin typeface="CIDFont+F2"/>
              </a:rPr>
              <a:t> </a:t>
            </a:r>
            <a:r>
              <a:rPr lang="de-DE" altLang="de-DE" sz="900" dirty="0" err="1">
                <a:solidFill>
                  <a:srgbClr val="000000"/>
                </a:solidFill>
                <a:latin typeface="CIDFont+F2"/>
              </a:rPr>
              <a:t>that</a:t>
            </a:r>
            <a:r>
              <a:rPr lang="de-DE" altLang="de-DE" sz="900" dirty="0">
                <a:solidFill>
                  <a:srgbClr val="000000"/>
                </a:solidFill>
                <a:latin typeface="CIDFont+F2"/>
              </a:rPr>
              <a:t> push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cable</a:t>
            </a:r>
            <a:r>
              <a:rPr lang="de-DE" altLang="de-DE" sz="900" dirty="0">
                <a:solidFill>
                  <a:srgbClr val="000000"/>
                </a:solidFill>
                <a:latin typeface="CIDFont+F2"/>
              </a:rPr>
              <a:t> </a:t>
            </a:r>
            <a:r>
              <a:rPr lang="de-DE" altLang="de-DE" sz="900" dirty="0" err="1">
                <a:solidFill>
                  <a:srgbClr val="000000"/>
                </a:solidFill>
                <a:latin typeface="CIDFont+F2"/>
              </a:rPr>
              <a:t>to</a:t>
            </a:r>
            <a:r>
              <a:rPr lang="de-DE" altLang="de-DE" sz="900" dirty="0">
                <a:solidFill>
                  <a:srgbClr val="000000"/>
                </a:solidFill>
                <a:latin typeface="CIDFont+F2"/>
              </a:rPr>
              <a:t>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side</a:t>
            </a:r>
            <a:r>
              <a:rPr lang="de-DE" altLang="de-DE" sz="900" dirty="0">
                <a:solidFill>
                  <a:srgbClr val="000000"/>
                </a:solidFill>
                <a:latin typeface="CIDFont+F2"/>
              </a:rPr>
              <a:t> </a:t>
            </a:r>
            <a:r>
              <a:rPr lang="de-DE" altLang="de-DE" sz="900" dirty="0" err="1">
                <a:solidFill>
                  <a:srgbClr val="000000"/>
                </a:solidFill>
                <a:latin typeface="CIDFont+F2"/>
              </a:rPr>
              <a:t>when</a:t>
            </a:r>
            <a:r>
              <a:rPr lang="de-DE" altLang="de-DE" sz="900" dirty="0">
                <a:solidFill>
                  <a:srgbClr val="000000"/>
                </a:solidFill>
                <a:latin typeface="CIDFont+F2"/>
              </a:rPr>
              <a:t> </a:t>
            </a:r>
            <a:r>
              <a:rPr lang="de-DE" altLang="de-DE" sz="900" dirty="0" err="1">
                <a:solidFill>
                  <a:srgbClr val="000000"/>
                </a:solidFill>
                <a:latin typeface="CIDFont+F2"/>
              </a:rPr>
              <a:t>conveying</a:t>
            </a:r>
            <a:r>
              <a:rPr lang="de-DE" altLang="de-DE" sz="900" dirty="0">
                <a:solidFill>
                  <a:srgbClr val="000000"/>
                </a:solidFill>
                <a:latin typeface="CIDFont+F2"/>
              </a:rPr>
              <a:t> </a:t>
            </a:r>
            <a:r>
              <a:rPr lang="de-DE" altLang="de-DE" sz="900" dirty="0" err="1">
                <a:solidFill>
                  <a:srgbClr val="000000"/>
                </a:solidFill>
                <a:latin typeface="CIDFont+F2"/>
              </a:rPr>
              <a:t>it</a:t>
            </a:r>
            <a:r>
              <a:rPr lang="de-DE" altLang="de-DE" sz="900" dirty="0">
                <a:solidFill>
                  <a:srgbClr val="000000"/>
                </a:solidFill>
                <a:latin typeface="CIDFont+F2"/>
              </a:rPr>
              <a:t> </a:t>
            </a:r>
            <a:r>
              <a:rPr lang="de-DE" altLang="de-DE" sz="900" dirty="0" err="1">
                <a:solidFill>
                  <a:srgbClr val="000000"/>
                </a:solidFill>
                <a:latin typeface="CIDFont+F2"/>
              </a:rPr>
              <a:t>to</a:t>
            </a:r>
            <a:r>
              <a:rPr lang="de-DE" altLang="de-DE" sz="900" dirty="0">
                <a:solidFill>
                  <a:srgbClr val="000000"/>
                </a:solidFill>
                <a:latin typeface="CIDFont+F2"/>
              </a:rPr>
              <a:t>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next</a:t>
            </a:r>
            <a:r>
              <a:rPr lang="de-DE" altLang="de-DE" sz="900" dirty="0">
                <a:solidFill>
                  <a:srgbClr val="000000"/>
                </a:solidFill>
                <a:latin typeface="CIDFont+F2"/>
              </a:rPr>
              <a:t> </a:t>
            </a:r>
            <a:r>
              <a:rPr lang="de-DE" altLang="de-DE" sz="900" dirty="0" err="1">
                <a:solidFill>
                  <a:srgbClr val="000000"/>
                </a:solidFill>
                <a:latin typeface="CIDFont+F2"/>
              </a:rPr>
              <a:t>station</a:t>
            </a:r>
            <a:endParaRPr lang="de-DE" altLang="de-DE" sz="900" dirty="0">
              <a:solidFill>
                <a:srgbClr val="000000"/>
              </a:solidFill>
              <a:latin typeface="CIDFont+F2"/>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 </a:t>
            </a:r>
          </a:p>
          <a:p>
            <a:pPr marL="628650" lvl="1" indent="-171450" defTabSz="457200">
              <a:spcBef>
                <a:spcPct val="20000"/>
              </a:spcBef>
              <a:buFont typeface="Symbol" panose="05050102010706020507" pitchFamily="18" charset="2"/>
              <a:buChar char="-"/>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grpSp>
        <p:nvGrpSpPr>
          <p:cNvPr id="13" name="Gruppieren 12">
            <a:extLst>
              <a:ext uri="{FF2B5EF4-FFF2-40B4-BE49-F238E27FC236}">
                <a16:creationId xmlns:a16="http://schemas.microsoft.com/office/drawing/2014/main" id="{C0E8CEF5-1751-4A35-81AE-05E7519B0666}"/>
              </a:ext>
            </a:extLst>
          </p:cNvPr>
          <p:cNvGrpSpPr/>
          <p:nvPr/>
        </p:nvGrpSpPr>
        <p:grpSpPr>
          <a:xfrm>
            <a:off x="572837" y="761994"/>
            <a:ext cx="3160963" cy="3219456"/>
            <a:chOff x="433137" y="761994"/>
            <a:chExt cx="3426994" cy="3616502"/>
          </a:xfrm>
        </p:grpSpPr>
        <p:pic>
          <p:nvPicPr>
            <p:cNvPr id="17" name="Grafik 16">
              <a:extLst>
                <a:ext uri="{FF2B5EF4-FFF2-40B4-BE49-F238E27FC236}">
                  <a16:creationId xmlns:a16="http://schemas.microsoft.com/office/drawing/2014/main" id="{49D398BF-5372-09A2-2652-91F53E4EE060}"/>
                </a:ext>
              </a:extLst>
            </p:cNvPr>
            <p:cNvPicPr>
              <a:picLocks noChangeAspect="1"/>
            </p:cNvPicPr>
            <p:nvPr/>
          </p:nvPicPr>
          <p:blipFill>
            <a:blip r:embed="rId2"/>
            <a:stretch>
              <a:fillRect/>
            </a:stretch>
          </p:blipFill>
          <p:spPr>
            <a:xfrm>
              <a:off x="529389" y="761994"/>
              <a:ext cx="3330742" cy="1562717"/>
            </a:xfrm>
            <a:prstGeom prst="rect">
              <a:avLst/>
            </a:prstGeom>
          </p:spPr>
        </p:pic>
        <p:pic>
          <p:nvPicPr>
            <p:cNvPr id="19" name="Grafik 18">
              <a:extLst>
                <a:ext uri="{FF2B5EF4-FFF2-40B4-BE49-F238E27FC236}">
                  <a16:creationId xmlns:a16="http://schemas.microsoft.com/office/drawing/2014/main" id="{33C6693C-384F-9C47-7BF4-60D18F822C0E}"/>
                </a:ext>
              </a:extLst>
            </p:cNvPr>
            <p:cNvPicPr>
              <a:picLocks noChangeAspect="1"/>
            </p:cNvPicPr>
            <p:nvPr/>
          </p:nvPicPr>
          <p:blipFill>
            <a:blip r:embed="rId3"/>
            <a:stretch>
              <a:fillRect/>
            </a:stretch>
          </p:blipFill>
          <p:spPr>
            <a:xfrm>
              <a:off x="433137" y="2848387"/>
              <a:ext cx="3330743" cy="1530109"/>
            </a:xfrm>
            <a:prstGeom prst="rect">
              <a:avLst/>
            </a:prstGeom>
          </p:spPr>
        </p:pic>
        <p:sp>
          <p:nvSpPr>
            <p:cNvPr id="4" name="Rechteck 3">
              <a:extLst>
                <a:ext uri="{FF2B5EF4-FFF2-40B4-BE49-F238E27FC236}">
                  <a16:creationId xmlns:a16="http://schemas.microsoft.com/office/drawing/2014/main" id="{3A9C37E4-8342-E90F-59B8-DDE7666DCA62}"/>
                </a:ext>
              </a:extLst>
            </p:cNvPr>
            <p:cNvSpPr/>
            <p:nvPr/>
          </p:nvSpPr>
          <p:spPr>
            <a:xfrm>
              <a:off x="776286" y="3348037"/>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F696F72F-BCE1-F275-6C82-7E0BC787985A}"/>
                </a:ext>
              </a:extLst>
            </p:cNvPr>
            <p:cNvSpPr/>
            <p:nvPr/>
          </p:nvSpPr>
          <p:spPr>
            <a:xfrm>
              <a:off x="1559717" y="3348037"/>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29AA9FAC-5C6E-19AB-F84D-86C13EA8D95F}"/>
                </a:ext>
              </a:extLst>
            </p:cNvPr>
            <p:cNvSpPr/>
            <p:nvPr/>
          </p:nvSpPr>
          <p:spPr>
            <a:xfrm>
              <a:off x="828676" y="3269456"/>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46DC3C41-BEFF-8BD4-6767-E3F3CF887E0E}"/>
                </a:ext>
              </a:extLst>
            </p:cNvPr>
            <p:cNvSpPr/>
            <p:nvPr/>
          </p:nvSpPr>
          <p:spPr>
            <a:xfrm>
              <a:off x="1614499" y="3269454"/>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C930322D-AD63-50E2-E434-3E9010C2FF97}"/>
                </a:ext>
              </a:extLst>
            </p:cNvPr>
            <p:cNvSpPr/>
            <p:nvPr/>
          </p:nvSpPr>
          <p:spPr>
            <a:xfrm>
              <a:off x="776286" y="1243012"/>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2885BD0F-447B-A825-BD93-17E1AFB277FB}"/>
                </a:ext>
              </a:extLst>
            </p:cNvPr>
            <p:cNvSpPr/>
            <p:nvPr/>
          </p:nvSpPr>
          <p:spPr>
            <a:xfrm>
              <a:off x="1559717" y="1243012"/>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4E628FD5-9FF8-433F-8DDE-CFA3B62BD190}"/>
                </a:ext>
              </a:extLst>
            </p:cNvPr>
            <p:cNvSpPr/>
            <p:nvPr/>
          </p:nvSpPr>
          <p:spPr>
            <a:xfrm>
              <a:off x="828676" y="1164431"/>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FC980EC3-9D83-36BE-5F3C-D9FF17FB1E74}"/>
                </a:ext>
              </a:extLst>
            </p:cNvPr>
            <p:cNvSpPr/>
            <p:nvPr/>
          </p:nvSpPr>
          <p:spPr>
            <a:xfrm>
              <a:off x="1614499" y="1164429"/>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pic>
        <p:nvPicPr>
          <p:cNvPr id="15" name="Grafik 14">
            <a:extLst>
              <a:ext uri="{FF2B5EF4-FFF2-40B4-BE49-F238E27FC236}">
                <a16:creationId xmlns:a16="http://schemas.microsoft.com/office/drawing/2014/main" id="{B40BB910-063E-0829-F6E9-C9B65195E563}"/>
              </a:ext>
            </a:extLst>
          </p:cNvPr>
          <p:cNvPicPr>
            <a:picLocks noChangeAspect="1"/>
          </p:cNvPicPr>
          <p:nvPr/>
        </p:nvPicPr>
        <p:blipFill>
          <a:blip r:embed="rId4"/>
          <a:stretch>
            <a:fillRect/>
          </a:stretch>
        </p:blipFill>
        <p:spPr>
          <a:xfrm>
            <a:off x="572837" y="4920347"/>
            <a:ext cx="3185428" cy="1258204"/>
          </a:xfrm>
          <a:prstGeom prst="rect">
            <a:avLst/>
          </a:prstGeom>
        </p:spPr>
      </p:pic>
      <p:sp>
        <p:nvSpPr>
          <p:cNvPr id="16" name="Textfeld 15">
            <a:extLst>
              <a:ext uri="{FF2B5EF4-FFF2-40B4-BE49-F238E27FC236}">
                <a16:creationId xmlns:a16="http://schemas.microsoft.com/office/drawing/2014/main" id="{7F20ABFF-0594-130C-6157-C5812896FE56}"/>
              </a:ext>
            </a:extLst>
          </p:cNvPr>
          <p:cNvSpPr txBox="1"/>
          <p:nvPr/>
        </p:nvSpPr>
        <p:spPr>
          <a:xfrm>
            <a:off x="5083805" y="4841331"/>
            <a:ext cx="6618038" cy="1760482"/>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Turning unit</a:t>
            </a: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turning</a:t>
            </a:r>
            <a:r>
              <a:rPr lang="de-DE" sz="900" dirty="0">
                <a:solidFill>
                  <a:srgbClr val="000000"/>
                </a:solidFill>
                <a:latin typeface="CIDFont+F2"/>
              </a:rPr>
              <a:t> </a:t>
            </a:r>
            <a:r>
              <a:rPr lang="de-DE" sz="900" dirty="0" err="1">
                <a:solidFill>
                  <a:srgbClr val="000000"/>
                </a:solidFill>
                <a:latin typeface="CIDFont+F2"/>
              </a:rPr>
              <a:t>unit</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lvl="1" defTabSz="457200">
              <a:spcBef>
                <a:spcPct val="20000"/>
              </a:spcBef>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sp>
        <p:nvSpPr>
          <p:cNvPr id="18" name="Titel 1">
            <a:extLst>
              <a:ext uri="{FF2B5EF4-FFF2-40B4-BE49-F238E27FC236}">
                <a16:creationId xmlns:a16="http://schemas.microsoft.com/office/drawing/2014/main" id="{D43DD11B-BD76-ECE3-01B9-82995A4AE941}"/>
              </a:ext>
            </a:extLst>
          </p:cNvPr>
          <p:cNvSpPr txBox="1">
            <a:spLocks/>
          </p:cNvSpPr>
          <p:nvPr/>
        </p:nvSpPr>
        <p:spPr>
          <a:xfrm>
            <a:off x="3117853" y="4106167"/>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en-US" sz="1400" b="1" u="sng" dirty="0">
                <a:latin typeface="+mj-lt"/>
              </a:rPr>
              <a:t>Turning Unit for Terminal 2</a:t>
            </a:r>
          </a:p>
        </p:txBody>
      </p:sp>
    </p:spTree>
    <p:extLst>
      <p:ext uri="{BB962C8B-B14F-4D97-AF65-F5344CB8AC3E}">
        <p14:creationId xmlns:p14="http://schemas.microsoft.com/office/powerpoint/2010/main" val="4076613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DCE21EE6-9BB4-1BAA-E01C-61FF9631B007}"/>
              </a:ext>
            </a:extLst>
          </p:cNvPr>
          <p:cNvPicPr>
            <a:picLocks noChangeAspect="1"/>
          </p:cNvPicPr>
          <p:nvPr/>
        </p:nvPicPr>
        <p:blipFill>
          <a:blip r:embed="rId2"/>
          <a:stretch>
            <a:fillRect/>
          </a:stretch>
        </p:blipFill>
        <p:spPr>
          <a:xfrm>
            <a:off x="7905750" y="2019730"/>
            <a:ext cx="3561278" cy="1681877"/>
          </a:xfrm>
          <a:prstGeom prst="rect">
            <a:avLst/>
          </a:prstGeom>
        </p:spPr>
      </p:pic>
      <p:sp>
        <p:nvSpPr>
          <p:cNvPr id="7" name="Textfeld 6">
            <a:extLst>
              <a:ext uri="{FF2B5EF4-FFF2-40B4-BE49-F238E27FC236}">
                <a16:creationId xmlns:a16="http://schemas.microsoft.com/office/drawing/2014/main" id="{21ED8AA6-BA06-3078-2F8D-67392B0E732A}"/>
              </a:ext>
            </a:extLst>
          </p:cNvPr>
          <p:cNvSpPr txBox="1"/>
          <p:nvPr/>
        </p:nvSpPr>
        <p:spPr>
          <a:xfrm>
            <a:off x="5162998" y="910345"/>
            <a:ext cx="6618038" cy="4170372"/>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Transfer system</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Linear conveyor system LS-Link 150-104 Company Weiss</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21 process points</a:t>
            </a:r>
          </a:p>
          <a:p>
            <a:pPr marL="628650" lvl="1" indent="-171450" defTabSz="457200">
              <a:spcBef>
                <a:spcPct val="20000"/>
              </a:spcBef>
              <a:buFont typeface="Symbol" panose="05050102010706020507" pitchFamily="18" charset="2"/>
              <a:buChar char="-"/>
            </a:pPr>
            <a:r>
              <a:rPr lang="en-US" sz="1000" dirty="0" err="1">
                <a:solidFill>
                  <a:srgbClr val="000000"/>
                </a:solidFill>
                <a:latin typeface="CIDFont+F2"/>
              </a:rPr>
              <a:t>Simens</a:t>
            </a:r>
            <a:r>
              <a:rPr lang="en-US" sz="1000" dirty="0">
                <a:solidFill>
                  <a:srgbClr val="000000"/>
                </a:solidFill>
                <a:latin typeface="CIDFont+F2"/>
              </a:rPr>
              <a:t> SINAMICS S120</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Gear PSC_080H</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300mm stroke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600ms cycle time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Vertical orientation</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Mounting bracket for vertical installation</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Base frame</a:t>
            </a:r>
          </a:p>
          <a:p>
            <a:pPr marL="628650" lvl="1" indent="-171450" defTabSz="457200">
              <a:spcBef>
                <a:spcPct val="20000"/>
              </a:spcBef>
              <a:buFont typeface="Symbol" panose="05050102010706020507" pitchFamily="18" charset="2"/>
              <a:buChar char="-"/>
            </a:pPr>
            <a:r>
              <a:rPr lang="de-DE" altLang="de-DE" sz="1000" dirty="0">
                <a:solidFill>
                  <a:srgbClr val="000000"/>
                </a:solidFill>
                <a:latin typeface="CIDFont+F2"/>
              </a:rPr>
              <a:t>Welding </a:t>
            </a:r>
            <a:r>
              <a:rPr lang="de-DE" altLang="de-DE" sz="1000" dirty="0" err="1">
                <a:solidFill>
                  <a:srgbClr val="000000"/>
                </a:solidFill>
                <a:latin typeface="CIDFont+F2"/>
              </a:rPr>
              <a:t>console</a:t>
            </a:r>
            <a:endParaRPr lang="de-DE" alt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Firmly</a:t>
            </a:r>
            <a:r>
              <a:rPr lang="de-DE" sz="1000" dirty="0">
                <a:solidFill>
                  <a:srgbClr val="000000"/>
                </a:solidFill>
                <a:latin typeface="CIDFont+F2"/>
              </a:rPr>
              <a:t> </a:t>
            </a:r>
            <a:r>
              <a:rPr lang="de-DE" sz="1000" dirty="0" err="1">
                <a:solidFill>
                  <a:srgbClr val="000000"/>
                </a:solidFill>
                <a:latin typeface="CIDFont+F2"/>
              </a:rPr>
              <a:t>anchored</a:t>
            </a:r>
            <a:r>
              <a:rPr lang="de-DE" sz="1000" dirty="0">
                <a:solidFill>
                  <a:srgbClr val="000000"/>
                </a:solidFill>
                <a:latin typeface="CIDFont+F2"/>
              </a:rPr>
              <a:t> on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floor</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Slide </a:t>
            </a:r>
            <a:r>
              <a:rPr lang="de-DE" sz="1000" dirty="0" err="1">
                <a:solidFill>
                  <a:srgbClr val="000000"/>
                </a:solidFill>
                <a:latin typeface="CIDFont+F2"/>
              </a:rPr>
              <a:t>plates</a:t>
            </a:r>
            <a:r>
              <a:rPr lang="de-DE" sz="1000" dirty="0">
                <a:solidFill>
                  <a:srgbClr val="000000"/>
                </a:solidFill>
                <a:latin typeface="CIDFont+F2"/>
              </a:rPr>
              <a:t> </a:t>
            </a:r>
            <a:r>
              <a:rPr lang="de-DE" sz="1000" dirty="0" err="1">
                <a:solidFill>
                  <a:srgbClr val="000000"/>
                </a:solidFill>
                <a:latin typeface="CIDFont+F2"/>
              </a:rPr>
              <a:t>for</a:t>
            </a:r>
            <a:r>
              <a:rPr lang="de-DE" sz="1000" dirty="0">
                <a:solidFill>
                  <a:srgbClr val="000000"/>
                </a:solidFill>
                <a:latin typeface="CIDFont+F2"/>
              </a:rPr>
              <a:t> Cable</a:t>
            </a:r>
          </a:p>
          <a:p>
            <a:pPr marL="342900" lvl="1" indent="-342900" defTabSz="457200">
              <a:spcBef>
                <a:spcPct val="20000"/>
              </a:spcBef>
              <a:buFont typeface="Arial"/>
              <a:buChar char="•"/>
            </a:pPr>
            <a:r>
              <a:rPr lang="de-DE" altLang="de-DE" sz="1000" dirty="0">
                <a:latin typeface="Calibri" panose="020F0502020204030204" pitchFamily="34" charset="0"/>
                <a:ea typeface="Calibri" panose="020F0502020204030204" pitchFamily="34" charset="0"/>
                <a:cs typeface="Calibri" panose="020F0502020204030204" pitchFamily="34" charset="0"/>
              </a:rPr>
              <a:t>WPC (48 </a:t>
            </a:r>
            <a:r>
              <a:rPr lang="de-DE" altLang="de-DE" sz="1000" dirty="0" err="1">
                <a:latin typeface="Calibri" panose="020F0502020204030204" pitchFamily="34" charset="0"/>
                <a:ea typeface="Calibri" panose="020F0502020204030204" pitchFamily="34" charset="0"/>
                <a:cs typeface="Calibri" panose="020F0502020204030204" pitchFamily="34" charset="0"/>
              </a:rPr>
              <a:t>pieces</a:t>
            </a:r>
            <a:r>
              <a:rPr lang="de-DE" altLang="de-DE" sz="1000" dirty="0">
                <a:latin typeface="Calibri" panose="020F0502020204030204" pitchFamily="34" charset="0"/>
                <a:ea typeface="Calibri" panose="020F0502020204030204" pitchFamily="34" charset="0"/>
                <a:cs typeface="Calibri" panose="020F0502020204030204" pitchFamily="34" charset="0"/>
              </a:rPr>
              <a:t>)</a:t>
            </a:r>
          </a:p>
          <a:p>
            <a:pPr marL="342900" lvl="1" indent="-342900" defTabSz="457200">
              <a:spcBef>
                <a:spcPct val="20000"/>
              </a:spcBef>
              <a:buFont typeface="Arial"/>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Component</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query</a:t>
            </a:r>
            <a:endParaRPr lang="de-DE" altLang="de-DE"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1000" dirty="0">
                <a:solidFill>
                  <a:srgbClr val="000000"/>
                </a:solidFill>
                <a:latin typeface="CIDFont+F2"/>
              </a:rPr>
              <a:t>At </a:t>
            </a:r>
            <a:r>
              <a:rPr lang="de-DE" altLang="de-DE" sz="1000" dirty="0" err="1">
                <a:solidFill>
                  <a:srgbClr val="000000"/>
                </a:solidFill>
                <a:latin typeface="CIDFont+F2"/>
              </a:rPr>
              <a:t>each</a:t>
            </a:r>
            <a:r>
              <a:rPr lang="de-DE" altLang="de-DE" sz="1000" dirty="0">
                <a:solidFill>
                  <a:srgbClr val="000000"/>
                </a:solidFill>
                <a:latin typeface="CIDFont+F2"/>
              </a:rPr>
              <a:t> </a:t>
            </a:r>
            <a:r>
              <a:rPr lang="de-DE" altLang="de-DE" sz="1000" dirty="0" err="1">
                <a:solidFill>
                  <a:srgbClr val="000000"/>
                </a:solidFill>
                <a:latin typeface="CIDFont+F2"/>
              </a:rPr>
              <a:t>process</a:t>
            </a:r>
            <a:r>
              <a:rPr lang="de-DE" altLang="de-DE" sz="1000" dirty="0">
                <a:solidFill>
                  <a:srgbClr val="000000"/>
                </a:solidFill>
                <a:latin typeface="CIDFont+F2"/>
              </a:rPr>
              <a:t> </a:t>
            </a:r>
            <a:r>
              <a:rPr lang="de-DE" altLang="de-DE" sz="1000" dirty="0" err="1">
                <a:solidFill>
                  <a:srgbClr val="000000"/>
                </a:solidFill>
                <a:latin typeface="CIDFont+F2"/>
              </a:rPr>
              <a:t>point</a:t>
            </a:r>
            <a:r>
              <a:rPr lang="de-DE" altLang="de-DE" sz="1000" dirty="0">
                <a:solidFill>
                  <a:srgbClr val="000000"/>
                </a:solidFill>
                <a:latin typeface="CIDFont+F2"/>
              </a:rPr>
              <a:t> light </a:t>
            </a:r>
            <a:r>
              <a:rPr lang="de-DE" altLang="de-DE" sz="1000" dirty="0" err="1">
                <a:solidFill>
                  <a:srgbClr val="000000"/>
                </a:solidFill>
                <a:latin typeface="CIDFont+F2"/>
              </a:rPr>
              <a:t>barrier</a:t>
            </a:r>
            <a:r>
              <a:rPr lang="de-DE" altLang="de-DE" sz="1000" dirty="0">
                <a:solidFill>
                  <a:srgbClr val="000000"/>
                </a:solidFill>
                <a:latin typeface="CIDFont+F2"/>
              </a:rPr>
              <a:t> „Part </a:t>
            </a:r>
            <a:r>
              <a:rPr lang="de-DE" altLang="de-DE" sz="1000" dirty="0" err="1">
                <a:solidFill>
                  <a:srgbClr val="000000"/>
                </a:solidFill>
                <a:latin typeface="CIDFont+F2"/>
              </a:rPr>
              <a:t>available</a:t>
            </a:r>
            <a:r>
              <a:rPr lang="de-DE" altLang="de-DE" sz="1000" dirty="0">
                <a:solidFill>
                  <a:srgbClr val="000000"/>
                </a:solidFill>
                <a:latin typeface="CIDFont+F2"/>
              </a:rPr>
              <a:t>“</a:t>
            </a:r>
          </a:p>
          <a:p>
            <a:pPr marL="342900" lvl="1" indent="-342900" defTabSz="457200">
              <a:spcBef>
                <a:spcPct val="20000"/>
              </a:spcBef>
              <a:buFont typeface="Arial"/>
              <a:buChar char="•"/>
            </a:pPr>
            <a:endParaRPr lang="de-DE" alt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solidFill>
                <a:srgbClr val="000000"/>
              </a:solidFill>
              <a:latin typeface="CIDFont+F2"/>
            </a:endParaRPr>
          </a:p>
          <a:p>
            <a:pPr lvl="1" defTabSz="457200">
              <a:spcBef>
                <a:spcPct val="20000"/>
              </a:spcBef>
            </a:pPr>
            <a:r>
              <a:rPr lang="de-DE" sz="1000" dirty="0">
                <a:solidFill>
                  <a:srgbClr val="000000"/>
                </a:solidFill>
                <a:latin typeface="CIDFont+F2"/>
              </a:rPr>
              <a:t>	</a:t>
            </a:r>
          </a:p>
        </p:txBody>
      </p:sp>
      <p:sp>
        <p:nvSpPr>
          <p:cNvPr id="2" name="Titel 1">
            <a:extLst>
              <a:ext uri="{FF2B5EF4-FFF2-40B4-BE49-F238E27FC236}">
                <a16:creationId xmlns:a16="http://schemas.microsoft.com/office/drawing/2014/main" id="{5CCCA3CB-4676-8516-D0D4-4CA30B5F3CFB}"/>
              </a:ext>
            </a:extLst>
          </p:cNvPr>
          <p:cNvSpPr>
            <a:spLocks noGrp="1"/>
          </p:cNvSpPr>
          <p:nvPr>
            <p:ph type="title"/>
          </p:nvPr>
        </p:nvSpPr>
        <p:spPr/>
        <p:txBody>
          <a:bodyPr anchor="t"/>
          <a:lstStyle/>
          <a:p>
            <a:r>
              <a:rPr lang="de-DE" sz="1400" b="1" dirty="0">
                <a:latin typeface="+mj-lt"/>
              </a:rPr>
              <a:t>Transfer </a:t>
            </a:r>
            <a:r>
              <a:rPr lang="de-DE" sz="1400" b="1" dirty="0" err="1">
                <a:latin typeface="+mj-lt"/>
              </a:rPr>
              <a:t>system</a:t>
            </a:r>
            <a:endParaRPr lang="de-DE" sz="1400" b="1" dirty="0">
              <a:latin typeface="+mj-lt"/>
            </a:endParaRPr>
          </a:p>
        </p:txBody>
      </p:sp>
      <p:pic>
        <p:nvPicPr>
          <p:cNvPr id="4" name="Grafik 3">
            <a:extLst>
              <a:ext uri="{FF2B5EF4-FFF2-40B4-BE49-F238E27FC236}">
                <a16:creationId xmlns:a16="http://schemas.microsoft.com/office/drawing/2014/main" id="{5F579958-1A4F-B853-62AA-1C48DDB51A56}"/>
              </a:ext>
            </a:extLst>
          </p:cNvPr>
          <p:cNvPicPr>
            <a:picLocks noChangeAspect="1"/>
          </p:cNvPicPr>
          <p:nvPr/>
        </p:nvPicPr>
        <p:blipFill>
          <a:blip r:embed="rId3"/>
          <a:stretch>
            <a:fillRect/>
          </a:stretch>
        </p:blipFill>
        <p:spPr>
          <a:xfrm>
            <a:off x="289860" y="971074"/>
            <a:ext cx="3818590" cy="837410"/>
          </a:xfrm>
          <a:prstGeom prst="rect">
            <a:avLst/>
          </a:prstGeom>
        </p:spPr>
      </p:pic>
      <p:pic>
        <p:nvPicPr>
          <p:cNvPr id="6" name="Grafik 5">
            <a:extLst>
              <a:ext uri="{FF2B5EF4-FFF2-40B4-BE49-F238E27FC236}">
                <a16:creationId xmlns:a16="http://schemas.microsoft.com/office/drawing/2014/main" id="{A3FC07AE-A671-5E3E-9BD5-D38CF66DBD6B}"/>
              </a:ext>
            </a:extLst>
          </p:cNvPr>
          <p:cNvPicPr>
            <a:picLocks noChangeAspect="1"/>
          </p:cNvPicPr>
          <p:nvPr/>
        </p:nvPicPr>
        <p:blipFill>
          <a:blip r:embed="rId4"/>
          <a:stretch>
            <a:fillRect/>
          </a:stretch>
        </p:blipFill>
        <p:spPr>
          <a:xfrm>
            <a:off x="410964" y="2000250"/>
            <a:ext cx="1536499" cy="2273300"/>
          </a:xfrm>
          <a:prstGeom prst="rect">
            <a:avLst/>
          </a:prstGeom>
        </p:spPr>
      </p:pic>
    </p:spTree>
    <p:extLst>
      <p:ext uri="{BB962C8B-B14F-4D97-AF65-F5344CB8AC3E}">
        <p14:creationId xmlns:p14="http://schemas.microsoft.com/office/powerpoint/2010/main" val="3110363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Control System</a:t>
            </a:r>
          </a:p>
        </p:txBody>
      </p:sp>
      <p:sp>
        <p:nvSpPr>
          <p:cNvPr id="6" name="Textfeld 5">
            <a:extLst>
              <a:ext uri="{FF2B5EF4-FFF2-40B4-BE49-F238E27FC236}">
                <a16:creationId xmlns:a16="http://schemas.microsoft.com/office/drawing/2014/main" id="{97522261-8A83-B503-01D7-277D7E7C1E1D}"/>
              </a:ext>
            </a:extLst>
          </p:cNvPr>
          <p:cNvSpPr txBox="1"/>
          <p:nvPr/>
        </p:nvSpPr>
        <p:spPr>
          <a:xfrm>
            <a:off x="1244601" y="762000"/>
            <a:ext cx="9801970" cy="504753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Control System</a:t>
            </a:r>
          </a:p>
          <a:p>
            <a:r>
              <a:rPr lang="en-US" sz="1000" u="sng" dirty="0">
                <a:solidFill>
                  <a:srgbClr val="25363E"/>
                </a:solidFill>
                <a:latin typeface="Calibri" panose="020F0502020204030204" pitchFamily="34" charset="0"/>
                <a:ea typeface="Calibri" panose="020F0502020204030204" pitchFamily="34" charset="0"/>
                <a:cs typeface="Calibri" panose="020F0502020204030204" pitchFamily="34" charset="0"/>
              </a:rPr>
              <a:t>The control system essentially consists of the following components:</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HMI: 			19" Operator Center</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Mobile Panel: 		KTP700F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Controller (PLC): 	CPU 151xF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Software: 		TIA Portal V17</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Communication: 	</a:t>
            </a:r>
            <a:r>
              <a:rPr lang="en-US" sz="1000" dirty="0" err="1">
                <a:solidFill>
                  <a:srgbClr val="25363E"/>
                </a:solidFill>
                <a:latin typeface="Calibri" panose="020F0502020204030204" pitchFamily="34" charset="0"/>
                <a:ea typeface="Calibri" panose="020F0502020204030204" pitchFamily="34" charset="0"/>
                <a:cs typeface="Calibri" panose="020F0502020204030204" pitchFamily="34" charset="0"/>
              </a:rPr>
              <a:t>Profinet</a:t>
            </a:r>
            <a:endPar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Decentralized Peripherals: 	MURR MVK</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Centralized Peripherals: 	ET200SP</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Servo Motor:		SEW</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Pneumatics: 		FESTO</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Software</a:t>
            </a:r>
            <a:endParaRPr lang="en-US" sz="1050" b="1" u="sng" dirty="0">
              <a:latin typeface="Calibri" panose="020F0502020204030204" pitchFamily="34" charset="0"/>
              <a:ea typeface="Calibri" panose="020F0502020204030204" pitchFamily="34" charset="0"/>
              <a:cs typeface="Calibri" panose="020F0502020204030204" pitchFamily="34" charset="0"/>
            </a:endParaRPr>
          </a:p>
          <a:p>
            <a:r>
              <a:rPr lang="en-US" sz="1000" dirty="0">
                <a:latin typeface="Calibri" panose="020F0502020204030204" pitchFamily="34" charset="0"/>
                <a:ea typeface="Calibri" panose="020F0502020204030204" pitchFamily="34" charset="0"/>
                <a:cs typeface="Calibri" panose="020F0502020204030204" pitchFamily="34" charset="0"/>
              </a:rPr>
              <a:t>The PLC and control panels are programmed according to the Gluth standard.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Operation</a:t>
            </a:r>
          </a:p>
          <a:p>
            <a:r>
              <a:rPr lang="en-US" sz="1000" dirty="0">
                <a:latin typeface="Calibri" panose="020F0502020204030204" pitchFamily="34" charset="0"/>
                <a:ea typeface="Calibri" panose="020F0502020204030204" pitchFamily="34" charset="0"/>
                <a:cs typeface="Calibri" panose="020F0502020204030204" pitchFamily="34" charset="0"/>
              </a:rPr>
              <a:t>The station is operated via a 19" touchscreen Operator Center panel.</a:t>
            </a:r>
          </a:p>
          <a:p>
            <a:r>
              <a:rPr lang="en-US" sz="1000" dirty="0">
                <a:latin typeface="Calibri" panose="020F0502020204030204" pitchFamily="34" charset="0"/>
                <a:ea typeface="Calibri" panose="020F0502020204030204" pitchFamily="34" charset="0"/>
                <a:cs typeface="Calibri" panose="020F0502020204030204" pitchFamily="34" charset="0"/>
              </a:rPr>
              <a:t>One mobile panel is also provided.</a:t>
            </a:r>
          </a:p>
          <a:p>
            <a:r>
              <a:rPr lang="en-US" sz="1000" dirty="0">
                <a:latin typeface="Calibri" panose="020F0502020204030204" pitchFamily="34" charset="0"/>
                <a:ea typeface="Calibri" panose="020F0502020204030204" pitchFamily="34" charset="0"/>
                <a:cs typeface="Calibri" panose="020F0502020204030204" pitchFamily="34" charset="0"/>
              </a:rPr>
              <a:t>Operator guidance is provided in German and Romanian.</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Installation</a:t>
            </a:r>
          </a:p>
          <a:p>
            <a:r>
              <a:rPr lang="en-US" sz="1000" dirty="0">
                <a:latin typeface="Calibri" panose="020F0502020204030204" pitchFamily="34" charset="0"/>
                <a:ea typeface="Calibri" panose="020F0502020204030204" pitchFamily="34" charset="0"/>
                <a:cs typeface="Calibri" panose="020F0502020204030204" pitchFamily="34" charset="0"/>
              </a:rPr>
              <a:t>The system is installed using the PROFINET Safety bus system.</a:t>
            </a:r>
          </a:p>
          <a:p>
            <a:r>
              <a:rPr lang="en-US" sz="1000" dirty="0">
                <a:latin typeface="Calibri" panose="020F0502020204030204" pitchFamily="34" charset="0"/>
                <a:ea typeface="Calibri" panose="020F0502020204030204" pitchFamily="34" charset="0"/>
                <a:cs typeface="Calibri" panose="020F0502020204030204" pitchFamily="34" charset="0"/>
              </a:rPr>
              <a:t>Careful installation, especially of moving cables, is ensured.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Cables in Cable Carriers</a:t>
            </a:r>
          </a:p>
          <a:p>
            <a:r>
              <a:rPr lang="en-US" sz="1000" dirty="0">
                <a:latin typeface="Calibri" panose="020F0502020204030204" pitchFamily="34" charset="0"/>
                <a:ea typeface="Calibri" panose="020F0502020204030204" pitchFamily="34" charset="0"/>
                <a:cs typeface="Calibri" panose="020F0502020204030204" pitchFamily="34" charset="0"/>
              </a:rPr>
              <a:t>In our experience, cables in cable carriers are subject to varying degrees of wear, depending on speed, acceleration, and frequency of movement. For this reason, these cables are designed to be plug-in or quickly replaceable. Regular system maintenance requires inspection and, if necessary, replacement.</a:t>
            </a: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806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97AA5337-8BC5-5726-CF7A-E0F87A67E7AE}"/>
              </a:ext>
            </a:extLst>
          </p:cNvPr>
          <p:cNvSpPr txBox="1"/>
          <p:nvPr/>
        </p:nvSpPr>
        <p:spPr>
          <a:xfrm>
            <a:off x="618806" y="911547"/>
            <a:ext cx="6850108" cy="3493264"/>
          </a:xfrm>
          <a:prstGeom prst="rect">
            <a:avLst/>
          </a:prstGeom>
          <a:noFill/>
        </p:spPr>
        <p:txBody>
          <a:bodyPr wrap="square" rtlCol="0">
            <a:spAutoFit/>
          </a:bodyPr>
          <a:lstStyle/>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Performance criteria - cycle time and output</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To determine the cycle time, a cable with a 16mm² cross-section and 170mm length is used.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station that is critical for the cycle time is the tinning of the cable ends.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We are currently assuming a heating time of 2 seconds and a tinning time of 2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This gives us a cycle time of 6.5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If the current tests result in shorter or longer times for heating and tinning, we reserve the right to adjust the cycle time accordingly.</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Technical availability</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Technical availability: 98%</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Preliminary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preliminary acceptance of the system is carried out in </a:t>
            </a:r>
            <a:r>
              <a:rPr 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Straubing</a:t>
            </a:r>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4 hours, one type each with 16mm², 25mm² and 32mm² is manufactured.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Final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final acceptance of the system is carried out in Satu Mare.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8 hours, one type each with 16mm², 25mm² and 32mm² is manufactured.</a:t>
            </a:r>
            <a:endParaRPr lang="de-DE"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u="sng" dirty="0">
                <a:latin typeface="Calibri" panose="020F0502020204030204" pitchFamily="34" charset="0"/>
                <a:ea typeface="Calibri" panose="020F0502020204030204" pitchFamily="34" charset="0"/>
                <a:cs typeface="Calibri" panose="020F0502020204030204" pitchFamily="34" charset="0"/>
              </a:rPr>
              <a:t>Performance </a:t>
            </a:r>
            <a:r>
              <a:rPr lang="de-DE" sz="1400" b="1" u="sng" dirty="0" err="1">
                <a:latin typeface="Calibri" panose="020F0502020204030204" pitchFamily="34" charset="0"/>
                <a:ea typeface="Calibri" panose="020F0502020204030204" pitchFamily="34" charset="0"/>
                <a:cs typeface="Calibri" panose="020F0502020204030204" pitchFamily="34" charset="0"/>
              </a:rPr>
              <a:t>criteria</a:t>
            </a:r>
            <a:r>
              <a:rPr lang="de-DE" sz="1400" b="1" u="sng" dirty="0">
                <a:latin typeface="Calibri" panose="020F0502020204030204" pitchFamily="34" charset="0"/>
                <a:ea typeface="Calibri" panose="020F0502020204030204" pitchFamily="34" charset="0"/>
                <a:cs typeface="Calibri" panose="020F0502020204030204" pitchFamily="34" charset="0"/>
              </a:rPr>
              <a:t> – </a:t>
            </a:r>
            <a:r>
              <a:rPr lang="de-DE" sz="1400" b="1" u="sng" dirty="0" err="1">
                <a:latin typeface="Calibri" panose="020F0502020204030204" pitchFamily="34" charset="0"/>
                <a:ea typeface="Calibri" panose="020F0502020204030204" pitchFamily="34" charset="0"/>
                <a:cs typeface="Calibri" panose="020F0502020204030204" pitchFamily="34" charset="0"/>
              </a:rPr>
              <a:t>technical</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data</a:t>
            </a:r>
            <a:endParaRPr lang="de-DE" sz="1400" b="1" dirty="0">
              <a:solidFill>
                <a:srgbClr val="2C3F48"/>
              </a:solidFill>
            </a:endParaRPr>
          </a:p>
        </p:txBody>
      </p:sp>
    </p:spTree>
    <p:extLst>
      <p:ext uri="{BB962C8B-B14F-4D97-AF65-F5344CB8AC3E}">
        <p14:creationId xmlns:p14="http://schemas.microsoft.com/office/powerpoint/2010/main" val="97691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8FADAC94-E284-3009-0680-7E6C4EFA9371}"/>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Lieferumfang / Ausnahmen</a:t>
            </a:r>
          </a:p>
        </p:txBody>
      </p:sp>
      <p:sp>
        <p:nvSpPr>
          <p:cNvPr id="6" name="Textfeld 5">
            <a:extLst>
              <a:ext uri="{FF2B5EF4-FFF2-40B4-BE49-F238E27FC236}">
                <a16:creationId xmlns:a16="http://schemas.microsoft.com/office/drawing/2014/main" id="{DE6F98D2-6AEE-0599-D501-04CCFCC8A029}"/>
              </a:ext>
            </a:extLst>
          </p:cNvPr>
          <p:cNvSpPr txBox="1"/>
          <p:nvPr/>
        </p:nvSpPr>
        <p:spPr>
          <a:xfrm>
            <a:off x="463554" y="4214542"/>
            <a:ext cx="8925980" cy="1415772"/>
          </a:xfrm>
          <a:prstGeom prst="rect">
            <a:avLst/>
          </a:prstGeom>
          <a:noFill/>
        </p:spPr>
        <p:txBody>
          <a:bodyPr wrap="square">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does not include:</a:t>
            </a:r>
          </a:p>
          <a:p>
            <a:pPr marL="285750" indent="-285750">
              <a:buFont typeface="Arial" panose="020B0604020202020204" pitchFamily="34" charset="0"/>
              <a:buChar char="•"/>
            </a:pPr>
            <a:r>
              <a:rPr lang="en-US" sz="900" dirty="0">
                <a:latin typeface="Calibri" panose="020F0502020204030204" pitchFamily="34" charset="0"/>
              </a:rPr>
              <a:t>Procurement of supplies</a:t>
            </a:r>
          </a:p>
          <a:p>
            <a:pPr marL="285750" indent="-285750">
              <a:buFont typeface="Arial" panose="020B0604020202020204" pitchFamily="34" charset="0"/>
              <a:buChar char="•"/>
            </a:pPr>
            <a:r>
              <a:rPr lang="en-US" sz="900" dirty="0">
                <a:latin typeface="Calibri" panose="020F0502020204030204" pitchFamily="34" charset="0"/>
              </a:rPr>
              <a:t>Spare and replacement parts</a:t>
            </a:r>
          </a:p>
          <a:p>
            <a:pPr marL="285750" indent="-285750">
              <a:buFont typeface="Arial" panose="020B0604020202020204" pitchFamily="34" charset="0"/>
              <a:buChar char="•"/>
            </a:pPr>
            <a:r>
              <a:rPr lang="en-US" sz="900" dirty="0">
                <a:latin typeface="Calibri" panose="020F0502020204030204" pitchFamily="34" charset="0"/>
              </a:rPr>
              <a:t>Connection of the system to your internal power supply</a:t>
            </a:r>
          </a:p>
          <a:p>
            <a:pPr marL="742950" lvl="1" indent="-285750">
              <a:buFont typeface="Arial" panose="020B0604020202020204" pitchFamily="34" charset="0"/>
              <a:buChar char="•"/>
            </a:pPr>
            <a:r>
              <a:rPr lang="en-US" sz="900" dirty="0">
                <a:latin typeface="Calibri" panose="020F0502020204030204" pitchFamily="34" charset="0"/>
              </a:rPr>
              <a:t>Pneumatics</a:t>
            </a:r>
          </a:p>
          <a:p>
            <a:pPr marL="742950" lvl="1" indent="-285750">
              <a:buFont typeface="Arial" panose="020B0604020202020204" pitchFamily="34" charset="0"/>
              <a:buChar char="•"/>
            </a:pPr>
            <a:r>
              <a:rPr lang="en-US" sz="900" dirty="0">
                <a:latin typeface="Calibri" panose="020F0502020204030204" pitchFamily="34" charset="0"/>
              </a:rPr>
              <a:t>Electrical supply</a:t>
            </a:r>
          </a:p>
          <a:p>
            <a:pPr marL="742950" lvl="1" indent="-285750">
              <a:buFont typeface="Arial" panose="020B0604020202020204" pitchFamily="34" charset="0"/>
              <a:buChar char="•"/>
            </a:pPr>
            <a:r>
              <a:rPr lang="en-US" sz="900" dirty="0">
                <a:latin typeface="Calibri" panose="020F0502020204030204" pitchFamily="34" charset="0"/>
              </a:rPr>
              <a:t>Extraction</a:t>
            </a:r>
          </a:p>
          <a:p>
            <a:pPr marL="285750" indent="-285750">
              <a:buFont typeface="Arial" panose="020B0604020202020204" pitchFamily="34" charset="0"/>
              <a:buChar char="•"/>
            </a:pPr>
            <a:r>
              <a:rPr lang="en-US" sz="900" dirty="0">
                <a:latin typeface="Calibri" panose="020F0502020204030204" pitchFamily="34" charset="0"/>
              </a:rPr>
              <a:t>Installation and commissioning of types beyond the scope of delivery</a:t>
            </a:r>
          </a:p>
          <a:p>
            <a:pPr marL="285750" indent="-285750">
              <a:buFont typeface="Arial" panose="020B0604020202020204" pitchFamily="34" charset="0"/>
              <a:buChar char="•"/>
            </a:pPr>
            <a:r>
              <a:rPr lang="en-US" sz="900" dirty="0">
                <a:latin typeface="Calibri" panose="020F0502020204030204" pitchFamily="34" charset="0"/>
              </a:rPr>
              <a:t>ESD-compliant design</a:t>
            </a:r>
            <a:endParaRPr lang="de-DE" sz="900" dirty="0">
              <a:latin typeface="Calibri" panose="020F0502020204030204" pitchFamily="34" charset="0"/>
            </a:endParaRPr>
          </a:p>
        </p:txBody>
      </p:sp>
      <p:sp>
        <p:nvSpPr>
          <p:cNvPr id="9" name="Textfeld 8">
            <a:extLst>
              <a:ext uri="{FF2B5EF4-FFF2-40B4-BE49-F238E27FC236}">
                <a16:creationId xmlns:a16="http://schemas.microsoft.com/office/drawing/2014/main" id="{5BB25941-E853-7CD8-8416-2D0BAF642646}"/>
              </a:ext>
            </a:extLst>
          </p:cNvPr>
          <p:cNvSpPr txBox="1"/>
          <p:nvPr/>
        </p:nvSpPr>
        <p:spPr>
          <a:xfrm>
            <a:off x="463554" y="725938"/>
            <a:ext cx="6866467" cy="293926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includes:</a:t>
            </a:r>
          </a:p>
          <a:p>
            <a:pPr marL="171450" indent="-171450">
              <a:buFont typeface="Arial" panose="020B0604020202020204" pitchFamily="34" charset="0"/>
              <a:buChar char="•"/>
            </a:pPr>
            <a:r>
              <a:rPr lang="en-US" sz="900" dirty="0">
                <a:latin typeface="Calibri" panose="020F0502020204030204" pitchFamily="34" charset="0"/>
              </a:rPr>
              <a:t>Creation of the mechanical design</a:t>
            </a:r>
          </a:p>
          <a:p>
            <a:pPr marL="628650" lvl="1" indent="-171450">
              <a:buFont typeface="Arial" panose="020B0604020202020204" pitchFamily="34" charset="0"/>
              <a:buChar char="•"/>
            </a:pPr>
            <a:r>
              <a:rPr lang="en-US" sz="900" dirty="0">
                <a:latin typeface="Calibri" panose="020F0502020204030204" pitchFamily="34" charset="0"/>
              </a:rPr>
              <a:t>Mechanical design is carried out using Autodesk Inventor</a:t>
            </a:r>
          </a:p>
          <a:p>
            <a:pPr marL="628650" lvl="1" indent="-171450">
              <a:buFont typeface="Arial" panose="020B0604020202020204" pitchFamily="34" charset="0"/>
              <a:buChar char="•"/>
            </a:pPr>
            <a:r>
              <a:rPr lang="en-US" sz="900" dirty="0">
                <a:latin typeface="Calibri" panose="020F0502020204030204" pitchFamily="34" charset="0"/>
              </a:rPr>
              <a:t>Initial meeting in Satu Mare, as well as necessary clarifications and design discussions in </a:t>
            </a:r>
            <a:r>
              <a:rPr lang="en-US" sz="900" dirty="0" err="1">
                <a:latin typeface="Calibri" panose="020F0502020204030204" pitchFamily="34" charset="0"/>
              </a:rPr>
              <a:t>Straubing</a:t>
            </a:r>
            <a:r>
              <a:rPr lang="en-US" sz="900" dirty="0">
                <a:latin typeface="Calibri" panose="020F0502020204030204" pitchFamily="34" charset="0"/>
              </a:rPr>
              <a:t> or via Teams</a:t>
            </a:r>
          </a:p>
          <a:p>
            <a:pPr marL="628650" lvl="1" indent="-171450">
              <a:buFont typeface="Arial" panose="020B0604020202020204" pitchFamily="34" charset="0"/>
              <a:buChar char="•"/>
            </a:pPr>
            <a:r>
              <a:rPr lang="en-US" sz="900" dirty="0">
                <a:latin typeface="Calibri" panose="020F0502020204030204" pitchFamily="34" charset="0"/>
              </a:rPr>
              <a:t>Internal clarifications and support expenses</a:t>
            </a:r>
          </a:p>
          <a:p>
            <a:pPr marL="171450" indent="-171450">
              <a:buFont typeface="Arial" panose="020B0604020202020204" pitchFamily="34" charset="0"/>
              <a:buChar char="•"/>
            </a:pPr>
            <a:r>
              <a:rPr lang="en-US" sz="900" dirty="0">
                <a:latin typeface="Calibri" panose="020F0502020204030204" pitchFamily="34" charset="0"/>
              </a:rPr>
              <a:t>Creation of the hardware and software planning</a:t>
            </a:r>
          </a:p>
          <a:p>
            <a:pPr marL="628650" lvl="1" indent="-171450">
              <a:buFont typeface="Arial" panose="020B0604020202020204" pitchFamily="34" charset="0"/>
              <a:buChar char="•"/>
            </a:pPr>
            <a:r>
              <a:rPr lang="en-US" sz="900" dirty="0">
                <a:latin typeface="Calibri" panose="020F0502020204030204" pitchFamily="34" charset="0"/>
              </a:rPr>
              <a:t>Hardware planning is carried out using EPLAN</a:t>
            </a:r>
          </a:p>
          <a:p>
            <a:pPr marL="628650" lvl="1" indent="-171450">
              <a:buFont typeface="Arial" panose="020B0604020202020204" pitchFamily="34" charset="0"/>
              <a:buChar char="•"/>
            </a:pPr>
            <a:r>
              <a:rPr lang="en-US" sz="900" dirty="0">
                <a:latin typeface="Calibri" panose="020F0502020204030204" pitchFamily="34" charset="0"/>
              </a:rPr>
              <a:t>Software programming is carried out using Siemens TIA Portal</a:t>
            </a:r>
          </a:p>
          <a:p>
            <a:pPr marL="171450" indent="-171450">
              <a:buFont typeface="Arial" panose="020B0604020202020204" pitchFamily="34" charset="0"/>
              <a:buChar char="•"/>
            </a:pPr>
            <a:r>
              <a:rPr lang="en-US" sz="900" dirty="0">
                <a:latin typeface="Calibri" panose="020F0502020204030204" pitchFamily="34" charset="0"/>
              </a:rPr>
              <a:t>Procurement of purchased and manufactured parts (mechanical and electrical)</a:t>
            </a:r>
          </a:p>
          <a:p>
            <a:pPr marL="171450" indent="-171450">
              <a:buFont typeface="Arial" panose="020B0604020202020204" pitchFamily="34" charset="0"/>
              <a:buChar char="•"/>
            </a:pPr>
            <a:r>
              <a:rPr lang="en-US" sz="900" dirty="0">
                <a:latin typeface="Calibri" panose="020F0502020204030204" pitchFamily="34" charset="0"/>
              </a:rPr>
              <a:t>Assembly with electrical and pneumatic installation in-house</a:t>
            </a:r>
          </a:p>
          <a:p>
            <a:pPr marL="171450" indent="-171450">
              <a:buFont typeface="Arial" panose="020B0604020202020204" pitchFamily="34" charset="0"/>
              <a:buChar char="•"/>
            </a:pPr>
            <a:r>
              <a:rPr lang="en-US" sz="900" dirty="0">
                <a:latin typeface="Calibri" panose="020F0502020204030204" pitchFamily="34" charset="0"/>
              </a:rPr>
              <a:t>Final assembly and commissioning as well as preliminary acceptance of the system in-house</a:t>
            </a:r>
          </a:p>
          <a:p>
            <a:pPr marL="171450" indent="-171450">
              <a:buFont typeface="Arial" panose="020B0604020202020204" pitchFamily="34" charset="0"/>
              <a:buChar char="•"/>
            </a:pPr>
            <a:r>
              <a:rPr lang="en-US" sz="900" dirty="0">
                <a:latin typeface="Calibri" panose="020F0502020204030204" pitchFamily="34" charset="0"/>
              </a:rPr>
              <a:t>Disassembly, loading, and transport</a:t>
            </a:r>
          </a:p>
          <a:p>
            <a:pPr marL="628650" lvl="1" indent="-171450">
              <a:buFont typeface="Arial" panose="020B0604020202020204" pitchFamily="34" charset="0"/>
              <a:buChar char="•"/>
            </a:pPr>
            <a:r>
              <a:rPr lang="en-US" sz="900" dirty="0">
                <a:latin typeface="Calibri" panose="020F0502020204030204" pitchFamily="34" charset="0"/>
              </a:rPr>
              <a:t>Transport to Satu Mare, Romania</a:t>
            </a:r>
          </a:p>
          <a:p>
            <a:pPr marL="171450" indent="-171450">
              <a:buFont typeface="Arial" panose="020B0604020202020204" pitchFamily="34" charset="0"/>
              <a:buChar char="•"/>
            </a:pPr>
            <a:r>
              <a:rPr lang="en-US" sz="900" dirty="0">
                <a:latin typeface="Calibri" panose="020F0502020204030204" pitchFamily="34" charset="0"/>
              </a:rPr>
              <a:t>Reassembly and commissioning at your factory</a:t>
            </a:r>
          </a:p>
          <a:p>
            <a:pPr marL="628650" lvl="1" indent="-171450">
              <a:buFont typeface="Arial" panose="020B0604020202020204" pitchFamily="34" charset="0"/>
              <a:buChar char="•"/>
            </a:pPr>
            <a:r>
              <a:rPr lang="en-US" sz="900" dirty="0">
                <a:latin typeface="Calibri" panose="020F0502020204030204" pitchFamily="34" charset="0"/>
              </a:rPr>
              <a:t>Planned duration for reconstruction and commissioning: approximately 4 weeks</a:t>
            </a:r>
          </a:p>
          <a:p>
            <a:pPr marL="171450" indent="-171450">
              <a:buFont typeface="Arial" panose="020B0604020202020204" pitchFamily="34" charset="0"/>
              <a:buChar char="•"/>
            </a:pPr>
            <a:r>
              <a:rPr lang="en-US" sz="900" dirty="0">
                <a:latin typeface="Calibri" panose="020F0502020204030204" pitchFamily="34" charset="0"/>
              </a:rPr>
              <a:t>Training/instruction of your employees</a:t>
            </a:r>
          </a:p>
          <a:p>
            <a:pPr marL="171450" indent="-171450">
              <a:buFont typeface="Arial" panose="020B0604020202020204" pitchFamily="34" charset="0"/>
              <a:buChar char="•"/>
            </a:pPr>
            <a:r>
              <a:rPr lang="en-US" sz="900" dirty="0">
                <a:latin typeface="Calibri" panose="020F0502020204030204" pitchFamily="34" charset="0"/>
              </a:rPr>
              <a:t>Preparation of documentation</a:t>
            </a:r>
          </a:p>
          <a:p>
            <a:pPr marL="171450" indent="-171450">
              <a:buFont typeface="Arial" panose="020B0604020202020204" pitchFamily="34" charset="0"/>
              <a:buChar char="•"/>
            </a:pPr>
            <a:r>
              <a:rPr lang="en-US" sz="900" dirty="0">
                <a:latin typeface="Calibri" panose="020F0502020204030204" pitchFamily="34" charset="0"/>
              </a:rPr>
              <a:t>Project management</a:t>
            </a:r>
          </a:p>
          <a:p>
            <a:pPr marL="171450" indent="-171450">
              <a:buFont typeface="Arial" panose="020B0604020202020204" pitchFamily="34" charset="0"/>
              <a:buChar char="•"/>
            </a:pPr>
            <a:r>
              <a:rPr lang="en-US" sz="900" dirty="0">
                <a:latin typeface="Calibri" panose="020F0502020204030204" pitchFamily="34" charset="0"/>
              </a:rPr>
              <a:t>Weekly project meetings between Gluth and </a:t>
            </a:r>
            <a:r>
              <a:rPr lang="en-US" sz="900" dirty="0" err="1">
                <a:latin typeface="Calibri" panose="020F0502020204030204" pitchFamily="34" charset="0"/>
              </a:rPr>
              <a:t>Dräxlmeier</a:t>
            </a:r>
            <a:endParaRPr lang="en-US" sz="900" dirty="0">
              <a:latin typeface="Calibri" panose="020F0502020204030204" pitchFamily="34" charset="0"/>
            </a:endParaRPr>
          </a:p>
          <a:p>
            <a:pPr marL="171450" indent="-171450">
              <a:buFont typeface="Arial" panose="020B0604020202020204" pitchFamily="34" charset="0"/>
              <a:buChar char="•"/>
            </a:pPr>
            <a:r>
              <a:rPr lang="en-US" sz="900" dirty="0">
                <a:latin typeface="Calibri" panose="020F0502020204030204" pitchFamily="34" charset="0"/>
              </a:rPr>
              <a:t>Setting up and creating type data for two types each with a cross-section of 16 mm² 25mm², 32mm²</a:t>
            </a:r>
            <a:endParaRPr lang="de-DE" sz="900" dirty="0">
              <a:latin typeface="Calibri" panose="020F0502020204030204" pitchFamily="34" charset="0"/>
            </a:endParaRPr>
          </a:p>
        </p:txBody>
      </p:sp>
    </p:spTree>
    <p:extLst>
      <p:ext uri="{BB962C8B-B14F-4D97-AF65-F5344CB8AC3E}">
        <p14:creationId xmlns:p14="http://schemas.microsoft.com/office/powerpoint/2010/main" val="1122238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576238" y="633416"/>
            <a:ext cx="681148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1" fontAlgn="ctr">
              <a:spcBef>
                <a:spcPts val="1200"/>
              </a:spcBef>
              <a:spcAft>
                <a:spcPts val="900"/>
              </a:spcAft>
            </a:pPr>
            <a:r>
              <a:rPr lang="de-DE" sz="1400" b="1" u="sng" dirty="0" err="1">
                <a:latin typeface="Calibri" panose="020F0502020204030204" pitchFamily="34" charset="0"/>
                <a:ea typeface="Calibri" panose="020F0502020204030204" pitchFamily="34" charset="0"/>
                <a:cs typeface="Calibri" panose="020F0502020204030204" pitchFamily="34" charset="0"/>
              </a:rPr>
              <a:t>Supplies</a:t>
            </a:r>
            <a:r>
              <a:rPr lang="de-DE" sz="1400" b="1" u="sng" dirty="0">
                <a:latin typeface="Calibri" panose="020F0502020204030204" pitchFamily="34" charset="0"/>
                <a:ea typeface="Calibri" panose="020F0502020204030204" pitchFamily="34" charset="0"/>
                <a:cs typeface="Calibri" panose="020F0502020204030204" pitchFamily="34" charset="0"/>
              </a:rPr>
              <a:t> from Dräxlmeier</a:t>
            </a:r>
          </a:p>
          <a:p>
            <a:pPr marL="0" lvl="1" fontAlgn="ctr">
              <a:spcBef>
                <a:spcPts val="1200"/>
              </a:spcBef>
              <a:spcAft>
                <a:spcPts val="900"/>
              </a:spcAft>
            </a:pPr>
            <a:r>
              <a:rPr lang="de-DE" sz="1100" u="sng" dirty="0">
                <a:solidFill>
                  <a:srgbClr val="25363E"/>
                </a:solidFill>
                <a:effectLst/>
                <a:latin typeface="Arial" panose="020B0604020202020204" pitchFamily="34" charset="0"/>
                <a:ea typeface="Times New Roman" panose="02020603050405020304" pitchFamily="18" charset="0"/>
                <a:cs typeface="Arial" panose="020B0604020202020204" pitchFamily="34" charset="0"/>
              </a:rPr>
              <a:t>Im Auftragsfall bitten wir um kostenlose und termingerechte Beistellung von:</a:t>
            </a:r>
            <a:r>
              <a:rPr lang="de-DE" sz="1100" u="none" strike="noStrike" dirty="0">
                <a:solidFill>
                  <a:srgbClr val="25363E"/>
                </a:solidFill>
                <a:effectLst/>
                <a:latin typeface="Arial" panose="020B0604020202020204" pitchFamily="34" charset="0"/>
                <a:ea typeface="Times New Roman" panose="02020603050405020304" pitchFamily="18" charset="0"/>
                <a:cs typeface="Arial" panose="020B0604020202020204" pitchFamily="34" charset="0"/>
              </a:rPr>
              <a:t> </a:t>
            </a:r>
            <a:endParaRPr lang="de-DE" sz="1100" dirty="0">
              <a:solidFill>
                <a:srgbClr val="25363E"/>
              </a:solidFill>
              <a:effectLst/>
              <a:latin typeface="Arial" panose="020B0604020202020204" pitchFamily="34" charset="0"/>
              <a:ea typeface="Times New Roman" panose="02020603050405020304" pitchFamily="18" charset="0"/>
              <a:cs typeface="Times New Roman" panose="02020603050405020304" pitchFamily="18" charset="0"/>
            </a:endParaRP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Aktuelle Zeichnungen  aller Bauteilvarianten</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Musterteile aller Einzelteile und Kabelvarianten auf Coil</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Verbrauchsstoffe (z.B. Lot)</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Musterteile im Fertigungszustand gecrimpt und </a:t>
            </a:r>
            <a:r>
              <a:rPr lang="de-DE" sz="1100" dirty="0" err="1">
                <a:latin typeface="Calibri" panose="020F0502020204030204" pitchFamily="34" charset="0"/>
              </a:rPr>
              <a:t>ungelötet</a:t>
            </a:r>
            <a:endParaRPr lang="de-DE" sz="1100" dirty="0">
              <a:latin typeface="Calibri" panose="020F0502020204030204" pitchFamily="34" charset="0"/>
            </a:endParaRP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Gut/Schlecht-Muster für die Kameraauswahl</a:t>
            </a:r>
          </a:p>
          <a:p>
            <a:pPr marL="28575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Gut/Schlecht Bewertungskatalog für die Kameraauswahl</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2 Stück </a:t>
            </a:r>
            <a:r>
              <a:rPr lang="de-DE" sz="1100" dirty="0" err="1">
                <a:latin typeface="Calibri" panose="020F0502020204030204" pitchFamily="34" charset="0"/>
              </a:rPr>
              <a:t>Crimpwerkzeuge</a:t>
            </a:r>
            <a:r>
              <a:rPr lang="de-DE" sz="1100" dirty="0">
                <a:latin typeface="Calibri" panose="020F0502020204030204" pitchFamily="34" charset="0"/>
              </a:rPr>
              <a:t> je Typ nach konstruktiver Auslegung und Abstimmung zwischen Gluth und Dräxlmeier</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MES-Testsystem oder Onlinezugang</a:t>
            </a:r>
          </a:p>
          <a:p>
            <a:pPr marL="285750" lvl="0"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Bereitstellung der erforderlichen Energieanschlüsse für die Anlagen in Ihrem Haus</a:t>
            </a:r>
          </a:p>
          <a:p>
            <a:pPr marL="742950" lvl="1"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für Pneumatik Versorgung</a:t>
            </a:r>
          </a:p>
          <a:p>
            <a:pPr marL="742950" lvl="1" indent="-285750" fontAlgn="base">
              <a:spcBef>
                <a:spcPct val="0"/>
              </a:spcBef>
              <a:spcAft>
                <a:spcPct val="0"/>
              </a:spcAft>
              <a:buFont typeface="Arial" panose="020B0604020202020204" pitchFamily="34" charset="0"/>
              <a:buChar char="•"/>
              <a:tabLst>
                <a:tab pos="695325" algn="l"/>
              </a:tabLst>
            </a:pPr>
            <a:r>
              <a:rPr lang="de-DE" sz="1100" dirty="0">
                <a:latin typeface="Calibri" panose="020F0502020204030204" pitchFamily="34" charset="0"/>
              </a:rPr>
              <a:t>für die elektrische Versorgung</a:t>
            </a:r>
          </a:p>
          <a:p>
            <a:pPr marL="742950" lvl="1" indent="-285750" fontAlgn="base">
              <a:spcBef>
                <a:spcPct val="0"/>
              </a:spcBef>
              <a:spcAft>
                <a:spcPct val="0"/>
              </a:spcAft>
              <a:buFont typeface="Arial" panose="020B0604020202020204" pitchFamily="34" charset="0"/>
              <a:buChar char="•"/>
              <a:tabLst>
                <a:tab pos="695325" algn="l"/>
              </a:tabLst>
            </a:pPr>
            <a:endParaRPr lang="de-DE" sz="1100" dirty="0">
              <a:latin typeface="Calibri" panose="020F0502020204030204" pitchFamily="34" charset="0"/>
            </a:endParaRPr>
          </a:p>
          <a:p>
            <a:pPr fontAlgn="base">
              <a:spcBef>
                <a:spcPct val="0"/>
              </a:spcBef>
              <a:spcAft>
                <a:spcPct val="0"/>
              </a:spcAft>
              <a:tabLst>
                <a:tab pos="695325" algn="l"/>
              </a:tabLst>
            </a:pPr>
            <a:r>
              <a:rPr lang="en-US" sz="1100" u="sng" dirty="0">
                <a:solidFill>
                  <a:srgbClr val="25363E"/>
                </a:solidFill>
                <a:latin typeface="Arial" panose="020B0604020202020204" pitchFamily="34" charset="0"/>
                <a:cs typeface="Arial" panose="020B0604020202020204" pitchFamily="34" charset="0"/>
              </a:rPr>
              <a:t>When placing an order, we request the following free of charge and on time:</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Current drawings of all component variants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of all individual parts and cable variants on coils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Consumables (e.g., solder)</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in the as-manufactured state, crimped and unsoldered</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samples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evaluation catalog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Two crimping tools per type, based on design and coordination between Gluth and </a:t>
            </a:r>
            <a:r>
              <a:rPr lang="en-US" sz="1100" dirty="0" err="1">
                <a:latin typeface="Calibri" panose="020F0502020204030204" pitchFamily="34" charset="0"/>
              </a:rPr>
              <a:t>Dräxlmeier</a:t>
            </a:r>
            <a:endParaRPr lang="en-US" sz="1100" dirty="0">
              <a:latin typeface="Calibri" panose="020F0502020204030204" pitchFamily="34" charset="0"/>
            </a:endParaRP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MES test system or online access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Provision of the necessary power connections for the systems in your facility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pneumatics supply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electrical supply</a:t>
            </a:r>
            <a:endParaRPr lang="de-DE" sz="11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Beistellungen</a:t>
            </a:r>
          </a:p>
        </p:txBody>
      </p:sp>
    </p:spTree>
    <p:extLst>
      <p:ext uri="{BB962C8B-B14F-4D97-AF65-F5344CB8AC3E}">
        <p14:creationId xmlns:p14="http://schemas.microsoft.com/office/powerpoint/2010/main" val="333188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226820" y="786710"/>
            <a:ext cx="5403125" cy="426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Scope of Documentation: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mechanical documentation is delivered once on a data storage medium in PDF format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Assembly drawings with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Spare and wear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Pneumatic and hydraulic diagrams with parts lists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electrical documentation is delivered once on a data storage medium (CD)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Electrical diagram (EPLAN) with parts lists (additionally once in paper form for the control cabinet)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is delivered once on a data storage medium (CD) and consists of:</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source code</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does not include: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printout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Data flow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general documentation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Operating instructions with EC Declaration of Conformity (1x on paper in a folder)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Accessory documentation as standard documentation from the respective suppliers (1x in PDF)</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Training/Instruction: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instruction of your employees takes place as part of the commissioning over two days at your factory and includes: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safety functions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Operation of the system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the Testing procedures...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Troubleshooting</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Maintenance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We ask that you release your designated specialist personnel and provide support from a German or English speaking employee.</a:t>
            </a:r>
            <a:endParaRPr lang="de-DE" altLang="de-DE" sz="9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5" name="Rectangle 1">
            <a:extLst>
              <a:ext uri="{FF2B5EF4-FFF2-40B4-BE49-F238E27FC236}">
                <a16:creationId xmlns:a16="http://schemas.microsoft.com/office/drawing/2014/main" id="{28202D2B-36EA-94D5-0D05-27AD823CD881}"/>
              </a:ext>
            </a:extLst>
          </p:cNvPr>
          <p:cNvSpPr>
            <a:spLocks noChangeArrowheads="1"/>
          </p:cNvSpPr>
          <p:nvPr/>
        </p:nvSpPr>
        <p:spPr bwMode="auto">
          <a:xfrm>
            <a:off x="6168479" y="786710"/>
            <a:ext cx="5403125"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Language</a:t>
            </a:r>
          </a:p>
          <a:p>
            <a:pPr fontAlgn="ctr"/>
            <a:r>
              <a:rPr lang="en-US" sz="900" dirty="0">
                <a:latin typeface="Calibri" panose="020F0502020204030204" pitchFamily="34" charset="0"/>
                <a:ea typeface="Calibri" panose="020F0502020204030204" pitchFamily="34" charset="0"/>
                <a:cs typeface="Calibri" panose="020F0502020204030204" pitchFamily="34" charset="0"/>
              </a:rPr>
              <a:t>The system is available in German.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The following documents/components are available in Romanian: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instructions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and display texts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Accessory documentation (where available)</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diagram (path designations)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Signage (where international symbols are not possible)</a:t>
            </a:r>
          </a:p>
          <a:p>
            <a:pPr fontAlgn="ctr"/>
            <a:endParaRPr lang="en-US" sz="900" dirty="0">
              <a:latin typeface="Calibri" panose="020F0502020204030204" pitchFamily="34" charset="0"/>
              <a:ea typeface="Calibri" panose="020F0502020204030204" pitchFamily="34" charset="0"/>
              <a:cs typeface="Calibri" panose="020F0502020204030204" pitchFamily="34" charset="0"/>
            </a:endParaRPr>
          </a:p>
          <a:p>
            <a:pPr fontAlgn="ctr"/>
            <a:r>
              <a:rPr lang="en-US" sz="900" dirty="0">
                <a:latin typeface="Calibri" panose="020F0502020204030204" pitchFamily="34" charset="0"/>
                <a:ea typeface="Calibri" panose="020F0502020204030204" pitchFamily="34" charset="0"/>
                <a:cs typeface="Calibri" panose="020F0502020204030204" pitchFamily="34" charset="0"/>
              </a:rPr>
              <a:t>We ask for the assistance of your specialists  to review or complete the translation.</a:t>
            </a:r>
            <a:endParaRPr lang="de-DE" sz="900" dirty="0">
              <a:latin typeface="Calibri" panose="020F0502020204030204" pitchFamily="34" charset="0"/>
              <a:ea typeface="Calibri" panose="020F0502020204030204" pitchFamily="34" charset="0"/>
              <a:cs typeface="Calibri" panose="020F0502020204030204" pitchFamily="34" charset="0"/>
            </a:endParaRPr>
          </a:p>
          <a:p>
            <a:pPr fontAlgn="ctr"/>
            <a:endParaRPr lang="de-DE" sz="900" dirty="0">
              <a:latin typeface="Calibri" panose="020F0502020204030204" pitchFamily="34" charset="0"/>
              <a:ea typeface="Calibri" panose="020F0502020204030204" pitchFamily="34" charset="0"/>
              <a:cs typeface="Calibri" panose="020F0502020204030204" pitchFamily="34" charset="0"/>
            </a:endParaRPr>
          </a:p>
          <a:p>
            <a:r>
              <a:rPr lang="en-US" sz="1400" b="1" u="sng" dirty="0">
                <a:latin typeface="Calibri" panose="020F0502020204030204" pitchFamily="34" charset="0"/>
                <a:ea typeface="Calibri" panose="020F0502020204030204" pitchFamily="34" charset="0"/>
                <a:cs typeface="Calibri" panose="020F0502020204030204" pitchFamily="34" charset="0"/>
              </a:rPr>
              <a:t>Project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appoint a primary project manager who will primarily be responsible for the following tasks: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Central contact for our customer, Gluth internally, and for the suppliers of components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Regular project status reports, as required by the project</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Planning, implementation, and moderation of design FMEAs, as well as software concept discussions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Control of costs and deadlines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of interfaces for components, in particular</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Support in conducting acceptance tests for components (especially interface reviews)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and recording of any changes (change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However, we request support from the relevant departments, particularly with regard to existing process and product experience. This experience should be incorporated, especially in the early project phase. We would also like to point out that the customer is responsible for deadlines for components.</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Technical and organizational changes during the project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If the customer subsequently requests technical or organizational changes that result in an additional charge or a delay in delivery, Gluth will provide a cost estimate or specify the delay.</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Implementation of technical changes requires that the customer has placed an order for them and that Gluth has confirmed this with a corresponding order confirmation or project plan.</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6212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D632A91-C088-789E-E9BF-4F0EAB0048C4}"/>
              </a:ext>
            </a:extLst>
          </p:cNvPr>
          <p:cNvSpPr txBox="1"/>
          <p:nvPr/>
        </p:nvSpPr>
        <p:spPr>
          <a:xfrm>
            <a:off x="635000" y="755740"/>
            <a:ext cx="5730966" cy="4524315"/>
          </a:xfrm>
          <a:prstGeom prst="rect">
            <a:avLst/>
          </a:prstGeom>
          <a:noFill/>
        </p:spPr>
        <p:txBody>
          <a:bodyPr wrap="square">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Service – Maintenance – Liability</a:t>
            </a: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Service Response Time</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qualified specialists will be available on-site within </a:t>
            </a:r>
            <a:r>
              <a:rPr lang="en-US" sz="900" b="1"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two days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to return the system to production status as quickly as possible. This policy applies if the request is received Monday through Thursday between 7:00 am and 4:00 pm. For service calls received after 4:00 pm, the above-mentioned deadline begins at 7:00 am on the following business day. For service calls received on Fridays after 12:15 pm., the above-mentioned deadline begins at 7:00 am on the following Monday, or by arrangement via permanent service telephone numbers.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This response time is only valid for the Satu Mare location.</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company is also available on weekends and public holidays via permanent service telephone numbers. In an </a:t>
            </a:r>
            <a:r>
              <a:rPr lang="en-US" sz="900" u="sng"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emergency</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 we will try to organize the appropriate staff to ensure you receive professional support. If telephone support is not successful, we are also available to carry out emergency service calls on weekends. Necessary, foreseeable assignments on weekends or holidays will be carried out after consultation with you.</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Material Defects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is 24 months, without shift restrictions, beginning on the day of handover to your premises, but no later than four weeks after delivery. For purchased parts, the period begins upon receipt at our premises. Excluded are spare and wear parts, as well as components supplied by the supplier.</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applies only to newly delivered components.</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Assembly Work</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are liable for damages caused by us, our vicarious agents, or our subcontractors within the scope of the statutory provisions with the following liability insurance policies (maximum coverage amounts):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Business and product liability insurance:</a:t>
            </a:r>
          </a:p>
          <a:p>
            <a:pPr marL="351450" indent="-171450">
              <a:buFont typeface="Arial" panose="020B0604020202020204" pitchFamily="34" charset="0"/>
              <a:buChar char="•"/>
            </a:pP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Persoinjury</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and property damage (flat rate) 	EUR 10.000.000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Fire and explosion damage 		EUR   5.000.000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Industrial damage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Financial loss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Environmental liability insurance</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Personal injury and property damage </a:t>
            </a: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nal</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flat rate) EUR 1.500.000</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cannot accept liability for amounts exceeding this amount.</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indent="450215"/>
            <a:endParaRPr lang="de-DE" sz="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33691390-4D44-3063-5500-0C29006C4A30}"/>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2" name="Textfeld 1">
            <a:extLst>
              <a:ext uri="{FF2B5EF4-FFF2-40B4-BE49-F238E27FC236}">
                <a16:creationId xmlns:a16="http://schemas.microsoft.com/office/drawing/2014/main" id="{6747AC91-79EE-9381-5658-A4791E06BE3F}"/>
              </a:ext>
            </a:extLst>
          </p:cNvPr>
          <p:cNvSpPr txBox="1"/>
          <p:nvPr/>
        </p:nvSpPr>
        <p:spPr>
          <a:xfrm>
            <a:off x="6461034" y="973455"/>
            <a:ext cx="5095966" cy="1692771"/>
          </a:xfrm>
          <a:prstGeom prst="rect">
            <a:avLst/>
          </a:prstGeom>
          <a:noFill/>
        </p:spPr>
        <p:txBody>
          <a:bodyPr wrap="square">
            <a:spAutoFit/>
          </a:bodyPr>
          <a:lstStyle/>
          <a:p>
            <a:pPr marL="180000" lvl="1"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Disclaimer </a:t>
            </a:r>
          </a:p>
          <a:p>
            <a:pPr marL="180000" algn="just"/>
            <a:r>
              <a:rPr lang="en-US" sz="900" b="0" i="0" dirty="0">
                <a:solidFill>
                  <a:srgbClr val="3C4043"/>
                </a:solidFill>
                <a:effectLst/>
                <a:latin typeface="Roboto" panose="02000000000000000000" pitchFamily="2" charset="0"/>
              </a:rPr>
              <a:t>We cannot accept liability for damages and consequential damages caused by improper use or tampering with our equipment by the operator. We also generally exclude liability if products manufactured on our equipment do not comply with legal regulations or if their use violates legal regulations.</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r>
              <a:rPr lang="en-US" sz="1400" b="1" u="sng" dirty="0">
                <a:latin typeface="Calibri" panose="020F0502020204030204" pitchFamily="34" charset="0"/>
                <a:ea typeface="Calibri" panose="020F0502020204030204" pitchFamily="34" charset="0"/>
                <a:cs typeface="Calibri" panose="020F0502020204030204" pitchFamily="34" charset="0"/>
              </a:rPr>
              <a:t>Offer Documents </a:t>
            </a:r>
          </a:p>
          <a:p>
            <a:pPr marL="180000" algn="just"/>
            <a:r>
              <a:rPr lang="en-US" sz="900" b="0" i="0" dirty="0">
                <a:solidFill>
                  <a:srgbClr val="3C4043"/>
                </a:solidFill>
                <a:effectLst/>
                <a:latin typeface="Roboto" panose="02000000000000000000" pitchFamily="2" charset="0"/>
              </a:rPr>
              <a:t>All documents provided as part of the offer process remain our property. This applies in particular to layout and concept proposals, as well as presentation materials. Any other use or disclosure to third parties requires our written consent.</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0514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Schedule</a:t>
            </a:r>
          </a:p>
        </p:txBody>
      </p:sp>
      <p:pic>
        <p:nvPicPr>
          <p:cNvPr id="7" name="Grafik 6">
            <a:extLst>
              <a:ext uri="{FF2B5EF4-FFF2-40B4-BE49-F238E27FC236}">
                <a16:creationId xmlns:a16="http://schemas.microsoft.com/office/drawing/2014/main" id="{04E9F535-BDF8-3762-54A5-4F8C76911094}"/>
              </a:ext>
            </a:extLst>
          </p:cNvPr>
          <p:cNvPicPr>
            <a:picLocks noChangeAspect="1"/>
          </p:cNvPicPr>
          <p:nvPr/>
        </p:nvPicPr>
        <p:blipFill>
          <a:blip r:embed="rId2"/>
          <a:stretch>
            <a:fillRect/>
          </a:stretch>
        </p:blipFill>
        <p:spPr>
          <a:xfrm>
            <a:off x="0" y="1766454"/>
            <a:ext cx="12192000" cy="3325091"/>
          </a:xfrm>
          <a:prstGeom prst="rect">
            <a:avLst/>
          </a:prstGeom>
        </p:spPr>
      </p:pic>
    </p:spTree>
    <p:extLst>
      <p:ext uri="{BB962C8B-B14F-4D97-AF65-F5344CB8AC3E}">
        <p14:creationId xmlns:p14="http://schemas.microsoft.com/office/powerpoint/2010/main" val="1778672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Prices</a:t>
            </a:r>
            <a:br>
              <a:rPr lang="de-DE" sz="2000" b="1" dirty="0"/>
            </a:br>
            <a:endParaRPr lang="de-DE" sz="2000" b="1" dirty="0"/>
          </a:p>
        </p:txBody>
      </p:sp>
      <p:sp>
        <p:nvSpPr>
          <p:cNvPr id="4" name="Textfeld 3">
            <a:extLst>
              <a:ext uri="{FF2B5EF4-FFF2-40B4-BE49-F238E27FC236}">
                <a16:creationId xmlns:a16="http://schemas.microsoft.com/office/drawing/2014/main" id="{72C62C39-D6FE-D60B-12E1-5EA4211584E2}"/>
              </a:ext>
            </a:extLst>
          </p:cNvPr>
          <p:cNvSpPr txBox="1"/>
          <p:nvPr/>
        </p:nvSpPr>
        <p:spPr>
          <a:xfrm>
            <a:off x="538336" y="1330569"/>
            <a:ext cx="6647974" cy="3139321"/>
          </a:xfrm>
          <a:prstGeom prst="rect">
            <a:avLst/>
          </a:prstGeom>
          <a:noFill/>
        </p:spPr>
        <p:txBody>
          <a:bodyPr wrap="none" rtlCol="0">
            <a:spAutoFit/>
          </a:bodyPr>
          <a:lstStyle/>
          <a:p>
            <a:pPr>
              <a:tabLst>
                <a:tab pos="5400000" algn="r"/>
              </a:tabLst>
            </a:pPr>
            <a:r>
              <a:rPr lang="de-DE" b="1" dirty="0"/>
              <a:t>Basic </a:t>
            </a:r>
            <a:r>
              <a:rPr lang="de-DE" b="1" dirty="0" err="1"/>
              <a:t>Scope</a:t>
            </a:r>
            <a:r>
              <a:rPr lang="de-DE" b="1" dirty="0"/>
              <a:t> „</a:t>
            </a:r>
            <a:r>
              <a:rPr lang="de-DE" b="1" dirty="0" err="1"/>
              <a:t>Automatic</a:t>
            </a:r>
            <a:r>
              <a:rPr lang="de-DE" b="1" dirty="0"/>
              <a:t> Production Line“	1.764.000 €		</a:t>
            </a:r>
          </a:p>
          <a:p>
            <a:pPr>
              <a:tabLst>
                <a:tab pos="5400000" algn="r"/>
              </a:tabLst>
            </a:pPr>
            <a:r>
              <a:rPr lang="de-DE" dirty="0"/>
              <a:t>Transport and </a:t>
            </a:r>
            <a:r>
              <a:rPr lang="de-DE" dirty="0" err="1"/>
              <a:t>Comissioning</a:t>
            </a:r>
            <a:r>
              <a:rPr lang="de-DE" dirty="0"/>
              <a:t> in Satu Mare	109.000 €</a:t>
            </a:r>
          </a:p>
          <a:p>
            <a:pPr>
              <a:tabLst>
                <a:tab pos="5400000" algn="r"/>
              </a:tabLst>
            </a:pPr>
            <a:r>
              <a:rPr lang="de-DE" dirty="0" err="1"/>
              <a:t>Instruction</a:t>
            </a:r>
            <a:r>
              <a:rPr lang="de-DE" dirty="0"/>
              <a:t> and Training	11.000 €</a:t>
            </a:r>
          </a:p>
          <a:p>
            <a:pPr>
              <a:tabLst>
                <a:tab pos="5400000" algn="r"/>
              </a:tabLst>
            </a:pPr>
            <a:r>
              <a:rPr lang="de-DE" dirty="0" err="1"/>
              <a:t>Documentation</a:t>
            </a:r>
            <a:r>
              <a:rPr lang="de-DE" dirty="0"/>
              <a:t>	23.000 €</a:t>
            </a:r>
          </a:p>
          <a:p>
            <a:pPr>
              <a:tabLst>
                <a:tab pos="5400000" algn="r"/>
              </a:tabLst>
            </a:pPr>
            <a:r>
              <a:rPr lang="de-DE" u="sng" dirty="0"/>
              <a:t>Project Management	88.000 €</a:t>
            </a:r>
          </a:p>
          <a:p>
            <a:pPr>
              <a:tabLst>
                <a:tab pos="5400000" algn="r"/>
              </a:tabLst>
            </a:pPr>
            <a:r>
              <a:rPr lang="de-DE" dirty="0"/>
              <a:t>Summe „Automatik Production Line“	1.995.000 €</a:t>
            </a:r>
          </a:p>
          <a:p>
            <a:pPr>
              <a:tabLst>
                <a:tab pos="5400000" algn="r"/>
              </a:tabLst>
            </a:pPr>
            <a:endParaRPr lang="de-DE" dirty="0"/>
          </a:p>
          <a:p>
            <a:pPr>
              <a:tabLst>
                <a:tab pos="5400000" algn="r"/>
              </a:tabLst>
            </a:pPr>
            <a:endParaRPr lang="de-DE" dirty="0"/>
          </a:p>
          <a:p>
            <a:pPr>
              <a:tabLst>
                <a:tab pos="5400000" algn="r"/>
              </a:tabLst>
            </a:pPr>
            <a:r>
              <a:rPr lang="de-DE" dirty="0"/>
              <a:t>Option 1: Insert </a:t>
            </a:r>
            <a:r>
              <a:rPr lang="de-DE" dirty="0" err="1"/>
              <a:t>Shrink</a:t>
            </a:r>
            <a:r>
              <a:rPr lang="de-DE" dirty="0"/>
              <a:t> </a:t>
            </a:r>
            <a:r>
              <a:rPr lang="de-DE" dirty="0" err="1"/>
              <a:t>Sleeve</a:t>
            </a:r>
            <a:r>
              <a:rPr lang="de-DE" dirty="0"/>
              <a:t>	85.500 €</a:t>
            </a:r>
          </a:p>
          <a:p>
            <a:pPr>
              <a:tabLst>
                <a:tab pos="5400000" algn="r"/>
              </a:tabLst>
            </a:pPr>
            <a:r>
              <a:rPr lang="de-DE" dirty="0"/>
              <a:t>Option 2: </a:t>
            </a:r>
            <a:r>
              <a:rPr lang="de-DE" dirty="0" err="1"/>
              <a:t>Electrical</a:t>
            </a:r>
            <a:r>
              <a:rPr lang="de-DE" dirty="0"/>
              <a:t> </a:t>
            </a:r>
            <a:r>
              <a:rPr lang="de-DE" dirty="0" err="1"/>
              <a:t>Testing</a:t>
            </a:r>
            <a:r>
              <a:rPr lang="de-DE" dirty="0"/>
              <a:t>	66.000 €</a:t>
            </a:r>
          </a:p>
          <a:p>
            <a:pPr>
              <a:tabLst>
                <a:tab pos="5400000" algn="r"/>
              </a:tabLst>
            </a:pPr>
            <a:r>
              <a:rPr lang="de-DE" dirty="0"/>
              <a:t>Option 3: </a:t>
            </a:r>
            <a:r>
              <a:rPr lang="de-DE" dirty="0" err="1"/>
              <a:t>Labeling</a:t>
            </a:r>
            <a:r>
              <a:rPr lang="de-DE" dirty="0"/>
              <a:t>	60.500 €</a:t>
            </a:r>
          </a:p>
        </p:txBody>
      </p:sp>
      <p:sp>
        <p:nvSpPr>
          <p:cNvPr id="6" name="Textfeld 5">
            <a:extLst>
              <a:ext uri="{FF2B5EF4-FFF2-40B4-BE49-F238E27FC236}">
                <a16:creationId xmlns:a16="http://schemas.microsoft.com/office/drawing/2014/main" id="{13B837E8-93F7-9979-EA25-66D0BD5593A3}"/>
              </a:ext>
            </a:extLst>
          </p:cNvPr>
          <p:cNvSpPr txBox="1"/>
          <p:nvPr/>
        </p:nvSpPr>
        <p:spPr>
          <a:xfrm>
            <a:off x="6683079" y="1330569"/>
            <a:ext cx="4970585" cy="4001095"/>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Pricing</a:t>
            </a:r>
          </a:p>
          <a:p>
            <a:r>
              <a:rPr lang="en-US" sz="1200" dirty="0"/>
              <a:t>All prices in euros and subject to statutory VAT.</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a:t>
            </a:r>
          </a:p>
          <a:p>
            <a:r>
              <a:rPr lang="en-US" sz="1200" dirty="0"/>
              <a:t>30% deposit upon order placement </a:t>
            </a:r>
          </a:p>
          <a:p>
            <a:r>
              <a:rPr lang="en-US" sz="1200" dirty="0"/>
              <a:t>60% upon delivery </a:t>
            </a:r>
          </a:p>
          <a:p>
            <a:r>
              <a:rPr lang="en-US" sz="1200" dirty="0"/>
              <a:t>5% upon handover in a ready-to-use condition </a:t>
            </a:r>
          </a:p>
          <a:p>
            <a:r>
              <a:rPr lang="en-US" sz="1200" dirty="0"/>
              <a:t>5% upon acceptance, but no later than 4 weeks after the handover if final acceptance is delayed for reasons attributable to the customer. </a:t>
            </a:r>
          </a:p>
          <a:p>
            <a:r>
              <a:rPr lang="en-US" sz="1200" dirty="0"/>
              <a:t>Note: Upon delivery, we will issue a final invoice for 100% with the corresponding payment terms.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 term: </a:t>
            </a:r>
          </a:p>
          <a:p>
            <a:r>
              <a:rPr lang="en-US" sz="1200" dirty="0"/>
              <a:t>45 days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Offer validity: </a:t>
            </a:r>
          </a:p>
          <a:p>
            <a:r>
              <a:rPr lang="en-US" sz="1200" dirty="0"/>
              <a:t>Our prices have a validity period of 60 days, calculated from the date of offer. </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Delivery:</a:t>
            </a:r>
          </a:p>
          <a:p>
            <a:r>
              <a:rPr lang="en-US" sz="1200" dirty="0"/>
              <a:t>DAP Satu Mare plant</a:t>
            </a:r>
            <a:endParaRPr lang="de-DE" sz="1200" dirty="0"/>
          </a:p>
        </p:txBody>
      </p:sp>
    </p:spTree>
    <p:extLst>
      <p:ext uri="{BB962C8B-B14F-4D97-AF65-F5344CB8AC3E}">
        <p14:creationId xmlns:p14="http://schemas.microsoft.com/office/powerpoint/2010/main" val="838176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126BDD4-5DB3-4687-8192-942F6B154928}"/>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7" name="Rechteck 6">
            <a:extLst>
              <a:ext uri="{FF2B5EF4-FFF2-40B4-BE49-F238E27FC236}">
                <a16:creationId xmlns:a16="http://schemas.microsoft.com/office/drawing/2014/main" id="{9464AB80-4145-4D82-826E-0B9A549CC717}"/>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2" name="Wir sagen…">
            <a:extLst>
              <a:ext uri="{FF2B5EF4-FFF2-40B4-BE49-F238E27FC236}">
                <a16:creationId xmlns:a16="http://schemas.microsoft.com/office/drawing/2014/main" id="{5B1447A0-5512-6461-2ECB-DC74C3C52059}"/>
              </a:ext>
            </a:extLst>
          </p:cNvPr>
          <p:cNvSpPr txBox="1"/>
          <p:nvPr/>
        </p:nvSpPr>
        <p:spPr>
          <a:xfrm>
            <a:off x="1123604" y="1968156"/>
            <a:ext cx="4567773" cy="1190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r>
              <a:rPr lang="de-DE" sz="3691"/>
              <a:t>Danke</a:t>
            </a:r>
            <a:endParaRPr sz="3691" dirty="0"/>
          </a:p>
          <a:p>
            <a:pPr algn="l">
              <a:defRPr sz="7000">
                <a:solidFill>
                  <a:srgbClr val="FFFFFF"/>
                </a:solidFill>
                <a:latin typeface="Gilroy ExtraBold"/>
                <a:ea typeface="Gilroy ExtraBold"/>
                <a:cs typeface="Gilroy ExtraBold"/>
                <a:sym typeface="Gilroy ExtraBold"/>
              </a:defRPr>
            </a:pPr>
            <a:r>
              <a:rPr lang="de-DE" sz="3691">
                <a:solidFill>
                  <a:srgbClr val="4DB8A0"/>
                </a:solidFill>
              </a:rPr>
              <a:t>für die Aufmerksamkeit</a:t>
            </a:r>
            <a:endParaRPr sz="3691" dirty="0">
              <a:solidFill>
                <a:srgbClr val="4DB8A0"/>
              </a:solidFill>
            </a:endParaRPr>
          </a:p>
        </p:txBody>
      </p:sp>
    </p:spTree>
    <p:extLst>
      <p:ext uri="{BB962C8B-B14F-4D97-AF65-F5344CB8AC3E}">
        <p14:creationId xmlns:p14="http://schemas.microsoft.com/office/powerpoint/2010/main" val="1597474846"/>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3-03-06 Präsentation_Vorlage_neu.pptx" id="{0D1DCC39-9FAD-4378-9BC8-F5A16F8B67D6}" vid="{B59B905E-AC12-4106-9A9F-63C4A424157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2023_Präsentation_Vorlage_neu_SCR</Template>
  <TotalTime>0</TotalTime>
  <Words>3863</Words>
  <Application>Microsoft Office PowerPoint</Application>
  <PresentationFormat>Breitbild</PresentationFormat>
  <Paragraphs>732</Paragraphs>
  <Slides>28</Slides>
  <Notes>5</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28</vt:i4>
      </vt:variant>
    </vt:vector>
  </HeadingPairs>
  <TitlesOfParts>
    <vt:vector size="37" baseType="lpstr">
      <vt:lpstr>Arial</vt:lpstr>
      <vt:lpstr>Calibri</vt:lpstr>
      <vt:lpstr>CIDFont+F2</vt:lpstr>
      <vt:lpstr>Gilroy ExtraBold</vt:lpstr>
      <vt:lpstr>Gilroy Light</vt:lpstr>
      <vt:lpstr>Roboto</vt:lpstr>
      <vt:lpstr>Symbol</vt:lpstr>
      <vt:lpstr>Wingdings</vt:lpstr>
      <vt:lpstr>Office-Design</vt:lpstr>
      <vt:lpstr>PowerPoint-Präsentation</vt:lpstr>
      <vt:lpstr>PowerPoint-Präsentation</vt:lpstr>
      <vt:lpstr>Basics</vt:lpstr>
      <vt:lpstr>Basics</vt:lpstr>
      <vt:lpstr>PowerPoint-Präsentation</vt:lpstr>
      <vt:lpstr>Task description</vt:lpstr>
      <vt:lpstr>PowerPoint-Präsentation</vt:lpstr>
      <vt:lpstr>PowerPoint-Präsentation</vt:lpstr>
      <vt:lpstr>PowerPoint-Präsentation</vt:lpstr>
      <vt:lpstr>PowerPoint-Präsentation</vt:lpstr>
      <vt:lpstr>PowerPoint-Präsentation</vt:lpstr>
      <vt:lpstr>PowerPoint-Präsentation</vt:lpstr>
      <vt:lpstr>Insert and cutting Cable</vt:lpstr>
      <vt:lpstr>Crimping Unit</vt:lpstr>
      <vt:lpstr>Bending Unit</vt:lpstr>
      <vt:lpstr>Tinning Unit</vt:lpstr>
      <vt:lpstr>Visual Inspection Terminal</vt:lpstr>
      <vt:lpstr>Change Unit from Terminal 1 to Terminal 2</vt:lpstr>
      <vt:lpstr>Transfer system</vt:lpstr>
      <vt:lpstr>PowerPoint-Präsentation</vt:lpstr>
      <vt:lpstr>PowerPoint-Präsentation</vt:lpstr>
      <vt:lpstr>PowerPoint-Präsentation</vt:lpstr>
      <vt:lpstr>PowerPoint-Präsentation</vt:lpstr>
      <vt:lpstr>PowerPoint-Präsentation</vt:lpstr>
      <vt:lpstr>PowerPoint-Präsentation</vt:lpstr>
      <vt:lpstr>Project Schedule</vt:lpstr>
      <vt:lpstr>Project Prices </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Schano Rudolf</dc:creator>
  <cp:lastModifiedBy>Schötz Florian</cp:lastModifiedBy>
  <cp:revision>220</cp:revision>
  <cp:lastPrinted>2025-05-22T13:30:21Z</cp:lastPrinted>
  <dcterms:created xsi:type="dcterms:W3CDTF">2024-09-30T08:13:36Z</dcterms:created>
  <dcterms:modified xsi:type="dcterms:W3CDTF">2025-07-01T11:18:53Z</dcterms:modified>
</cp:coreProperties>
</file>