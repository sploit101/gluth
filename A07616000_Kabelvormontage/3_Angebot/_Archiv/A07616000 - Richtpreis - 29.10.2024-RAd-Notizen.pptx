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"/>
  </p:notesMasterIdLst>
  <p:sldIdLst>
    <p:sldId id="256" r:id="rId2"/>
    <p:sldId id="1192" r:id="rId3"/>
    <p:sldId id="1199" r:id="rId4"/>
    <p:sldId id="1193" r:id="rId5"/>
    <p:sldId id="1194" r:id="rId6"/>
    <p:sldId id="1196" r:id="rId7"/>
    <p:sldId id="1195" r:id="rId8"/>
    <p:sldId id="1200" r:id="rId9"/>
    <p:sldId id="1197" r:id="rId10"/>
    <p:sldId id="1198" r:id="rId11"/>
    <p:sldId id="1183" r:id="rId1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2597" autoAdjust="0"/>
  </p:normalViewPr>
  <p:slideViewPr>
    <p:cSldViewPr snapToGrid="0">
      <p:cViewPr varScale="1">
        <p:scale>
          <a:sx n="93" d="100"/>
          <a:sy n="93" d="100"/>
        </p:scale>
        <p:origin x="62" y="19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29.10.2024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31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 userDrawn="1"/>
        </p:nvSpPr>
        <p:spPr>
          <a:xfrm>
            <a:off x="10653604" y="367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bg1"/>
              </a:solidFill>
              <a:latin typeface="Gilroy ExtraBold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Projektbezeichnung</a:t>
            </a:r>
            <a:r>
              <a:rPr sz="1000" dirty="0">
                <a:solidFill>
                  <a:srgbClr val="2C3F48"/>
                </a:solidFill>
              </a:rPr>
              <a:t> |</a:t>
            </a:r>
            <a:r>
              <a:rPr sz="1000" dirty="0">
                <a:solidFill>
                  <a:schemeClr val="bg1"/>
                </a:solidFill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29.10.2024</a:t>
            </a:fld>
            <a:endParaRPr sz="1000" dirty="0">
              <a:solidFill>
                <a:schemeClr val="bg1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A07616000</a:t>
            </a:r>
            <a:r>
              <a:rPr sz="1000" dirty="0">
                <a:solidFill>
                  <a:srgbClr val="2C3F48"/>
                </a:solidFill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29.10.2024</a:t>
            </a:fld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0524" y="161538"/>
            <a:ext cx="4656790" cy="265716"/>
          </a:xfrm>
          <a:prstGeom prst="rect">
            <a:avLst/>
          </a:prstGeom>
        </p:spPr>
        <p:txBody>
          <a:bodyPr anchor="t"/>
          <a:lstStyle>
            <a:lvl1pPr algn="ctr"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94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enate.Schandl@draexlmaier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Schano.Rudolf@gluth.eu" TargetMode="External"/><Relationship Id="rId4" Type="http://schemas.openxmlformats.org/officeDocument/2006/relationships/hyperlink" Target="mailto:Levente-istvan.juhasz@draexlmaier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184707" y="448477"/>
            <a:ext cx="9246169" cy="1559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400" dirty="0"/>
              <a:t>A07616000 - Richtpreisangebot</a:t>
            </a: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„</a:t>
            </a:r>
            <a:r>
              <a:rPr lang="de-DE" sz="3691" dirty="0" err="1"/>
              <a:t>Automatic</a:t>
            </a:r>
            <a:r>
              <a:rPr lang="de-DE" sz="3691" dirty="0"/>
              <a:t> </a:t>
            </a:r>
            <a:r>
              <a:rPr lang="de-DE" sz="3691" dirty="0" err="1"/>
              <a:t>production</a:t>
            </a:r>
            <a:r>
              <a:rPr lang="de-DE" sz="3691" dirty="0"/>
              <a:t> </a:t>
            </a:r>
            <a:r>
              <a:rPr lang="de-DE" sz="3691" dirty="0" err="1"/>
              <a:t>line</a:t>
            </a:r>
            <a:r>
              <a:rPr lang="de-DE" sz="3691" dirty="0"/>
              <a:t> </a:t>
            </a:r>
            <a:r>
              <a:rPr lang="de-DE" sz="3691" dirty="0" err="1"/>
              <a:t>for</a:t>
            </a:r>
            <a:r>
              <a:rPr lang="de-DE" sz="3691" dirty="0"/>
              <a:t> </a:t>
            </a:r>
            <a:r>
              <a:rPr lang="de-DE" sz="3691" dirty="0" err="1"/>
              <a:t>wire</a:t>
            </a:r>
            <a:r>
              <a:rPr lang="de-DE" sz="3691" dirty="0"/>
              <a:t> </a:t>
            </a:r>
            <a:r>
              <a:rPr lang="de-DE" sz="3691" dirty="0" err="1"/>
              <a:t>processing</a:t>
            </a:r>
            <a:r>
              <a:rPr lang="de-DE" sz="3691" dirty="0"/>
              <a:t>“</a:t>
            </a:r>
            <a:endParaRPr sz="3691" dirty="0"/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DRÄXLMAIER</a:t>
            </a:r>
            <a:endParaRPr sz="369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184707" y="1982852"/>
            <a:ext cx="5747769" cy="2819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" pitchFamily="2" charset="77"/>
              </a:rPr>
              <a:t>08.10.2024</a:t>
            </a:r>
            <a:endParaRPr lang="de-DE" sz="1055" dirty="0">
              <a:solidFill>
                <a:srgbClr val="FFFFFF"/>
              </a:solidFill>
              <a:latin typeface="Gilroy SemiBold" pitchFamily="2" charset="77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DE69DE-B997-DB3A-3B0C-1CA79381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362" y="2345553"/>
            <a:ext cx="2365808" cy="100268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811D6E-647C-CB14-67B8-20E31FF5BF12}"/>
              </a:ext>
            </a:extLst>
          </p:cNvPr>
          <p:cNvSpPr txBox="1"/>
          <p:nvPr/>
        </p:nvSpPr>
        <p:spPr>
          <a:xfrm>
            <a:off x="1184706" y="3429000"/>
            <a:ext cx="574776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600" b="1" dirty="0">
                <a:solidFill>
                  <a:srgbClr val="FFFFFF"/>
                </a:solidFill>
                <a:latin typeface="Gilroy" pitchFamily="2" charset="77"/>
              </a:rPr>
              <a:t>DRÄXLMAIER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DIS Dräxlmaier Industrial Solutions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84137 Vilsbiburg</a:t>
            </a:r>
            <a:endParaRPr lang="de-DE" sz="1600" dirty="0">
              <a:solidFill>
                <a:srgbClr val="FFFFFF"/>
              </a:solidFill>
              <a:latin typeface="Gilroy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Ansprechpartner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0EDEDA-CEAA-93B9-022A-2435B95725E8}"/>
              </a:ext>
            </a:extLst>
          </p:cNvPr>
          <p:cNvSpPr txBox="1"/>
          <p:nvPr/>
        </p:nvSpPr>
        <p:spPr>
          <a:xfrm>
            <a:off x="597159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DRÄXLMAIER Group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89C27DA-5360-CB37-ABA7-43E87563DE65}"/>
              </a:ext>
            </a:extLst>
          </p:cNvPr>
          <p:cNvSpPr txBox="1"/>
          <p:nvPr/>
        </p:nvSpPr>
        <p:spPr>
          <a:xfrm>
            <a:off x="6326155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Gluth Systemtechnik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34AA5D-9E7B-AC44-DECD-8FF9412EA660}"/>
              </a:ext>
            </a:extLst>
          </p:cNvPr>
          <p:cNvSpPr txBox="1"/>
          <p:nvPr/>
        </p:nvSpPr>
        <p:spPr>
          <a:xfrm>
            <a:off x="727787" y="1978090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Renate Schandl </a:t>
            </a:r>
          </a:p>
          <a:p>
            <a:r>
              <a:rPr lang="de-DE" dirty="0"/>
              <a:t>Einkauf</a:t>
            </a:r>
          </a:p>
          <a:p>
            <a:r>
              <a:rPr lang="de-DE" dirty="0"/>
              <a:t>+49 8741 47 – 3574</a:t>
            </a:r>
          </a:p>
          <a:p>
            <a:r>
              <a:rPr lang="de-DE" dirty="0"/>
              <a:t>+49 152 2800 4115</a:t>
            </a:r>
          </a:p>
          <a:p>
            <a:r>
              <a:rPr lang="de-DE" dirty="0">
                <a:hlinkClick r:id="rId3"/>
              </a:rPr>
              <a:t>Renate.Schandl@draexlmaier.com</a:t>
            </a:r>
            <a:r>
              <a:rPr lang="de-DE" dirty="0"/>
              <a:t>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E3838E1-F39C-B187-AE83-247B096CA9D3}"/>
              </a:ext>
            </a:extLst>
          </p:cNvPr>
          <p:cNvSpPr txBox="1"/>
          <p:nvPr/>
        </p:nvSpPr>
        <p:spPr>
          <a:xfrm>
            <a:off x="727787" y="352892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Juhasz </a:t>
            </a:r>
            <a:r>
              <a:rPr lang="de-DE" b="1" dirty="0" err="1"/>
              <a:t>Levente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+40 723 100 146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2616421-C61E-07A6-12BE-2A0B751691B1}"/>
              </a:ext>
            </a:extLst>
          </p:cNvPr>
          <p:cNvSpPr txBox="1"/>
          <p:nvPr/>
        </p:nvSpPr>
        <p:spPr>
          <a:xfrm>
            <a:off x="727786" y="489556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Roland </a:t>
            </a:r>
            <a:r>
              <a:rPr lang="de-DE" b="1" dirty="0" err="1"/>
              <a:t>Györi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+40 732 723 879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96B7217-41FA-9413-60C9-4BEAAA5BEFBD}"/>
              </a:ext>
            </a:extLst>
          </p:cNvPr>
          <p:cNvSpPr txBox="1"/>
          <p:nvPr/>
        </p:nvSpPr>
        <p:spPr>
          <a:xfrm>
            <a:off x="6410130" y="1974998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Rudolf Schano </a:t>
            </a:r>
          </a:p>
          <a:p>
            <a:r>
              <a:rPr lang="de-DE" dirty="0"/>
              <a:t>Technischer Vertrieb</a:t>
            </a:r>
          </a:p>
          <a:p>
            <a:r>
              <a:rPr lang="de-DE" dirty="0"/>
              <a:t>+49 9424 544 953</a:t>
            </a:r>
          </a:p>
          <a:p>
            <a:r>
              <a:rPr lang="de-DE" dirty="0"/>
              <a:t>+49 151 4026 3053</a:t>
            </a:r>
          </a:p>
          <a:p>
            <a:r>
              <a:rPr lang="de-DE" dirty="0">
                <a:hlinkClick r:id="rId5"/>
              </a:rPr>
              <a:t>Schano.Rudolf@gluth.eu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2756484-44B5-F430-CA7F-43EAAF6AB9E6}"/>
              </a:ext>
            </a:extLst>
          </p:cNvPr>
          <p:cNvSpPr txBox="1"/>
          <p:nvPr/>
        </p:nvSpPr>
        <p:spPr>
          <a:xfrm>
            <a:off x="571420" y="1120676"/>
            <a:ext cx="58582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Lastenheft </a:t>
            </a:r>
            <a:r>
              <a:rPr lang="de-DE" b="1" dirty="0"/>
              <a:t>„</a:t>
            </a:r>
            <a:r>
              <a:rPr lang="de-DE" b="1" dirty="0" err="1"/>
              <a:t>Automatic</a:t>
            </a:r>
            <a:r>
              <a:rPr lang="de-DE" b="1" dirty="0"/>
              <a:t> </a:t>
            </a:r>
            <a:r>
              <a:rPr lang="de-DE" b="1" dirty="0" err="1"/>
              <a:t>production</a:t>
            </a:r>
            <a:r>
              <a:rPr lang="de-DE" b="1" dirty="0"/>
              <a:t> </a:t>
            </a:r>
            <a:r>
              <a:rPr lang="de-DE" b="1" dirty="0" err="1"/>
              <a:t>line</a:t>
            </a:r>
            <a:r>
              <a:rPr lang="de-DE" b="1" dirty="0"/>
              <a:t> </a:t>
            </a:r>
            <a:r>
              <a:rPr lang="de-DE" b="1" dirty="0" err="1"/>
              <a:t>for</a:t>
            </a:r>
            <a:r>
              <a:rPr lang="de-DE" b="1" dirty="0"/>
              <a:t> </a:t>
            </a:r>
            <a:r>
              <a:rPr lang="de-DE" b="1" dirty="0" err="1"/>
              <a:t>wire</a:t>
            </a:r>
            <a:r>
              <a:rPr lang="de-DE" b="1" dirty="0"/>
              <a:t> </a:t>
            </a:r>
            <a:r>
              <a:rPr lang="de-DE" b="1" dirty="0" err="1"/>
              <a:t>processing</a:t>
            </a:r>
            <a:r>
              <a:rPr lang="de-DE" b="1" dirty="0"/>
              <a:t>“ </a:t>
            </a:r>
          </a:p>
          <a:p>
            <a:r>
              <a:rPr lang="de-DE" dirty="0"/>
              <a:t>Version 1.01 vom 27.08.24</a:t>
            </a:r>
          </a:p>
          <a:p>
            <a:endParaRPr lang="de-DE" dirty="0"/>
          </a:p>
          <a:p>
            <a:r>
              <a:rPr lang="de-DE" dirty="0"/>
              <a:t>Taktzeit: &lt; 25 sec.</a:t>
            </a:r>
          </a:p>
          <a:p>
            <a:endParaRPr lang="de-DE" dirty="0"/>
          </a:p>
          <a:p>
            <a:r>
              <a:rPr lang="de-DE" dirty="0"/>
              <a:t>Standort: Rumänien, Satu Mare </a:t>
            </a:r>
          </a:p>
          <a:p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Grundlagen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90DD23-D1CD-CA57-857D-1C5CEB36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15" y="787228"/>
            <a:ext cx="3603077" cy="52835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1826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8CBAC-E2D3-4553-7EFE-46E9E90F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DB7975F-6210-C333-7239-147641C3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244" y="1712768"/>
            <a:ext cx="5091978" cy="247159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C196DB-AFA2-C053-AEE9-8D37975D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96" y="1712768"/>
            <a:ext cx="5613447" cy="252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1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52AF40E-AA4E-FA8E-26BB-29C97651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6" y="923636"/>
            <a:ext cx="4023016" cy="155834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0E07711-F548-574D-CC7F-976217092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25" y="2914362"/>
            <a:ext cx="3905257" cy="292330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D557940-D1A5-FEF7-9E7B-61033A9D9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070" y="1126836"/>
            <a:ext cx="3859061" cy="28910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390CC2E-5D19-7C7D-8E8A-281F69546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472" y="4071147"/>
            <a:ext cx="3789836" cy="129518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397652D8-7311-D91E-65FD-D9A02B50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</p:spTree>
    <p:extLst>
      <p:ext uri="{BB962C8B-B14F-4D97-AF65-F5344CB8AC3E}">
        <p14:creationId xmlns:p14="http://schemas.microsoft.com/office/powerpoint/2010/main" val="3838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1</a:t>
            </a:r>
            <a:br>
              <a:rPr lang="de-DE" sz="2000" b="1" dirty="0"/>
            </a:br>
            <a:endParaRPr lang="de-DE" sz="2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086" y="754087"/>
            <a:ext cx="8048481" cy="53498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74594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1:</a:t>
            </a:r>
          </a:p>
          <a:p>
            <a:r>
              <a:rPr lang="de-DE" b="1" dirty="0"/>
              <a:t>„Vollautomatisiert“</a:t>
            </a:r>
          </a:p>
          <a:p>
            <a:r>
              <a:rPr lang="de-DE" sz="1400" i="1" dirty="0"/>
              <a:t>Vorgaben laut Lastenheft</a:t>
            </a:r>
          </a:p>
          <a:p>
            <a:endParaRPr lang="de-DE" sz="1400" i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8: Automatisch</a:t>
            </a:r>
          </a:p>
        </p:txBody>
      </p:sp>
    </p:spTree>
    <p:extLst>
      <p:ext uri="{BB962C8B-B14F-4D97-AF65-F5344CB8AC3E}">
        <p14:creationId xmlns:p14="http://schemas.microsoft.com/office/powerpoint/2010/main" val="168453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2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8084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2:</a:t>
            </a:r>
          </a:p>
          <a:p>
            <a:r>
              <a:rPr lang="de-DE" b="1" dirty="0"/>
              <a:t>„Teilautomatisiert“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Automatisch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750E5D-8209-FC5D-739B-38D7BF8F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09" y="754087"/>
            <a:ext cx="8138812" cy="53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3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3270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3: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Handzuführungen“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A916E8-80DF-8075-8E5B-756530D5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33" y="686786"/>
            <a:ext cx="7948891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11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4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7627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Variante 4: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kpl. manuellen Bauteilhandling“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  <a:br>
              <a:rPr lang="de-DE" b="1" dirty="0"/>
            </a:br>
            <a:endParaRPr lang="de-DE" b="1" dirty="0"/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endParaRPr lang="de-DE" b="1" dirty="0"/>
          </a:p>
          <a:p>
            <a:r>
              <a:rPr lang="de-DE" b="1" dirty="0"/>
              <a:t>Ausgabe Station 8: Manuell</a:t>
            </a:r>
          </a:p>
          <a:p>
            <a:endParaRPr lang="de-DE" b="1" dirty="0"/>
          </a:p>
          <a:p>
            <a:r>
              <a:rPr lang="de-DE" b="1" dirty="0"/>
              <a:t>Manuelles Verschieben Werkstückträger</a:t>
            </a:r>
          </a:p>
          <a:p>
            <a:endParaRPr lang="de-DE" b="1" dirty="0"/>
          </a:p>
          <a:p>
            <a:r>
              <a:rPr lang="de-DE" b="1" dirty="0"/>
              <a:t>Manuelle Rückführung leerer Werkstückträger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9BE739-1082-1875-1D9A-4A9F1B7C5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07" y="655811"/>
            <a:ext cx="7762787" cy="544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07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B2710CF3-13A0-BAC4-307D-1F9FAE60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Richtpreise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C62C39-D6FE-D60B-12E1-5EA4211584E2}"/>
              </a:ext>
            </a:extLst>
          </p:cNvPr>
          <p:cNvSpPr txBox="1"/>
          <p:nvPr/>
        </p:nvSpPr>
        <p:spPr>
          <a:xfrm>
            <a:off x="538336" y="844762"/>
            <a:ext cx="84946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/>
              <a:t>Richtpreis je nach Ausbauvariante</a:t>
            </a:r>
          </a:p>
          <a:p>
            <a:endParaRPr lang="de-DE" b="1" dirty="0"/>
          </a:p>
          <a:p>
            <a:r>
              <a:rPr lang="de-DE" b="1" dirty="0"/>
              <a:t>Variante 1 „Vollautomatisiert“:		 		ca. 1.250.000 €</a:t>
            </a:r>
          </a:p>
          <a:p>
            <a:r>
              <a:rPr lang="de-DE" b="1" dirty="0"/>
              <a:t>Variante 2 „Teilautomatisiert“:	 			ca. 1.130.000 €</a:t>
            </a:r>
          </a:p>
          <a:p>
            <a:r>
              <a:rPr lang="de-DE" b="1" dirty="0"/>
              <a:t>Variante 3 „Teilautomatisiert mit Handzuführung“:		ca. 1.025.000 €</a:t>
            </a:r>
          </a:p>
          <a:p>
            <a:r>
              <a:rPr lang="de-DE" b="1" dirty="0"/>
              <a:t>Variante 4 „Teilautomatisiert mit kpl. manuellen Bauteilhandling: 	ca.    895.000 €	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15E5ED-F7DC-42D6-E9B6-1C349FF5CBA9}"/>
              </a:ext>
            </a:extLst>
          </p:cNvPr>
          <p:cNvSpPr txBox="1"/>
          <p:nvPr/>
        </p:nvSpPr>
        <p:spPr>
          <a:xfrm>
            <a:off x="538336" y="5816795"/>
            <a:ext cx="74579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/>
              <a:t>Hinweis:</a:t>
            </a:r>
          </a:p>
          <a:p>
            <a:r>
              <a:rPr lang="de-DE" sz="1200" i="1" dirty="0"/>
              <a:t>Aktuell noch geschätzte Preise, da die Abklärungen mit den Prozessen Abisolieren, Crimpen, Biegen, Löten und Prüfen</a:t>
            </a:r>
          </a:p>
          <a:p>
            <a:r>
              <a:rPr lang="de-DE" sz="1200" i="1" dirty="0"/>
              <a:t>noch nicht abgeschlossen ist. </a:t>
            </a:r>
          </a:p>
          <a:p>
            <a:r>
              <a:rPr lang="de-DE" sz="1200" i="1" dirty="0"/>
              <a:t>Eine Technische Durchsprache der einzelnen Prozesse fand noch nicht statt.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D08746-8BEC-8496-133E-4C2687E0EE5B}"/>
              </a:ext>
            </a:extLst>
          </p:cNvPr>
          <p:cNvSpPr txBox="1"/>
          <p:nvPr/>
        </p:nvSpPr>
        <p:spPr>
          <a:xfrm>
            <a:off x="538336" y="2858529"/>
            <a:ext cx="73118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u="sng" dirty="0"/>
              <a:t>Der Richtpreis beinhaltet: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Mechanischen Konstruktion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Erstellen der Hardwareplanung und der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Beschaffung der Kauf- und Fertigungsteile (Mechanisch und Elektrisch)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Montage mit elektrischer, pneumatischer Installation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Endmontage und Inbetriebnahme sowie Vorabnahme der Anlage bei uns im Hause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Demontage und Verladen auf LKW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Wiederaufbau und Inbetriebnahme in Ihrem Werk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Schulung/Einweisung Ihrer Mitarbeiter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Erstellung der Dokumentationsunterlagen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i="1" dirty="0"/>
              <a:t>Projektmanagement</a:t>
            </a:r>
          </a:p>
        </p:txBody>
      </p:sp>
    </p:spTree>
    <p:extLst>
      <p:ext uri="{BB962C8B-B14F-4D97-AF65-F5344CB8AC3E}">
        <p14:creationId xmlns:p14="http://schemas.microsoft.com/office/powerpoint/2010/main" val="83817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567773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/>
              <a:t>Danke</a:t>
            </a:r>
            <a:endParaRPr sz="3691" dirty="0"/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>
                <a:solidFill>
                  <a:srgbClr val="4DB8A0"/>
                </a:solidFill>
              </a:rPr>
              <a:t>für die Aufmerksamkeit</a:t>
            </a:r>
            <a:endParaRPr sz="3691" dirty="0">
              <a:solidFill>
                <a:srgbClr val="4DB8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3-03-06 Präsentation_Vorlage_neu.pptx" id="{0D1DCC39-9FAD-4378-9BC8-F5A16F8B67D6}" vid="{B59B905E-AC12-4106-9A9F-63C4A42415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2023_Präsentation_Vorlage_neu_SCR</Template>
  <TotalTime>0</TotalTime>
  <Words>422</Words>
  <Application>Microsoft Office PowerPoint</Application>
  <PresentationFormat>Breitbild</PresentationFormat>
  <Paragraphs>107</Paragraphs>
  <Slides>11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Arial</vt:lpstr>
      <vt:lpstr>Calibri</vt:lpstr>
      <vt:lpstr>Gilroy</vt:lpstr>
      <vt:lpstr>Gilroy ExtraBold</vt:lpstr>
      <vt:lpstr>Gilroy Light</vt:lpstr>
      <vt:lpstr>Gilroy SemiBold</vt:lpstr>
      <vt:lpstr>Office-Design</vt:lpstr>
      <vt:lpstr>PowerPoint-Präsentation</vt:lpstr>
      <vt:lpstr>Ansprechpartner</vt:lpstr>
      <vt:lpstr>Grundlagen</vt:lpstr>
      <vt:lpstr>Aufgabenbeschreibung</vt:lpstr>
      <vt:lpstr>Aufgabenbeschreibung</vt:lpstr>
      <vt:lpstr>Variante 1 </vt:lpstr>
      <vt:lpstr>Variante 2 </vt:lpstr>
      <vt:lpstr>Variante 3 </vt:lpstr>
      <vt:lpstr>Variante 4 </vt:lpstr>
      <vt:lpstr>Richtpreise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Schano Rudolf</dc:creator>
  <cp:lastModifiedBy>Radlbeck Ulrich</cp:lastModifiedBy>
  <cp:revision>13</cp:revision>
  <cp:lastPrinted>2023-03-03T08:30:24Z</cp:lastPrinted>
  <dcterms:created xsi:type="dcterms:W3CDTF">2024-09-30T08:13:36Z</dcterms:created>
  <dcterms:modified xsi:type="dcterms:W3CDTF">2024-10-29T11:11:35Z</dcterms:modified>
</cp:coreProperties>
</file>