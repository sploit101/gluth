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7"/>
  </p:notesMasterIdLst>
  <p:sldIdLst>
    <p:sldId id="256" r:id="rId2"/>
    <p:sldId id="1192" r:id="rId3"/>
    <p:sldId id="1193" r:id="rId4"/>
    <p:sldId id="1195" r:id="rId5"/>
    <p:sldId id="1194" r:id="rId6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2C3F48"/>
    <a:srgbClr val="4DB8A0"/>
    <a:srgbClr val="FF6600"/>
    <a:srgbClr val="64CF95"/>
    <a:srgbClr val="8ED2C3"/>
    <a:srgbClr val="16B75F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2597" autoAdjust="0"/>
  </p:normalViewPr>
  <p:slideViewPr>
    <p:cSldViewPr snapToGrid="0">
      <p:cViewPr varScale="1">
        <p:scale>
          <a:sx n="110" d="100"/>
          <a:sy n="110" d="100"/>
        </p:scale>
        <p:origin x="114" y="9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401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00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8950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b="1" smtClean="0">
                <a:solidFill>
                  <a:schemeClr val="bg1"/>
                </a:solidFill>
                <a:latin typeface="+mj-lt"/>
              </a:rPr>
              <a:t>‹Nr.›</a:t>
            </a:fld>
            <a:endParaRPr lang="de-DE" sz="1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Projektbezeichnung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</a:t>
            </a:r>
            <a:r>
              <a:rPr sz="1000" dirty="0">
                <a:solidFill>
                  <a:schemeClr val="bg1"/>
                </a:solidFill>
                <a:latin typeface="+mj-lt"/>
              </a:rPr>
              <a:t> </a:t>
            </a:r>
            <a:fld id="{CAC0FAC3-4F51-4337-9266-2CDA171E87B2}" type="datetime1">
              <a:rPr lang="de-DE" sz="1000" smtClean="0">
                <a:solidFill>
                  <a:schemeClr val="bg1"/>
                </a:solidFill>
                <a:latin typeface="+mj-lt"/>
                <a:ea typeface="Gilroy ExtraBold"/>
                <a:cs typeface="Gilroy ExtraBold"/>
                <a:sym typeface="Gilroy ExtraBold"/>
              </a:rPr>
              <a:t>24.04.2025</a:t>
            </a:fld>
            <a:endParaRPr sz="1000" dirty="0">
              <a:solidFill>
                <a:schemeClr val="bg1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896102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A07616000A – Automatische Kabelkonfektionierung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+mj-lt"/>
                <a:ea typeface="Gilroy ExtraBold"/>
                <a:cs typeface="Gilroy ExtraBold"/>
                <a:sym typeface="Gilroy ExtraBold"/>
              </a:rPr>
              <a:t>24.04.2025</a:t>
            </a:fld>
            <a:endParaRPr sz="1000" dirty="0">
              <a:solidFill>
                <a:srgbClr val="4DB8A0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b="1" smtClean="0">
                <a:solidFill>
                  <a:srgbClr val="2C3F48"/>
                </a:solidFill>
                <a:latin typeface="+mj-lt"/>
              </a:rPr>
              <a:t>‹Nr.›</a:t>
            </a:fld>
            <a:endParaRPr lang="de-DE" sz="1000" b="1" dirty="0">
              <a:solidFill>
                <a:srgbClr val="2C3F48"/>
              </a:solidFill>
              <a:latin typeface="+mj-lt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3687" y="121782"/>
            <a:ext cx="6909683" cy="284849"/>
          </a:xfrm>
          <a:prstGeom prst="rect">
            <a:avLst/>
          </a:prstGeom>
        </p:spPr>
        <p:txBody>
          <a:bodyPr anchor="t"/>
          <a:lstStyle>
            <a:lvl1pPr algn="ctr">
              <a:defRPr lang="de-DE" sz="1600" kern="1200" dirty="0">
                <a:solidFill>
                  <a:srgbClr val="2C3F48"/>
                </a:solidFill>
                <a:latin typeface="+mj-lt"/>
                <a:ea typeface="Gilroy Light"/>
                <a:cs typeface="Gilroy Light"/>
              </a:defRPr>
            </a:lvl1pPr>
          </a:lstStyle>
          <a:p>
            <a:r>
              <a:rPr lang="de-DE" dirty="0"/>
              <a:t>Folientitel</a:t>
            </a:r>
          </a:p>
        </p:txBody>
      </p:sp>
      <p:pic>
        <p:nvPicPr>
          <p:cNvPr id="4" name="Grafik 3" descr="Ein Bild, das Dunkelheit, Screenshot, Muster, Schwarz enthält.&#10;&#10;Automatisch generierte Beschreibung">
            <a:extLst>
              <a:ext uri="{FF2B5EF4-FFF2-40B4-BE49-F238E27FC236}">
                <a16:creationId xmlns:a16="http://schemas.microsoft.com/office/drawing/2014/main" id="{F7D7AE5E-5A0C-DB66-824E-3C5B17CB86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000" y="0"/>
            <a:ext cx="2520000" cy="2280617"/>
          </a:xfrm>
          <a:prstGeom prst="rect">
            <a:avLst/>
          </a:prstGeom>
        </p:spPr>
      </p:pic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ED6144C0-0872-049D-2989-A14B89128B0C}"/>
              </a:ext>
            </a:extLst>
          </p:cNvPr>
          <p:cNvCxnSpPr>
            <a:cxnSpLocks/>
          </p:cNvCxnSpPr>
          <p:nvPr userDrawn="1"/>
        </p:nvCxnSpPr>
        <p:spPr>
          <a:xfrm>
            <a:off x="549566" y="446389"/>
            <a:ext cx="9278015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40000" dist="12700" dir="540000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39E30ABF-7ED5-3B2D-22C1-3EB9EAFEA898}"/>
              </a:ext>
            </a:extLst>
          </p:cNvPr>
          <p:cNvSpPr/>
          <p:nvPr userDrawn="1"/>
        </p:nvSpPr>
        <p:spPr>
          <a:xfrm>
            <a:off x="8003263" y="4744016"/>
            <a:ext cx="3413157" cy="11431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170BC548-3C33-F6FF-398D-9104D5B898F2}"/>
              </a:ext>
            </a:extLst>
          </p:cNvPr>
          <p:cNvSpPr txBox="1"/>
          <p:nvPr/>
        </p:nvSpPr>
        <p:spPr>
          <a:xfrm>
            <a:off x="1240125" y="762453"/>
            <a:ext cx="4997762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Anfrage </a:t>
            </a:r>
            <a:r>
              <a:rPr lang="de-DE" sz="3691" dirty="0" err="1">
                <a:latin typeface="+mj-lt"/>
              </a:rPr>
              <a:t>Kabelablängen</a:t>
            </a:r>
            <a:endParaRPr sz="3691" dirty="0">
              <a:latin typeface="+mj-lt"/>
            </a:endParaRPr>
          </a:p>
          <a:p>
            <a:pPr algn="l">
              <a:defRPr sz="700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Fa. Metzner</a:t>
            </a:r>
            <a:endParaRPr sz="369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1DD6D-6B7D-4ADE-BFD9-804B91EC9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5812" y="108812"/>
            <a:ext cx="5234834" cy="284849"/>
          </a:xfrm>
        </p:spPr>
        <p:txBody>
          <a:bodyPr/>
          <a:lstStyle/>
          <a:p>
            <a:r>
              <a:rPr lang="de-DE" sz="1600" dirty="0">
                <a:latin typeface="+mj-lt"/>
              </a:rPr>
              <a:t>Aufgabenstellung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0B88FAC-0350-06A3-5BA8-8966ED41527F}"/>
              </a:ext>
            </a:extLst>
          </p:cNvPr>
          <p:cNvSpPr txBox="1"/>
          <p:nvPr/>
        </p:nvSpPr>
        <p:spPr>
          <a:xfrm>
            <a:off x="609600" y="752272"/>
            <a:ext cx="8151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Herstellen einer Anlage zur automatischen Konfektionierung und Prüfung von Kabeln.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576C94B-8B99-0BF4-A510-C2EC29CA1AC9}"/>
              </a:ext>
            </a:extLst>
          </p:cNvPr>
          <p:cNvSpPr txBox="1"/>
          <p:nvPr/>
        </p:nvSpPr>
        <p:spPr>
          <a:xfrm>
            <a:off x="609600" y="1264771"/>
            <a:ext cx="8151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Auszüge aus dem Lastenheft: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201C445-79BC-BA23-75BB-829D481AC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14937"/>
            <a:ext cx="4704421" cy="93402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65BEBA5-5659-16B4-F9F4-8917C168C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5401"/>
            <a:ext cx="4210289" cy="74441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DF22B8E-EE4A-455F-333C-ACAFC3E96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309042"/>
            <a:ext cx="4343964" cy="195683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4CD9896-3855-DF05-232E-F8AD6DA5D5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1677" y="2892264"/>
            <a:ext cx="5613728" cy="327297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6ACE915-A017-3E87-5904-09461B7C1C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272" y="2580356"/>
            <a:ext cx="2754319" cy="485814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1EBCB9B-611D-4073-67B7-FD53C30467E9}"/>
              </a:ext>
            </a:extLst>
          </p:cNvPr>
          <p:cNvSpPr txBox="1"/>
          <p:nvPr/>
        </p:nvSpPr>
        <p:spPr>
          <a:xfrm>
            <a:off x="4685489" y="6374464"/>
            <a:ext cx="22729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009900"/>
                </a:solidFill>
              </a:rPr>
              <a:t>Geändert: 170 … 1500 mm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4A132A2-CAE0-C592-56CB-F9F50549C83A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2420983" y="5859898"/>
            <a:ext cx="2264506" cy="645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CD823966-8146-D86E-0BEE-224BDD5208AB}"/>
              </a:ext>
            </a:extLst>
          </p:cNvPr>
          <p:cNvSpPr txBox="1"/>
          <p:nvPr/>
        </p:nvSpPr>
        <p:spPr>
          <a:xfrm>
            <a:off x="3293994" y="2657548"/>
            <a:ext cx="2737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009900"/>
                </a:solidFill>
              </a:rPr>
              <a:t>Geändert: 170 … 1500 mm</a:t>
            </a:r>
          </a:p>
        </p:txBody>
      </p:sp>
    </p:spTree>
    <p:extLst>
      <p:ext uri="{BB962C8B-B14F-4D97-AF65-F5344CB8AC3E}">
        <p14:creationId xmlns:p14="http://schemas.microsoft.com/office/powerpoint/2010/main" val="168888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1DD6D-6B7D-4ADE-BFD9-804B91EC9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5812" y="108812"/>
            <a:ext cx="5234834" cy="284849"/>
          </a:xfrm>
        </p:spPr>
        <p:txBody>
          <a:bodyPr/>
          <a:lstStyle/>
          <a:p>
            <a:r>
              <a:rPr lang="de-DE" sz="1600" dirty="0">
                <a:latin typeface="+mj-lt"/>
              </a:rPr>
              <a:t>Konzept Kabelzuführung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A5637513-AC75-69BC-6382-C20131D0DF9F}"/>
              </a:ext>
            </a:extLst>
          </p:cNvPr>
          <p:cNvSpPr/>
          <p:nvPr/>
        </p:nvSpPr>
        <p:spPr>
          <a:xfrm>
            <a:off x="2734595" y="1732095"/>
            <a:ext cx="2147303" cy="74370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Cut &amp; Strip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0FFA7DD-205B-A730-B9CC-19FBE95EAAFA}"/>
              </a:ext>
            </a:extLst>
          </p:cNvPr>
          <p:cNvGrpSpPr/>
          <p:nvPr/>
        </p:nvGrpSpPr>
        <p:grpSpPr>
          <a:xfrm rot="5400000">
            <a:off x="10400929" y="1680732"/>
            <a:ext cx="766368" cy="1861939"/>
            <a:chOff x="10373946" y="1567061"/>
            <a:chExt cx="766368" cy="1861939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0E41EAE4-AE4B-D866-3BBA-D481EBCECD8D}"/>
                </a:ext>
              </a:extLst>
            </p:cNvPr>
            <p:cNvGrpSpPr/>
            <p:nvPr/>
          </p:nvGrpSpPr>
          <p:grpSpPr>
            <a:xfrm>
              <a:off x="10373946" y="1654823"/>
              <a:ext cx="766368" cy="1774177"/>
              <a:chOff x="2794873" y="734073"/>
              <a:chExt cx="1658891" cy="3840410"/>
            </a:xfrm>
          </p:grpSpPr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34EC0C83-07D2-3874-E379-8506E2A42F0E}"/>
                  </a:ext>
                </a:extLst>
              </p:cNvPr>
              <p:cNvSpPr/>
              <p:nvPr/>
            </p:nvSpPr>
            <p:spPr>
              <a:xfrm>
                <a:off x="2926092" y="734073"/>
                <a:ext cx="71437" cy="285892"/>
              </a:xfrm>
              <a:prstGeom prst="rect">
                <a:avLst/>
              </a:prstGeom>
              <a:solidFill>
                <a:srgbClr val="FF9900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349E6094-A82A-3925-02E4-791274647D0B}"/>
                  </a:ext>
                </a:extLst>
              </p:cNvPr>
              <p:cNvSpPr/>
              <p:nvPr/>
            </p:nvSpPr>
            <p:spPr>
              <a:xfrm>
                <a:off x="2876775" y="1019964"/>
                <a:ext cx="170071" cy="3554519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B285CC2B-0004-E706-E548-70DE86B06E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2114" y="1864361"/>
                <a:ext cx="786494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D6CA0433-B5BF-6D14-2447-03E3199BA6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2114" y="2255387"/>
                <a:ext cx="786494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5A387155-96B4-F0E1-2113-758EDA881206}"/>
                  </a:ext>
                </a:extLst>
              </p:cNvPr>
              <p:cNvSpPr/>
              <p:nvPr/>
            </p:nvSpPr>
            <p:spPr>
              <a:xfrm>
                <a:off x="4363452" y="1864361"/>
                <a:ext cx="90312" cy="400783"/>
              </a:xfrm>
              <a:custGeom>
                <a:avLst/>
                <a:gdLst>
                  <a:gd name="connsiteX0" fmla="*/ 36095 w 90312"/>
                  <a:gd name="connsiteY0" fmla="*/ 0 h 400783"/>
                  <a:gd name="connsiteX1" fmla="*/ 30079 w 90312"/>
                  <a:gd name="connsiteY1" fmla="*/ 36095 h 400783"/>
                  <a:gd name="connsiteX2" fmla="*/ 18047 w 90312"/>
                  <a:gd name="connsiteY2" fmla="*/ 114300 h 400783"/>
                  <a:gd name="connsiteX3" fmla="*/ 6016 w 90312"/>
                  <a:gd name="connsiteY3" fmla="*/ 144379 h 400783"/>
                  <a:gd name="connsiteX4" fmla="*/ 0 w 90312"/>
                  <a:gd name="connsiteY4" fmla="*/ 162426 h 400783"/>
                  <a:gd name="connsiteX5" fmla="*/ 12031 w 90312"/>
                  <a:gd name="connsiteY5" fmla="*/ 180474 h 400783"/>
                  <a:gd name="connsiteX6" fmla="*/ 60158 w 90312"/>
                  <a:gd name="connsiteY6" fmla="*/ 204537 h 400783"/>
                  <a:gd name="connsiteX7" fmla="*/ 84221 w 90312"/>
                  <a:gd name="connsiteY7" fmla="*/ 240632 h 400783"/>
                  <a:gd name="connsiteX8" fmla="*/ 90237 w 90312"/>
                  <a:gd name="connsiteY8" fmla="*/ 258679 h 400783"/>
                  <a:gd name="connsiteX9" fmla="*/ 72189 w 90312"/>
                  <a:gd name="connsiteY9" fmla="*/ 354932 h 400783"/>
                  <a:gd name="connsiteX10" fmla="*/ 60158 w 90312"/>
                  <a:gd name="connsiteY10" fmla="*/ 372979 h 400783"/>
                  <a:gd name="connsiteX11" fmla="*/ 30079 w 90312"/>
                  <a:gd name="connsiteY11" fmla="*/ 391026 h 400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0312" h="400783">
                    <a:moveTo>
                      <a:pt x="36095" y="0"/>
                    </a:moveTo>
                    <a:cubicBezTo>
                      <a:pt x="34090" y="12032"/>
                      <a:pt x="31804" y="24020"/>
                      <a:pt x="30079" y="36095"/>
                    </a:cubicBezTo>
                    <a:cubicBezTo>
                      <a:pt x="27410" y="54777"/>
                      <a:pt x="24315" y="93407"/>
                      <a:pt x="18047" y="114300"/>
                    </a:cubicBezTo>
                    <a:cubicBezTo>
                      <a:pt x="14944" y="124643"/>
                      <a:pt x="9808" y="134268"/>
                      <a:pt x="6016" y="144379"/>
                    </a:cubicBezTo>
                    <a:cubicBezTo>
                      <a:pt x="3790" y="150316"/>
                      <a:pt x="2005" y="156410"/>
                      <a:pt x="0" y="162426"/>
                    </a:cubicBezTo>
                    <a:cubicBezTo>
                      <a:pt x="4010" y="168442"/>
                      <a:pt x="6108" y="176328"/>
                      <a:pt x="12031" y="180474"/>
                    </a:cubicBezTo>
                    <a:cubicBezTo>
                      <a:pt x="26725" y="190760"/>
                      <a:pt x="60158" y="204537"/>
                      <a:pt x="60158" y="204537"/>
                    </a:cubicBezTo>
                    <a:cubicBezTo>
                      <a:pt x="68179" y="216569"/>
                      <a:pt x="77198" y="227992"/>
                      <a:pt x="84221" y="240632"/>
                    </a:cubicBezTo>
                    <a:cubicBezTo>
                      <a:pt x="87301" y="246175"/>
                      <a:pt x="90237" y="252338"/>
                      <a:pt x="90237" y="258679"/>
                    </a:cubicBezTo>
                    <a:cubicBezTo>
                      <a:pt x="90237" y="312608"/>
                      <a:pt x="92509" y="319372"/>
                      <a:pt x="72189" y="354932"/>
                    </a:cubicBezTo>
                    <a:cubicBezTo>
                      <a:pt x="68602" y="361209"/>
                      <a:pt x="65712" y="368350"/>
                      <a:pt x="60158" y="372979"/>
                    </a:cubicBezTo>
                    <a:cubicBezTo>
                      <a:pt x="-19699" y="439528"/>
                      <a:pt x="59277" y="361833"/>
                      <a:pt x="30079" y="39102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7DC964CF-4B58-B728-FE86-634654406FC6}"/>
                  </a:ext>
                </a:extLst>
              </p:cNvPr>
              <p:cNvSpPr/>
              <p:nvPr/>
            </p:nvSpPr>
            <p:spPr>
              <a:xfrm>
                <a:off x="3458670" y="937354"/>
                <a:ext cx="170072" cy="25013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10DDBCB0-9688-094C-90AB-F04415DC39D2}"/>
                  </a:ext>
                </a:extLst>
              </p:cNvPr>
              <p:cNvSpPr/>
              <p:nvPr/>
            </p:nvSpPr>
            <p:spPr>
              <a:xfrm>
                <a:off x="3276942" y="1245563"/>
                <a:ext cx="181728" cy="15480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EF0C12D8-2BEB-25C2-205D-C21182D8E12D}"/>
                  </a:ext>
                </a:extLst>
              </p:cNvPr>
              <p:cNvSpPr/>
              <p:nvPr/>
            </p:nvSpPr>
            <p:spPr>
              <a:xfrm>
                <a:off x="3276942" y="2511168"/>
                <a:ext cx="181728" cy="15480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11BD5A99-33B1-B3ED-3442-28A2C177A178}"/>
                  </a:ext>
                </a:extLst>
              </p:cNvPr>
              <p:cNvSpPr/>
              <p:nvPr/>
            </p:nvSpPr>
            <p:spPr>
              <a:xfrm>
                <a:off x="3142958" y="937353"/>
                <a:ext cx="165600" cy="21201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FCFFFC82-DAF4-CBBB-5E0B-9338EC9AEAF3}"/>
                  </a:ext>
                </a:extLst>
              </p:cNvPr>
              <p:cNvSpPr/>
              <p:nvPr/>
            </p:nvSpPr>
            <p:spPr>
              <a:xfrm rot="10800000">
                <a:off x="2794873" y="934717"/>
                <a:ext cx="342000" cy="353258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A3A9E7D6-6F13-8B41-7053-0ECA0F70BAEC}"/>
                  </a:ext>
                </a:extLst>
              </p:cNvPr>
              <p:cNvSpPr/>
              <p:nvPr/>
            </p:nvSpPr>
            <p:spPr>
              <a:xfrm rot="10800000">
                <a:off x="2796872" y="2674520"/>
                <a:ext cx="342000" cy="13652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3129F0B0-9522-99B7-3BE7-3CEEFDF052A4}"/>
                  </a:ext>
                </a:extLst>
              </p:cNvPr>
              <p:cNvSpPr/>
              <p:nvPr/>
            </p:nvSpPr>
            <p:spPr>
              <a:xfrm>
                <a:off x="2887659" y="1052317"/>
                <a:ext cx="136800" cy="1368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E1E4A8E4-1DF9-E620-C1B2-94D34990B842}"/>
                  </a:ext>
                </a:extLst>
              </p:cNvPr>
              <p:cNvSpPr/>
              <p:nvPr/>
            </p:nvSpPr>
            <p:spPr>
              <a:xfrm>
                <a:off x="2897473" y="2665969"/>
                <a:ext cx="136800" cy="1368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72B7DB87-4D9D-C8CC-DC36-60667B3237BF}"/>
                </a:ext>
              </a:extLst>
            </p:cNvPr>
            <p:cNvSpPr/>
            <p:nvPr/>
          </p:nvSpPr>
          <p:spPr>
            <a:xfrm>
              <a:off x="10415147" y="1567061"/>
              <a:ext cx="78569" cy="1332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9" name="Ellipse 28">
            <a:extLst>
              <a:ext uri="{FF2B5EF4-FFF2-40B4-BE49-F238E27FC236}">
                <a16:creationId xmlns:a16="http://schemas.microsoft.com/office/drawing/2014/main" id="{7651A075-A89F-97E7-1DBC-E3FB6B91D570}"/>
              </a:ext>
            </a:extLst>
          </p:cNvPr>
          <p:cNvSpPr/>
          <p:nvPr/>
        </p:nvSpPr>
        <p:spPr>
          <a:xfrm>
            <a:off x="1947707" y="1636357"/>
            <a:ext cx="210953" cy="210953"/>
          </a:xfrm>
          <a:prstGeom prst="ellipse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0C3368F7-53FA-821F-FC72-609E17842B5D}"/>
              </a:ext>
            </a:extLst>
          </p:cNvPr>
          <p:cNvSpPr/>
          <p:nvPr/>
        </p:nvSpPr>
        <p:spPr>
          <a:xfrm>
            <a:off x="1947707" y="2609726"/>
            <a:ext cx="210953" cy="210953"/>
          </a:xfrm>
          <a:prstGeom prst="ellipse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810F5A2B-7EBF-BF2A-1FB3-EE46303A623D}"/>
              </a:ext>
            </a:extLst>
          </p:cNvPr>
          <p:cNvCxnSpPr>
            <a:endCxn id="29" idx="1"/>
          </p:cNvCxnSpPr>
          <p:nvPr/>
        </p:nvCxnSpPr>
        <p:spPr>
          <a:xfrm flipV="1">
            <a:off x="704346" y="1667250"/>
            <a:ext cx="1274254" cy="432261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79EA1D5E-C7F1-DA8F-BF38-107055CD85F9}"/>
              </a:ext>
            </a:extLst>
          </p:cNvPr>
          <p:cNvCxnSpPr>
            <a:cxnSpLocks/>
            <a:stCxn id="30" idx="6"/>
            <a:endCxn id="29" idx="6"/>
          </p:cNvCxnSpPr>
          <p:nvPr/>
        </p:nvCxnSpPr>
        <p:spPr>
          <a:xfrm flipV="1">
            <a:off x="2158660" y="1741834"/>
            <a:ext cx="0" cy="973369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9104E1EE-566C-6E0B-7A67-104F4487F46E}"/>
              </a:ext>
            </a:extLst>
          </p:cNvPr>
          <p:cNvCxnSpPr>
            <a:cxnSpLocks/>
          </p:cNvCxnSpPr>
          <p:nvPr/>
        </p:nvCxnSpPr>
        <p:spPr>
          <a:xfrm flipV="1">
            <a:off x="1947707" y="1741833"/>
            <a:ext cx="0" cy="973369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7E19CAA-BAE5-1620-6672-E17B419A67B9}"/>
              </a:ext>
            </a:extLst>
          </p:cNvPr>
          <p:cNvCxnSpPr>
            <a:cxnSpLocks/>
            <a:stCxn id="29" idx="7"/>
          </p:cNvCxnSpPr>
          <p:nvPr/>
        </p:nvCxnSpPr>
        <p:spPr>
          <a:xfrm>
            <a:off x="2127767" y="1667250"/>
            <a:ext cx="606828" cy="602315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Grafik 34" descr="Roboterhand mit einfarbiger Füllung">
            <a:extLst>
              <a:ext uri="{FF2B5EF4-FFF2-40B4-BE49-F238E27FC236}">
                <a16:creationId xmlns:a16="http://schemas.microsoft.com/office/drawing/2014/main" id="{205F9274-663C-4B15-F58C-B68D1F353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558065" y="919394"/>
            <a:ext cx="1829905" cy="1829905"/>
          </a:xfrm>
          <a:prstGeom prst="rect">
            <a:avLst/>
          </a:prstGeom>
        </p:spPr>
      </p:pic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72AF9CB0-8B3A-5888-FFDD-2DCACFE35FE1}"/>
              </a:ext>
            </a:extLst>
          </p:cNvPr>
          <p:cNvGrpSpPr/>
          <p:nvPr/>
        </p:nvGrpSpPr>
        <p:grpSpPr>
          <a:xfrm rot="5400000">
            <a:off x="5972461" y="1252829"/>
            <a:ext cx="78569" cy="2068826"/>
            <a:chOff x="6851814" y="1766023"/>
            <a:chExt cx="78569" cy="2068826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62C02260-256A-6D63-CAEE-CCA7C47E8E46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4F3ADAEA-32F7-8864-297A-0E66DA39DDB3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E9043102-5323-CCD8-D5ED-E3A3BB5BB51C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2FA41EAB-7EDB-DCD0-A2BE-1BE8993855CA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3E0F02E1-575C-BC65-241E-9903CEBB25B3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42" name="Ellipse 41">
            <a:extLst>
              <a:ext uri="{FF2B5EF4-FFF2-40B4-BE49-F238E27FC236}">
                <a16:creationId xmlns:a16="http://schemas.microsoft.com/office/drawing/2014/main" id="{22CF9683-E68A-BE53-C023-965E2D519A17}"/>
              </a:ext>
            </a:extLst>
          </p:cNvPr>
          <p:cNvSpPr/>
          <p:nvPr/>
        </p:nvSpPr>
        <p:spPr>
          <a:xfrm>
            <a:off x="493295" y="2051384"/>
            <a:ext cx="751974" cy="751974"/>
          </a:xfrm>
          <a:prstGeom prst="ellipse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2540C089-A490-CD72-6860-26A7A3E009BE}"/>
              </a:ext>
            </a:extLst>
          </p:cNvPr>
          <p:cNvCxnSpPr/>
          <p:nvPr/>
        </p:nvCxnSpPr>
        <p:spPr>
          <a:xfrm>
            <a:off x="2057400" y="2610476"/>
            <a:ext cx="0" cy="2105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2BB9C132-9BA4-A240-3E24-3831FAA5894B}"/>
              </a:ext>
            </a:extLst>
          </p:cNvPr>
          <p:cNvSpPr/>
          <p:nvPr/>
        </p:nvSpPr>
        <p:spPr>
          <a:xfrm>
            <a:off x="5058619" y="2855441"/>
            <a:ext cx="388737" cy="3599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41804B73-D328-D124-A466-AFC52B719C42}"/>
              </a:ext>
            </a:extLst>
          </p:cNvPr>
          <p:cNvSpPr/>
          <p:nvPr/>
        </p:nvSpPr>
        <p:spPr>
          <a:xfrm>
            <a:off x="5125879" y="2644488"/>
            <a:ext cx="45719" cy="210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DB1E9BDA-06E2-04A0-7F44-892F08F699D6}"/>
              </a:ext>
            </a:extLst>
          </p:cNvPr>
          <p:cNvSpPr/>
          <p:nvPr/>
        </p:nvSpPr>
        <p:spPr>
          <a:xfrm>
            <a:off x="5338991" y="2644488"/>
            <a:ext cx="45719" cy="210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E3525F19-0485-F43C-DC38-0ED1586C6310}"/>
              </a:ext>
            </a:extLst>
          </p:cNvPr>
          <p:cNvSpPr/>
          <p:nvPr/>
        </p:nvSpPr>
        <p:spPr>
          <a:xfrm>
            <a:off x="5751194" y="2855441"/>
            <a:ext cx="388737" cy="3599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83D2DA8E-8705-BF29-CFD4-24AD2652E1E4}"/>
              </a:ext>
            </a:extLst>
          </p:cNvPr>
          <p:cNvSpPr/>
          <p:nvPr/>
        </p:nvSpPr>
        <p:spPr>
          <a:xfrm>
            <a:off x="5818454" y="2644488"/>
            <a:ext cx="45719" cy="210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82C8DCBD-8140-2008-F669-F9B6A851A65E}"/>
              </a:ext>
            </a:extLst>
          </p:cNvPr>
          <p:cNvSpPr/>
          <p:nvPr/>
        </p:nvSpPr>
        <p:spPr>
          <a:xfrm>
            <a:off x="6031566" y="2644488"/>
            <a:ext cx="45719" cy="210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50C6F083-537E-E35B-1579-19AD3F96EB2D}"/>
              </a:ext>
            </a:extLst>
          </p:cNvPr>
          <p:cNvSpPr/>
          <p:nvPr/>
        </p:nvSpPr>
        <p:spPr>
          <a:xfrm rot="10800000" flipV="1">
            <a:off x="5058619" y="3215390"/>
            <a:ext cx="1081312" cy="1137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 err="1">
                <a:solidFill>
                  <a:schemeClr val="tx1"/>
                </a:solidFill>
              </a:rPr>
              <a:t>Handover</a:t>
            </a:r>
            <a:r>
              <a:rPr lang="de-DE" sz="700" dirty="0">
                <a:solidFill>
                  <a:schemeClr val="tx1"/>
                </a:solidFill>
              </a:rPr>
              <a:t> Unit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3A8E0624-5F79-C78A-94B4-61AA4B2E84DC}"/>
              </a:ext>
            </a:extLst>
          </p:cNvPr>
          <p:cNvSpPr/>
          <p:nvPr/>
        </p:nvSpPr>
        <p:spPr>
          <a:xfrm>
            <a:off x="370537" y="4216585"/>
            <a:ext cx="2147303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Feeding</a:t>
            </a:r>
            <a:r>
              <a:rPr lang="de-DE" dirty="0"/>
              <a:t> Unit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7C624F57-40D5-5D70-231F-235AC8C702B2}"/>
              </a:ext>
            </a:extLst>
          </p:cNvPr>
          <p:cNvSpPr/>
          <p:nvPr/>
        </p:nvSpPr>
        <p:spPr>
          <a:xfrm>
            <a:off x="2533145" y="4216585"/>
            <a:ext cx="2147303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Cut  &amp; Strip Unit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CDB5AB18-53CB-60F8-3DD5-E5FB9A55888B}"/>
              </a:ext>
            </a:extLst>
          </p:cNvPr>
          <p:cNvSpPr/>
          <p:nvPr/>
        </p:nvSpPr>
        <p:spPr>
          <a:xfrm>
            <a:off x="4685493" y="4216585"/>
            <a:ext cx="2674312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Handover</a:t>
            </a:r>
            <a:r>
              <a:rPr lang="de-DE" dirty="0"/>
              <a:t> Unit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CCF9BA5B-F00F-8C34-E943-1FE518695CC8}"/>
              </a:ext>
            </a:extLst>
          </p:cNvPr>
          <p:cNvSpPr/>
          <p:nvPr/>
        </p:nvSpPr>
        <p:spPr>
          <a:xfrm>
            <a:off x="7359805" y="4216585"/>
            <a:ext cx="2674312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Robot Handling</a:t>
            </a: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933E4B42-A865-A034-F82E-D05112F9254A}"/>
              </a:ext>
            </a:extLst>
          </p:cNvPr>
          <p:cNvSpPr/>
          <p:nvPr/>
        </p:nvSpPr>
        <p:spPr>
          <a:xfrm>
            <a:off x="10034117" y="4216585"/>
            <a:ext cx="1550019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Round Table</a:t>
            </a:r>
          </a:p>
        </p:txBody>
      </p: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B8BCABDE-8CD6-9CA0-4784-6414614FC062}"/>
              </a:ext>
            </a:extLst>
          </p:cNvPr>
          <p:cNvCxnSpPr>
            <a:cxnSpLocks/>
          </p:cNvCxnSpPr>
          <p:nvPr/>
        </p:nvCxnSpPr>
        <p:spPr>
          <a:xfrm>
            <a:off x="423340" y="5304586"/>
            <a:ext cx="4169681" cy="0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feld 70">
            <a:extLst>
              <a:ext uri="{FF2B5EF4-FFF2-40B4-BE49-F238E27FC236}">
                <a16:creationId xmlns:a16="http://schemas.microsoft.com/office/drawing/2014/main" id="{463EE966-80B1-9BE3-FF06-00BC0BDFD358}"/>
              </a:ext>
            </a:extLst>
          </p:cNvPr>
          <p:cNvSpPr txBox="1"/>
          <p:nvPr/>
        </p:nvSpPr>
        <p:spPr>
          <a:xfrm>
            <a:off x="1537903" y="4966032"/>
            <a:ext cx="2393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Lieferant</a:t>
            </a:r>
          </a:p>
        </p:txBody>
      </p: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21A4AF24-5EB6-A1A4-5CBB-079AA5417A16}"/>
              </a:ext>
            </a:extLst>
          </p:cNvPr>
          <p:cNvCxnSpPr>
            <a:cxnSpLocks/>
          </p:cNvCxnSpPr>
          <p:nvPr/>
        </p:nvCxnSpPr>
        <p:spPr>
          <a:xfrm>
            <a:off x="7359805" y="5310599"/>
            <a:ext cx="4156719" cy="0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feld 73">
            <a:extLst>
              <a:ext uri="{FF2B5EF4-FFF2-40B4-BE49-F238E27FC236}">
                <a16:creationId xmlns:a16="http://schemas.microsoft.com/office/drawing/2014/main" id="{621DCE4E-D295-2336-24E2-DAC29EA3DF48}"/>
              </a:ext>
            </a:extLst>
          </p:cNvPr>
          <p:cNvSpPr txBox="1"/>
          <p:nvPr/>
        </p:nvSpPr>
        <p:spPr>
          <a:xfrm>
            <a:off x="9120335" y="4972045"/>
            <a:ext cx="1647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Gluth</a:t>
            </a:r>
          </a:p>
        </p:txBody>
      </p: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AFAA70E3-4FA7-BF90-25C1-B017B678F039}"/>
              </a:ext>
            </a:extLst>
          </p:cNvPr>
          <p:cNvCxnSpPr>
            <a:cxnSpLocks/>
          </p:cNvCxnSpPr>
          <p:nvPr/>
        </p:nvCxnSpPr>
        <p:spPr>
          <a:xfrm>
            <a:off x="4593021" y="5310599"/>
            <a:ext cx="2766784" cy="0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feld 76">
            <a:extLst>
              <a:ext uri="{FF2B5EF4-FFF2-40B4-BE49-F238E27FC236}">
                <a16:creationId xmlns:a16="http://schemas.microsoft.com/office/drawing/2014/main" id="{C321C80A-20ED-B632-6636-492089E3C23C}"/>
              </a:ext>
            </a:extLst>
          </p:cNvPr>
          <p:cNvSpPr txBox="1"/>
          <p:nvPr/>
        </p:nvSpPr>
        <p:spPr>
          <a:xfrm>
            <a:off x="5599275" y="4989719"/>
            <a:ext cx="2393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????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DB49E8A-2E16-2AAD-4173-9E2300747183}"/>
              </a:ext>
            </a:extLst>
          </p:cNvPr>
          <p:cNvSpPr txBox="1"/>
          <p:nvPr/>
        </p:nvSpPr>
        <p:spPr>
          <a:xfrm>
            <a:off x="6235337" y="2820679"/>
            <a:ext cx="116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????</a:t>
            </a:r>
          </a:p>
        </p:txBody>
      </p:sp>
    </p:spTree>
    <p:extLst>
      <p:ext uri="{BB962C8B-B14F-4D97-AF65-F5344CB8AC3E}">
        <p14:creationId xmlns:p14="http://schemas.microsoft.com/office/powerpoint/2010/main" val="3982934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1C076A-7B61-408B-6626-2F9C2BFFF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Anlieferung Kabel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4BD09EC-7DAD-CABB-7704-5A77B45279CF}"/>
              </a:ext>
            </a:extLst>
          </p:cNvPr>
          <p:cNvSpPr txBox="1"/>
          <p:nvPr/>
        </p:nvSpPr>
        <p:spPr>
          <a:xfrm>
            <a:off x="539931" y="8089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009900"/>
                </a:solidFill>
              </a:rPr>
              <a:t>Anlieferung der Kabel: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2AC2E48-986A-0636-F94E-131DB62A5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31" y="1211268"/>
            <a:ext cx="9937603" cy="4015639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43319D7A-6108-E3FD-66C3-77E5CEE77ADA}"/>
              </a:ext>
            </a:extLst>
          </p:cNvPr>
          <p:cNvSpPr/>
          <p:nvPr/>
        </p:nvSpPr>
        <p:spPr>
          <a:xfrm>
            <a:off x="539931" y="4362994"/>
            <a:ext cx="9866812" cy="296092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158B27D-7306-9BC8-D70D-7B3ECF664EAC}"/>
              </a:ext>
            </a:extLst>
          </p:cNvPr>
          <p:cNvSpPr txBox="1"/>
          <p:nvPr/>
        </p:nvSpPr>
        <p:spPr>
          <a:xfrm>
            <a:off x="10477534" y="4362994"/>
            <a:ext cx="150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ca. 385 kg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9682992-D4FB-7EA1-F8AB-08D1007263FE}"/>
              </a:ext>
            </a:extLst>
          </p:cNvPr>
          <p:cNvSpPr/>
          <p:nvPr/>
        </p:nvSpPr>
        <p:spPr>
          <a:xfrm>
            <a:off x="469140" y="3189025"/>
            <a:ext cx="9866812" cy="296092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8313A52-282D-D957-38A7-B249927E6A2E}"/>
              </a:ext>
            </a:extLst>
          </p:cNvPr>
          <p:cNvSpPr txBox="1"/>
          <p:nvPr/>
        </p:nvSpPr>
        <p:spPr>
          <a:xfrm>
            <a:off x="10406743" y="3189025"/>
            <a:ext cx="150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ca. 450 kg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C313434-1183-3B72-3AC7-3698F8C23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46" y="2290637"/>
            <a:ext cx="9622973" cy="854720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67E70E9-2358-ADB6-85CA-5E30FD2A9A00}"/>
              </a:ext>
            </a:extLst>
          </p:cNvPr>
          <p:cNvSpPr/>
          <p:nvPr/>
        </p:nvSpPr>
        <p:spPr>
          <a:xfrm>
            <a:off x="469140" y="2833167"/>
            <a:ext cx="9866812" cy="296092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00FD31B-CDD1-4798-15DF-3F2A5ED86F9B}"/>
              </a:ext>
            </a:extLst>
          </p:cNvPr>
          <p:cNvSpPr txBox="1"/>
          <p:nvPr/>
        </p:nvSpPr>
        <p:spPr>
          <a:xfrm>
            <a:off x="10406743" y="2833167"/>
            <a:ext cx="150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ca. 160 kg</a:t>
            </a:r>
          </a:p>
        </p:txBody>
      </p:sp>
    </p:spTree>
    <p:extLst>
      <p:ext uri="{BB962C8B-B14F-4D97-AF65-F5344CB8AC3E}">
        <p14:creationId xmlns:p14="http://schemas.microsoft.com/office/powerpoint/2010/main" val="3899045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5EF85E-956D-9FEB-575D-3F0FB3B5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Rahmendaten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AB00850-8C89-A7EF-1B62-1EF2EFACF388}"/>
              </a:ext>
            </a:extLst>
          </p:cNvPr>
          <p:cNvSpPr txBox="1"/>
          <p:nvPr/>
        </p:nvSpPr>
        <p:spPr>
          <a:xfrm>
            <a:off x="620110" y="903890"/>
            <a:ext cx="90494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Taktzeit: 6 Sekunden</a:t>
            </a:r>
          </a:p>
          <a:p>
            <a:r>
              <a:rPr lang="de-DE" dirty="0"/>
              <a:t>Übergeordnete Steuerung: Siemens</a:t>
            </a:r>
          </a:p>
          <a:p>
            <a:r>
              <a:rPr lang="de-DE" dirty="0"/>
              <a:t>Vorgabe der Kabelparameter durch die übergeordnete Steuerung</a:t>
            </a:r>
          </a:p>
          <a:p>
            <a:endParaRPr lang="de-DE" dirty="0"/>
          </a:p>
          <a:p>
            <a:r>
              <a:rPr lang="de-DE" dirty="0"/>
              <a:t>Teilabzug </a:t>
            </a:r>
            <a:r>
              <a:rPr lang="de-DE" dirty="0">
                <a:solidFill>
                  <a:srgbClr val="009900"/>
                </a:solidFill>
              </a:rPr>
              <a:t>und Vollabzug </a:t>
            </a:r>
            <a:r>
              <a:rPr lang="de-DE" dirty="0"/>
              <a:t>beim Abisolieren geplant</a:t>
            </a:r>
          </a:p>
          <a:p>
            <a:r>
              <a:rPr lang="de-DE" dirty="0"/>
              <a:t>„</a:t>
            </a:r>
            <a:r>
              <a:rPr lang="de-DE" dirty="0" err="1"/>
              <a:t>Handover</a:t>
            </a:r>
            <a:r>
              <a:rPr lang="de-DE" dirty="0"/>
              <a:t> Unit“ soll das Kabel übernehmen </a:t>
            </a:r>
            <a:r>
              <a:rPr lang="de-DE" strike="sngStrike" dirty="0">
                <a:solidFill>
                  <a:srgbClr val="009900"/>
                </a:solidFill>
              </a:rPr>
              <a:t>und in U-Form bringen </a:t>
            </a:r>
            <a:r>
              <a:rPr lang="de-DE" dirty="0"/>
              <a:t>(Klärung ob Lieferant oder Gluth), </a:t>
            </a:r>
            <a:r>
              <a:rPr lang="de-DE" dirty="0">
                <a:solidFill>
                  <a:srgbClr val="009900"/>
                </a:solidFill>
              </a:rPr>
              <a:t>alternative: direkt von Roboter übernehmen</a:t>
            </a:r>
          </a:p>
          <a:p>
            <a:endParaRPr lang="de-DE" dirty="0"/>
          </a:p>
          <a:p>
            <a:r>
              <a:rPr lang="de-DE" dirty="0"/>
              <a:t>Roboter übernimmt das Kabel und übergibt es </a:t>
            </a:r>
            <a:r>
              <a:rPr lang="de-DE" dirty="0">
                <a:solidFill>
                  <a:srgbClr val="009900"/>
                </a:solidFill>
              </a:rPr>
              <a:t>an das Transfersystem </a:t>
            </a:r>
            <a:r>
              <a:rPr lang="de-DE" dirty="0"/>
              <a:t>(Gluth)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29132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Gluth">
      <a:dk1>
        <a:srgbClr val="000000"/>
      </a:dk1>
      <a:lt1>
        <a:srgbClr val="FFFFFF"/>
      </a:lt1>
      <a:dk2>
        <a:srgbClr val="2C3E48"/>
      </a:dk2>
      <a:lt2>
        <a:srgbClr val="54B19E"/>
      </a:lt2>
      <a:accent1>
        <a:srgbClr val="008976"/>
      </a:accent1>
      <a:accent2>
        <a:srgbClr val="C0504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138</Words>
  <Application>Microsoft Office PowerPoint</Application>
  <PresentationFormat>Breitbild</PresentationFormat>
  <Paragraphs>36</Paragraphs>
  <Slides>5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Office-Design</vt:lpstr>
      <vt:lpstr>PowerPoint-Präsentation</vt:lpstr>
      <vt:lpstr>Aufgabenstellung</vt:lpstr>
      <vt:lpstr>Konzept Kabelzuführung</vt:lpstr>
      <vt:lpstr>Anlieferung Kabel</vt:lpstr>
      <vt:lpstr>Rahmendaten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Hohenwarter Thomas</dc:creator>
  <cp:lastModifiedBy>Radlbeck Ulrich</cp:lastModifiedBy>
  <cp:revision>332</cp:revision>
  <cp:lastPrinted>2023-03-03T08:30:24Z</cp:lastPrinted>
  <dcterms:created xsi:type="dcterms:W3CDTF">2021-03-17T11:57:24Z</dcterms:created>
  <dcterms:modified xsi:type="dcterms:W3CDTF">2025-04-24T08:35:27Z</dcterms:modified>
</cp:coreProperties>
</file>