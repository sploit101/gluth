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2" r:id="rId1"/>
  </p:sldMasterIdLst>
  <p:notesMasterIdLst>
    <p:notesMasterId r:id="rId11"/>
  </p:notesMasterIdLst>
  <p:handoutMasterIdLst>
    <p:handoutMasterId r:id="rId12"/>
  </p:handoutMasterIdLst>
  <p:sldIdLst>
    <p:sldId id="256" r:id="rId2"/>
    <p:sldId id="1197" r:id="rId3"/>
    <p:sldId id="1296" r:id="rId4"/>
    <p:sldId id="1295" r:id="rId5"/>
    <p:sldId id="1297" r:id="rId6"/>
    <p:sldId id="1300" r:id="rId7"/>
    <p:sldId id="1301" r:id="rId8"/>
    <p:sldId id="1212" r:id="rId9"/>
    <p:sldId id="1183" r:id="rId10"/>
  </p:sldIdLst>
  <p:sldSz cx="12192000" cy="6858000"/>
  <p:notesSz cx="6797675" cy="9926638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A9E9E"/>
    <a:srgbClr val="F78C00"/>
    <a:srgbClr val="4DB8A0"/>
    <a:srgbClr val="8ED2C3"/>
    <a:srgbClr val="FF540F"/>
    <a:srgbClr val="FF8100"/>
    <a:srgbClr val="FFA200"/>
    <a:srgbClr val="2C3F48"/>
    <a:srgbClr val="FF6600"/>
    <a:srgbClr val="64CF9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7436" autoAdjust="0"/>
  </p:normalViewPr>
  <p:slideViewPr>
    <p:cSldViewPr snapToGrid="0">
      <p:cViewPr varScale="1">
        <p:scale>
          <a:sx n="164" d="100"/>
          <a:sy n="164" d="100"/>
        </p:scale>
        <p:origin x="172" y="10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3" d="100"/>
          <a:sy n="53" d="100"/>
        </p:scale>
        <p:origin x="3150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E97EB6F6-493D-DA97-B965-35A24881574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D781125C-C473-FE55-FBF5-2E740DF5FEA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E0F1D3-59CB-4FC3-B85E-961C88BF436F}" type="datetimeFigureOut">
              <a:rPr lang="de-DE" smtClean="0"/>
              <a:t>13.06.2024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72802B8-DF76-CE14-CDF1-E4D44824864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91C7241-9A8C-8C18-A1A5-1392A91ACD3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BDDE2-899A-4F21-8C99-5A28EBA6801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23500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BB9D02-9FFC-4758-9EDA-EB9E451655DE}" type="datetimeFigureOut">
              <a:rPr lang="de-DE" smtClean="0"/>
              <a:t>13.06.2024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EED572-F9A9-4535-91E4-E5029B1F52C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410026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sz="100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EED572-F9A9-4535-91E4-E5029B1F52C2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270948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EEB2CB-37F8-584A-889E-895630C53A95}" type="slidenum">
              <a:rPr lang="de-DE" smtClean="0"/>
              <a:pPr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700338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foli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91519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rafik 25" descr="Ein Bild, das Screenshot, Schwarz, Dunkelheit enthält.&#10;&#10;Automatisch generierte Beschreibung">
            <a:extLst>
              <a:ext uri="{FF2B5EF4-FFF2-40B4-BE49-F238E27FC236}">
                <a16:creationId xmlns:a16="http://schemas.microsoft.com/office/drawing/2014/main" id="{5C1344FB-4045-D1BB-48FD-350CE89577D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36" r="12000" b="42887"/>
          <a:stretch/>
        </p:blipFill>
        <p:spPr>
          <a:xfrm rot="13138923">
            <a:off x="7813028" y="-709758"/>
            <a:ext cx="5600598" cy="3916818"/>
          </a:xfrm>
          <a:custGeom>
            <a:avLst/>
            <a:gdLst>
              <a:gd name="connsiteX0" fmla="*/ 5600598 w 5600598"/>
              <a:gd name="connsiteY0" fmla="*/ 1294670 h 3916818"/>
              <a:gd name="connsiteX1" fmla="*/ 2360440 w 5600598"/>
              <a:gd name="connsiteY1" fmla="*/ 3916818 h 3916818"/>
              <a:gd name="connsiteX2" fmla="*/ 0 w 5600598"/>
              <a:gd name="connsiteY2" fmla="*/ 1000049 h 3916818"/>
              <a:gd name="connsiteX3" fmla="*/ 1235749 w 5600598"/>
              <a:gd name="connsiteY3" fmla="*/ 0 h 3916818"/>
              <a:gd name="connsiteX4" fmla="*/ 5600598 w 5600598"/>
              <a:gd name="connsiteY4" fmla="*/ 0 h 3916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00598" h="3916818">
                <a:moveTo>
                  <a:pt x="5600598" y="1294670"/>
                </a:moveTo>
                <a:lnTo>
                  <a:pt x="2360440" y="3916818"/>
                </a:lnTo>
                <a:lnTo>
                  <a:pt x="0" y="1000049"/>
                </a:lnTo>
                <a:lnTo>
                  <a:pt x="1235749" y="0"/>
                </a:lnTo>
                <a:lnTo>
                  <a:pt x="5600598" y="0"/>
                </a:lnTo>
                <a:close/>
              </a:path>
            </a:pathLst>
          </a:custGeom>
        </p:spPr>
      </p:pic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9DDD4D97-141A-4645-B9D8-3B092E6DE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1FE58063-0C68-1D89-C8D4-695FEC8E4558}"/>
              </a:ext>
            </a:extLst>
          </p:cNvPr>
          <p:cNvSpPr txBox="1"/>
          <p:nvPr userDrawn="1"/>
        </p:nvSpPr>
        <p:spPr>
          <a:xfrm>
            <a:off x="10710154" y="-2557"/>
            <a:ext cx="273668" cy="344128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18000" tIns="18000" rIns="18000" bIns="18000" rtlCol="0" anchor="ctr" anchorCtr="0">
            <a:spAutoFit/>
          </a:bodyPr>
          <a:lstStyle/>
          <a:p>
            <a:pPr algn="ctr"/>
            <a:fld id="{A92209CA-EFDE-4AB8-9222-590C7472CDAB}" type="slidenum">
              <a:rPr lang="de-DE" sz="1000" smtClean="0">
                <a:solidFill>
                  <a:schemeClr val="bg1"/>
                </a:solidFill>
                <a:latin typeface="+mj-lt"/>
              </a:rPr>
              <a:pPr algn="ctr"/>
              <a:t>‹Nr.›</a:t>
            </a:fld>
            <a:endParaRPr lang="de-DE" sz="10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" name="Projektbezeichnung | Titel">
            <a:extLst>
              <a:ext uri="{FF2B5EF4-FFF2-40B4-BE49-F238E27FC236}">
                <a16:creationId xmlns:a16="http://schemas.microsoft.com/office/drawing/2014/main" id="{7EB79AE8-0D8C-C49B-AFA0-2C9B5F4077EF}"/>
              </a:ext>
            </a:extLst>
          </p:cNvPr>
          <p:cNvSpPr txBox="1"/>
          <p:nvPr userDrawn="1"/>
        </p:nvSpPr>
        <p:spPr>
          <a:xfrm>
            <a:off x="549566" y="161538"/>
            <a:ext cx="3209523" cy="2079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6789" tIns="26789" rIns="26789" bIns="26789" anchor="ctr">
            <a:spAutoFit/>
          </a:bodyPr>
          <a:lstStyle/>
          <a:p>
            <a:pPr algn="l">
              <a:defRPr sz="1500"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r>
              <a:rPr lang="de-DE" sz="1000" dirty="0" err="1">
                <a:solidFill>
                  <a:srgbClr val="2C3F48"/>
                </a:solidFill>
                <a:latin typeface="+mj-lt"/>
              </a:rPr>
              <a:t>Gluing</a:t>
            </a:r>
            <a:r>
              <a:rPr lang="de-DE" sz="1000" dirty="0">
                <a:solidFill>
                  <a:srgbClr val="2C3F48"/>
                </a:solidFill>
                <a:latin typeface="+mj-lt"/>
              </a:rPr>
              <a:t> </a:t>
            </a:r>
            <a:r>
              <a:rPr lang="de-DE" sz="1000" dirty="0" err="1">
                <a:solidFill>
                  <a:srgbClr val="2C3F48"/>
                </a:solidFill>
                <a:latin typeface="+mj-lt"/>
              </a:rPr>
              <a:t>line</a:t>
            </a:r>
            <a:r>
              <a:rPr lang="de-DE" sz="1000" dirty="0">
                <a:solidFill>
                  <a:srgbClr val="2C3F48"/>
                </a:solidFill>
                <a:latin typeface="+mj-lt"/>
              </a:rPr>
              <a:t> BMW/PHUD-50 </a:t>
            </a:r>
            <a:r>
              <a:rPr lang="de-DE" sz="1000" dirty="0" err="1">
                <a:solidFill>
                  <a:srgbClr val="2C3F48"/>
                </a:solidFill>
                <a:latin typeface="+mj-lt"/>
              </a:rPr>
              <a:t>eco</a:t>
            </a:r>
            <a:r>
              <a:rPr sz="1000" dirty="0">
                <a:solidFill>
                  <a:srgbClr val="2C3F48"/>
                </a:solidFill>
                <a:latin typeface="+mj-lt"/>
              </a:rPr>
              <a:t> |</a:t>
            </a:r>
            <a:r>
              <a:rPr sz="1000" dirty="0">
                <a:solidFill>
                  <a:schemeClr val="bg1"/>
                </a:solidFill>
                <a:latin typeface="+mj-lt"/>
              </a:rPr>
              <a:t> </a:t>
            </a:r>
            <a:r>
              <a:rPr lang="de-DE" sz="1000" dirty="0">
                <a:solidFill>
                  <a:schemeClr val="bg1"/>
                </a:solidFill>
                <a:latin typeface="+mj-lt"/>
                <a:ea typeface="Gilroy ExtraBold"/>
                <a:cs typeface="Gilroy ExtraBold"/>
                <a:sym typeface="Gilroy ExtraBold"/>
              </a:rPr>
              <a:t>26.03.2024</a:t>
            </a:r>
            <a:endParaRPr sz="1000" dirty="0">
              <a:solidFill>
                <a:schemeClr val="bg1"/>
              </a:solidFill>
              <a:latin typeface="+mj-lt"/>
              <a:ea typeface="Gilroy ExtraBold"/>
              <a:cs typeface="Gilroy ExtraBold"/>
              <a:sym typeface="Gilroy ExtraBold"/>
            </a:endParaRP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633740E4-DBFF-ED4E-3B33-C3785B1F678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27889" y="6169583"/>
            <a:ext cx="1853671" cy="555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42110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oli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luth-dots_turkis-hell.png" descr="gluth-dots_turkis-hell.png">
            <a:extLst>
              <a:ext uri="{FF2B5EF4-FFF2-40B4-BE49-F238E27FC236}">
                <a16:creationId xmlns:a16="http://schemas.microsoft.com/office/drawing/2014/main" id="{BD59312F-90B1-9FC7-468F-6B81B8C0A16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54367" r="16055"/>
          <a:stretch/>
        </p:blipFill>
        <p:spPr>
          <a:xfrm>
            <a:off x="9430344" y="-2557"/>
            <a:ext cx="2761656" cy="1501267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9DDD4D97-141A-4645-B9D8-3B092E6DE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 </a:t>
            </a:r>
          </a:p>
        </p:txBody>
      </p:sp>
      <p:pic>
        <p:nvPicPr>
          <p:cNvPr id="6" name="gluth-logo_RZ_rgb.png" descr="gluth-logo_RZ_rgb.png">
            <a:extLst>
              <a:ext uri="{FF2B5EF4-FFF2-40B4-BE49-F238E27FC236}">
                <a16:creationId xmlns:a16="http://schemas.microsoft.com/office/drawing/2014/main" id="{09991ADD-9B75-7CDB-BE00-7F86E7AA4B0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114208" y="6169583"/>
            <a:ext cx="1853667" cy="555054"/>
          </a:xfrm>
          <a:prstGeom prst="rect">
            <a:avLst/>
          </a:prstGeom>
          <a:ln w="12700">
            <a:miter lim="400000"/>
          </a:ln>
        </p:spPr>
      </p:pic>
      <p:sp>
        <p:nvSpPr>
          <p:cNvPr id="7" name="Projektbezeichnung | Titel">
            <a:extLst>
              <a:ext uri="{FF2B5EF4-FFF2-40B4-BE49-F238E27FC236}">
                <a16:creationId xmlns:a16="http://schemas.microsoft.com/office/drawing/2014/main" id="{6FBCAB55-7A36-744A-313E-F701D83C3678}"/>
              </a:ext>
            </a:extLst>
          </p:cNvPr>
          <p:cNvSpPr txBox="1"/>
          <p:nvPr userDrawn="1"/>
        </p:nvSpPr>
        <p:spPr>
          <a:xfrm>
            <a:off x="183804" y="161538"/>
            <a:ext cx="3456377" cy="2079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26789" tIns="26789" rIns="26789" bIns="26789" anchor="ctr">
            <a:spAutoFit/>
          </a:bodyPr>
          <a:lstStyle/>
          <a:p>
            <a:pPr algn="l">
              <a:defRPr sz="1500"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r>
              <a:rPr lang="de-DE" sz="1000" dirty="0">
                <a:solidFill>
                  <a:srgbClr val="2C3F48"/>
                </a:solidFill>
                <a:latin typeface="+mj-lt"/>
              </a:rPr>
              <a:t>A07591000A Insourcing </a:t>
            </a:r>
            <a:r>
              <a:rPr lang="de-DE" sz="1000" dirty="0" err="1">
                <a:solidFill>
                  <a:srgbClr val="2C3F48"/>
                </a:solidFill>
                <a:latin typeface="+mj-lt"/>
              </a:rPr>
              <a:t>solenoid</a:t>
            </a:r>
            <a:r>
              <a:rPr lang="de-DE" sz="1000" dirty="0">
                <a:solidFill>
                  <a:srgbClr val="2C3F48"/>
                </a:solidFill>
                <a:latin typeface="+mj-lt"/>
              </a:rPr>
              <a:t> </a:t>
            </a:r>
            <a:r>
              <a:rPr lang="de-DE" sz="1000" dirty="0" err="1">
                <a:solidFill>
                  <a:srgbClr val="2C3F48"/>
                </a:solidFill>
                <a:latin typeface="+mj-lt"/>
              </a:rPr>
              <a:t>armature</a:t>
            </a:r>
            <a:r>
              <a:rPr sz="1000" dirty="0">
                <a:solidFill>
                  <a:srgbClr val="2C3F48"/>
                </a:solidFill>
                <a:latin typeface="+mj-lt"/>
              </a:rPr>
              <a:t> | </a:t>
            </a:r>
            <a:r>
              <a:rPr lang="de-DE" sz="1000" dirty="0">
                <a:solidFill>
                  <a:srgbClr val="4DB8A0"/>
                </a:solidFill>
                <a:latin typeface="+mj-lt"/>
                <a:sym typeface="Gilroy ExtraBold"/>
              </a:rPr>
              <a:t>13</a:t>
            </a:r>
            <a:r>
              <a:rPr lang="de-DE" sz="1000" dirty="0">
                <a:solidFill>
                  <a:srgbClr val="4DB8A0"/>
                </a:solidFill>
                <a:latin typeface="+mj-lt"/>
                <a:ea typeface="Gilroy ExtraBold"/>
                <a:cs typeface="Gilroy ExtraBold"/>
                <a:sym typeface="Gilroy ExtraBold"/>
              </a:rPr>
              <a:t>.06.2024</a:t>
            </a:r>
            <a:endParaRPr sz="1000" dirty="0">
              <a:solidFill>
                <a:srgbClr val="4DB8A0"/>
              </a:solidFill>
              <a:latin typeface="+mj-lt"/>
              <a:ea typeface="Gilroy ExtraBold"/>
              <a:cs typeface="Gilroy ExtraBold"/>
              <a:sym typeface="Gilroy ExtraBold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B7EDDE7-1837-9DEF-31C0-8531113810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63687" y="121782"/>
            <a:ext cx="6909683" cy="284849"/>
          </a:xfrm>
          <a:prstGeom prst="rect">
            <a:avLst/>
          </a:prstGeom>
        </p:spPr>
        <p:txBody>
          <a:bodyPr anchor="t"/>
          <a:lstStyle>
            <a:lvl1pPr algn="ctr">
              <a:defRPr lang="de-DE" sz="1600" kern="1200" dirty="0">
                <a:solidFill>
                  <a:srgbClr val="2C3F48"/>
                </a:solidFill>
                <a:latin typeface="+mj-lt"/>
                <a:ea typeface="Gilroy Light"/>
                <a:cs typeface="Gilroy Light"/>
              </a:defRPr>
            </a:lvl1pPr>
          </a:lstStyle>
          <a:p>
            <a:r>
              <a:rPr lang="de-DE" dirty="0"/>
              <a:t>Folientitel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11647A44-1BE1-D8C4-64E2-48910E5FC2F7}"/>
              </a:ext>
            </a:extLst>
          </p:cNvPr>
          <p:cNvSpPr txBox="1"/>
          <p:nvPr userDrawn="1"/>
        </p:nvSpPr>
        <p:spPr>
          <a:xfrm>
            <a:off x="10710154" y="-2557"/>
            <a:ext cx="273668" cy="344128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18000" tIns="18000" rIns="18000" bIns="18000" rtlCol="0" anchor="ctr" anchorCtr="0">
            <a:spAutoFit/>
          </a:bodyPr>
          <a:lstStyle/>
          <a:p>
            <a:pPr algn="ctr"/>
            <a:fld id="{A92209CA-EFDE-4AB8-9222-590C7472CDAB}" type="slidenum">
              <a:rPr lang="de-DE" sz="1000" smtClean="0">
                <a:solidFill>
                  <a:schemeClr val="bg1"/>
                </a:solidFill>
                <a:latin typeface="+mj-lt"/>
              </a:rPr>
              <a:pPr algn="ctr"/>
              <a:t>‹Nr.›</a:t>
            </a:fld>
            <a:endParaRPr lang="de-DE" sz="10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1815775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nke">
    <p:bg>
      <p:bgPr>
        <a:solidFill>
          <a:srgbClr val="2C3F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9DDD4D97-141A-4645-B9D8-3B092E6DE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 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9CF6A121-117E-2360-103B-99EDB01E807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32545" t="220" r="182" b="34710"/>
          <a:stretch/>
        </p:blipFill>
        <p:spPr>
          <a:xfrm>
            <a:off x="3886200" y="1"/>
            <a:ext cx="8305800" cy="4493986"/>
          </a:xfrm>
          <a:prstGeom prst="rect">
            <a:avLst/>
          </a:prstGeom>
        </p:spPr>
      </p:pic>
      <p:sp>
        <p:nvSpPr>
          <p:cNvPr id="4" name="Rechteck 3">
            <a:extLst>
              <a:ext uri="{FF2B5EF4-FFF2-40B4-BE49-F238E27FC236}">
                <a16:creationId xmlns:a16="http://schemas.microsoft.com/office/drawing/2014/main" id="{9849BAAD-819F-FD17-80DF-57FBF1AC5F33}"/>
              </a:ext>
            </a:extLst>
          </p:cNvPr>
          <p:cNvSpPr/>
          <p:nvPr userDrawn="1"/>
        </p:nvSpPr>
        <p:spPr>
          <a:xfrm>
            <a:off x="0" y="4673600"/>
            <a:ext cx="12192000" cy="1346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1CDA7B6D-2535-0335-A88B-441A3A5D0B8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46198" y="4859820"/>
            <a:ext cx="3274060" cy="980366"/>
          </a:xfrm>
          <a:prstGeom prst="rect">
            <a:avLst/>
          </a:prstGeom>
        </p:spPr>
      </p:pic>
      <p:sp>
        <p:nvSpPr>
          <p:cNvPr id="7" name="Rechteck 6">
            <a:extLst>
              <a:ext uri="{FF2B5EF4-FFF2-40B4-BE49-F238E27FC236}">
                <a16:creationId xmlns:a16="http://schemas.microsoft.com/office/drawing/2014/main" id="{232ADFC2-4F38-D2D1-1E96-C07243355627}"/>
              </a:ext>
            </a:extLst>
          </p:cNvPr>
          <p:cNvSpPr/>
          <p:nvPr userDrawn="1"/>
        </p:nvSpPr>
        <p:spPr>
          <a:xfrm>
            <a:off x="7124702" y="4859820"/>
            <a:ext cx="3644900" cy="9803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lnSpc>
                <a:spcPct val="150000"/>
              </a:lnSpc>
            </a:pPr>
            <a:r>
              <a:rPr lang="de-DE" sz="7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Gluth Systemtechnik GmbH</a:t>
            </a:r>
          </a:p>
          <a:p>
            <a:pPr algn="r">
              <a:lnSpc>
                <a:spcPct val="150000"/>
              </a:lnSpc>
            </a:pPr>
            <a:r>
              <a:rPr lang="de-DE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Cond" panose="020B0506020202020204" pitchFamily="34" charset="0"/>
              </a:rPr>
              <a:t>Steinweg 66  |  94315 Straubing</a:t>
            </a:r>
          </a:p>
          <a:p>
            <a:pPr algn="r">
              <a:lnSpc>
                <a:spcPct val="150000"/>
              </a:lnSpc>
            </a:pPr>
            <a:r>
              <a:rPr lang="de-DE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Cond" panose="020B0506020202020204" pitchFamily="34" charset="0"/>
              </a:rPr>
              <a:t>+49 9421 544-0  </a:t>
            </a:r>
            <a:r>
              <a:rPr lang="de-DE" sz="70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Cond" panose="020B0506020202020204" pitchFamily="34" charset="0"/>
                <a:ea typeface="+mn-ea"/>
                <a:cs typeface="+mn-cs"/>
              </a:rPr>
              <a:t>|  info@gluth.de  |  www</a:t>
            </a:r>
            <a:r>
              <a:rPr lang="de-DE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Cond" panose="020B0506020202020204" pitchFamily="34" charset="0"/>
              </a:rPr>
              <a:t>.gluth.de</a:t>
            </a:r>
          </a:p>
        </p:txBody>
      </p:sp>
    </p:spTree>
    <p:extLst>
      <p:ext uri="{BB962C8B-B14F-4D97-AF65-F5344CB8AC3E}">
        <p14:creationId xmlns:p14="http://schemas.microsoft.com/office/powerpoint/2010/main" val="19754858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15489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7" r:id="rId2"/>
    <p:sldLayoutId id="2147483656" r:id="rId3"/>
    <p:sldLayoutId id="2147483658" r:id="rId4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microsoft.com/office/2007/relationships/hdphoto" Target="../media/hdphoto1.wdp"/><Relationship Id="rId7" Type="http://schemas.openxmlformats.org/officeDocument/2006/relationships/image" Target="../media/image28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1.png"/><Relationship Id="rId11" Type="http://schemas.openxmlformats.org/officeDocument/2006/relationships/image" Target="../media/image26.png"/><Relationship Id="rId5" Type="http://schemas.microsoft.com/office/2007/relationships/hdphoto" Target="../media/hdphoto2.wdp"/><Relationship Id="rId10" Type="http://schemas.openxmlformats.org/officeDocument/2006/relationships/image" Target="../media/image33.png"/><Relationship Id="rId4" Type="http://schemas.openxmlformats.org/officeDocument/2006/relationships/image" Target="../media/image30.png"/><Relationship Id="rId9" Type="http://schemas.openxmlformats.org/officeDocument/2006/relationships/image" Target="../media/image3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zlich Willkommen…">
            <a:extLst>
              <a:ext uri="{FF2B5EF4-FFF2-40B4-BE49-F238E27FC236}">
                <a16:creationId xmlns:a16="http://schemas.microsoft.com/office/drawing/2014/main" id="{31991B22-ADE8-1F96-4A16-CC0F3362E09B}"/>
              </a:ext>
            </a:extLst>
          </p:cNvPr>
          <p:cNvSpPr txBox="1"/>
          <p:nvPr/>
        </p:nvSpPr>
        <p:spPr>
          <a:xfrm>
            <a:off x="1240125" y="762453"/>
            <a:ext cx="8358125" cy="11900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26789" tIns="26789" rIns="26789" bIns="26789" anchor="ctr">
            <a:spAutoFit/>
          </a:bodyPr>
          <a:lstStyle/>
          <a:p>
            <a:pPr algn="l">
              <a:defRPr sz="7000">
                <a:solidFill>
                  <a:srgbClr val="FFFFFF"/>
                </a:solidFill>
                <a:latin typeface="Gilroy ExtraBold"/>
                <a:ea typeface="Gilroy ExtraBold"/>
                <a:cs typeface="Gilroy ExtraBold"/>
                <a:sym typeface="Gilroy ExtraBold"/>
              </a:defRPr>
            </a:pPr>
            <a:r>
              <a:rPr lang="de-DE" sz="3691" dirty="0">
                <a:latin typeface="+mj-lt"/>
              </a:rPr>
              <a:t>Request </a:t>
            </a:r>
            <a:r>
              <a:rPr lang="de-DE" sz="3691" dirty="0" err="1">
                <a:latin typeface="+mj-lt"/>
              </a:rPr>
              <a:t>for</a:t>
            </a:r>
            <a:r>
              <a:rPr lang="de-DE" sz="3691" dirty="0">
                <a:latin typeface="+mj-lt"/>
              </a:rPr>
              <a:t> Quotation 190184</a:t>
            </a:r>
            <a:endParaRPr sz="3691" dirty="0">
              <a:latin typeface="+mj-lt"/>
            </a:endParaRPr>
          </a:p>
          <a:p>
            <a:pPr algn="l">
              <a:defRPr sz="7000">
                <a:solidFill>
                  <a:srgbClr val="4DB8A0"/>
                </a:solidFill>
                <a:latin typeface="Gilroy ExtraBold"/>
                <a:ea typeface="Gilroy ExtraBold"/>
                <a:cs typeface="Gilroy ExtraBold"/>
                <a:sym typeface="Gilroy ExtraBold"/>
              </a:defRPr>
            </a:pPr>
            <a:r>
              <a:rPr lang="de-DE" sz="3691" dirty="0">
                <a:latin typeface="+mj-lt"/>
              </a:rPr>
              <a:t>Insourcing Solenoid </a:t>
            </a:r>
            <a:r>
              <a:rPr lang="de-DE" sz="3691" dirty="0" err="1">
                <a:latin typeface="+mj-lt"/>
              </a:rPr>
              <a:t>Armature</a:t>
            </a:r>
            <a:endParaRPr sz="3691" dirty="0">
              <a:latin typeface="+mj-lt"/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6F2B2FFB-2635-0AF7-C0CA-090C26FBA723}"/>
              </a:ext>
            </a:extLst>
          </p:cNvPr>
          <p:cNvSpPr txBox="1"/>
          <p:nvPr/>
        </p:nvSpPr>
        <p:spPr>
          <a:xfrm>
            <a:off x="1184707" y="1982852"/>
            <a:ext cx="5747769" cy="50270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>
              <a:lnSpc>
                <a:spcPts val="1582"/>
              </a:lnSpc>
            </a:pPr>
            <a:r>
              <a:rPr lang="de-DE" sz="1400" b="1" dirty="0">
                <a:solidFill>
                  <a:srgbClr val="FFFFFF"/>
                </a:solidFill>
                <a:latin typeface="+mj-lt"/>
              </a:rPr>
              <a:t>06.06.2024</a:t>
            </a:r>
            <a:endParaRPr lang="de-DE" sz="1400" dirty="0">
              <a:solidFill>
                <a:srgbClr val="FFFFFF"/>
              </a:solidFill>
              <a:latin typeface="+mj-lt"/>
            </a:endParaRPr>
          </a:p>
          <a:p>
            <a:pPr algn="l">
              <a:lnSpc>
                <a:spcPts val="1582"/>
              </a:lnSpc>
            </a:pPr>
            <a:r>
              <a:rPr lang="de-DE" sz="1400" dirty="0">
                <a:solidFill>
                  <a:srgbClr val="FFFFFF"/>
                </a:solidFill>
                <a:latin typeface="+mj-lt"/>
              </a:rPr>
              <a:t>A07591000A / Bosch </a:t>
            </a:r>
            <a:r>
              <a:rPr lang="de-DE" sz="1400" dirty="0" err="1">
                <a:solidFill>
                  <a:srgbClr val="FFFFFF"/>
                </a:solidFill>
                <a:latin typeface="+mj-lt"/>
              </a:rPr>
              <a:t>RzP</a:t>
            </a:r>
            <a:endParaRPr lang="de-DE" sz="1400" dirty="0">
              <a:solidFill>
                <a:srgbClr val="FFFFFF"/>
              </a:solidFill>
              <a:latin typeface="+mj-lt"/>
            </a:endParaRP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F58F8751-910C-21F6-6568-917E0CBE7F0F}"/>
              </a:ext>
            </a:extLst>
          </p:cNvPr>
          <p:cNvSpPr txBox="1"/>
          <p:nvPr/>
        </p:nvSpPr>
        <p:spPr>
          <a:xfrm>
            <a:off x="1180774" y="2990934"/>
            <a:ext cx="3203859" cy="110267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>
              <a:lnSpc>
                <a:spcPts val="1582"/>
              </a:lnSpc>
            </a:pPr>
            <a:r>
              <a:rPr lang="de-DE" sz="1055" b="1" dirty="0">
                <a:solidFill>
                  <a:srgbClr val="FFFFFF"/>
                </a:solidFill>
                <a:latin typeface="Gilroy Light" pitchFamily="2" charset="77"/>
              </a:rPr>
              <a:t>Bernhard Hacker	</a:t>
            </a:r>
            <a:r>
              <a:rPr lang="de-DE" sz="1055" dirty="0">
                <a:solidFill>
                  <a:srgbClr val="FFFFFF"/>
                </a:solidFill>
                <a:latin typeface="Gilroy Light" pitchFamily="2" charset="77"/>
              </a:rPr>
              <a:t>	</a:t>
            </a:r>
            <a:br>
              <a:rPr lang="de-DE" sz="1055" dirty="0">
                <a:solidFill>
                  <a:srgbClr val="FFFFFF"/>
                </a:solidFill>
                <a:latin typeface="Gilroy Light" pitchFamily="2" charset="77"/>
              </a:rPr>
            </a:br>
            <a:r>
              <a:rPr lang="de-DE" sz="1055" dirty="0">
                <a:solidFill>
                  <a:srgbClr val="FFFFFF"/>
                </a:solidFill>
                <a:latin typeface="Gilroy Light" pitchFamily="2" charset="77"/>
              </a:rPr>
              <a:t>Technical Sales	 	</a:t>
            </a:r>
            <a:br>
              <a:rPr lang="de-DE" sz="1055" dirty="0">
                <a:solidFill>
                  <a:srgbClr val="FFFFFF"/>
                </a:solidFill>
                <a:latin typeface="Gilroy Light" pitchFamily="2" charset="77"/>
              </a:rPr>
            </a:br>
            <a:r>
              <a:rPr lang="de-DE" sz="1055" dirty="0">
                <a:solidFill>
                  <a:srgbClr val="FFFFFF"/>
                </a:solidFill>
                <a:latin typeface="Gilroy Light" pitchFamily="2" charset="77"/>
              </a:rPr>
              <a:t>E-Mail: hacker.bernhard@gluth.eu </a:t>
            </a:r>
            <a:br>
              <a:rPr lang="de-DE" sz="1055" dirty="0">
                <a:solidFill>
                  <a:srgbClr val="FFFFFF"/>
                </a:solidFill>
                <a:latin typeface="Gilroy Light" pitchFamily="2" charset="77"/>
              </a:rPr>
            </a:br>
            <a:r>
              <a:rPr lang="de-DE" sz="1055" dirty="0">
                <a:solidFill>
                  <a:srgbClr val="FFFFFF"/>
                </a:solidFill>
                <a:latin typeface="Gilroy Light" pitchFamily="2" charset="77"/>
              </a:rPr>
              <a:t>Tel      : +49 9421 / 544-19 	</a:t>
            </a:r>
          </a:p>
          <a:p>
            <a:pPr algn="l">
              <a:lnSpc>
                <a:spcPts val="1582"/>
              </a:lnSpc>
            </a:pPr>
            <a:r>
              <a:rPr lang="de-DE" sz="1055" dirty="0">
                <a:solidFill>
                  <a:srgbClr val="FFFFFF"/>
                </a:solidFill>
                <a:latin typeface="Gilroy Light" pitchFamily="2" charset="77"/>
              </a:rPr>
              <a:t>Mobil : +49 151 / 1402 8680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06477538-249B-9FDC-F5A9-A4181C54FAFE}"/>
              </a:ext>
            </a:extLst>
          </p:cNvPr>
          <p:cNvSpPr txBox="1"/>
          <p:nvPr/>
        </p:nvSpPr>
        <p:spPr>
          <a:xfrm>
            <a:off x="3354001" y="2990934"/>
            <a:ext cx="3203859" cy="89749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>
              <a:lnSpc>
                <a:spcPts val="1582"/>
              </a:lnSpc>
            </a:pPr>
            <a:r>
              <a:rPr lang="de-DE" sz="1055" b="1" dirty="0">
                <a:solidFill>
                  <a:srgbClr val="FFFFFF"/>
                </a:solidFill>
                <a:latin typeface="Gilroy Light" pitchFamily="2" charset="77"/>
              </a:rPr>
              <a:t>Fabien Brault</a:t>
            </a:r>
            <a:r>
              <a:rPr lang="de-DE" sz="1055" dirty="0">
                <a:solidFill>
                  <a:srgbClr val="FFFFFF"/>
                </a:solidFill>
                <a:latin typeface="Gilroy Light" pitchFamily="2" charset="77"/>
              </a:rPr>
              <a:t>		</a:t>
            </a:r>
            <a:br>
              <a:rPr lang="de-DE" sz="1055" dirty="0">
                <a:solidFill>
                  <a:srgbClr val="FFFFFF"/>
                </a:solidFill>
                <a:latin typeface="Gilroy Light" pitchFamily="2" charset="77"/>
              </a:rPr>
            </a:br>
            <a:r>
              <a:rPr lang="en-GB" sz="1055" dirty="0">
                <a:solidFill>
                  <a:srgbClr val="FFFFFF"/>
                </a:solidFill>
                <a:latin typeface="Gilroy Light" pitchFamily="2" charset="77"/>
              </a:rPr>
              <a:t>Mechanical</a:t>
            </a:r>
            <a:r>
              <a:rPr lang="de-DE" sz="1055" dirty="0">
                <a:solidFill>
                  <a:srgbClr val="FFFFFF"/>
                </a:solidFill>
                <a:latin typeface="Gilroy Light" pitchFamily="2" charset="77"/>
              </a:rPr>
              <a:t> Engineering	 	</a:t>
            </a:r>
            <a:br>
              <a:rPr lang="de-DE" sz="1055" dirty="0">
                <a:solidFill>
                  <a:srgbClr val="FFFFFF"/>
                </a:solidFill>
                <a:latin typeface="Gilroy Light" pitchFamily="2" charset="77"/>
              </a:rPr>
            </a:br>
            <a:r>
              <a:rPr lang="de-DE" sz="1055" dirty="0">
                <a:solidFill>
                  <a:srgbClr val="FFFFFF"/>
                </a:solidFill>
                <a:latin typeface="Gilroy Light" pitchFamily="2" charset="77"/>
              </a:rPr>
              <a:t>E-Mail: brault.fabien@gluth.eu </a:t>
            </a:r>
            <a:br>
              <a:rPr lang="de-DE" sz="1055" dirty="0">
                <a:solidFill>
                  <a:srgbClr val="FFFFFF"/>
                </a:solidFill>
                <a:latin typeface="Gilroy Light" pitchFamily="2" charset="77"/>
              </a:rPr>
            </a:br>
            <a:r>
              <a:rPr lang="de-DE" sz="1055" dirty="0">
                <a:solidFill>
                  <a:srgbClr val="FFFFFF"/>
                </a:solidFill>
                <a:latin typeface="Gilroy Light" pitchFamily="2" charset="77"/>
              </a:rPr>
              <a:t>Tel      : +49 9421 / 544-78 	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863FCE5E-6235-0F03-3095-0BF33375AB32}"/>
              </a:ext>
            </a:extLst>
          </p:cNvPr>
          <p:cNvSpPr txBox="1"/>
          <p:nvPr/>
        </p:nvSpPr>
        <p:spPr>
          <a:xfrm>
            <a:off x="1180775" y="2627956"/>
            <a:ext cx="3203859" cy="29751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>
              <a:lnSpc>
                <a:spcPts val="1582"/>
              </a:lnSpc>
            </a:pPr>
            <a:r>
              <a:rPr lang="de-DE" sz="1400" b="1" dirty="0">
                <a:solidFill>
                  <a:srgbClr val="FFFFFF"/>
                </a:solidFill>
                <a:latin typeface="Gilroy Light" pitchFamily="2" charset="77"/>
              </a:rPr>
              <a:t>Ansprechpartner Gluth:</a:t>
            </a:r>
            <a:endParaRPr lang="de-DE" sz="1400" dirty="0">
              <a:solidFill>
                <a:srgbClr val="FFFFFF"/>
              </a:solidFill>
              <a:latin typeface="Gilroy Light" pitchFamily="2" charset="77"/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692DBC2A-ACB5-215C-8E1C-2B0DA55439CB}"/>
              </a:ext>
            </a:extLst>
          </p:cNvPr>
          <p:cNvSpPr txBox="1"/>
          <p:nvPr/>
        </p:nvSpPr>
        <p:spPr>
          <a:xfrm>
            <a:off x="6001955" y="2627956"/>
            <a:ext cx="3203859" cy="29751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>
              <a:lnSpc>
                <a:spcPts val="1582"/>
              </a:lnSpc>
            </a:pPr>
            <a:r>
              <a:rPr lang="de-DE" sz="1400" b="1" dirty="0">
                <a:solidFill>
                  <a:srgbClr val="FFFFFF"/>
                </a:solidFill>
                <a:latin typeface="Gilroy Light" pitchFamily="2" charset="77"/>
              </a:rPr>
              <a:t>Ansprechpartner Bosch </a:t>
            </a:r>
            <a:r>
              <a:rPr lang="de-DE" sz="1400" b="1" dirty="0" err="1">
                <a:solidFill>
                  <a:srgbClr val="FFFFFF"/>
                </a:solidFill>
                <a:latin typeface="Gilroy Light" pitchFamily="2" charset="77"/>
              </a:rPr>
              <a:t>RzP</a:t>
            </a:r>
            <a:r>
              <a:rPr lang="de-DE" sz="1400" b="1" dirty="0">
                <a:solidFill>
                  <a:srgbClr val="FFFFFF"/>
                </a:solidFill>
                <a:latin typeface="Gilroy Light" pitchFamily="2" charset="77"/>
              </a:rPr>
              <a:t>:</a:t>
            </a:r>
            <a:endParaRPr lang="de-DE" sz="1400" dirty="0">
              <a:solidFill>
                <a:srgbClr val="FFFFFF"/>
              </a:solidFill>
              <a:latin typeface="Gilroy Light" pitchFamily="2" charset="77"/>
            </a:endParaRP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C0760337-082B-0153-EDA7-45B55C65C002}"/>
              </a:ext>
            </a:extLst>
          </p:cNvPr>
          <p:cNvSpPr txBox="1"/>
          <p:nvPr/>
        </p:nvSpPr>
        <p:spPr>
          <a:xfrm>
            <a:off x="6008053" y="2980255"/>
            <a:ext cx="2652171" cy="130785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>
              <a:lnSpc>
                <a:spcPts val="1582"/>
              </a:lnSpc>
            </a:pPr>
            <a:r>
              <a:rPr lang="de-DE" sz="1055" b="1" dirty="0">
                <a:solidFill>
                  <a:srgbClr val="FFFFFF"/>
                </a:solidFill>
                <a:latin typeface="Gilroy Light" pitchFamily="2" charset="77"/>
              </a:rPr>
              <a:t>William </a:t>
            </a:r>
            <a:r>
              <a:rPr lang="de-DE" sz="1055" b="1" dirty="0" err="1">
                <a:solidFill>
                  <a:srgbClr val="FFFFFF"/>
                </a:solidFill>
                <a:latin typeface="Gilroy Light" pitchFamily="2" charset="77"/>
              </a:rPr>
              <a:t>Bauguil</a:t>
            </a:r>
            <a:br>
              <a:rPr lang="de-DE" sz="1055" dirty="0">
                <a:solidFill>
                  <a:srgbClr val="FFFFFF"/>
                </a:solidFill>
                <a:latin typeface="Gilroy Light" pitchFamily="2" charset="77"/>
              </a:rPr>
            </a:br>
            <a:r>
              <a:rPr lang="de-DE" sz="1055" dirty="0">
                <a:solidFill>
                  <a:srgbClr val="FFFFFF"/>
                </a:solidFill>
                <a:latin typeface="Gilroy Light" pitchFamily="2" charset="77"/>
              </a:rPr>
              <a:t>Planner</a:t>
            </a:r>
          </a:p>
          <a:p>
            <a:pPr algn="l">
              <a:lnSpc>
                <a:spcPts val="1582"/>
              </a:lnSpc>
            </a:pPr>
            <a:r>
              <a:rPr lang="de-DE" sz="1055" dirty="0" err="1">
                <a:solidFill>
                  <a:srgbClr val="FFFFFF"/>
                </a:solidFill>
                <a:latin typeface="Gilroy Light" pitchFamily="2" charset="77"/>
              </a:rPr>
              <a:t>RzP</a:t>
            </a:r>
            <a:r>
              <a:rPr lang="de-DE" sz="1055" dirty="0">
                <a:solidFill>
                  <a:srgbClr val="FFFFFF"/>
                </a:solidFill>
                <a:latin typeface="Gilroy Light" pitchFamily="2" charset="77"/>
              </a:rPr>
              <a:t>/MFE1</a:t>
            </a:r>
            <a:br>
              <a:rPr lang="de-DE" sz="1055" dirty="0">
                <a:solidFill>
                  <a:srgbClr val="FFFFFF"/>
                </a:solidFill>
                <a:latin typeface="Gilroy Light" pitchFamily="2" charset="77"/>
              </a:rPr>
            </a:br>
            <a:r>
              <a:rPr lang="de-DE" sz="1055" dirty="0">
                <a:solidFill>
                  <a:srgbClr val="FFFFFF"/>
                </a:solidFill>
                <a:latin typeface="Gilroy Light" pitchFamily="2" charset="77"/>
              </a:rPr>
              <a:t>E-Mail: william.bauguil@fr.bosch.com</a:t>
            </a:r>
            <a:br>
              <a:rPr lang="de-DE" sz="1055" dirty="0">
                <a:solidFill>
                  <a:srgbClr val="FFFFFF"/>
                </a:solidFill>
                <a:latin typeface="Gilroy Light" pitchFamily="2" charset="77"/>
              </a:rPr>
            </a:br>
            <a:r>
              <a:rPr lang="de-DE" sz="1055" dirty="0">
                <a:solidFill>
                  <a:srgbClr val="FFFFFF"/>
                </a:solidFill>
                <a:latin typeface="Gilroy Light" pitchFamily="2" charset="77"/>
              </a:rPr>
              <a:t>Tel      : +33 5 6567-9485</a:t>
            </a:r>
          </a:p>
          <a:p>
            <a:pPr algn="l">
              <a:lnSpc>
                <a:spcPts val="1582"/>
              </a:lnSpc>
            </a:pPr>
            <a:r>
              <a:rPr lang="de-DE" sz="1055" dirty="0">
                <a:solidFill>
                  <a:srgbClr val="FFFFFF"/>
                </a:solidFill>
                <a:latin typeface="Gilroy Light" pitchFamily="2" charset="77"/>
              </a:rPr>
              <a:t>Mobil : +33 6 34 26 44 81	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08672A2D-B021-612C-7112-EA667489C66F}"/>
              </a:ext>
            </a:extLst>
          </p:cNvPr>
          <p:cNvSpPr txBox="1"/>
          <p:nvPr/>
        </p:nvSpPr>
        <p:spPr>
          <a:xfrm>
            <a:off x="8406250" y="2990934"/>
            <a:ext cx="2652171" cy="110267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>
              <a:lnSpc>
                <a:spcPts val="1582"/>
              </a:lnSpc>
            </a:pPr>
            <a:r>
              <a:rPr lang="de-DE" sz="1055" b="1" dirty="0">
                <a:solidFill>
                  <a:srgbClr val="FFFFFF"/>
                </a:solidFill>
                <a:latin typeface="Gilroy Light" pitchFamily="2" charset="77"/>
              </a:rPr>
              <a:t>Sara </a:t>
            </a:r>
            <a:r>
              <a:rPr lang="de-DE" sz="1055" b="1" dirty="0" err="1">
                <a:solidFill>
                  <a:srgbClr val="FFFFFF"/>
                </a:solidFill>
                <a:latin typeface="Gilroy Light" pitchFamily="2" charset="77"/>
              </a:rPr>
              <a:t>Gohier</a:t>
            </a:r>
            <a:br>
              <a:rPr lang="de-DE" sz="1055" dirty="0">
                <a:solidFill>
                  <a:srgbClr val="FFFFFF"/>
                </a:solidFill>
                <a:latin typeface="Gilroy Light" pitchFamily="2" charset="77"/>
              </a:rPr>
            </a:br>
            <a:r>
              <a:rPr lang="de-DE" sz="1055" dirty="0" err="1">
                <a:solidFill>
                  <a:srgbClr val="FFFFFF"/>
                </a:solidFill>
                <a:latin typeface="Gilroy Light" pitchFamily="2" charset="77"/>
              </a:rPr>
              <a:t>Purchaser</a:t>
            </a:r>
            <a:endParaRPr lang="de-DE" sz="1055" dirty="0">
              <a:solidFill>
                <a:srgbClr val="FFFFFF"/>
              </a:solidFill>
              <a:latin typeface="Gilroy Light" pitchFamily="2" charset="77"/>
            </a:endParaRPr>
          </a:p>
          <a:p>
            <a:pPr algn="l">
              <a:lnSpc>
                <a:spcPts val="1582"/>
              </a:lnSpc>
            </a:pPr>
            <a:r>
              <a:rPr lang="de-DE" sz="1055" dirty="0">
                <a:solidFill>
                  <a:srgbClr val="FFFFFF"/>
                </a:solidFill>
                <a:latin typeface="Gilroy Light" pitchFamily="2" charset="77"/>
              </a:rPr>
              <a:t>GS/PUI5-TME2</a:t>
            </a:r>
            <a:br>
              <a:rPr lang="de-DE" sz="1055" dirty="0">
                <a:solidFill>
                  <a:srgbClr val="FFFFFF"/>
                </a:solidFill>
                <a:latin typeface="Gilroy Light" pitchFamily="2" charset="77"/>
              </a:rPr>
            </a:br>
            <a:r>
              <a:rPr lang="de-DE" sz="1055" dirty="0">
                <a:solidFill>
                  <a:srgbClr val="FFFFFF"/>
                </a:solidFill>
                <a:latin typeface="Gilroy Light" pitchFamily="2" charset="77"/>
              </a:rPr>
              <a:t>E-Mail: sara.gohier@ro.bosch.com</a:t>
            </a:r>
            <a:br>
              <a:rPr lang="de-DE" sz="1055" dirty="0">
                <a:solidFill>
                  <a:srgbClr val="FFFFFF"/>
                </a:solidFill>
                <a:latin typeface="Gilroy Light" pitchFamily="2" charset="77"/>
              </a:rPr>
            </a:br>
            <a:r>
              <a:rPr lang="de-DE" sz="1055" dirty="0">
                <a:solidFill>
                  <a:srgbClr val="FFFFFF"/>
                </a:solidFill>
                <a:latin typeface="Gilroy Light" pitchFamily="2" charset="77"/>
              </a:rPr>
              <a:t>Tel      : +40 722 358 050</a:t>
            </a:r>
          </a:p>
        </p:txBody>
      </p:sp>
      <p:pic>
        <p:nvPicPr>
          <p:cNvPr id="10" name="Grafik 9" descr="Ein Bild, das Zeichnung enthält.&#10;&#10;Automatisch generierte Beschreibung">
            <a:extLst>
              <a:ext uri="{FF2B5EF4-FFF2-40B4-BE49-F238E27FC236}">
                <a16:creationId xmlns:a16="http://schemas.microsoft.com/office/drawing/2014/main" id="{C624BC15-E23E-0745-563F-6D568EAA19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5609" y="5049337"/>
            <a:ext cx="1700782" cy="555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33210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" name="Tabelle 32">
            <a:extLst>
              <a:ext uri="{FF2B5EF4-FFF2-40B4-BE49-F238E27FC236}">
                <a16:creationId xmlns:a16="http://schemas.microsoft.com/office/drawing/2014/main" id="{8D470773-E863-0B0A-F04B-4B8735782B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083135"/>
              </p:ext>
            </p:extLst>
          </p:nvPr>
        </p:nvGraphicFramePr>
        <p:xfrm>
          <a:off x="241147" y="1048564"/>
          <a:ext cx="4918726" cy="198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3768">
                  <a:extLst>
                    <a:ext uri="{9D8B030D-6E8A-4147-A177-3AD203B41FA5}">
                      <a16:colId xmlns:a16="http://schemas.microsoft.com/office/drawing/2014/main" val="566185741"/>
                    </a:ext>
                  </a:extLst>
                </a:gridCol>
                <a:gridCol w="1167130">
                  <a:extLst>
                    <a:ext uri="{9D8B030D-6E8A-4147-A177-3AD203B41FA5}">
                      <a16:colId xmlns:a16="http://schemas.microsoft.com/office/drawing/2014/main" val="1741154475"/>
                    </a:ext>
                  </a:extLst>
                </a:gridCol>
                <a:gridCol w="1370330">
                  <a:extLst>
                    <a:ext uri="{9D8B030D-6E8A-4147-A177-3AD203B41FA5}">
                      <a16:colId xmlns:a16="http://schemas.microsoft.com/office/drawing/2014/main" val="611645751"/>
                    </a:ext>
                  </a:extLst>
                </a:gridCol>
                <a:gridCol w="1447498">
                  <a:extLst>
                    <a:ext uri="{9D8B030D-6E8A-4147-A177-3AD203B41FA5}">
                      <a16:colId xmlns:a16="http://schemas.microsoft.com/office/drawing/2014/main" val="1617797840"/>
                    </a:ext>
                  </a:extLst>
                </a:gridCol>
              </a:tblGrid>
              <a:tr h="289124">
                <a:tc>
                  <a:txBody>
                    <a:bodyPr/>
                    <a:lstStyle/>
                    <a:p>
                      <a:pPr algn="ctr"/>
                      <a:r>
                        <a:rPr lang="de-DE" sz="1000" dirty="0"/>
                        <a:t>Parts </a:t>
                      </a:r>
                      <a:r>
                        <a:rPr lang="de-DE" sz="1000" dirty="0" err="1"/>
                        <a:t>name</a:t>
                      </a:r>
                      <a:r>
                        <a:rPr lang="de-DE" sz="100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000" dirty="0" err="1"/>
                        <a:t>Assembled</a:t>
                      </a:r>
                      <a:r>
                        <a:rPr lang="de-DE" sz="1000" dirty="0"/>
                        <a:t> </a:t>
                      </a:r>
                      <a:r>
                        <a:rPr lang="de-DE" sz="1000" dirty="0" err="1"/>
                        <a:t>part</a:t>
                      </a:r>
                      <a:endParaRPr lang="de-DE" sz="1000" dirty="0"/>
                    </a:p>
                    <a:p>
                      <a:pPr algn="ctr"/>
                      <a:r>
                        <a:rPr lang="de-DE" sz="1000" dirty="0" err="1"/>
                        <a:t>reference</a:t>
                      </a:r>
                      <a:endParaRPr lang="de-DE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000" dirty="0"/>
                        <a:t>Plate </a:t>
                      </a:r>
                      <a:r>
                        <a:rPr lang="de-DE" sz="1000" dirty="0" err="1"/>
                        <a:t>reference</a:t>
                      </a:r>
                      <a:endParaRPr lang="de-DE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000" dirty="0"/>
                        <a:t>Pin </a:t>
                      </a:r>
                      <a:r>
                        <a:rPr lang="de-DE" sz="1000" dirty="0" err="1"/>
                        <a:t>reference</a:t>
                      </a:r>
                      <a:endParaRPr lang="de-DE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5254656"/>
                  </a:ext>
                </a:extLst>
              </a:tr>
              <a:tr h="217076">
                <a:tc rowSpan="4">
                  <a:txBody>
                    <a:bodyPr/>
                    <a:lstStyle/>
                    <a:p>
                      <a:pPr algn="ctr"/>
                      <a:r>
                        <a:rPr lang="de-DE" sz="1000" dirty="0"/>
                        <a:t>Solenoid</a:t>
                      </a:r>
                    </a:p>
                    <a:p>
                      <a:pPr algn="ctr"/>
                      <a:r>
                        <a:rPr lang="de-DE" sz="1000" dirty="0" err="1"/>
                        <a:t>armature</a:t>
                      </a:r>
                      <a:endParaRPr lang="de-DE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1000" dirty="0"/>
                        <a:t>F 00N 000 182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F 00V D43 207</a:t>
                      </a:r>
                    </a:p>
                    <a:p>
                      <a:r>
                        <a:rPr lang="de-DE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Ø27,95mm, h5,4mm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1000" dirty="0">
                          <a:solidFill>
                            <a:schemeClr val="tx1"/>
                          </a:solidFill>
                        </a:rPr>
                        <a:t>F 00N 000 183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000" dirty="0">
                          <a:solidFill>
                            <a:schemeClr val="tx1"/>
                          </a:solidFill>
                        </a:rPr>
                        <a:t>Ø4mm, L56,295mm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73391173"/>
                  </a:ext>
                </a:extLst>
              </a:tr>
              <a:tr h="248648">
                <a:tc vMerge="1">
                  <a:txBody>
                    <a:bodyPr/>
                    <a:lstStyle/>
                    <a:p>
                      <a:endParaRPr lang="de-DE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/>
                        <a:t>F 00N 000 375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1000" dirty="0"/>
                        <a:t>F 00N 000 274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000" dirty="0">
                          <a:solidFill>
                            <a:schemeClr val="tx1"/>
                          </a:solidFill>
                        </a:rPr>
                        <a:t>Ø31,2mm, h6mm</a:t>
                      </a:r>
                      <a:endParaRPr lang="de-DE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1000" b="0" dirty="0">
                          <a:solidFill>
                            <a:schemeClr val="tx1"/>
                          </a:solidFill>
                        </a:rPr>
                        <a:t>F 00N 000 379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000" dirty="0">
                          <a:solidFill>
                            <a:schemeClr val="tx1"/>
                          </a:solidFill>
                        </a:rPr>
                        <a:t>Ø5mm, L56,785mm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58037003"/>
                  </a:ext>
                </a:extLst>
              </a:tr>
              <a:tr h="184929">
                <a:tc vMerge="1">
                  <a:txBody>
                    <a:bodyPr/>
                    <a:lstStyle/>
                    <a:p>
                      <a:endParaRPr lang="de-DE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/>
                        <a:t>F 00V D43 203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000" dirty="0"/>
                        <a:t>F 00V D43 200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000" dirty="0">
                          <a:solidFill>
                            <a:schemeClr val="tx1"/>
                          </a:solidFill>
                        </a:rPr>
                        <a:t>Ø27,95mm, h5,4mm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0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F 00V D44 200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0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Ø4mm, L55,8mm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584600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de-DE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/>
                        <a:t>F 00V D43 208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F 00V D43 207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Ø27,95mm, h5,4mm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0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F 00V D44 200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0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Ø4mm, L55,8mm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00164672"/>
                  </a:ext>
                </a:extLst>
              </a:tr>
            </a:tbl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E4AF710B-440B-F719-7EF8-A18EC5D9D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Products </a:t>
            </a:r>
            <a:r>
              <a:rPr lang="de-DE" dirty="0" err="1"/>
              <a:t>solenoid</a:t>
            </a:r>
            <a:r>
              <a:rPr lang="de-DE" dirty="0"/>
              <a:t> </a:t>
            </a:r>
            <a:r>
              <a:rPr lang="de-DE" dirty="0" err="1"/>
              <a:t>armature</a:t>
            </a:r>
            <a:endParaRPr lang="de-DE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DF59BDE7-B56B-2256-F2B3-309697375C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103" y="3275255"/>
            <a:ext cx="4363162" cy="1015900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561DC93F-84FE-51CC-AA86-7D23C691F2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9741069" y="3246670"/>
            <a:ext cx="1312687" cy="1800000"/>
          </a:xfrm>
          <a:prstGeom prst="rect">
            <a:avLst/>
          </a:prstGeom>
          <a:ln w="12700">
            <a:solidFill>
              <a:schemeClr val="bg1">
                <a:lumMod val="50000"/>
              </a:schemeClr>
            </a:solidFill>
          </a:ln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6912CE81-B8AD-A2A1-49AD-C12AA3C5B7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5538783" y="4582020"/>
            <a:ext cx="1294001" cy="1800000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2F305696-07E1-2DE1-FDEF-948FDF7E1B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0360" y="651924"/>
            <a:ext cx="1800000" cy="1288073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C10A1735-248B-3E2F-E1F9-5783F3742F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5529858" y="3169627"/>
            <a:ext cx="1311849" cy="1800000"/>
          </a:xfrm>
          <a:prstGeom prst="rect">
            <a:avLst/>
          </a:prstGeom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090E6526-3208-1016-8156-E9CD3DF7810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20360" y="3490327"/>
            <a:ext cx="1800000" cy="1305920"/>
          </a:xfrm>
          <a:prstGeom prst="rect">
            <a:avLst/>
          </a:prstGeom>
        </p:spPr>
      </p:pic>
      <p:pic>
        <p:nvPicPr>
          <p:cNvPr id="18" name="Grafik 17">
            <a:extLst>
              <a:ext uri="{FF2B5EF4-FFF2-40B4-BE49-F238E27FC236}">
                <a16:creationId xmlns:a16="http://schemas.microsoft.com/office/drawing/2014/main" id="{5473B5A8-0B31-32B8-A637-44F813AB288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97412" y="2131173"/>
            <a:ext cx="1800000" cy="1287080"/>
          </a:xfrm>
          <a:prstGeom prst="rect">
            <a:avLst/>
          </a:prstGeom>
        </p:spPr>
      </p:pic>
      <p:pic>
        <p:nvPicPr>
          <p:cNvPr id="20" name="Grafik 19">
            <a:extLst>
              <a:ext uri="{FF2B5EF4-FFF2-40B4-BE49-F238E27FC236}">
                <a16:creationId xmlns:a16="http://schemas.microsoft.com/office/drawing/2014/main" id="{803721CD-A929-A3ED-329E-36122E4399D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85783" y="2061076"/>
            <a:ext cx="1800000" cy="1286163"/>
          </a:xfrm>
          <a:prstGeom prst="rect">
            <a:avLst/>
          </a:prstGeom>
        </p:spPr>
      </p:pic>
      <p:pic>
        <p:nvPicPr>
          <p:cNvPr id="22" name="Grafik 21">
            <a:extLst>
              <a:ext uri="{FF2B5EF4-FFF2-40B4-BE49-F238E27FC236}">
                <a16:creationId xmlns:a16="http://schemas.microsoft.com/office/drawing/2014/main" id="{4E3E4E8E-13F8-359A-EFE9-2EF9AF1B1D8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20360" y="2102501"/>
            <a:ext cx="1800000" cy="1294826"/>
          </a:xfrm>
          <a:prstGeom prst="rect">
            <a:avLst/>
          </a:prstGeom>
        </p:spPr>
      </p:pic>
      <p:pic>
        <p:nvPicPr>
          <p:cNvPr id="24" name="Grafik 23">
            <a:extLst>
              <a:ext uri="{FF2B5EF4-FFF2-40B4-BE49-F238E27FC236}">
                <a16:creationId xmlns:a16="http://schemas.microsoft.com/office/drawing/2014/main" id="{6EED19C8-5877-AF44-51ED-376A03D60CD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285783" y="644789"/>
            <a:ext cx="1800000" cy="1281132"/>
          </a:xfrm>
          <a:prstGeom prst="rect">
            <a:avLst/>
          </a:prstGeom>
        </p:spPr>
      </p:pic>
      <p:pic>
        <p:nvPicPr>
          <p:cNvPr id="26" name="Grafik 25">
            <a:extLst>
              <a:ext uri="{FF2B5EF4-FFF2-40B4-BE49-F238E27FC236}">
                <a16:creationId xmlns:a16="http://schemas.microsoft.com/office/drawing/2014/main" id="{B56803EA-74FB-3736-13CC-B3F012AFF1E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497412" y="644789"/>
            <a:ext cx="1800000" cy="1295208"/>
          </a:xfrm>
          <a:prstGeom prst="rect">
            <a:avLst/>
          </a:prstGeom>
        </p:spPr>
      </p:pic>
      <p:pic>
        <p:nvPicPr>
          <p:cNvPr id="27" name="Grafik 26">
            <a:extLst>
              <a:ext uri="{FF2B5EF4-FFF2-40B4-BE49-F238E27FC236}">
                <a16:creationId xmlns:a16="http://schemas.microsoft.com/office/drawing/2014/main" id="{5282DF16-4B6A-1B0E-FB90-35EB828EB8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0360" y="4879071"/>
            <a:ext cx="1800000" cy="1288073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</p:pic>
      <p:pic>
        <p:nvPicPr>
          <p:cNvPr id="28" name="Grafik 27">
            <a:extLst>
              <a:ext uri="{FF2B5EF4-FFF2-40B4-BE49-F238E27FC236}">
                <a16:creationId xmlns:a16="http://schemas.microsoft.com/office/drawing/2014/main" id="{AAAFE9A0-EB11-35C7-1331-D230C75168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9741068" y="4631430"/>
            <a:ext cx="1312687" cy="1800000"/>
          </a:xfrm>
          <a:prstGeom prst="rect">
            <a:avLst/>
          </a:prstGeom>
          <a:ln w="12700">
            <a:solidFill>
              <a:schemeClr val="bg1">
                <a:lumMod val="50000"/>
              </a:schemeClr>
            </a:solidFill>
          </a:ln>
        </p:spPr>
      </p:pic>
      <p:sp>
        <p:nvSpPr>
          <p:cNvPr id="29" name="Textfeld 28">
            <a:extLst>
              <a:ext uri="{FF2B5EF4-FFF2-40B4-BE49-F238E27FC236}">
                <a16:creationId xmlns:a16="http://schemas.microsoft.com/office/drawing/2014/main" id="{D8F4DB56-3DC7-C8D6-BA0B-BAEB18BBF126}"/>
              </a:ext>
            </a:extLst>
          </p:cNvPr>
          <p:cNvSpPr txBox="1"/>
          <p:nvPr/>
        </p:nvSpPr>
        <p:spPr>
          <a:xfrm>
            <a:off x="320735" y="4550026"/>
            <a:ext cx="483913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/>
              <a:t>Cycle time: 8,2s</a:t>
            </a:r>
          </a:p>
          <a:p>
            <a:endParaRPr lang="de-DE" sz="1000" dirty="0"/>
          </a:p>
          <a:p>
            <a:endParaRPr lang="de-DE" sz="1000" dirty="0"/>
          </a:p>
          <a:p>
            <a:endParaRPr lang="de-DE" sz="1000" dirty="0"/>
          </a:p>
          <a:p>
            <a:r>
              <a:rPr lang="de-DE" sz="1000" dirty="0"/>
              <a:t>Basis </a:t>
            </a:r>
            <a:r>
              <a:rPr lang="de-DE" sz="1000" dirty="0" err="1"/>
              <a:t>of</a:t>
            </a:r>
            <a:r>
              <a:rPr lang="de-DE" sz="1000" dirty="0"/>
              <a:t> </a:t>
            </a:r>
            <a:r>
              <a:rPr lang="de-DE" sz="1000" dirty="0" err="1"/>
              <a:t>our</a:t>
            </a:r>
            <a:r>
              <a:rPr lang="de-DE" sz="1000" dirty="0"/>
              <a:t> </a:t>
            </a:r>
            <a:r>
              <a:rPr lang="de-DE" sz="1000" dirty="0" err="1"/>
              <a:t>offer</a:t>
            </a:r>
            <a:r>
              <a:rPr lang="de-DE" sz="1000" dirty="0"/>
              <a:t>:</a:t>
            </a:r>
          </a:p>
          <a:p>
            <a:endParaRPr lang="de-DE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000" dirty="0" err="1"/>
              <a:t>Your</a:t>
            </a:r>
            <a:r>
              <a:rPr lang="de-DE" sz="1000" dirty="0"/>
              <a:t> </a:t>
            </a:r>
            <a:r>
              <a:rPr lang="de-DE" sz="1000" dirty="0" err="1"/>
              <a:t>specification</a:t>
            </a:r>
            <a:r>
              <a:rPr lang="de-DE" sz="1000" dirty="0"/>
              <a:t> ‚CDC </a:t>
            </a:r>
            <a:r>
              <a:rPr lang="de-DE" sz="1000" dirty="0" err="1"/>
              <a:t>solenoid</a:t>
            </a:r>
            <a:r>
              <a:rPr lang="de-DE" sz="1000" dirty="0"/>
              <a:t> </a:t>
            </a:r>
            <a:r>
              <a:rPr lang="de-DE" sz="1000" dirty="0" err="1"/>
              <a:t>armature</a:t>
            </a:r>
            <a:r>
              <a:rPr lang="de-DE" sz="1000" dirty="0"/>
              <a:t> </a:t>
            </a:r>
            <a:r>
              <a:rPr lang="de-DE" sz="1000" dirty="0" err="1"/>
              <a:t>assembly</a:t>
            </a:r>
            <a:r>
              <a:rPr lang="de-DE" sz="1000" dirty="0"/>
              <a:t> V1‘ </a:t>
            </a:r>
            <a:r>
              <a:rPr lang="de-DE" sz="1000" dirty="0" err="1"/>
              <a:t>from</a:t>
            </a:r>
            <a:r>
              <a:rPr lang="de-DE" sz="1000" dirty="0"/>
              <a:t> 02.04.2024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000" dirty="0" err="1"/>
              <a:t>Your</a:t>
            </a:r>
            <a:r>
              <a:rPr lang="de-DE" sz="1000" dirty="0"/>
              <a:t> </a:t>
            </a:r>
            <a:r>
              <a:rPr lang="de-DE" sz="1000" dirty="0" err="1"/>
              <a:t>process</a:t>
            </a:r>
            <a:r>
              <a:rPr lang="de-DE" sz="1000" dirty="0"/>
              <a:t> </a:t>
            </a:r>
            <a:r>
              <a:rPr lang="de-DE" sz="1000" dirty="0" err="1"/>
              <a:t>parameters</a:t>
            </a:r>
            <a:r>
              <a:rPr lang="de-DE" sz="1000" dirty="0"/>
              <a:t> F 00V D39 030 &amp; F 00V D39 031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000" dirty="0"/>
              <a:t>Phone </a:t>
            </a:r>
            <a:r>
              <a:rPr lang="de-DE" sz="1000" dirty="0" err="1"/>
              <a:t>call</a:t>
            </a:r>
            <a:r>
              <a:rPr lang="de-DE" sz="1000" dirty="0"/>
              <a:t> Brault/Bauguil on 07.06.2024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000" dirty="0"/>
              <a:t>Former </a:t>
            </a:r>
            <a:r>
              <a:rPr lang="de-DE" sz="1000" dirty="0" err="1"/>
              <a:t>concept</a:t>
            </a:r>
            <a:r>
              <a:rPr lang="de-DE" sz="1000" dirty="0"/>
              <a:t> </a:t>
            </a:r>
            <a:r>
              <a:rPr lang="de-DE" sz="1000" dirty="0" err="1"/>
              <a:t>of</a:t>
            </a:r>
            <a:r>
              <a:rPr lang="de-DE" sz="1000" dirty="0"/>
              <a:t> </a:t>
            </a:r>
            <a:r>
              <a:rPr lang="de-DE" sz="1000" dirty="0" err="1"/>
              <a:t>M.Waas</a:t>
            </a:r>
            <a:endParaRPr lang="de-DE" sz="1000" dirty="0"/>
          </a:p>
        </p:txBody>
      </p:sp>
    </p:spTree>
    <p:extLst>
      <p:ext uri="{BB962C8B-B14F-4D97-AF65-F5344CB8AC3E}">
        <p14:creationId xmlns:p14="http://schemas.microsoft.com/office/powerpoint/2010/main" val="20911087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DDCBDE4-45F9-98BB-13A2-A1C279AC9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loading</a:t>
            </a:r>
            <a:r>
              <a:rPr lang="de-DE" dirty="0"/>
              <a:t> &amp; </a:t>
            </a:r>
            <a:r>
              <a:rPr lang="de-DE" dirty="0" err="1"/>
              <a:t>unloading</a:t>
            </a:r>
            <a:r>
              <a:rPr lang="de-DE" dirty="0"/>
              <a:t> </a:t>
            </a:r>
            <a:r>
              <a:rPr lang="de-DE" dirty="0" err="1"/>
              <a:t>trays</a:t>
            </a:r>
            <a:endParaRPr lang="de-DE" dirty="0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522E593C-67FE-CD6C-264B-73FA2F4F2DEE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333422" y="947651"/>
            <a:ext cx="2979295" cy="2192915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47641A09-6941-6F45-8AF0-2DEB4D1031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91243" y="1823489"/>
            <a:ext cx="1459572" cy="561037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DEBCE13E-9901-905B-D42F-41CCF878A0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101" y="5103029"/>
            <a:ext cx="1300414" cy="490842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43A1299C-E551-1241-44F3-BA5949BEEAAF}"/>
              </a:ext>
            </a:extLst>
          </p:cNvPr>
          <p:cNvSpPr txBox="1"/>
          <p:nvPr/>
        </p:nvSpPr>
        <p:spPr>
          <a:xfrm>
            <a:off x="417477" y="712884"/>
            <a:ext cx="157060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/>
              <a:t>Tray </a:t>
            </a:r>
            <a:r>
              <a:rPr lang="de-DE" sz="1400" dirty="0" err="1"/>
              <a:t>pin</a:t>
            </a:r>
            <a:endParaRPr lang="de-DE" sz="1400" dirty="0"/>
          </a:p>
          <a:p>
            <a:r>
              <a:rPr lang="de-DE" sz="800" dirty="0">
                <a:solidFill>
                  <a:schemeClr val="bg1">
                    <a:lumMod val="50000"/>
                  </a:schemeClr>
                </a:solidFill>
              </a:rPr>
              <a:t>ET_0746W004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FA4E0CB3-6570-E5E1-5214-9D5F932AAE06}"/>
              </a:ext>
            </a:extLst>
          </p:cNvPr>
          <p:cNvSpPr txBox="1"/>
          <p:nvPr/>
        </p:nvSpPr>
        <p:spPr>
          <a:xfrm>
            <a:off x="6252042" y="878298"/>
            <a:ext cx="29792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 err="1"/>
              <a:t>One</a:t>
            </a:r>
            <a:r>
              <a:rPr lang="de-DE" sz="1000" dirty="0"/>
              <a:t> </a:t>
            </a:r>
            <a:r>
              <a:rPr lang="de-DE" sz="1000" dirty="0" err="1"/>
              <a:t>tray</a:t>
            </a:r>
            <a:r>
              <a:rPr lang="de-DE" sz="1000" dirty="0"/>
              <a:t> per </a:t>
            </a:r>
            <a:r>
              <a:rPr lang="de-DE" sz="1000" dirty="0" err="1"/>
              <a:t>class</a:t>
            </a:r>
            <a:r>
              <a:rPr lang="de-DE" sz="1000" dirty="0"/>
              <a:t>, </a:t>
            </a:r>
            <a:r>
              <a:rPr lang="de-DE" sz="1000" dirty="0" err="1"/>
              <a:t>three</a:t>
            </a:r>
            <a:r>
              <a:rPr lang="de-DE" sz="1000" dirty="0"/>
              <a:t> </a:t>
            </a:r>
            <a:r>
              <a:rPr lang="de-DE" sz="1000" dirty="0" err="1"/>
              <a:t>classes</a:t>
            </a:r>
            <a:endParaRPr lang="de-DE" sz="1000" dirty="0"/>
          </a:p>
          <a:p>
            <a:r>
              <a:rPr lang="de-DE" sz="1000" dirty="0"/>
              <a:t>Alarm &amp; light, </a:t>
            </a:r>
            <a:r>
              <a:rPr lang="de-DE" sz="1000" dirty="0" err="1"/>
              <a:t>if</a:t>
            </a:r>
            <a:r>
              <a:rPr lang="de-DE" sz="1000" dirty="0"/>
              <a:t> </a:t>
            </a:r>
            <a:r>
              <a:rPr lang="de-DE" sz="1000" dirty="0" err="1"/>
              <a:t>tray</a:t>
            </a:r>
            <a:r>
              <a:rPr lang="de-DE" sz="1000" dirty="0"/>
              <a:t> </a:t>
            </a:r>
            <a:r>
              <a:rPr lang="de-DE" sz="1000" dirty="0" err="1"/>
              <a:t>empty</a:t>
            </a:r>
            <a:endParaRPr lang="de-DE" sz="1000" dirty="0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90498142-9572-39C3-A68A-70A2311937E8}"/>
              </a:ext>
            </a:extLst>
          </p:cNvPr>
          <p:cNvSpPr txBox="1"/>
          <p:nvPr/>
        </p:nvSpPr>
        <p:spPr>
          <a:xfrm>
            <a:off x="417477" y="3555120"/>
            <a:ext cx="134026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/>
              <a:t>Tray </a:t>
            </a:r>
            <a:r>
              <a:rPr lang="de-DE" sz="1400" dirty="0" err="1"/>
              <a:t>plate</a:t>
            </a:r>
            <a:endParaRPr lang="de-DE" sz="1400" dirty="0"/>
          </a:p>
          <a:p>
            <a:r>
              <a:rPr lang="de-DE" sz="800" dirty="0" err="1">
                <a:solidFill>
                  <a:schemeClr val="bg1">
                    <a:lumMod val="50000"/>
                  </a:schemeClr>
                </a:solidFill>
              </a:rPr>
              <a:t>To</a:t>
            </a:r>
            <a:r>
              <a:rPr lang="de-DE" sz="8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de-DE" sz="800" dirty="0" err="1">
                <a:solidFill>
                  <a:schemeClr val="bg1">
                    <a:lumMod val="50000"/>
                  </a:schemeClr>
                </a:solidFill>
              </a:rPr>
              <a:t>be</a:t>
            </a:r>
            <a:r>
              <a:rPr lang="de-DE" sz="8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de-DE" sz="800" dirty="0" err="1">
                <a:solidFill>
                  <a:schemeClr val="bg1">
                    <a:lumMod val="50000"/>
                  </a:schemeClr>
                </a:solidFill>
              </a:rPr>
              <a:t>defined</a:t>
            </a:r>
            <a:endParaRPr lang="de-DE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12" name="Gerader Verbinder 11">
            <a:extLst>
              <a:ext uri="{FF2B5EF4-FFF2-40B4-BE49-F238E27FC236}">
                <a16:creationId xmlns:a16="http://schemas.microsoft.com/office/drawing/2014/main" id="{60718360-E088-7762-ED79-AF305E5AAC62}"/>
              </a:ext>
            </a:extLst>
          </p:cNvPr>
          <p:cNvCxnSpPr/>
          <p:nvPr/>
        </p:nvCxnSpPr>
        <p:spPr>
          <a:xfrm>
            <a:off x="707944" y="3371016"/>
            <a:ext cx="8990595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Grafik 13">
            <a:extLst>
              <a:ext uri="{FF2B5EF4-FFF2-40B4-BE49-F238E27FC236}">
                <a16:creationId xmlns:a16="http://schemas.microsoft.com/office/drawing/2014/main" id="{6E3F92E4-0B6A-FE57-025F-D30BB2FC5B56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885363" y="1647840"/>
            <a:ext cx="1307050" cy="962056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035335C3-829C-6041-8853-D66F53775E5F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865719" y="1740308"/>
            <a:ext cx="1307050" cy="962056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41E6EEA9-A6E5-DB0C-1FEC-F00B043BD24B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924287" y="1740308"/>
            <a:ext cx="1307050" cy="962056"/>
          </a:xfrm>
          <a:prstGeom prst="rect">
            <a:avLst/>
          </a:prstGeom>
        </p:spPr>
      </p:pic>
      <p:cxnSp>
        <p:nvCxnSpPr>
          <p:cNvPr id="18" name="Gerader Verbinder 17">
            <a:extLst>
              <a:ext uri="{FF2B5EF4-FFF2-40B4-BE49-F238E27FC236}">
                <a16:creationId xmlns:a16="http://schemas.microsoft.com/office/drawing/2014/main" id="{43615F5E-8F24-DE4B-0C17-85F233B182AF}"/>
              </a:ext>
            </a:extLst>
          </p:cNvPr>
          <p:cNvCxnSpPr>
            <a:cxnSpLocks/>
          </p:cNvCxnSpPr>
          <p:nvPr/>
        </p:nvCxnSpPr>
        <p:spPr>
          <a:xfrm>
            <a:off x="5562130" y="3371016"/>
            <a:ext cx="0" cy="2874365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feld 20">
            <a:extLst>
              <a:ext uri="{FF2B5EF4-FFF2-40B4-BE49-F238E27FC236}">
                <a16:creationId xmlns:a16="http://schemas.microsoft.com/office/drawing/2014/main" id="{4217A2D7-4C43-57F8-36B5-25BF38AF2C9E}"/>
              </a:ext>
            </a:extLst>
          </p:cNvPr>
          <p:cNvSpPr txBox="1"/>
          <p:nvPr/>
        </p:nvSpPr>
        <p:spPr>
          <a:xfrm>
            <a:off x="5645490" y="3555120"/>
            <a:ext cx="339822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/>
              <a:t>Tray </a:t>
            </a:r>
            <a:r>
              <a:rPr lang="de-DE" sz="1400" dirty="0" err="1"/>
              <a:t>solenoid</a:t>
            </a:r>
            <a:r>
              <a:rPr lang="de-DE" sz="1400" dirty="0"/>
              <a:t> </a:t>
            </a:r>
            <a:r>
              <a:rPr lang="de-DE" sz="1400" dirty="0" err="1"/>
              <a:t>armature</a:t>
            </a:r>
            <a:endParaRPr lang="de-DE" sz="1400" dirty="0"/>
          </a:p>
          <a:p>
            <a:r>
              <a:rPr lang="de-DE" sz="800" dirty="0">
                <a:solidFill>
                  <a:schemeClr val="bg1">
                    <a:lumMod val="50000"/>
                  </a:schemeClr>
                </a:solidFill>
              </a:rPr>
              <a:t>ET_0830W001</a:t>
            </a:r>
          </a:p>
        </p:txBody>
      </p:sp>
      <p:pic>
        <p:nvPicPr>
          <p:cNvPr id="23" name="Grafik 22">
            <a:extLst>
              <a:ext uri="{FF2B5EF4-FFF2-40B4-BE49-F238E27FC236}">
                <a16:creationId xmlns:a16="http://schemas.microsoft.com/office/drawing/2014/main" id="{7ECA31AF-5F8B-08EC-4BFD-340F00375A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41689" y="3486984"/>
            <a:ext cx="2880000" cy="882451"/>
          </a:xfrm>
          <a:prstGeom prst="rect">
            <a:avLst/>
          </a:prstGeom>
        </p:spPr>
      </p:pic>
      <p:pic>
        <p:nvPicPr>
          <p:cNvPr id="25" name="Grafik 24">
            <a:extLst>
              <a:ext uri="{FF2B5EF4-FFF2-40B4-BE49-F238E27FC236}">
                <a16:creationId xmlns:a16="http://schemas.microsoft.com/office/drawing/2014/main" id="{22DF4FA6-8981-B983-31CD-A83262CE100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7472" y="4437571"/>
            <a:ext cx="4177806" cy="2160000"/>
          </a:xfrm>
          <a:prstGeom prst="rect">
            <a:avLst/>
          </a:pr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87E7D0C0-F824-3B3D-D235-2B7C1146E449}"/>
              </a:ext>
            </a:extLst>
          </p:cNvPr>
          <p:cNvSpPr txBox="1"/>
          <p:nvPr/>
        </p:nvSpPr>
        <p:spPr>
          <a:xfrm>
            <a:off x="1880882" y="3746370"/>
            <a:ext cx="355811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/>
              <a:t>06.06.2024: </a:t>
            </a:r>
            <a:r>
              <a:rPr lang="de-DE" sz="1000" dirty="0" err="1"/>
              <a:t>meeting</a:t>
            </a:r>
            <a:r>
              <a:rPr lang="de-DE" sz="1000" dirty="0"/>
              <a:t> </a:t>
            </a:r>
            <a:r>
              <a:rPr lang="de-DE" sz="1000" dirty="0" err="1"/>
              <a:t>with</a:t>
            </a:r>
            <a:r>
              <a:rPr lang="de-DE" sz="1000" dirty="0"/>
              <a:t> </a:t>
            </a:r>
            <a:r>
              <a:rPr lang="de-DE" sz="1000" dirty="0" err="1"/>
              <a:t>Mr.Bauguil</a:t>
            </a:r>
            <a:r>
              <a:rPr lang="de-DE" sz="1000" dirty="0"/>
              <a:t>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000" dirty="0"/>
              <a:t>Tray aus </a:t>
            </a:r>
            <a:r>
              <a:rPr lang="de-DE" sz="1000" dirty="0" err="1"/>
              <a:t>steel</a:t>
            </a:r>
            <a:r>
              <a:rPr lang="de-DE" sz="1000" dirty="0"/>
              <a:t> (</a:t>
            </a:r>
            <a:r>
              <a:rPr lang="de-DE" sz="1000" dirty="0" err="1"/>
              <a:t>cleaning</a:t>
            </a:r>
            <a:r>
              <a:rPr lang="de-DE" sz="1000" dirty="0"/>
              <a:t> </a:t>
            </a:r>
            <a:r>
              <a:rPr lang="de-DE" sz="1000" dirty="0" err="1"/>
              <a:t>duty</a:t>
            </a:r>
            <a:r>
              <a:rPr lang="de-DE" sz="1000" dirty="0"/>
              <a:t>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000" dirty="0"/>
              <a:t>50 </a:t>
            </a:r>
            <a:r>
              <a:rPr lang="de-DE" sz="1000" dirty="0" err="1"/>
              <a:t>parts</a:t>
            </a:r>
            <a:r>
              <a:rPr lang="de-DE" sz="1000" dirty="0"/>
              <a:t>, ca. 400x200mmm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000" dirty="0"/>
              <a:t>Parts on </a:t>
            </a:r>
            <a:r>
              <a:rPr lang="de-DE" sz="1000" dirty="0" err="1"/>
              <a:t>the</a:t>
            </a:r>
            <a:r>
              <a:rPr lang="de-DE" sz="1000" dirty="0"/>
              <a:t> B-</a:t>
            </a:r>
            <a:r>
              <a:rPr lang="de-DE" sz="1000" dirty="0" err="1"/>
              <a:t>surface</a:t>
            </a:r>
            <a:r>
              <a:rPr lang="de-DE" sz="1000" dirty="0"/>
              <a:t> in </a:t>
            </a:r>
            <a:r>
              <a:rPr lang="de-DE" sz="1000" dirty="0" err="1"/>
              <a:t>tray</a:t>
            </a:r>
            <a:endParaRPr lang="de-DE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000" dirty="0"/>
              <a:t>Poka Yoke </a:t>
            </a:r>
            <a:r>
              <a:rPr lang="de-DE" sz="1000" dirty="0" err="1"/>
              <a:t>between</a:t>
            </a:r>
            <a:r>
              <a:rPr lang="de-DE" sz="1000" dirty="0"/>
              <a:t> </a:t>
            </a:r>
            <a:r>
              <a:rPr lang="de-DE" sz="1000" dirty="0" err="1"/>
              <a:t>trays</a:t>
            </a:r>
            <a:r>
              <a:rPr lang="de-DE" sz="1000" dirty="0"/>
              <a:t> Ø27,95 &amp; Ø31,2 nice </a:t>
            </a:r>
            <a:r>
              <a:rPr lang="de-DE" sz="1000" dirty="0" err="1"/>
              <a:t>to</a:t>
            </a:r>
            <a:r>
              <a:rPr lang="de-DE" sz="1000" dirty="0"/>
              <a:t> </a:t>
            </a:r>
            <a:r>
              <a:rPr lang="de-DE" sz="1000" dirty="0" err="1"/>
              <a:t>have</a:t>
            </a:r>
            <a:endParaRPr lang="de-DE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000" dirty="0" err="1"/>
              <a:t>Compatible</a:t>
            </a:r>
            <a:r>
              <a:rPr lang="de-DE" sz="1000" dirty="0"/>
              <a:t> </a:t>
            </a:r>
            <a:r>
              <a:rPr lang="de-DE" sz="1000" dirty="0" err="1"/>
              <a:t>with</a:t>
            </a:r>
            <a:r>
              <a:rPr lang="de-DE" sz="1000" dirty="0"/>
              <a:t> </a:t>
            </a:r>
            <a:r>
              <a:rPr lang="de-DE" sz="1000" dirty="0" err="1"/>
              <a:t>conveyor</a:t>
            </a:r>
            <a:r>
              <a:rPr lang="de-DE" sz="1000" dirty="0"/>
              <a:t> </a:t>
            </a:r>
          </a:p>
        </p:txBody>
      </p:sp>
      <p:pic>
        <p:nvPicPr>
          <p:cNvPr id="19" name="Grafik 18">
            <a:extLst>
              <a:ext uri="{FF2B5EF4-FFF2-40B4-BE49-F238E27FC236}">
                <a16:creationId xmlns:a16="http://schemas.microsoft.com/office/drawing/2014/main" id="{906416C1-B57E-E7EA-38A3-0B3BAB653DD4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287958" y="4839765"/>
            <a:ext cx="2403785" cy="1584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18251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rafik 37">
            <a:extLst>
              <a:ext uri="{FF2B5EF4-FFF2-40B4-BE49-F238E27FC236}">
                <a16:creationId xmlns:a16="http://schemas.microsoft.com/office/drawing/2014/main" id="{94E268D6-542F-6372-C5A9-59629570948D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627233" y="3781472"/>
            <a:ext cx="1148218" cy="1629587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2AD6DBB0-CDAE-FB46-1542-A3D34F552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Required</a:t>
            </a:r>
            <a:r>
              <a:rPr lang="de-DE" dirty="0"/>
              <a:t> </a:t>
            </a:r>
            <a:r>
              <a:rPr lang="de-DE" dirty="0" err="1"/>
              <a:t>Processes</a:t>
            </a:r>
            <a:endParaRPr lang="de-DE" dirty="0"/>
          </a:p>
        </p:txBody>
      </p:sp>
      <p:cxnSp>
        <p:nvCxnSpPr>
          <p:cNvPr id="31" name="Gerader Verbinder 30">
            <a:extLst>
              <a:ext uri="{FF2B5EF4-FFF2-40B4-BE49-F238E27FC236}">
                <a16:creationId xmlns:a16="http://schemas.microsoft.com/office/drawing/2014/main" id="{B6D3EE5D-2301-CC3D-6B54-1F96EE4694B6}"/>
              </a:ext>
            </a:extLst>
          </p:cNvPr>
          <p:cNvCxnSpPr>
            <a:cxnSpLocks/>
          </p:cNvCxnSpPr>
          <p:nvPr/>
        </p:nvCxnSpPr>
        <p:spPr>
          <a:xfrm flipH="1">
            <a:off x="3432258" y="3213772"/>
            <a:ext cx="7971195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9" name="Grafik 38">
            <a:extLst>
              <a:ext uri="{FF2B5EF4-FFF2-40B4-BE49-F238E27FC236}">
                <a16:creationId xmlns:a16="http://schemas.microsoft.com/office/drawing/2014/main" id="{396A1918-8B3E-A403-B148-234EB33732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462977" y="4485959"/>
            <a:ext cx="1034127" cy="1369184"/>
          </a:xfrm>
          <a:prstGeom prst="rect">
            <a:avLst/>
          </a:prstGeom>
        </p:spPr>
      </p:pic>
      <p:pic>
        <p:nvPicPr>
          <p:cNvPr id="41" name="Grafik 40">
            <a:extLst>
              <a:ext uri="{FF2B5EF4-FFF2-40B4-BE49-F238E27FC236}">
                <a16:creationId xmlns:a16="http://schemas.microsoft.com/office/drawing/2014/main" id="{256D3BF3-A161-F725-931A-168515FCFAA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8505" y="4294493"/>
            <a:ext cx="982184" cy="934964"/>
          </a:xfrm>
          <a:prstGeom prst="rect">
            <a:avLst/>
          </a:prstGeom>
        </p:spPr>
      </p:pic>
      <p:sp>
        <p:nvSpPr>
          <p:cNvPr id="51" name="Ellipse 50">
            <a:extLst>
              <a:ext uri="{FF2B5EF4-FFF2-40B4-BE49-F238E27FC236}">
                <a16:creationId xmlns:a16="http://schemas.microsoft.com/office/drawing/2014/main" id="{BB1AE31A-F848-13DF-0482-76542FAD88B4}"/>
              </a:ext>
            </a:extLst>
          </p:cNvPr>
          <p:cNvSpPr/>
          <p:nvPr/>
        </p:nvSpPr>
        <p:spPr>
          <a:xfrm rot="16200000">
            <a:off x="3982511" y="901601"/>
            <a:ext cx="284850" cy="292872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de-DE" sz="800" dirty="0"/>
              <a:t>1</a:t>
            </a:r>
          </a:p>
        </p:txBody>
      </p:sp>
      <p:graphicFrame>
        <p:nvGraphicFramePr>
          <p:cNvPr id="54" name="Tabelle 53">
            <a:extLst>
              <a:ext uri="{FF2B5EF4-FFF2-40B4-BE49-F238E27FC236}">
                <a16:creationId xmlns:a16="http://schemas.microsoft.com/office/drawing/2014/main" id="{6B89C9BA-0F24-487D-415E-AED04B22E8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1071732"/>
              </p:ext>
            </p:extLst>
          </p:nvPr>
        </p:nvGraphicFramePr>
        <p:xfrm>
          <a:off x="176114" y="1331314"/>
          <a:ext cx="3165726" cy="41953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505">
                  <a:extLst>
                    <a:ext uri="{9D8B030D-6E8A-4147-A177-3AD203B41FA5}">
                      <a16:colId xmlns:a16="http://schemas.microsoft.com/office/drawing/2014/main" val="566185741"/>
                    </a:ext>
                  </a:extLst>
                </a:gridCol>
                <a:gridCol w="2808221">
                  <a:extLst>
                    <a:ext uri="{9D8B030D-6E8A-4147-A177-3AD203B41FA5}">
                      <a16:colId xmlns:a16="http://schemas.microsoft.com/office/drawing/2014/main" val="611645751"/>
                    </a:ext>
                  </a:extLst>
                </a:gridCol>
              </a:tblGrid>
              <a:tr h="289124">
                <a:tc>
                  <a:txBody>
                    <a:bodyPr/>
                    <a:lstStyle/>
                    <a:p>
                      <a:endParaRPr lang="de-DE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 err="1"/>
                        <a:t>Processes</a:t>
                      </a:r>
                      <a:endParaRPr lang="de-DE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5254656"/>
                  </a:ext>
                </a:extLst>
              </a:tr>
              <a:tr h="217076">
                <a:tc>
                  <a:txBody>
                    <a:bodyPr/>
                    <a:lstStyle/>
                    <a:p>
                      <a:pPr algn="ctr"/>
                      <a:r>
                        <a:rPr lang="de-DE" sz="1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 err="1"/>
                        <a:t>feeding</a:t>
                      </a:r>
                      <a:r>
                        <a:rPr lang="de-DE" sz="1000" dirty="0"/>
                        <a:t> </a:t>
                      </a:r>
                      <a:r>
                        <a:rPr lang="de-DE" sz="1000" dirty="0" err="1"/>
                        <a:t>trays</a:t>
                      </a:r>
                      <a:r>
                        <a:rPr lang="de-DE" sz="1000" dirty="0"/>
                        <a:t> </a:t>
                      </a:r>
                      <a:r>
                        <a:rPr lang="de-DE" sz="1000" dirty="0" err="1"/>
                        <a:t>plate</a:t>
                      </a:r>
                      <a:endParaRPr lang="de-DE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5740491"/>
                  </a:ext>
                </a:extLst>
              </a:tr>
              <a:tr h="217076">
                <a:tc>
                  <a:txBody>
                    <a:bodyPr/>
                    <a:lstStyle/>
                    <a:p>
                      <a:pPr algn="ctr"/>
                      <a:r>
                        <a:rPr lang="de-DE" sz="1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 err="1"/>
                        <a:t>loading</a:t>
                      </a:r>
                      <a:r>
                        <a:rPr lang="de-DE" sz="1000" dirty="0"/>
                        <a:t> </a:t>
                      </a:r>
                      <a:r>
                        <a:rPr lang="de-DE" sz="1000" dirty="0" err="1"/>
                        <a:t>plate</a:t>
                      </a:r>
                      <a:endParaRPr lang="de-DE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5652857"/>
                  </a:ext>
                </a:extLst>
              </a:tr>
              <a:tr h="217076">
                <a:tc>
                  <a:txBody>
                    <a:bodyPr/>
                    <a:lstStyle/>
                    <a:p>
                      <a:pPr algn="ctr"/>
                      <a:r>
                        <a:rPr lang="de-DE" sz="1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 err="1"/>
                        <a:t>plate</a:t>
                      </a:r>
                      <a:r>
                        <a:rPr lang="de-DE" sz="1000" dirty="0"/>
                        <a:t> </a:t>
                      </a:r>
                      <a:r>
                        <a:rPr lang="de-DE" sz="1000" dirty="0" err="1"/>
                        <a:t>brushing</a:t>
                      </a:r>
                      <a:endParaRPr lang="de-DE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3391173"/>
                  </a:ext>
                </a:extLst>
              </a:tr>
              <a:tr h="248648">
                <a:tc>
                  <a:txBody>
                    <a:bodyPr/>
                    <a:lstStyle/>
                    <a:p>
                      <a:pPr algn="ctr"/>
                      <a:r>
                        <a:rPr lang="de-DE" sz="10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hole </a:t>
                      </a:r>
                      <a:r>
                        <a:rPr lang="de-DE" sz="10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plate</a:t>
                      </a:r>
                      <a:r>
                        <a:rPr lang="de-DE" sz="10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de-DE" sz="10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measurement</a:t>
                      </a:r>
                      <a:r>
                        <a:rPr lang="de-DE" sz="10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de-DE" sz="10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8037003"/>
                  </a:ext>
                </a:extLst>
              </a:tr>
              <a:tr h="184929">
                <a:tc>
                  <a:txBody>
                    <a:bodyPr/>
                    <a:lstStyle/>
                    <a:p>
                      <a:pPr algn="ctr"/>
                      <a:r>
                        <a:rPr lang="de-DE" sz="10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000" dirty="0" err="1"/>
                        <a:t>feeding</a:t>
                      </a:r>
                      <a:r>
                        <a:rPr lang="de-DE" sz="1000" dirty="0"/>
                        <a:t> </a:t>
                      </a:r>
                      <a:r>
                        <a:rPr lang="de-DE" sz="1000" dirty="0" err="1"/>
                        <a:t>trays</a:t>
                      </a:r>
                      <a:r>
                        <a:rPr lang="de-DE" sz="1000" dirty="0"/>
                        <a:t> </a:t>
                      </a:r>
                      <a:r>
                        <a:rPr lang="de-DE" sz="1000" dirty="0" err="1"/>
                        <a:t>pins</a:t>
                      </a:r>
                      <a:endParaRPr lang="de-DE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7096664"/>
                  </a:ext>
                </a:extLst>
              </a:tr>
              <a:tr h="184929">
                <a:tc>
                  <a:txBody>
                    <a:bodyPr/>
                    <a:lstStyle/>
                    <a:p>
                      <a:pPr algn="ctr"/>
                      <a:r>
                        <a:rPr lang="de-DE" sz="10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000" dirty="0" err="1"/>
                        <a:t>selection</a:t>
                      </a:r>
                      <a:r>
                        <a:rPr lang="de-DE" sz="1000" dirty="0"/>
                        <a:t> </a:t>
                      </a:r>
                      <a:r>
                        <a:rPr lang="de-DE" sz="1000" dirty="0" err="1"/>
                        <a:t>needle</a:t>
                      </a:r>
                      <a:r>
                        <a:rPr lang="de-DE" sz="1000" dirty="0"/>
                        <a:t> &amp; </a:t>
                      </a:r>
                      <a:r>
                        <a:rPr lang="de-DE" sz="1000" dirty="0" err="1"/>
                        <a:t>loading</a:t>
                      </a:r>
                      <a:r>
                        <a:rPr lang="de-DE" sz="1000" dirty="0"/>
                        <a:t> in </a:t>
                      </a:r>
                      <a:r>
                        <a:rPr lang="de-DE" sz="1000" dirty="0" err="1"/>
                        <a:t>assembly</a:t>
                      </a:r>
                      <a:r>
                        <a:rPr lang="de-DE" sz="1000" dirty="0"/>
                        <a:t> </a:t>
                      </a:r>
                      <a:r>
                        <a:rPr lang="de-DE" sz="1000" dirty="0" err="1"/>
                        <a:t>tool</a:t>
                      </a:r>
                      <a:endParaRPr lang="de-DE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5846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de-DE" sz="10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 err="1"/>
                        <a:t>loading</a:t>
                      </a:r>
                      <a:r>
                        <a:rPr lang="de-DE" sz="1000" dirty="0"/>
                        <a:t> </a:t>
                      </a:r>
                      <a:r>
                        <a:rPr lang="de-DE" sz="1000" dirty="0" err="1"/>
                        <a:t>plate</a:t>
                      </a:r>
                      <a:r>
                        <a:rPr lang="de-DE" sz="1000" dirty="0"/>
                        <a:t> in </a:t>
                      </a:r>
                      <a:r>
                        <a:rPr lang="de-DE" sz="1000" dirty="0" err="1"/>
                        <a:t>assembly</a:t>
                      </a:r>
                      <a:r>
                        <a:rPr lang="de-DE" sz="1000" dirty="0"/>
                        <a:t> </a:t>
                      </a:r>
                      <a:r>
                        <a:rPr lang="de-DE" sz="1000" dirty="0" err="1"/>
                        <a:t>tool</a:t>
                      </a:r>
                      <a:endParaRPr lang="de-DE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0164672"/>
                  </a:ext>
                </a:extLst>
              </a:tr>
              <a:tr h="143633">
                <a:tc>
                  <a:txBody>
                    <a:bodyPr/>
                    <a:lstStyle/>
                    <a:p>
                      <a:pPr algn="ctr"/>
                      <a:r>
                        <a:rPr lang="de-DE" sz="10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000" dirty="0"/>
                        <a:t>press </a:t>
                      </a:r>
                      <a:r>
                        <a:rPr lang="de-DE" sz="1000" dirty="0" err="1"/>
                        <a:t>fitting</a:t>
                      </a:r>
                      <a:endParaRPr lang="de-DE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8990362"/>
                  </a:ext>
                </a:extLst>
              </a:tr>
              <a:tr h="170180">
                <a:tc>
                  <a:txBody>
                    <a:bodyPr/>
                    <a:lstStyle/>
                    <a:p>
                      <a:pPr algn="ctr"/>
                      <a:r>
                        <a:rPr lang="de-DE" sz="10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 err="1"/>
                        <a:t>runout</a:t>
                      </a:r>
                      <a:r>
                        <a:rPr lang="de-DE" sz="1000" dirty="0"/>
                        <a:t> </a:t>
                      </a:r>
                      <a:r>
                        <a:rPr lang="de-DE" sz="1000" dirty="0" err="1"/>
                        <a:t>checking</a:t>
                      </a:r>
                      <a:endParaRPr lang="de-DE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75916"/>
                  </a:ext>
                </a:extLst>
              </a:tr>
              <a:tr h="155432">
                <a:tc>
                  <a:txBody>
                    <a:bodyPr/>
                    <a:lstStyle/>
                    <a:p>
                      <a:pPr algn="ctr"/>
                      <a:r>
                        <a:rPr lang="de-DE" sz="10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000" dirty="0" err="1"/>
                        <a:t>length</a:t>
                      </a:r>
                      <a:r>
                        <a:rPr lang="de-DE" sz="1000" dirty="0"/>
                        <a:t> </a:t>
                      </a:r>
                      <a:r>
                        <a:rPr lang="de-DE" sz="1000" dirty="0" err="1"/>
                        <a:t>checking</a:t>
                      </a:r>
                      <a:endParaRPr lang="de-DE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39811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de-DE" sz="1000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/>
                        <a:t>back </a:t>
                      </a:r>
                      <a:r>
                        <a:rPr lang="de-DE" sz="1000" dirty="0" err="1"/>
                        <a:t>brushing</a:t>
                      </a:r>
                      <a:endParaRPr lang="de-DE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3475464"/>
                  </a:ext>
                </a:extLst>
              </a:tr>
              <a:tr h="131835">
                <a:tc>
                  <a:txBody>
                    <a:bodyPr/>
                    <a:lstStyle/>
                    <a:p>
                      <a:pPr algn="ctr"/>
                      <a:r>
                        <a:rPr lang="de-DE" sz="1000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000" dirty="0"/>
                        <a:t>DMC </a:t>
                      </a:r>
                      <a:r>
                        <a:rPr lang="de-DE" sz="1000" dirty="0" err="1"/>
                        <a:t>marking</a:t>
                      </a:r>
                      <a:r>
                        <a:rPr lang="de-DE" sz="1000" dirty="0"/>
                        <a:t> (</a:t>
                      </a:r>
                      <a:r>
                        <a:rPr lang="de-DE" sz="1000" dirty="0" err="1"/>
                        <a:t>option</a:t>
                      </a:r>
                      <a:r>
                        <a:rPr lang="de-DE" sz="1000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9894887"/>
                  </a:ext>
                </a:extLst>
              </a:tr>
              <a:tr h="131835">
                <a:tc>
                  <a:txBody>
                    <a:bodyPr/>
                    <a:lstStyle/>
                    <a:p>
                      <a:pPr algn="ctr"/>
                      <a:r>
                        <a:rPr lang="de-DE" sz="1000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000" dirty="0"/>
                        <a:t>DMC </a:t>
                      </a:r>
                      <a:r>
                        <a:rPr lang="de-DE" sz="1000" dirty="0" err="1"/>
                        <a:t>controlling</a:t>
                      </a:r>
                      <a:r>
                        <a:rPr lang="de-DE" sz="1000" dirty="0"/>
                        <a:t> (</a:t>
                      </a:r>
                      <a:r>
                        <a:rPr lang="de-DE" sz="1000" dirty="0" err="1"/>
                        <a:t>option</a:t>
                      </a:r>
                      <a:r>
                        <a:rPr lang="de-DE" sz="1000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4934690"/>
                  </a:ext>
                </a:extLst>
              </a:tr>
              <a:tr h="134784">
                <a:tc>
                  <a:txBody>
                    <a:bodyPr/>
                    <a:lstStyle/>
                    <a:p>
                      <a:pPr algn="ctr"/>
                      <a:r>
                        <a:rPr lang="de-DE" sz="1000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 err="1"/>
                        <a:t>free</a:t>
                      </a:r>
                      <a:r>
                        <a:rPr lang="de-DE" sz="1000" dirty="0"/>
                        <a:t> place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8858025"/>
                  </a:ext>
                </a:extLst>
              </a:tr>
              <a:tr h="134784">
                <a:tc>
                  <a:txBody>
                    <a:bodyPr/>
                    <a:lstStyle/>
                    <a:p>
                      <a:pPr algn="ctr"/>
                      <a:r>
                        <a:rPr lang="de-DE" sz="1000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 err="1"/>
                        <a:t>unloading</a:t>
                      </a:r>
                      <a:r>
                        <a:rPr lang="de-DE" sz="1000" dirty="0"/>
                        <a:t> </a:t>
                      </a:r>
                      <a:r>
                        <a:rPr lang="de-DE" sz="1000" dirty="0" err="1"/>
                        <a:t>solenoid</a:t>
                      </a:r>
                      <a:r>
                        <a:rPr lang="de-DE" sz="1000" dirty="0"/>
                        <a:t> </a:t>
                      </a:r>
                      <a:r>
                        <a:rPr lang="de-DE" sz="1000" dirty="0" err="1"/>
                        <a:t>armature</a:t>
                      </a:r>
                      <a:r>
                        <a:rPr lang="de-DE" sz="1000" dirty="0"/>
                        <a:t> (iO &amp; NiO)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8143117"/>
                  </a:ext>
                </a:extLst>
              </a:tr>
              <a:tr h="134784">
                <a:tc>
                  <a:txBody>
                    <a:bodyPr/>
                    <a:lstStyle/>
                    <a:p>
                      <a:pPr algn="ctr"/>
                      <a:r>
                        <a:rPr lang="de-DE" sz="1000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 err="1"/>
                        <a:t>output</a:t>
                      </a:r>
                      <a:r>
                        <a:rPr lang="de-DE" sz="1000" dirty="0"/>
                        <a:t> </a:t>
                      </a:r>
                      <a:r>
                        <a:rPr lang="de-DE" sz="1000" dirty="0" err="1"/>
                        <a:t>trays</a:t>
                      </a:r>
                      <a:r>
                        <a:rPr lang="de-DE" sz="1000" dirty="0"/>
                        <a:t> </a:t>
                      </a:r>
                      <a:r>
                        <a:rPr lang="de-DE" sz="1000" dirty="0" err="1"/>
                        <a:t>solenoid</a:t>
                      </a:r>
                      <a:r>
                        <a:rPr lang="de-DE" sz="1000" dirty="0"/>
                        <a:t> </a:t>
                      </a:r>
                      <a:r>
                        <a:rPr lang="de-DE" sz="1000" dirty="0" err="1"/>
                        <a:t>armature</a:t>
                      </a:r>
                      <a:endParaRPr lang="de-DE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9252899"/>
                  </a:ext>
                </a:extLst>
              </a:tr>
            </a:tbl>
          </a:graphicData>
        </a:graphic>
      </p:graphicFrame>
      <p:sp>
        <p:nvSpPr>
          <p:cNvPr id="55" name="Ellipse 54">
            <a:extLst>
              <a:ext uri="{FF2B5EF4-FFF2-40B4-BE49-F238E27FC236}">
                <a16:creationId xmlns:a16="http://schemas.microsoft.com/office/drawing/2014/main" id="{AD1EFFC9-C132-7162-BE94-1E7A0018811D}"/>
              </a:ext>
            </a:extLst>
          </p:cNvPr>
          <p:cNvSpPr/>
          <p:nvPr/>
        </p:nvSpPr>
        <p:spPr>
          <a:xfrm rot="16200000">
            <a:off x="4955194" y="884952"/>
            <a:ext cx="284850" cy="292872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de-DE" sz="800" dirty="0"/>
              <a:t>2</a:t>
            </a:r>
          </a:p>
        </p:txBody>
      </p:sp>
      <p:sp>
        <p:nvSpPr>
          <p:cNvPr id="56" name="Ellipse 55">
            <a:extLst>
              <a:ext uri="{FF2B5EF4-FFF2-40B4-BE49-F238E27FC236}">
                <a16:creationId xmlns:a16="http://schemas.microsoft.com/office/drawing/2014/main" id="{AC3CFBBB-42F7-688F-8831-C09B6781768A}"/>
              </a:ext>
            </a:extLst>
          </p:cNvPr>
          <p:cNvSpPr/>
          <p:nvPr/>
        </p:nvSpPr>
        <p:spPr>
          <a:xfrm rot="16200000">
            <a:off x="5927877" y="884952"/>
            <a:ext cx="284850" cy="292872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de-DE" sz="800" dirty="0"/>
              <a:t>3</a:t>
            </a:r>
          </a:p>
        </p:txBody>
      </p:sp>
      <p:sp>
        <p:nvSpPr>
          <p:cNvPr id="57" name="Ellipse 56">
            <a:extLst>
              <a:ext uri="{FF2B5EF4-FFF2-40B4-BE49-F238E27FC236}">
                <a16:creationId xmlns:a16="http://schemas.microsoft.com/office/drawing/2014/main" id="{FC326FD0-850A-BC06-1795-0F82F612EF4C}"/>
              </a:ext>
            </a:extLst>
          </p:cNvPr>
          <p:cNvSpPr/>
          <p:nvPr/>
        </p:nvSpPr>
        <p:spPr>
          <a:xfrm rot="16200000">
            <a:off x="6900560" y="884952"/>
            <a:ext cx="284850" cy="292872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de-DE" sz="800" dirty="0"/>
              <a:t>4</a:t>
            </a:r>
          </a:p>
        </p:txBody>
      </p:sp>
      <p:sp>
        <p:nvSpPr>
          <p:cNvPr id="58" name="Ellipse 57">
            <a:extLst>
              <a:ext uri="{FF2B5EF4-FFF2-40B4-BE49-F238E27FC236}">
                <a16:creationId xmlns:a16="http://schemas.microsoft.com/office/drawing/2014/main" id="{8B44CECF-6E51-CDB3-3604-0AD5F8AB1678}"/>
              </a:ext>
            </a:extLst>
          </p:cNvPr>
          <p:cNvSpPr/>
          <p:nvPr/>
        </p:nvSpPr>
        <p:spPr>
          <a:xfrm rot="16200000">
            <a:off x="7873243" y="901601"/>
            <a:ext cx="284850" cy="292872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de-DE" sz="800" dirty="0"/>
              <a:t>5</a:t>
            </a:r>
          </a:p>
        </p:txBody>
      </p:sp>
      <p:sp>
        <p:nvSpPr>
          <p:cNvPr id="65" name="Pfeil: nach unten 64">
            <a:extLst>
              <a:ext uri="{FF2B5EF4-FFF2-40B4-BE49-F238E27FC236}">
                <a16:creationId xmlns:a16="http://schemas.microsoft.com/office/drawing/2014/main" id="{5D5F214A-74BD-7371-2521-26C5980E71A7}"/>
              </a:ext>
            </a:extLst>
          </p:cNvPr>
          <p:cNvSpPr/>
          <p:nvPr/>
        </p:nvSpPr>
        <p:spPr>
          <a:xfrm>
            <a:off x="10792501" y="1362431"/>
            <a:ext cx="267498" cy="246741"/>
          </a:xfrm>
          <a:prstGeom prst="downArrow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61C57819-2077-36A3-3B43-88271F301CF0}"/>
              </a:ext>
            </a:extLst>
          </p:cNvPr>
          <p:cNvSpPr/>
          <p:nvPr/>
        </p:nvSpPr>
        <p:spPr>
          <a:xfrm rot="16200000">
            <a:off x="8845926" y="909227"/>
            <a:ext cx="284850" cy="292872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de-DE" sz="800" dirty="0"/>
              <a:t>6</a:t>
            </a:r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307258DB-AC95-A68A-FA6C-C7B5816DA9DB}"/>
              </a:ext>
            </a:extLst>
          </p:cNvPr>
          <p:cNvSpPr/>
          <p:nvPr/>
        </p:nvSpPr>
        <p:spPr>
          <a:xfrm rot="16200000">
            <a:off x="9818609" y="901601"/>
            <a:ext cx="284850" cy="292872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de-DE" sz="800" dirty="0"/>
              <a:t>7</a:t>
            </a:r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761DC2A3-FDC6-C8FC-5FAF-CA2AD9DD1E3C}"/>
              </a:ext>
            </a:extLst>
          </p:cNvPr>
          <p:cNvSpPr/>
          <p:nvPr/>
        </p:nvSpPr>
        <p:spPr>
          <a:xfrm rot="16200000">
            <a:off x="10791446" y="909227"/>
            <a:ext cx="284850" cy="292872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de-DE" sz="800" dirty="0"/>
              <a:t>8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D5A8B017-2E87-E3DB-841B-62616DA5C26E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561331" y="1553064"/>
            <a:ext cx="1121216" cy="739235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68D57593-B8E2-F1BE-0591-B7720209CA70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529820" y="1208485"/>
            <a:ext cx="1072423" cy="789359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E8A10B4D-533A-D99B-8B86-8D32D814FABB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598288" y="1755238"/>
            <a:ext cx="1033992" cy="761071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EF73BCC7-4935-F391-69A5-4847A3A3FDCD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666079" y="2297861"/>
            <a:ext cx="1011495" cy="744512"/>
          </a:xfrm>
          <a:prstGeom prst="rect">
            <a:avLst/>
          </a:prstGeom>
        </p:spPr>
      </p:pic>
      <p:sp>
        <p:nvSpPr>
          <p:cNvPr id="11" name="Ellipse 10">
            <a:extLst>
              <a:ext uri="{FF2B5EF4-FFF2-40B4-BE49-F238E27FC236}">
                <a16:creationId xmlns:a16="http://schemas.microsoft.com/office/drawing/2014/main" id="{65C6FA82-2912-FCF4-64AC-090C31497D5A}"/>
              </a:ext>
            </a:extLst>
          </p:cNvPr>
          <p:cNvSpPr/>
          <p:nvPr/>
        </p:nvSpPr>
        <p:spPr>
          <a:xfrm rot="16200000">
            <a:off x="8343421" y="2554650"/>
            <a:ext cx="284850" cy="292870"/>
          </a:xfrm>
          <a:prstGeom prst="ellipse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de-DE" sz="800" dirty="0"/>
              <a:t>III</a:t>
            </a: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7CB64F6E-F101-B306-9EF9-ED46055E5A56}"/>
              </a:ext>
            </a:extLst>
          </p:cNvPr>
          <p:cNvSpPr/>
          <p:nvPr/>
        </p:nvSpPr>
        <p:spPr>
          <a:xfrm rot="16200000">
            <a:off x="8340742" y="2017319"/>
            <a:ext cx="284850" cy="292870"/>
          </a:xfrm>
          <a:prstGeom prst="ellipse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de-DE" sz="800" dirty="0"/>
              <a:t>II</a:t>
            </a:r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308BA653-0919-8213-D151-398CDA0751D1}"/>
              </a:ext>
            </a:extLst>
          </p:cNvPr>
          <p:cNvSpPr/>
          <p:nvPr/>
        </p:nvSpPr>
        <p:spPr>
          <a:xfrm rot="16200000">
            <a:off x="8340742" y="1517189"/>
            <a:ext cx="284850" cy="292870"/>
          </a:xfrm>
          <a:prstGeom prst="ellipse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de-DE" sz="800" dirty="0"/>
              <a:t>I</a:t>
            </a:r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34B9F38A-B03A-E5CA-869B-96B79238B483}"/>
              </a:ext>
            </a:extLst>
          </p:cNvPr>
          <p:cNvPicPr>
            <a:picLocks noChangeAspect="1"/>
          </p:cNvPicPr>
          <p:nvPr/>
        </p:nvPicPr>
        <p:blipFill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538516" y="2128662"/>
            <a:ext cx="1050280" cy="447793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4F9FB9A2-1A05-5A96-C1FA-A188AEB427A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flipH="1">
            <a:off x="8908365" y="1675596"/>
            <a:ext cx="159966" cy="1286728"/>
          </a:xfrm>
          <a:prstGeom prst="rect">
            <a:avLst/>
          </a:prstGeom>
        </p:spPr>
      </p:pic>
      <p:pic>
        <p:nvPicPr>
          <p:cNvPr id="18" name="Grafik 17">
            <a:extLst>
              <a:ext uri="{FF2B5EF4-FFF2-40B4-BE49-F238E27FC236}">
                <a16:creationId xmlns:a16="http://schemas.microsoft.com/office/drawing/2014/main" id="{94C04A88-6D4A-2FF6-053A-0DE5A2CDAC1F}"/>
              </a:ext>
            </a:extLst>
          </p:cNvPr>
          <p:cNvPicPr>
            <a:picLocks noChangeAspect="1"/>
          </p:cNvPicPr>
          <p:nvPr/>
        </p:nvPicPr>
        <p:blipFill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422338" y="1333104"/>
            <a:ext cx="1050280" cy="447793"/>
          </a:xfrm>
          <a:prstGeom prst="rect">
            <a:avLst/>
          </a:prstGeom>
        </p:spPr>
      </p:pic>
      <p:pic>
        <p:nvPicPr>
          <p:cNvPr id="19" name="Grafik 18">
            <a:extLst>
              <a:ext uri="{FF2B5EF4-FFF2-40B4-BE49-F238E27FC236}">
                <a16:creationId xmlns:a16="http://schemas.microsoft.com/office/drawing/2014/main" id="{8B6D22D7-D235-1113-D1E0-FA69BCC95A2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flipH="1">
            <a:off x="9881051" y="1676402"/>
            <a:ext cx="159966" cy="1286728"/>
          </a:xfrm>
          <a:prstGeom prst="rect">
            <a:avLst/>
          </a:prstGeom>
        </p:spPr>
      </p:pic>
      <p:sp>
        <p:nvSpPr>
          <p:cNvPr id="20" name="Ellipse 19">
            <a:extLst>
              <a:ext uri="{FF2B5EF4-FFF2-40B4-BE49-F238E27FC236}">
                <a16:creationId xmlns:a16="http://schemas.microsoft.com/office/drawing/2014/main" id="{F5E98920-F780-D3CC-ED64-1927311208A6}"/>
              </a:ext>
            </a:extLst>
          </p:cNvPr>
          <p:cNvSpPr/>
          <p:nvPr/>
        </p:nvSpPr>
        <p:spPr>
          <a:xfrm rot="16200000">
            <a:off x="3967581" y="3397810"/>
            <a:ext cx="284850" cy="292872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de-DE" sz="800" dirty="0"/>
              <a:t>9</a:t>
            </a:r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480EC29A-5DB3-5713-D65F-96027C3F0BD3}"/>
              </a:ext>
            </a:extLst>
          </p:cNvPr>
          <p:cNvSpPr/>
          <p:nvPr/>
        </p:nvSpPr>
        <p:spPr>
          <a:xfrm rot="16200000">
            <a:off x="4940264" y="3381161"/>
            <a:ext cx="284850" cy="292872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de-DE" sz="800" dirty="0"/>
              <a:t>10</a:t>
            </a:r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3490A913-1BBB-468B-CB32-901A24DA686A}"/>
              </a:ext>
            </a:extLst>
          </p:cNvPr>
          <p:cNvSpPr/>
          <p:nvPr/>
        </p:nvSpPr>
        <p:spPr>
          <a:xfrm rot="16200000">
            <a:off x="5912947" y="3381161"/>
            <a:ext cx="284850" cy="292872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de-DE" sz="800" dirty="0"/>
              <a:t>11</a:t>
            </a:r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89FA7731-0719-4D6D-3B9D-ED98A580915E}"/>
              </a:ext>
            </a:extLst>
          </p:cNvPr>
          <p:cNvSpPr/>
          <p:nvPr/>
        </p:nvSpPr>
        <p:spPr>
          <a:xfrm rot="16200000">
            <a:off x="6885630" y="3381161"/>
            <a:ext cx="284850" cy="292872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de-DE" sz="800" dirty="0"/>
              <a:t>12</a:t>
            </a:r>
          </a:p>
        </p:txBody>
      </p:sp>
      <p:sp>
        <p:nvSpPr>
          <p:cNvPr id="24" name="Ellipse 23">
            <a:extLst>
              <a:ext uri="{FF2B5EF4-FFF2-40B4-BE49-F238E27FC236}">
                <a16:creationId xmlns:a16="http://schemas.microsoft.com/office/drawing/2014/main" id="{6AA062AD-1958-DDD0-53CA-B7668C2E014C}"/>
              </a:ext>
            </a:extLst>
          </p:cNvPr>
          <p:cNvSpPr/>
          <p:nvPr/>
        </p:nvSpPr>
        <p:spPr>
          <a:xfrm rot="16200000">
            <a:off x="7858313" y="3397810"/>
            <a:ext cx="284850" cy="292872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de-DE" sz="800" dirty="0"/>
              <a:t>13</a:t>
            </a:r>
          </a:p>
        </p:txBody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B44E09C5-91E6-3159-0011-4ED9BEB9F2EF}"/>
              </a:ext>
            </a:extLst>
          </p:cNvPr>
          <p:cNvSpPr/>
          <p:nvPr/>
        </p:nvSpPr>
        <p:spPr>
          <a:xfrm rot="16200000">
            <a:off x="8830996" y="3405436"/>
            <a:ext cx="284850" cy="292872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de-DE" sz="800" dirty="0"/>
              <a:t>14</a:t>
            </a:r>
          </a:p>
        </p:txBody>
      </p:sp>
      <p:sp>
        <p:nvSpPr>
          <p:cNvPr id="26" name="Ellipse 25">
            <a:extLst>
              <a:ext uri="{FF2B5EF4-FFF2-40B4-BE49-F238E27FC236}">
                <a16:creationId xmlns:a16="http://schemas.microsoft.com/office/drawing/2014/main" id="{A2009576-235D-CF6C-AAF1-89BC2850F9D3}"/>
              </a:ext>
            </a:extLst>
          </p:cNvPr>
          <p:cNvSpPr/>
          <p:nvPr/>
        </p:nvSpPr>
        <p:spPr>
          <a:xfrm rot="16200000">
            <a:off x="9803679" y="3397810"/>
            <a:ext cx="284850" cy="292872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de-DE" sz="800" dirty="0"/>
              <a:t>15</a:t>
            </a:r>
          </a:p>
        </p:txBody>
      </p:sp>
      <p:sp>
        <p:nvSpPr>
          <p:cNvPr id="27" name="Ellipse 26">
            <a:extLst>
              <a:ext uri="{FF2B5EF4-FFF2-40B4-BE49-F238E27FC236}">
                <a16:creationId xmlns:a16="http://schemas.microsoft.com/office/drawing/2014/main" id="{E5F1E43C-01C2-9511-375B-46238C30919A}"/>
              </a:ext>
            </a:extLst>
          </p:cNvPr>
          <p:cNvSpPr/>
          <p:nvPr/>
        </p:nvSpPr>
        <p:spPr>
          <a:xfrm rot="16200000">
            <a:off x="10776516" y="3405436"/>
            <a:ext cx="284850" cy="292872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de-DE" sz="800" dirty="0"/>
              <a:t>16</a:t>
            </a:r>
          </a:p>
        </p:txBody>
      </p:sp>
      <p:pic>
        <p:nvPicPr>
          <p:cNvPr id="28" name="Grafik 27">
            <a:extLst>
              <a:ext uri="{FF2B5EF4-FFF2-40B4-BE49-F238E27FC236}">
                <a16:creationId xmlns:a16="http://schemas.microsoft.com/office/drawing/2014/main" id="{56DE9246-C56B-B5A8-46EE-D5D0596A319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49590" y="4294493"/>
            <a:ext cx="982184" cy="934964"/>
          </a:xfrm>
          <a:prstGeom prst="rect">
            <a:avLst/>
          </a:prstGeom>
        </p:spPr>
      </p:pic>
      <p:pic>
        <p:nvPicPr>
          <p:cNvPr id="47" name="Grafik 46">
            <a:extLst>
              <a:ext uri="{FF2B5EF4-FFF2-40B4-BE49-F238E27FC236}">
                <a16:creationId xmlns:a16="http://schemas.microsoft.com/office/drawing/2014/main" id="{0B092584-B452-0665-D1C6-31FFA71E30A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169643" y="4594764"/>
            <a:ext cx="1538873" cy="471521"/>
          </a:xfrm>
          <a:prstGeom prst="rect">
            <a:avLst/>
          </a:prstGeom>
        </p:spPr>
      </p:pic>
      <p:cxnSp>
        <p:nvCxnSpPr>
          <p:cNvPr id="49" name="Gerade Verbindung mit Pfeil 48">
            <a:extLst>
              <a:ext uri="{FF2B5EF4-FFF2-40B4-BE49-F238E27FC236}">
                <a16:creationId xmlns:a16="http://schemas.microsoft.com/office/drawing/2014/main" id="{DCD5BBAF-F298-A0E4-A2BC-AC106D1766C5}"/>
              </a:ext>
            </a:extLst>
          </p:cNvPr>
          <p:cNvCxnSpPr/>
          <p:nvPr/>
        </p:nvCxnSpPr>
        <p:spPr>
          <a:xfrm>
            <a:off x="8988348" y="1338446"/>
            <a:ext cx="0" cy="298343"/>
          </a:xfrm>
          <a:prstGeom prst="straightConnector1">
            <a:avLst/>
          </a:prstGeom>
          <a:ln w="9525">
            <a:headEnd type="none" w="med" len="med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0" name="Gerade Verbindung mit Pfeil 49">
            <a:extLst>
              <a:ext uri="{FF2B5EF4-FFF2-40B4-BE49-F238E27FC236}">
                <a16:creationId xmlns:a16="http://schemas.microsoft.com/office/drawing/2014/main" id="{1F52509F-B87B-52E4-3F59-86FE90318E56}"/>
              </a:ext>
            </a:extLst>
          </p:cNvPr>
          <p:cNvCxnSpPr>
            <a:cxnSpLocks/>
          </p:cNvCxnSpPr>
          <p:nvPr/>
        </p:nvCxnSpPr>
        <p:spPr>
          <a:xfrm>
            <a:off x="9395847" y="1537565"/>
            <a:ext cx="370502" cy="0"/>
          </a:xfrm>
          <a:prstGeom prst="straightConnector1">
            <a:avLst/>
          </a:prstGeom>
          <a:ln w="9525">
            <a:headEnd type="none" w="med" len="med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3" name="Gerade Verbindung mit Pfeil 52">
            <a:extLst>
              <a:ext uri="{FF2B5EF4-FFF2-40B4-BE49-F238E27FC236}">
                <a16:creationId xmlns:a16="http://schemas.microsoft.com/office/drawing/2014/main" id="{C513272C-43FE-1E37-7E95-66C215892273}"/>
              </a:ext>
            </a:extLst>
          </p:cNvPr>
          <p:cNvCxnSpPr>
            <a:cxnSpLocks/>
          </p:cNvCxnSpPr>
          <p:nvPr/>
        </p:nvCxnSpPr>
        <p:spPr>
          <a:xfrm flipV="1">
            <a:off x="5083394" y="1879826"/>
            <a:ext cx="0" cy="283278"/>
          </a:xfrm>
          <a:prstGeom prst="straightConnector1">
            <a:avLst/>
          </a:prstGeom>
          <a:ln w="9525">
            <a:headEnd type="none" w="med" len="med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70" name="Grafik 69">
            <a:extLst>
              <a:ext uri="{FF2B5EF4-FFF2-40B4-BE49-F238E27FC236}">
                <a16:creationId xmlns:a16="http://schemas.microsoft.com/office/drawing/2014/main" id="{34B0FAE9-698B-3170-03AC-DF14C4B1816A}"/>
              </a:ext>
            </a:extLst>
          </p:cNvPr>
          <p:cNvPicPr>
            <a:picLocks noChangeAspect="1"/>
          </p:cNvPicPr>
          <p:nvPr/>
        </p:nvPicPr>
        <p:blipFill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517384" y="1656145"/>
            <a:ext cx="1050280" cy="447793"/>
          </a:xfrm>
          <a:prstGeom prst="rect">
            <a:avLst/>
          </a:prstGeom>
        </p:spPr>
      </p:pic>
      <p:sp>
        <p:nvSpPr>
          <p:cNvPr id="80" name="Pfeil: nach unten 79">
            <a:extLst>
              <a:ext uri="{FF2B5EF4-FFF2-40B4-BE49-F238E27FC236}">
                <a16:creationId xmlns:a16="http://schemas.microsoft.com/office/drawing/2014/main" id="{8A56C902-79AC-1B27-006F-FCB546C65357}"/>
              </a:ext>
            </a:extLst>
          </p:cNvPr>
          <p:cNvSpPr/>
          <p:nvPr/>
        </p:nvSpPr>
        <p:spPr>
          <a:xfrm rot="11397361">
            <a:off x="5814029" y="1936789"/>
            <a:ext cx="158604" cy="316993"/>
          </a:xfrm>
          <a:prstGeom prst="downArrow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pic>
        <p:nvPicPr>
          <p:cNvPr id="81" name="Grafik 80">
            <a:extLst>
              <a:ext uri="{FF2B5EF4-FFF2-40B4-BE49-F238E27FC236}">
                <a16:creationId xmlns:a16="http://schemas.microsoft.com/office/drawing/2014/main" id="{BB6C69C5-A63B-A4D2-A414-F7DCC974A06D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35822" t="1" r="31537" b="24700"/>
          <a:stretch/>
        </p:blipFill>
        <p:spPr>
          <a:xfrm>
            <a:off x="6632326" y="1860262"/>
            <a:ext cx="758919" cy="746426"/>
          </a:xfrm>
          <a:prstGeom prst="rect">
            <a:avLst/>
          </a:prstGeom>
        </p:spPr>
      </p:pic>
      <p:cxnSp>
        <p:nvCxnSpPr>
          <p:cNvPr id="83" name="Gerade Verbindung mit Pfeil 82">
            <a:extLst>
              <a:ext uri="{FF2B5EF4-FFF2-40B4-BE49-F238E27FC236}">
                <a16:creationId xmlns:a16="http://schemas.microsoft.com/office/drawing/2014/main" id="{96E96038-2F2C-12E3-7E8A-BFCFB2E4FE6C}"/>
              </a:ext>
            </a:extLst>
          </p:cNvPr>
          <p:cNvCxnSpPr>
            <a:cxnSpLocks/>
          </p:cNvCxnSpPr>
          <p:nvPr/>
        </p:nvCxnSpPr>
        <p:spPr>
          <a:xfrm>
            <a:off x="6867357" y="2168716"/>
            <a:ext cx="264469" cy="0"/>
          </a:xfrm>
          <a:prstGeom prst="straightConnector1">
            <a:avLst/>
          </a:prstGeom>
          <a:ln w="3175">
            <a:headEnd type="triangl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86" name="Gerade Verbindung mit Pfeil 85">
            <a:extLst>
              <a:ext uri="{FF2B5EF4-FFF2-40B4-BE49-F238E27FC236}">
                <a16:creationId xmlns:a16="http://schemas.microsoft.com/office/drawing/2014/main" id="{DF9CD545-5422-1DD1-7C14-11EA2DB1FCC5}"/>
              </a:ext>
            </a:extLst>
          </p:cNvPr>
          <p:cNvCxnSpPr>
            <a:cxnSpLocks/>
          </p:cNvCxnSpPr>
          <p:nvPr/>
        </p:nvCxnSpPr>
        <p:spPr>
          <a:xfrm>
            <a:off x="6867357" y="2289330"/>
            <a:ext cx="264469" cy="0"/>
          </a:xfrm>
          <a:prstGeom prst="straightConnector1">
            <a:avLst/>
          </a:prstGeom>
          <a:ln w="3175">
            <a:headEnd type="triangl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87" name="Gerade Verbindung mit Pfeil 86">
            <a:extLst>
              <a:ext uri="{FF2B5EF4-FFF2-40B4-BE49-F238E27FC236}">
                <a16:creationId xmlns:a16="http://schemas.microsoft.com/office/drawing/2014/main" id="{19DE8AA6-3A16-7F3C-6E2A-80AE4F905971}"/>
              </a:ext>
            </a:extLst>
          </p:cNvPr>
          <p:cNvCxnSpPr>
            <a:cxnSpLocks/>
          </p:cNvCxnSpPr>
          <p:nvPr/>
        </p:nvCxnSpPr>
        <p:spPr>
          <a:xfrm>
            <a:off x="6867357" y="2429780"/>
            <a:ext cx="264469" cy="0"/>
          </a:xfrm>
          <a:prstGeom prst="straightConnector1">
            <a:avLst/>
          </a:prstGeom>
          <a:ln w="3175">
            <a:headEnd type="triangl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88" name="Grafik 87">
            <a:extLst>
              <a:ext uri="{FF2B5EF4-FFF2-40B4-BE49-F238E27FC236}">
                <a16:creationId xmlns:a16="http://schemas.microsoft.com/office/drawing/2014/main" id="{456F42C7-2FAD-A77B-B9CF-3B9BBA420B43}"/>
              </a:ext>
            </a:extLst>
          </p:cNvPr>
          <p:cNvPicPr>
            <a:picLocks noChangeAspect="1"/>
          </p:cNvPicPr>
          <p:nvPr/>
        </p:nvPicPr>
        <p:blipFill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381467" y="1613396"/>
            <a:ext cx="1050280" cy="447793"/>
          </a:xfrm>
          <a:prstGeom prst="rect">
            <a:avLst/>
          </a:prstGeom>
        </p:spPr>
      </p:pic>
      <p:pic>
        <p:nvPicPr>
          <p:cNvPr id="89" name="Grafik 88">
            <a:extLst>
              <a:ext uri="{FF2B5EF4-FFF2-40B4-BE49-F238E27FC236}">
                <a16:creationId xmlns:a16="http://schemas.microsoft.com/office/drawing/2014/main" id="{C22A6D61-9DE0-38D7-CA05-3115802A80F5}"/>
              </a:ext>
            </a:extLst>
          </p:cNvPr>
          <p:cNvPicPr>
            <a:picLocks noChangeAspect="1"/>
          </p:cNvPicPr>
          <p:nvPr/>
        </p:nvPicPr>
        <p:blipFill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 flipH="1">
            <a:off x="10847929" y="1673850"/>
            <a:ext cx="159966" cy="1286728"/>
          </a:xfrm>
          <a:prstGeom prst="rect">
            <a:avLst/>
          </a:prstGeom>
        </p:spPr>
      </p:pic>
      <p:pic>
        <p:nvPicPr>
          <p:cNvPr id="90" name="Grafik 89">
            <a:extLst>
              <a:ext uri="{FF2B5EF4-FFF2-40B4-BE49-F238E27FC236}">
                <a16:creationId xmlns:a16="http://schemas.microsoft.com/office/drawing/2014/main" id="{06CEFB9A-16D6-4127-C864-5CBBD0CAA140}"/>
              </a:ext>
            </a:extLst>
          </p:cNvPr>
          <p:cNvPicPr>
            <a:picLocks noChangeAspect="1"/>
          </p:cNvPicPr>
          <p:nvPr/>
        </p:nvPicPr>
        <p:blipFill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506244" y="4039059"/>
            <a:ext cx="1050280" cy="447793"/>
          </a:xfrm>
          <a:prstGeom prst="rect">
            <a:avLst/>
          </a:prstGeom>
        </p:spPr>
      </p:pic>
      <p:pic>
        <p:nvPicPr>
          <p:cNvPr id="91" name="Grafik 90">
            <a:extLst>
              <a:ext uri="{FF2B5EF4-FFF2-40B4-BE49-F238E27FC236}">
                <a16:creationId xmlns:a16="http://schemas.microsoft.com/office/drawing/2014/main" id="{F7A09332-5458-8322-1BFA-EA8057CEA31C}"/>
              </a:ext>
            </a:extLst>
          </p:cNvPr>
          <p:cNvPicPr>
            <a:picLocks noChangeAspect="1"/>
          </p:cNvPicPr>
          <p:nvPr/>
        </p:nvPicPr>
        <p:blipFill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 flipH="1">
            <a:off x="5972706" y="4099513"/>
            <a:ext cx="159966" cy="1286728"/>
          </a:xfrm>
          <a:prstGeom prst="rect">
            <a:avLst/>
          </a:prstGeom>
        </p:spPr>
      </p:pic>
      <p:sp>
        <p:nvSpPr>
          <p:cNvPr id="92" name="Pfeil: nach unten 91">
            <a:extLst>
              <a:ext uri="{FF2B5EF4-FFF2-40B4-BE49-F238E27FC236}">
                <a16:creationId xmlns:a16="http://schemas.microsoft.com/office/drawing/2014/main" id="{5C124E1D-0D03-2107-5263-B7EF3CA90613}"/>
              </a:ext>
            </a:extLst>
          </p:cNvPr>
          <p:cNvSpPr/>
          <p:nvPr/>
        </p:nvSpPr>
        <p:spPr>
          <a:xfrm rot="19914626">
            <a:off x="5781917" y="3811307"/>
            <a:ext cx="158604" cy="316993"/>
          </a:xfrm>
          <a:prstGeom prst="downArrow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pic>
        <p:nvPicPr>
          <p:cNvPr id="93" name="Grafik 92">
            <a:extLst>
              <a:ext uri="{FF2B5EF4-FFF2-40B4-BE49-F238E27FC236}">
                <a16:creationId xmlns:a16="http://schemas.microsoft.com/office/drawing/2014/main" id="{71AC19AA-66B8-87E2-1111-2C746839EB45}"/>
              </a:ext>
            </a:extLst>
          </p:cNvPr>
          <p:cNvPicPr>
            <a:picLocks noChangeAspect="1"/>
          </p:cNvPicPr>
          <p:nvPr/>
        </p:nvPicPr>
        <p:blipFill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422338" y="4146971"/>
            <a:ext cx="1050280" cy="447793"/>
          </a:xfrm>
          <a:prstGeom prst="rect">
            <a:avLst/>
          </a:prstGeom>
        </p:spPr>
      </p:pic>
      <p:pic>
        <p:nvPicPr>
          <p:cNvPr id="94" name="Grafik 93">
            <a:extLst>
              <a:ext uri="{FF2B5EF4-FFF2-40B4-BE49-F238E27FC236}">
                <a16:creationId xmlns:a16="http://schemas.microsoft.com/office/drawing/2014/main" id="{13A0E790-900C-232E-9278-01012AE7B43C}"/>
              </a:ext>
            </a:extLst>
          </p:cNvPr>
          <p:cNvPicPr>
            <a:picLocks noChangeAspect="1"/>
          </p:cNvPicPr>
          <p:nvPr/>
        </p:nvPicPr>
        <p:blipFill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 flipH="1">
            <a:off x="9888800" y="4207425"/>
            <a:ext cx="159966" cy="1286728"/>
          </a:xfrm>
          <a:prstGeom prst="rect">
            <a:avLst/>
          </a:prstGeom>
        </p:spPr>
      </p:pic>
      <p:cxnSp>
        <p:nvCxnSpPr>
          <p:cNvPr id="95" name="Gerade Verbindung mit Pfeil 94">
            <a:extLst>
              <a:ext uri="{FF2B5EF4-FFF2-40B4-BE49-F238E27FC236}">
                <a16:creationId xmlns:a16="http://schemas.microsoft.com/office/drawing/2014/main" id="{FF00084B-58BA-AEAB-C962-C1E1536A9597}"/>
              </a:ext>
            </a:extLst>
          </p:cNvPr>
          <p:cNvCxnSpPr>
            <a:cxnSpLocks/>
          </p:cNvCxnSpPr>
          <p:nvPr/>
        </p:nvCxnSpPr>
        <p:spPr>
          <a:xfrm flipV="1">
            <a:off x="9969895" y="3859713"/>
            <a:ext cx="0" cy="283278"/>
          </a:xfrm>
          <a:prstGeom prst="straightConnector1">
            <a:avLst/>
          </a:prstGeom>
          <a:ln w="9525">
            <a:headEnd type="none" w="med" len="med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96" name="Textfeld 95">
            <a:extLst>
              <a:ext uri="{FF2B5EF4-FFF2-40B4-BE49-F238E27FC236}">
                <a16:creationId xmlns:a16="http://schemas.microsoft.com/office/drawing/2014/main" id="{885C2F63-A35B-6028-2E8D-5A7D4992FC56}"/>
              </a:ext>
            </a:extLst>
          </p:cNvPr>
          <p:cNvSpPr txBox="1"/>
          <p:nvPr/>
        </p:nvSpPr>
        <p:spPr>
          <a:xfrm rot="19311031">
            <a:off x="8406992" y="4581896"/>
            <a:ext cx="113285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000" dirty="0" err="1"/>
              <a:t>empty</a:t>
            </a:r>
            <a:endParaRPr lang="de-DE" sz="1000" dirty="0"/>
          </a:p>
        </p:txBody>
      </p:sp>
      <p:sp>
        <p:nvSpPr>
          <p:cNvPr id="97" name="Geschweifte Klammer rechts 96">
            <a:extLst>
              <a:ext uri="{FF2B5EF4-FFF2-40B4-BE49-F238E27FC236}">
                <a16:creationId xmlns:a16="http://schemas.microsoft.com/office/drawing/2014/main" id="{F22CC6A1-F860-835A-3A20-4696B71C93F3}"/>
              </a:ext>
            </a:extLst>
          </p:cNvPr>
          <p:cNvSpPr/>
          <p:nvPr/>
        </p:nvSpPr>
        <p:spPr>
          <a:xfrm rot="5400000">
            <a:off x="7399827" y="4584655"/>
            <a:ext cx="293891" cy="1970002"/>
          </a:xfrm>
          <a:prstGeom prst="rightBrace">
            <a:avLst>
              <a:gd name="adj1" fmla="val 52571"/>
              <a:gd name="adj2" fmla="val 50220"/>
            </a:avLst>
          </a:prstGeom>
          <a:ln w="12700"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8" name="Textfeld 97">
            <a:extLst>
              <a:ext uri="{FF2B5EF4-FFF2-40B4-BE49-F238E27FC236}">
                <a16:creationId xmlns:a16="http://schemas.microsoft.com/office/drawing/2014/main" id="{DBFCE65D-DB1B-8450-B056-A25BD466383D}"/>
              </a:ext>
            </a:extLst>
          </p:cNvPr>
          <p:cNvSpPr txBox="1"/>
          <p:nvPr/>
        </p:nvSpPr>
        <p:spPr>
          <a:xfrm>
            <a:off x="6982427" y="5829277"/>
            <a:ext cx="113285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000" dirty="0" err="1"/>
              <a:t>options</a:t>
            </a:r>
            <a:endParaRPr lang="de-DE" sz="1000" dirty="0"/>
          </a:p>
        </p:txBody>
      </p:sp>
      <p:sp>
        <p:nvSpPr>
          <p:cNvPr id="99" name="Gewitterblitz 98">
            <a:extLst>
              <a:ext uri="{FF2B5EF4-FFF2-40B4-BE49-F238E27FC236}">
                <a16:creationId xmlns:a16="http://schemas.microsoft.com/office/drawing/2014/main" id="{78FC59AC-EED3-C9FB-C2F4-1A94E2CE96CB}"/>
              </a:ext>
            </a:extLst>
          </p:cNvPr>
          <p:cNvSpPr/>
          <p:nvPr/>
        </p:nvSpPr>
        <p:spPr>
          <a:xfrm rot="2345450">
            <a:off x="6992500" y="4182334"/>
            <a:ext cx="160735" cy="390638"/>
          </a:xfrm>
          <a:prstGeom prst="lightningBol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sp>
        <p:nvSpPr>
          <p:cNvPr id="100" name="Rechteck 99">
            <a:extLst>
              <a:ext uri="{FF2B5EF4-FFF2-40B4-BE49-F238E27FC236}">
                <a16:creationId xmlns:a16="http://schemas.microsoft.com/office/drawing/2014/main" id="{6418AA1A-8CA9-E824-027E-D2CBBDF33AB9}"/>
              </a:ext>
            </a:extLst>
          </p:cNvPr>
          <p:cNvSpPr/>
          <p:nvPr/>
        </p:nvSpPr>
        <p:spPr>
          <a:xfrm>
            <a:off x="7865214" y="4452254"/>
            <a:ext cx="306611" cy="27299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</p:spTree>
    <p:extLst>
      <p:ext uri="{BB962C8B-B14F-4D97-AF65-F5344CB8AC3E}">
        <p14:creationId xmlns:p14="http://schemas.microsoft.com/office/powerpoint/2010/main" val="11408854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B3401C-CF14-AA1D-BDF5-32C7DFD63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Required</a:t>
            </a:r>
            <a:r>
              <a:rPr lang="de-DE" dirty="0"/>
              <a:t> </a:t>
            </a:r>
            <a:r>
              <a:rPr lang="de-DE" dirty="0" err="1"/>
              <a:t>Processes</a:t>
            </a:r>
            <a:r>
              <a:rPr lang="de-DE" dirty="0"/>
              <a:t> (</a:t>
            </a:r>
            <a:r>
              <a:rPr lang="de-DE" dirty="0" err="1"/>
              <a:t>specifications</a:t>
            </a:r>
            <a:r>
              <a:rPr lang="de-DE" dirty="0"/>
              <a:t> V2)</a:t>
            </a:r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FE4BF723-D1BC-793C-5252-CF8F98A6B0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0316939"/>
              </p:ext>
            </p:extLst>
          </p:nvPr>
        </p:nvGraphicFramePr>
        <p:xfrm>
          <a:off x="2084188" y="997623"/>
          <a:ext cx="3257801" cy="49268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9580">
                  <a:extLst>
                    <a:ext uri="{9D8B030D-6E8A-4147-A177-3AD203B41FA5}">
                      <a16:colId xmlns:a16="http://schemas.microsoft.com/office/drawing/2014/main" val="566185741"/>
                    </a:ext>
                  </a:extLst>
                </a:gridCol>
                <a:gridCol w="2808221">
                  <a:extLst>
                    <a:ext uri="{9D8B030D-6E8A-4147-A177-3AD203B41FA5}">
                      <a16:colId xmlns:a16="http://schemas.microsoft.com/office/drawing/2014/main" val="611645751"/>
                    </a:ext>
                  </a:extLst>
                </a:gridCol>
              </a:tblGrid>
              <a:tr h="289124">
                <a:tc>
                  <a:txBody>
                    <a:bodyPr/>
                    <a:lstStyle/>
                    <a:p>
                      <a:endParaRPr lang="de-DE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 err="1"/>
                        <a:t>Processes</a:t>
                      </a:r>
                      <a:endParaRPr lang="de-DE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5254656"/>
                  </a:ext>
                </a:extLst>
              </a:tr>
              <a:tr h="217076">
                <a:tc>
                  <a:txBody>
                    <a:bodyPr/>
                    <a:lstStyle/>
                    <a:p>
                      <a:pPr algn="ctr"/>
                      <a:r>
                        <a:rPr lang="de-DE" sz="1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 err="1"/>
                        <a:t>feeding</a:t>
                      </a:r>
                      <a:r>
                        <a:rPr lang="de-DE" sz="1000" dirty="0"/>
                        <a:t> </a:t>
                      </a:r>
                      <a:r>
                        <a:rPr lang="de-DE" sz="1000" dirty="0" err="1"/>
                        <a:t>trays</a:t>
                      </a:r>
                      <a:r>
                        <a:rPr lang="de-DE" sz="1000" dirty="0"/>
                        <a:t> </a:t>
                      </a:r>
                      <a:r>
                        <a:rPr lang="de-DE" sz="1000" dirty="0" err="1"/>
                        <a:t>plate</a:t>
                      </a:r>
                      <a:endParaRPr lang="de-DE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5740491"/>
                  </a:ext>
                </a:extLst>
              </a:tr>
              <a:tr h="217076">
                <a:tc>
                  <a:txBody>
                    <a:bodyPr/>
                    <a:lstStyle/>
                    <a:p>
                      <a:pPr algn="ctr"/>
                      <a:r>
                        <a:rPr lang="de-DE" sz="1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 err="1"/>
                        <a:t>loading</a:t>
                      </a:r>
                      <a:r>
                        <a:rPr lang="de-DE" sz="1000" dirty="0"/>
                        <a:t> </a:t>
                      </a:r>
                      <a:r>
                        <a:rPr lang="de-DE" sz="1000" dirty="0" err="1"/>
                        <a:t>plate</a:t>
                      </a:r>
                      <a:endParaRPr lang="de-DE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5652857"/>
                  </a:ext>
                </a:extLst>
              </a:tr>
              <a:tr h="217076">
                <a:tc>
                  <a:txBody>
                    <a:bodyPr/>
                    <a:lstStyle/>
                    <a:p>
                      <a:pPr algn="ctr"/>
                      <a:r>
                        <a:rPr lang="de-DE" sz="1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 err="1"/>
                        <a:t>plate</a:t>
                      </a:r>
                      <a:r>
                        <a:rPr lang="de-DE" sz="1000" dirty="0"/>
                        <a:t> </a:t>
                      </a:r>
                      <a:r>
                        <a:rPr lang="de-DE" sz="1000" dirty="0" err="1"/>
                        <a:t>brushing</a:t>
                      </a:r>
                      <a:endParaRPr lang="de-DE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3391173"/>
                  </a:ext>
                </a:extLst>
              </a:tr>
              <a:tr h="248648">
                <a:tc>
                  <a:txBody>
                    <a:bodyPr/>
                    <a:lstStyle/>
                    <a:p>
                      <a:pPr algn="ctr"/>
                      <a:r>
                        <a:rPr lang="de-DE" sz="10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hole </a:t>
                      </a:r>
                      <a:r>
                        <a:rPr lang="de-DE" sz="10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plate</a:t>
                      </a:r>
                      <a:r>
                        <a:rPr lang="de-DE" sz="10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de-DE" sz="10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measurement</a:t>
                      </a:r>
                      <a:r>
                        <a:rPr lang="de-DE" sz="10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de-DE" sz="10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8037003"/>
                  </a:ext>
                </a:extLst>
              </a:tr>
              <a:tr h="184929">
                <a:tc>
                  <a:txBody>
                    <a:bodyPr/>
                    <a:lstStyle/>
                    <a:p>
                      <a:pPr algn="ctr"/>
                      <a:r>
                        <a:rPr lang="de-DE" sz="10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000" dirty="0" err="1"/>
                        <a:t>feeding</a:t>
                      </a:r>
                      <a:r>
                        <a:rPr lang="de-DE" sz="1000" dirty="0"/>
                        <a:t> </a:t>
                      </a:r>
                      <a:r>
                        <a:rPr lang="de-DE" sz="1000" dirty="0" err="1"/>
                        <a:t>trays</a:t>
                      </a:r>
                      <a:r>
                        <a:rPr lang="de-DE" sz="1000" dirty="0"/>
                        <a:t> </a:t>
                      </a:r>
                      <a:r>
                        <a:rPr lang="de-DE" sz="1000" dirty="0" err="1"/>
                        <a:t>pins</a:t>
                      </a:r>
                      <a:endParaRPr lang="de-DE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7096664"/>
                  </a:ext>
                </a:extLst>
              </a:tr>
              <a:tr h="184929">
                <a:tc>
                  <a:txBody>
                    <a:bodyPr/>
                    <a:lstStyle/>
                    <a:p>
                      <a:pPr algn="ctr"/>
                      <a:r>
                        <a:rPr lang="de-DE" sz="10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000" dirty="0" err="1"/>
                        <a:t>selection</a:t>
                      </a:r>
                      <a:r>
                        <a:rPr lang="de-DE" sz="1000" dirty="0"/>
                        <a:t> </a:t>
                      </a:r>
                      <a:r>
                        <a:rPr lang="de-DE" sz="1000" dirty="0" err="1"/>
                        <a:t>needle</a:t>
                      </a:r>
                      <a:r>
                        <a:rPr lang="de-DE" sz="1000" dirty="0"/>
                        <a:t> &amp; </a:t>
                      </a:r>
                      <a:r>
                        <a:rPr lang="de-DE" sz="1000" dirty="0" err="1"/>
                        <a:t>loading</a:t>
                      </a:r>
                      <a:r>
                        <a:rPr lang="de-DE" sz="1000" dirty="0"/>
                        <a:t> in </a:t>
                      </a:r>
                      <a:r>
                        <a:rPr lang="de-DE" sz="1000" dirty="0" err="1"/>
                        <a:t>assembly</a:t>
                      </a:r>
                      <a:r>
                        <a:rPr lang="de-DE" sz="1000" dirty="0"/>
                        <a:t> </a:t>
                      </a:r>
                      <a:r>
                        <a:rPr lang="de-DE" sz="1000" dirty="0" err="1"/>
                        <a:t>tool</a:t>
                      </a:r>
                      <a:endParaRPr lang="de-DE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5846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de-DE" sz="10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 err="1"/>
                        <a:t>loading</a:t>
                      </a:r>
                      <a:r>
                        <a:rPr lang="de-DE" sz="1000" dirty="0"/>
                        <a:t> </a:t>
                      </a:r>
                      <a:r>
                        <a:rPr lang="de-DE" sz="1000" dirty="0" err="1"/>
                        <a:t>plate</a:t>
                      </a:r>
                      <a:r>
                        <a:rPr lang="de-DE" sz="1000" dirty="0"/>
                        <a:t> in </a:t>
                      </a:r>
                      <a:r>
                        <a:rPr lang="de-DE" sz="1000" dirty="0" err="1"/>
                        <a:t>assembly</a:t>
                      </a:r>
                      <a:r>
                        <a:rPr lang="de-DE" sz="1000" dirty="0"/>
                        <a:t> </a:t>
                      </a:r>
                      <a:r>
                        <a:rPr lang="de-DE" sz="1000" dirty="0" err="1"/>
                        <a:t>tool</a:t>
                      </a:r>
                      <a:endParaRPr lang="de-DE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0164672"/>
                  </a:ext>
                </a:extLst>
              </a:tr>
              <a:tr h="143633">
                <a:tc>
                  <a:txBody>
                    <a:bodyPr/>
                    <a:lstStyle/>
                    <a:p>
                      <a:pPr algn="ctr"/>
                      <a:r>
                        <a:rPr lang="de-DE" sz="10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000" dirty="0"/>
                        <a:t>press </a:t>
                      </a:r>
                      <a:r>
                        <a:rPr lang="de-DE" sz="1000" dirty="0" err="1"/>
                        <a:t>fitting</a:t>
                      </a:r>
                      <a:endParaRPr lang="de-DE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8990362"/>
                  </a:ext>
                </a:extLst>
              </a:tr>
              <a:tr h="170180">
                <a:tc>
                  <a:txBody>
                    <a:bodyPr/>
                    <a:lstStyle/>
                    <a:p>
                      <a:pPr algn="ctr"/>
                      <a:r>
                        <a:rPr lang="de-DE" sz="10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 err="1"/>
                        <a:t>runout</a:t>
                      </a:r>
                      <a:r>
                        <a:rPr lang="de-DE" sz="1000" dirty="0"/>
                        <a:t> </a:t>
                      </a:r>
                      <a:r>
                        <a:rPr lang="de-DE" sz="1000" dirty="0" err="1"/>
                        <a:t>checking</a:t>
                      </a:r>
                      <a:endParaRPr lang="de-DE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75916"/>
                  </a:ext>
                </a:extLst>
              </a:tr>
              <a:tr h="155432">
                <a:tc>
                  <a:txBody>
                    <a:bodyPr/>
                    <a:lstStyle/>
                    <a:p>
                      <a:pPr algn="ctr"/>
                      <a:r>
                        <a:rPr lang="de-DE" sz="10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000" dirty="0" err="1"/>
                        <a:t>length</a:t>
                      </a:r>
                      <a:r>
                        <a:rPr lang="de-DE" sz="1000" dirty="0"/>
                        <a:t> </a:t>
                      </a:r>
                      <a:r>
                        <a:rPr lang="de-DE" sz="1000" dirty="0" err="1"/>
                        <a:t>checking</a:t>
                      </a:r>
                      <a:endParaRPr lang="de-DE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39811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de-DE" sz="1000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/>
                        <a:t>back </a:t>
                      </a:r>
                      <a:r>
                        <a:rPr lang="de-DE" sz="1000" dirty="0" err="1"/>
                        <a:t>brushing</a:t>
                      </a:r>
                      <a:endParaRPr lang="de-DE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3475464"/>
                  </a:ext>
                </a:extLst>
              </a:tr>
              <a:tr h="131835">
                <a:tc>
                  <a:txBody>
                    <a:bodyPr/>
                    <a:lstStyle/>
                    <a:p>
                      <a:pPr algn="ctr"/>
                      <a:r>
                        <a:rPr lang="de-DE" sz="1000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000" dirty="0"/>
                        <a:t>DMC </a:t>
                      </a:r>
                      <a:r>
                        <a:rPr lang="de-DE" sz="1000" dirty="0" err="1"/>
                        <a:t>marking</a:t>
                      </a:r>
                      <a:endParaRPr lang="de-DE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9894887"/>
                  </a:ext>
                </a:extLst>
              </a:tr>
              <a:tr h="131835">
                <a:tc>
                  <a:txBody>
                    <a:bodyPr/>
                    <a:lstStyle/>
                    <a:p>
                      <a:pPr algn="ctr"/>
                      <a:r>
                        <a:rPr lang="de-DE" sz="1000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000" dirty="0"/>
                        <a:t>DMC </a:t>
                      </a:r>
                      <a:r>
                        <a:rPr lang="de-DE" sz="1000" dirty="0" err="1"/>
                        <a:t>controlling</a:t>
                      </a:r>
                      <a:endParaRPr lang="de-DE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4934690"/>
                  </a:ext>
                </a:extLst>
              </a:tr>
              <a:tr h="134784">
                <a:tc>
                  <a:txBody>
                    <a:bodyPr/>
                    <a:lstStyle/>
                    <a:p>
                      <a:pPr algn="ctr"/>
                      <a:r>
                        <a:rPr lang="de-DE" sz="1000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 err="1"/>
                        <a:t>free</a:t>
                      </a:r>
                      <a:r>
                        <a:rPr lang="de-DE" sz="1000" dirty="0"/>
                        <a:t> place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8858025"/>
                  </a:ext>
                </a:extLst>
              </a:tr>
              <a:tr h="134784">
                <a:tc>
                  <a:txBody>
                    <a:bodyPr/>
                    <a:lstStyle/>
                    <a:p>
                      <a:pPr algn="ctr"/>
                      <a:r>
                        <a:rPr lang="de-DE" sz="1000" dirty="0" err="1">
                          <a:solidFill>
                            <a:schemeClr val="accent1"/>
                          </a:solidFill>
                        </a:rPr>
                        <a:t>new</a:t>
                      </a:r>
                      <a:endParaRPr lang="de-DE" sz="10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 err="1"/>
                        <a:t>oil</a:t>
                      </a:r>
                      <a:r>
                        <a:rPr lang="de-DE" sz="1000" dirty="0"/>
                        <a:t> </a:t>
                      </a:r>
                      <a:r>
                        <a:rPr lang="de-DE" sz="1000" dirty="0" err="1"/>
                        <a:t>washing</a:t>
                      </a:r>
                      <a:r>
                        <a:rPr lang="de-DE" sz="1000" dirty="0"/>
                        <a:t> </a:t>
                      </a:r>
                      <a:r>
                        <a:rPr lang="de-DE" sz="1000" dirty="0" err="1"/>
                        <a:t>solenoid</a:t>
                      </a:r>
                      <a:r>
                        <a:rPr lang="de-DE" sz="1000" dirty="0"/>
                        <a:t> </a:t>
                      </a:r>
                      <a:r>
                        <a:rPr lang="de-DE" sz="1000" dirty="0" err="1"/>
                        <a:t>armature</a:t>
                      </a:r>
                      <a:endParaRPr lang="de-DE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3402112"/>
                  </a:ext>
                </a:extLst>
              </a:tr>
              <a:tr h="134784">
                <a:tc>
                  <a:txBody>
                    <a:bodyPr/>
                    <a:lstStyle/>
                    <a:p>
                      <a:pPr algn="ctr"/>
                      <a:r>
                        <a:rPr lang="de-DE" sz="1000" dirty="0" err="1">
                          <a:solidFill>
                            <a:schemeClr val="accent1"/>
                          </a:solidFill>
                        </a:rPr>
                        <a:t>new</a:t>
                      </a:r>
                      <a:endParaRPr lang="de-DE" sz="10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 err="1"/>
                        <a:t>cleaning</a:t>
                      </a:r>
                      <a:r>
                        <a:rPr lang="de-DE" sz="1000" dirty="0"/>
                        <a:t> </a:t>
                      </a:r>
                      <a:r>
                        <a:rPr lang="de-DE" sz="1000" dirty="0" err="1"/>
                        <a:t>solenoid</a:t>
                      </a:r>
                      <a:r>
                        <a:rPr lang="de-DE" sz="1000" dirty="0"/>
                        <a:t> </a:t>
                      </a:r>
                      <a:r>
                        <a:rPr lang="de-DE" sz="1000" dirty="0" err="1"/>
                        <a:t>armature</a:t>
                      </a:r>
                      <a:r>
                        <a:rPr lang="de-DE" sz="1000" dirty="0"/>
                        <a:t> (</a:t>
                      </a:r>
                      <a:r>
                        <a:rPr lang="de-DE" sz="1000" dirty="0" err="1"/>
                        <a:t>compressed</a:t>
                      </a:r>
                      <a:r>
                        <a:rPr lang="de-DE" sz="1000" dirty="0"/>
                        <a:t> </a:t>
                      </a:r>
                      <a:r>
                        <a:rPr lang="de-DE" sz="1000" dirty="0" err="1"/>
                        <a:t>air</a:t>
                      </a:r>
                      <a:r>
                        <a:rPr lang="de-DE" sz="1000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1839625"/>
                  </a:ext>
                </a:extLst>
              </a:tr>
              <a:tr h="134784">
                <a:tc>
                  <a:txBody>
                    <a:bodyPr/>
                    <a:lstStyle/>
                    <a:p>
                      <a:pPr algn="ctr"/>
                      <a:r>
                        <a:rPr lang="de-DE" sz="1000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 err="1"/>
                        <a:t>unloading</a:t>
                      </a:r>
                      <a:r>
                        <a:rPr lang="de-DE" sz="1000" dirty="0"/>
                        <a:t> </a:t>
                      </a:r>
                      <a:r>
                        <a:rPr lang="de-DE" sz="1000" dirty="0" err="1"/>
                        <a:t>solenoid</a:t>
                      </a:r>
                      <a:r>
                        <a:rPr lang="de-DE" sz="1000" dirty="0"/>
                        <a:t> </a:t>
                      </a:r>
                      <a:r>
                        <a:rPr lang="de-DE" sz="1000" dirty="0" err="1"/>
                        <a:t>armature</a:t>
                      </a:r>
                      <a:r>
                        <a:rPr lang="de-DE" sz="1000" dirty="0"/>
                        <a:t> (iO &amp; NiO)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5358197"/>
                  </a:ext>
                </a:extLst>
              </a:tr>
              <a:tr h="134784">
                <a:tc>
                  <a:txBody>
                    <a:bodyPr/>
                    <a:lstStyle/>
                    <a:p>
                      <a:pPr algn="ctr"/>
                      <a:r>
                        <a:rPr lang="de-DE" sz="1000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 err="1"/>
                        <a:t>output</a:t>
                      </a:r>
                      <a:r>
                        <a:rPr lang="de-DE" sz="1000" dirty="0"/>
                        <a:t> </a:t>
                      </a:r>
                      <a:r>
                        <a:rPr lang="de-DE" sz="1000" dirty="0" err="1"/>
                        <a:t>trays</a:t>
                      </a:r>
                      <a:r>
                        <a:rPr lang="de-DE" sz="1000" dirty="0"/>
                        <a:t> </a:t>
                      </a:r>
                      <a:r>
                        <a:rPr lang="de-DE" sz="1000" dirty="0" err="1"/>
                        <a:t>solenoid</a:t>
                      </a:r>
                      <a:r>
                        <a:rPr lang="de-DE" sz="1000" dirty="0"/>
                        <a:t> </a:t>
                      </a:r>
                      <a:r>
                        <a:rPr lang="de-DE" sz="1000" dirty="0" err="1"/>
                        <a:t>armature</a:t>
                      </a:r>
                      <a:endParaRPr lang="de-DE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9252899"/>
                  </a:ext>
                </a:extLst>
              </a:tr>
              <a:tr h="134784">
                <a:tc>
                  <a:txBody>
                    <a:bodyPr/>
                    <a:lstStyle/>
                    <a:p>
                      <a:pPr algn="ctr"/>
                      <a:r>
                        <a:rPr lang="de-DE" sz="1000" dirty="0" err="1">
                          <a:solidFill>
                            <a:schemeClr val="accent1"/>
                          </a:solidFill>
                        </a:rPr>
                        <a:t>new</a:t>
                      </a:r>
                      <a:endParaRPr lang="de-DE" sz="10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 err="1"/>
                        <a:t>output</a:t>
                      </a:r>
                      <a:r>
                        <a:rPr lang="de-DE" sz="1000" dirty="0"/>
                        <a:t> </a:t>
                      </a:r>
                      <a:r>
                        <a:rPr lang="de-DE" sz="1000" dirty="0" err="1"/>
                        <a:t>trays</a:t>
                      </a:r>
                      <a:r>
                        <a:rPr lang="de-DE" sz="1000" dirty="0"/>
                        <a:t> </a:t>
                      </a:r>
                      <a:r>
                        <a:rPr lang="de-DE" sz="1000" dirty="0" err="1"/>
                        <a:t>solenoid</a:t>
                      </a:r>
                      <a:r>
                        <a:rPr lang="de-DE" sz="1000" dirty="0"/>
                        <a:t> </a:t>
                      </a:r>
                      <a:r>
                        <a:rPr lang="de-DE" sz="1000" dirty="0" err="1"/>
                        <a:t>armature</a:t>
                      </a:r>
                      <a:r>
                        <a:rPr lang="de-DE" sz="1000" dirty="0"/>
                        <a:t> in KLTs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3788608"/>
                  </a:ext>
                </a:extLst>
              </a:tr>
            </a:tbl>
          </a:graphicData>
        </a:graphic>
      </p:graphicFrame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80E7C619-AD36-56F7-4908-03E46E1CAAA1}"/>
              </a:ext>
            </a:extLst>
          </p:cNvPr>
          <p:cNvCxnSpPr/>
          <p:nvPr/>
        </p:nvCxnSpPr>
        <p:spPr>
          <a:xfrm>
            <a:off x="4999985" y="2394011"/>
            <a:ext cx="906651" cy="0"/>
          </a:xfrm>
          <a:prstGeom prst="straightConnector1">
            <a:avLst/>
          </a:prstGeom>
          <a:ln w="19050">
            <a:headEnd type="none" w="med" len="med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9" name="Textfeld 8">
            <a:extLst>
              <a:ext uri="{FF2B5EF4-FFF2-40B4-BE49-F238E27FC236}">
                <a16:creationId xmlns:a16="http://schemas.microsoft.com/office/drawing/2014/main" id="{9C3B7ABA-CB28-EADF-A49B-A9F7C73BD9B4}"/>
              </a:ext>
            </a:extLst>
          </p:cNvPr>
          <p:cNvSpPr txBox="1"/>
          <p:nvPr/>
        </p:nvSpPr>
        <p:spPr>
          <a:xfrm>
            <a:off x="5988574" y="2193956"/>
            <a:ext cx="37112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/>
              <a:t>Not </a:t>
            </a:r>
            <a:r>
              <a:rPr lang="de-DE" sz="1000" dirty="0" err="1"/>
              <a:t>only</a:t>
            </a:r>
            <a:r>
              <a:rPr lang="de-DE" sz="1000" dirty="0"/>
              <a:t> 1 </a:t>
            </a:r>
            <a:r>
              <a:rPr lang="de-DE" sz="1000" dirty="0" err="1"/>
              <a:t>tray</a:t>
            </a:r>
            <a:r>
              <a:rPr lang="de-DE" sz="1000" dirty="0"/>
              <a:t> pro </a:t>
            </a:r>
            <a:r>
              <a:rPr lang="de-DE" sz="1000" dirty="0" err="1"/>
              <a:t>class</a:t>
            </a:r>
            <a:r>
              <a:rPr lang="de-DE" sz="1000" dirty="0"/>
              <a:t>, at least 2. The </a:t>
            </a:r>
            <a:r>
              <a:rPr lang="de-DE" sz="1000" dirty="0" err="1"/>
              <a:t>machine</a:t>
            </a:r>
            <a:r>
              <a:rPr lang="de-DE" sz="1000" dirty="0"/>
              <a:t> </a:t>
            </a:r>
            <a:r>
              <a:rPr lang="de-DE" sz="1000" dirty="0" err="1"/>
              <a:t>has</a:t>
            </a:r>
            <a:r>
              <a:rPr lang="de-DE" sz="1000" dirty="0"/>
              <a:t> </a:t>
            </a:r>
            <a:r>
              <a:rPr lang="de-DE" sz="1000" dirty="0" err="1"/>
              <a:t>to</a:t>
            </a:r>
            <a:r>
              <a:rPr lang="de-DE" sz="1000" dirty="0"/>
              <a:t> </a:t>
            </a:r>
            <a:r>
              <a:rPr lang="de-DE" sz="1000" dirty="0" err="1"/>
              <a:t>product</a:t>
            </a:r>
            <a:r>
              <a:rPr lang="de-DE" sz="1000" dirty="0"/>
              <a:t> </a:t>
            </a:r>
            <a:r>
              <a:rPr lang="de-DE" sz="1000" dirty="0" err="1"/>
              <a:t>without</a:t>
            </a:r>
            <a:r>
              <a:rPr lang="de-DE" sz="1000" dirty="0"/>
              <a:t> </a:t>
            </a:r>
            <a:r>
              <a:rPr lang="de-DE" sz="1000" dirty="0" err="1"/>
              <a:t>interruption</a:t>
            </a:r>
            <a:r>
              <a:rPr lang="de-DE" sz="1000" dirty="0"/>
              <a:t>, </a:t>
            </a:r>
            <a:r>
              <a:rPr lang="de-DE" sz="1000" dirty="0" err="1"/>
              <a:t>as</a:t>
            </a:r>
            <a:r>
              <a:rPr lang="de-DE" sz="1000" dirty="0"/>
              <a:t> </a:t>
            </a:r>
            <a:r>
              <a:rPr lang="de-DE" sz="1000" dirty="0" err="1"/>
              <a:t>the</a:t>
            </a:r>
            <a:r>
              <a:rPr lang="de-DE" sz="1000" dirty="0"/>
              <a:t> </a:t>
            </a:r>
            <a:r>
              <a:rPr lang="de-DE" sz="1000" dirty="0" err="1"/>
              <a:t>operator</a:t>
            </a:r>
            <a:r>
              <a:rPr lang="de-DE" sz="1000" dirty="0"/>
              <a:t> </a:t>
            </a:r>
            <a:r>
              <a:rPr lang="de-DE" sz="1000" dirty="0" err="1"/>
              <a:t>is</a:t>
            </a:r>
            <a:r>
              <a:rPr lang="de-DE" sz="1000" dirty="0"/>
              <a:t> </a:t>
            </a:r>
            <a:r>
              <a:rPr lang="de-DE" sz="1000" dirty="0" err="1"/>
              <a:t>changing</a:t>
            </a:r>
            <a:r>
              <a:rPr lang="de-DE" sz="1000" dirty="0"/>
              <a:t> a </a:t>
            </a:r>
            <a:r>
              <a:rPr lang="de-DE" sz="1000" dirty="0" err="1"/>
              <a:t>tray</a:t>
            </a:r>
            <a:endParaRPr lang="de-DE" sz="1000" dirty="0"/>
          </a:p>
        </p:txBody>
      </p:sp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FC7E16F9-971C-2969-D74F-A2B8C41D4868}"/>
              </a:ext>
            </a:extLst>
          </p:cNvPr>
          <p:cNvCxnSpPr/>
          <p:nvPr/>
        </p:nvCxnSpPr>
        <p:spPr>
          <a:xfrm>
            <a:off x="4999984" y="3604171"/>
            <a:ext cx="906651" cy="0"/>
          </a:xfrm>
          <a:prstGeom prst="straightConnector1">
            <a:avLst/>
          </a:prstGeom>
          <a:ln w="19050">
            <a:headEnd type="none" w="med" len="med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1" name="Textfeld 10">
            <a:extLst>
              <a:ext uri="{FF2B5EF4-FFF2-40B4-BE49-F238E27FC236}">
                <a16:creationId xmlns:a16="http://schemas.microsoft.com/office/drawing/2014/main" id="{AF427D56-01B6-830B-9E81-3C0CDAA73ECC}"/>
              </a:ext>
            </a:extLst>
          </p:cNvPr>
          <p:cNvSpPr txBox="1"/>
          <p:nvPr/>
        </p:nvSpPr>
        <p:spPr>
          <a:xfrm>
            <a:off x="5988574" y="3481060"/>
            <a:ext cx="41142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/>
              <a:t>Not </a:t>
            </a:r>
            <a:r>
              <a:rPr lang="de-DE" sz="1000" dirty="0" err="1"/>
              <a:t>only</a:t>
            </a:r>
            <a:r>
              <a:rPr lang="de-DE" sz="1000" dirty="0"/>
              <a:t> </a:t>
            </a:r>
            <a:r>
              <a:rPr lang="de-DE" sz="1000" dirty="0" err="1"/>
              <a:t>length</a:t>
            </a:r>
            <a:r>
              <a:rPr lang="de-DE" sz="1000" dirty="0"/>
              <a:t> </a:t>
            </a:r>
            <a:r>
              <a:rPr lang="de-DE" sz="1000" dirty="0" err="1"/>
              <a:t>between</a:t>
            </a:r>
            <a:r>
              <a:rPr lang="de-DE" sz="1000" dirty="0"/>
              <a:t> </a:t>
            </a:r>
            <a:r>
              <a:rPr lang="de-DE" sz="1000" dirty="0" err="1"/>
              <a:t>plate</a:t>
            </a:r>
            <a:r>
              <a:rPr lang="de-DE" sz="1000" dirty="0"/>
              <a:t> and </a:t>
            </a:r>
            <a:r>
              <a:rPr lang="de-DE" sz="1000" dirty="0" err="1"/>
              <a:t>pin</a:t>
            </a:r>
            <a:r>
              <a:rPr lang="de-DE" sz="1000" dirty="0"/>
              <a:t>, but also total </a:t>
            </a:r>
            <a:r>
              <a:rPr lang="de-DE" sz="1000" dirty="0" err="1"/>
              <a:t>length</a:t>
            </a:r>
            <a:r>
              <a:rPr lang="de-DE" sz="1000" dirty="0"/>
              <a:t> </a:t>
            </a:r>
            <a:r>
              <a:rPr lang="de-DE" sz="1000" dirty="0" err="1"/>
              <a:t>of</a:t>
            </a:r>
            <a:r>
              <a:rPr lang="de-DE" sz="1000" dirty="0"/>
              <a:t> </a:t>
            </a:r>
            <a:r>
              <a:rPr lang="de-DE" sz="1000" dirty="0" err="1"/>
              <a:t>the</a:t>
            </a:r>
            <a:r>
              <a:rPr lang="de-DE" sz="1000" dirty="0"/>
              <a:t> </a:t>
            </a:r>
            <a:r>
              <a:rPr lang="de-DE" sz="1000" dirty="0" err="1"/>
              <a:t>pin</a:t>
            </a:r>
            <a:endParaRPr lang="de-DE" sz="1000" dirty="0"/>
          </a:p>
        </p:txBody>
      </p:sp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2DE5AA40-63E8-5BA8-F43D-E13AD2B7A100}"/>
              </a:ext>
            </a:extLst>
          </p:cNvPr>
          <p:cNvCxnSpPr/>
          <p:nvPr/>
        </p:nvCxnSpPr>
        <p:spPr>
          <a:xfrm>
            <a:off x="4999984" y="5569873"/>
            <a:ext cx="906651" cy="0"/>
          </a:xfrm>
          <a:prstGeom prst="straightConnector1">
            <a:avLst/>
          </a:prstGeom>
          <a:ln w="19050">
            <a:headEnd type="none" w="med" len="med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9" name="Textfeld 18">
            <a:extLst>
              <a:ext uri="{FF2B5EF4-FFF2-40B4-BE49-F238E27FC236}">
                <a16:creationId xmlns:a16="http://schemas.microsoft.com/office/drawing/2014/main" id="{1A107677-F951-A70C-BB5F-93498EA30170}"/>
              </a:ext>
            </a:extLst>
          </p:cNvPr>
          <p:cNvSpPr txBox="1"/>
          <p:nvPr/>
        </p:nvSpPr>
        <p:spPr>
          <a:xfrm>
            <a:off x="5988574" y="5446762"/>
            <a:ext cx="407935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 err="1"/>
              <a:t>molded</a:t>
            </a:r>
            <a:r>
              <a:rPr lang="de-DE" sz="1000" dirty="0"/>
              <a:t> </a:t>
            </a:r>
            <a:r>
              <a:rPr lang="de-DE" sz="1000" dirty="0" err="1"/>
              <a:t>plastic</a:t>
            </a:r>
            <a:r>
              <a:rPr lang="de-DE" sz="1000" dirty="0"/>
              <a:t> Trays, </a:t>
            </a:r>
            <a:r>
              <a:rPr lang="de-DE" sz="1000" dirty="0" err="1"/>
              <a:t>no</a:t>
            </a:r>
            <a:r>
              <a:rPr lang="de-DE" sz="1000" dirty="0"/>
              <a:t> </a:t>
            </a:r>
            <a:r>
              <a:rPr lang="de-DE" sz="1000" dirty="0" err="1"/>
              <a:t>more</a:t>
            </a:r>
            <a:r>
              <a:rPr lang="de-DE" sz="1000" dirty="0"/>
              <a:t> ET_0830W001. Parts still horizontal </a:t>
            </a:r>
          </a:p>
        </p:txBody>
      </p:sp>
      <p:cxnSp>
        <p:nvCxnSpPr>
          <p:cNvPr id="3" name="Gerade Verbindung mit Pfeil 2">
            <a:extLst>
              <a:ext uri="{FF2B5EF4-FFF2-40B4-BE49-F238E27FC236}">
                <a16:creationId xmlns:a16="http://schemas.microsoft.com/office/drawing/2014/main" id="{A7EEA81D-AD9C-AC44-E4A9-70D7E7CE2F96}"/>
              </a:ext>
            </a:extLst>
          </p:cNvPr>
          <p:cNvCxnSpPr>
            <a:cxnSpLocks/>
          </p:cNvCxnSpPr>
          <p:nvPr/>
        </p:nvCxnSpPr>
        <p:spPr>
          <a:xfrm>
            <a:off x="1563329" y="4836153"/>
            <a:ext cx="425151" cy="0"/>
          </a:xfrm>
          <a:prstGeom prst="straightConnector1">
            <a:avLst/>
          </a:prstGeom>
          <a:ln w="19050">
            <a:headEnd type="none" w="med" len="med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" name="Gerade Verbindung mit Pfeil 5">
            <a:extLst>
              <a:ext uri="{FF2B5EF4-FFF2-40B4-BE49-F238E27FC236}">
                <a16:creationId xmlns:a16="http://schemas.microsoft.com/office/drawing/2014/main" id="{BB2C2CCC-4B62-A556-8EA9-87E965421166}"/>
              </a:ext>
            </a:extLst>
          </p:cNvPr>
          <p:cNvCxnSpPr>
            <a:cxnSpLocks/>
          </p:cNvCxnSpPr>
          <p:nvPr/>
        </p:nvCxnSpPr>
        <p:spPr>
          <a:xfrm>
            <a:off x="1563329" y="5094742"/>
            <a:ext cx="425151" cy="0"/>
          </a:xfrm>
          <a:prstGeom prst="straightConnector1">
            <a:avLst/>
          </a:prstGeom>
          <a:ln w="19050">
            <a:headEnd type="none" w="med" len="med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3D2D8636-80E6-9823-82DE-C48D573F1552}"/>
              </a:ext>
            </a:extLst>
          </p:cNvPr>
          <p:cNvCxnSpPr>
            <a:cxnSpLocks/>
          </p:cNvCxnSpPr>
          <p:nvPr/>
        </p:nvCxnSpPr>
        <p:spPr>
          <a:xfrm>
            <a:off x="1563329" y="5807581"/>
            <a:ext cx="425151" cy="0"/>
          </a:xfrm>
          <a:prstGeom prst="straightConnector1">
            <a:avLst/>
          </a:prstGeom>
          <a:ln w="19050">
            <a:headEnd type="none" w="med" len="med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12496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9544E7DD-BAD0-BEE7-C289-56E3A089A963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792242" y="1269000"/>
            <a:ext cx="4503530" cy="4320000"/>
          </a:xfrm>
          <a:prstGeom prst="rect">
            <a:avLst/>
          </a:prstGeom>
        </p:spPr>
      </p:pic>
      <p:cxnSp>
        <p:nvCxnSpPr>
          <p:cNvPr id="5" name="Gerade Verbindung mit Pfeil 4">
            <a:extLst>
              <a:ext uri="{FF2B5EF4-FFF2-40B4-BE49-F238E27FC236}">
                <a16:creationId xmlns:a16="http://schemas.microsoft.com/office/drawing/2014/main" id="{DCD4F7A2-4F34-54FD-F010-1686DA6C6B56}"/>
              </a:ext>
            </a:extLst>
          </p:cNvPr>
          <p:cNvCxnSpPr>
            <a:cxnSpLocks/>
          </p:cNvCxnSpPr>
          <p:nvPr/>
        </p:nvCxnSpPr>
        <p:spPr>
          <a:xfrm>
            <a:off x="4792242" y="3438781"/>
            <a:ext cx="230600" cy="0"/>
          </a:xfrm>
          <a:prstGeom prst="straightConnector1">
            <a:avLst/>
          </a:prstGeom>
          <a:ln w="25400">
            <a:headEnd type="none" w="med" len="med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" name="Gerade Verbindung mit Pfeil 5">
            <a:extLst>
              <a:ext uri="{FF2B5EF4-FFF2-40B4-BE49-F238E27FC236}">
                <a16:creationId xmlns:a16="http://schemas.microsoft.com/office/drawing/2014/main" id="{C913E94B-03C5-6A1C-C034-EF0D0718AA72}"/>
              </a:ext>
            </a:extLst>
          </p:cNvPr>
          <p:cNvCxnSpPr>
            <a:cxnSpLocks/>
          </p:cNvCxnSpPr>
          <p:nvPr/>
        </p:nvCxnSpPr>
        <p:spPr>
          <a:xfrm flipH="1">
            <a:off x="5167835" y="4635592"/>
            <a:ext cx="220673" cy="160583"/>
          </a:xfrm>
          <a:prstGeom prst="straightConnector1">
            <a:avLst/>
          </a:prstGeom>
          <a:ln w="25400">
            <a:headEnd type="none" w="med" len="med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A0A9756F-6A8C-ED88-8571-B9F10C09B2A8}"/>
              </a:ext>
            </a:extLst>
          </p:cNvPr>
          <p:cNvGrpSpPr/>
          <p:nvPr/>
        </p:nvGrpSpPr>
        <p:grpSpPr>
          <a:xfrm>
            <a:off x="6737520" y="3116977"/>
            <a:ext cx="680383" cy="624045"/>
            <a:chOff x="3599095" y="1633786"/>
            <a:chExt cx="680383" cy="624045"/>
          </a:xfrm>
        </p:grpSpPr>
        <p:cxnSp>
          <p:nvCxnSpPr>
            <p:cNvPr id="8" name="Gerader Verbinder 7">
              <a:extLst>
                <a:ext uri="{FF2B5EF4-FFF2-40B4-BE49-F238E27FC236}">
                  <a16:creationId xmlns:a16="http://schemas.microsoft.com/office/drawing/2014/main" id="{50A89DC5-0D75-1BE6-1CE5-0B0441F665D3}"/>
                </a:ext>
              </a:extLst>
            </p:cNvPr>
            <p:cNvCxnSpPr/>
            <p:nvPr/>
          </p:nvCxnSpPr>
          <p:spPr>
            <a:xfrm>
              <a:off x="3939287" y="1633786"/>
              <a:ext cx="0" cy="624045"/>
            </a:xfrm>
            <a:prstGeom prst="line">
              <a:avLst/>
            </a:prstGeom>
            <a:ln w="6350">
              <a:solidFill>
                <a:schemeClr val="tx1"/>
              </a:solidFill>
              <a:prstDash val="dashDot"/>
              <a:headEnd type="none" w="med" len="med"/>
              <a:tailEnd type="none" w="med" len="med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9" name="Gerader Verbinder 8">
              <a:extLst>
                <a:ext uri="{FF2B5EF4-FFF2-40B4-BE49-F238E27FC236}">
                  <a16:creationId xmlns:a16="http://schemas.microsoft.com/office/drawing/2014/main" id="{63CC97A4-410E-BE5E-B8C9-3923BE1C0E35}"/>
                </a:ext>
              </a:extLst>
            </p:cNvPr>
            <p:cNvCxnSpPr>
              <a:cxnSpLocks/>
            </p:cNvCxnSpPr>
            <p:nvPr/>
          </p:nvCxnSpPr>
          <p:spPr>
            <a:xfrm>
              <a:off x="3599095" y="1945808"/>
              <a:ext cx="680383" cy="0"/>
            </a:xfrm>
            <a:prstGeom prst="line">
              <a:avLst/>
            </a:prstGeom>
            <a:ln w="6350">
              <a:solidFill>
                <a:schemeClr val="tx1"/>
              </a:solidFill>
              <a:prstDash val="dashDot"/>
              <a:headEnd type="none" w="med" len="med"/>
              <a:tailEnd type="none" w="med" len="med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39403587-E74A-D5DF-69D6-4090942650D9}"/>
              </a:ext>
            </a:extLst>
          </p:cNvPr>
          <p:cNvCxnSpPr>
            <a:cxnSpLocks/>
          </p:cNvCxnSpPr>
          <p:nvPr/>
        </p:nvCxnSpPr>
        <p:spPr>
          <a:xfrm flipH="1">
            <a:off x="8733168" y="2094271"/>
            <a:ext cx="186657" cy="136144"/>
          </a:xfrm>
          <a:prstGeom prst="straightConnector1">
            <a:avLst/>
          </a:prstGeom>
          <a:ln w="25400">
            <a:solidFill>
              <a:schemeClr val="accent1">
                <a:lumMod val="40000"/>
                <a:lumOff val="60000"/>
              </a:schemeClr>
            </a:solidFill>
            <a:headEnd type="none" w="med" len="med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2" name="Ellipse 11">
            <a:extLst>
              <a:ext uri="{FF2B5EF4-FFF2-40B4-BE49-F238E27FC236}">
                <a16:creationId xmlns:a16="http://schemas.microsoft.com/office/drawing/2014/main" id="{EE0C85FA-D27B-83A1-04BB-BE337FD5BCD0}"/>
              </a:ext>
            </a:extLst>
          </p:cNvPr>
          <p:cNvSpPr/>
          <p:nvPr/>
        </p:nvSpPr>
        <p:spPr>
          <a:xfrm rot="16200000">
            <a:off x="4465462" y="3292344"/>
            <a:ext cx="284850" cy="292872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de-DE" sz="800" dirty="0"/>
              <a:t>a</a:t>
            </a:r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358A8275-7B66-C80F-ED48-852FD3B1021D}"/>
              </a:ext>
            </a:extLst>
          </p:cNvPr>
          <p:cNvSpPr/>
          <p:nvPr/>
        </p:nvSpPr>
        <p:spPr>
          <a:xfrm rot="16200000">
            <a:off x="9423308" y="3282563"/>
            <a:ext cx="284850" cy="292872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de-DE" sz="800" dirty="0"/>
              <a:t>f</a:t>
            </a:r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68CA8F67-6095-B34E-3BDB-81FB4BE3C5EE}"/>
              </a:ext>
            </a:extLst>
          </p:cNvPr>
          <p:cNvSpPr/>
          <p:nvPr/>
        </p:nvSpPr>
        <p:spPr>
          <a:xfrm rot="16200000">
            <a:off x="4911553" y="1805410"/>
            <a:ext cx="284850" cy="292872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de-DE" sz="800" dirty="0"/>
              <a:t>b</a:t>
            </a:r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8E66DF57-F357-593A-F191-16F5EC945BDF}"/>
              </a:ext>
            </a:extLst>
          </p:cNvPr>
          <p:cNvSpPr/>
          <p:nvPr/>
        </p:nvSpPr>
        <p:spPr>
          <a:xfrm rot="16200000">
            <a:off x="6191679" y="945265"/>
            <a:ext cx="284850" cy="292872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de-DE" sz="800" dirty="0"/>
              <a:t>c</a:t>
            </a:r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DD3951D2-F709-0D5E-32D0-2010C17806FF}"/>
              </a:ext>
            </a:extLst>
          </p:cNvPr>
          <p:cNvSpPr/>
          <p:nvPr/>
        </p:nvSpPr>
        <p:spPr>
          <a:xfrm rot="16200000">
            <a:off x="7659635" y="945265"/>
            <a:ext cx="284850" cy="292872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de-DE" sz="800" dirty="0"/>
              <a:t>d</a:t>
            </a:r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C1C95E78-42CE-327A-4274-46C31F0AA253}"/>
              </a:ext>
            </a:extLst>
          </p:cNvPr>
          <p:cNvSpPr/>
          <p:nvPr/>
        </p:nvSpPr>
        <p:spPr>
          <a:xfrm rot="16200000">
            <a:off x="8947960" y="1805410"/>
            <a:ext cx="284850" cy="292872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de-DE" sz="800" dirty="0"/>
              <a:t>e</a:t>
            </a:r>
          </a:p>
        </p:txBody>
      </p:sp>
      <p:sp>
        <p:nvSpPr>
          <p:cNvPr id="24" name="Ellipse 23">
            <a:extLst>
              <a:ext uri="{FF2B5EF4-FFF2-40B4-BE49-F238E27FC236}">
                <a16:creationId xmlns:a16="http://schemas.microsoft.com/office/drawing/2014/main" id="{9918A40A-F93D-748B-C46F-81C780A4CC1E}"/>
              </a:ext>
            </a:extLst>
          </p:cNvPr>
          <p:cNvSpPr/>
          <p:nvPr/>
        </p:nvSpPr>
        <p:spPr>
          <a:xfrm rot="16200000">
            <a:off x="8947960" y="4759719"/>
            <a:ext cx="284850" cy="292872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de-DE" sz="800" dirty="0"/>
              <a:t>g</a:t>
            </a:r>
          </a:p>
        </p:txBody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FE23E473-0057-AFBA-4BD2-65D6E1E850C2}"/>
              </a:ext>
            </a:extLst>
          </p:cNvPr>
          <p:cNvSpPr/>
          <p:nvPr/>
        </p:nvSpPr>
        <p:spPr>
          <a:xfrm rot="16200000">
            <a:off x="7659635" y="5716160"/>
            <a:ext cx="284850" cy="292872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de-DE" sz="800" dirty="0"/>
              <a:t>h</a:t>
            </a:r>
          </a:p>
        </p:txBody>
      </p:sp>
      <p:sp>
        <p:nvSpPr>
          <p:cNvPr id="26" name="Ellipse 25">
            <a:extLst>
              <a:ext uri="{FF2B5EF4-FFF2-40B4-BE49-F238E27FC236}">
                <a16:creationId xmlns:a16="http://schemas.microsoft.com/office/drawing/2014/main" id="{EEFFB612-0B91-4BA6-353F-52732212BD91}"/>
              </a:ext>
            </a:extLst>
          </p:cNvPr>
          <p:cNvSpPr/>
          <p:nvPr/>
        </p:nvSpPr>
        <p:spPr>
          <a:xfrm rot="16200000">
            <a:off x="6191679" y="5716159"/>
            <a:ext cx="284850" cy="292872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de-DE" sz="800" dirty="0"/>
              <a:t>i</a:t>
            </a:r>
          </a:p>
        </p:txBody>
      </p:sp>
      <p:sp>
        <p:nvSpPr>
          <p:cNvPr id="27" name="Ellipse 26">
            <a:extLst>
              <a:ext uri="{FF2B5EF4-FFF2-40B4-BE49-F238E27FC236}">
                <a16:creationId xmlns:a16="http://schemas.microsoft.com/office/drawing/2014/main" id="{97EDB513-5645-5D08-61D4-C9CC2EC2FE08}"/>
              </a:ext>
            </a:extLst>
          </p:cNvPr>
          <p:cNvSpPr/>
          <p:nvPr/>
        </p:nvSpPr>
        <p:spPr>
          <a:xfrm rot="16200000">
            <a:off x="4894248" y="4759719"/>
            <a:ext cx="284850" cy="292872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de-DE" sz="800" dirty="0"/>
              <a:t>j</a:t>
            </a:r>
          </a:p>
        </p:txBody>
      </p:sp>
      <p:sp>
        <p:nvSpPr>
          <p:cNvPr id="28" name="Bogen 27">
            <a:extLst>
              <a:ext uri="{FF2B5EF4-FFF2-40B4-BE49-F238E27FC236}">
                <a16:creationId xmlns:a16="http://schemas.microsoft.com/office/drawing/2014/main" id="{F94344BA-8D7F-1902-4742-9C734F01EA9C}"/>
              </a:ext>
            </a:extLst>
          </p:cNvPr>
          <p:cNvSpPr/>
          <p:nvPr/>
        </p:nvSpPr>
        <p:spPr>
          <a:xfrm>
            <a:off x="6096000" y="2216683"/>
            <a:ext cx="2393855" cy="2424631"/>
          </a:xfrm>
          <a:prstGeom prst="arc">
            <a:avLst>
              <a:gd name="adj1" fmla="val 19980822"/>
              <a:gd name="adj2" fmla="val 1629454"/>
            </a:avLst>
          </a:prstGeom>
          <a:ln w="25400">
            <a:headEnd type="none" w="med" len="med"/>
            <a:tailEnd type="triangl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B889251-C9CF-7F7B-DBC3-9F0DB301B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Transport </a:t>
            </a:r>
            <a:r>
              <a:rPr lang="de-DE" dirty="0" err="1"/>
              <a:t>unit</a:t>
            </a:r>
            <a:r>
              <a:rPr lang="de-DE" dirty="0"/>
              <a:t> (</a:t>
            </a:r>
            <a:r>
              <a:rPr lang="de-DE" dirty="0" err="1"/>
              <a:t>without</a:t>
            </a:r>
            <a:r>
              <a:rPr lang="de-DE" dirty="0"/>
              <a:t> </a:t>
            </a:r>
            <a:r>
              <a:rPr lang="de-DE" dirty="0" err="1"/>
              <a:t>options</a:t>
            </a:r>
            <a:r>
              <a:rPr lang="de-DE" dirty="0"/>
              <a:t>)</a:t>
            </a:r>
          </a:p>
        </p:txBody>
      </p:sp>
      <p:graphicFrame>
        <p:nvGraphicFramePr>
          <p:cNvPr id="11" name="Tabelle 10">
            <a:extLst>
              <a:ext uri="{FF2B5EF4-FFF2-40B4-BE49-F238E27FC236}">
                <a16:creationId xmlns:a16="http://schemas.microsoft.com/office/drawing/2014/main" id="{8E5B2269-C9C4-2DF1-1B19-2DF31DE259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5155447"/>
              </p:ext>
            </p:extLst>
          </p:nvPr>
        </p:nvGraphicFramePr>
        <p:xfrm>
          <a:off x="536403" y="1809421"/>
          <a:ext cx="3165726" cy="27323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505">
                  <a:extLst>
                    <a:ext uri="{9D8B030D-6E8A-4147-A177-3AD203B41FA5}">
                      <a16:colId xmlns:a16="http://schemas.microsoft.com/office/drawing/2014/main" val="566185741"/>
                    </a:ext>
                  </a:extLst>
                </a:gridCol>
                <a:gridCol w="2808221">
                  <a:extLst>
                    <a:ext uri="{9D8B030D-6E8A-4147-A177-3AD203B41FA5}">
                      <a16:colId xmlns:a16="http://schemas.microsoft.com/office/drawing/2014/main" val="611645751"/>
                    </a:ext>
                  </a:extLst>
                </a:gridCol>
              </a:tblGrid>
              <a:tr h="289124">
                <a:tc>
                  <a:txBody>
                    <a:bodyPr/>
                    <a:lstStyle/>
                    <a:p>
                      <a:endParaRPr lang="de-DE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 err="1"/>
                        <a:t>Positions</a:t>
                      </a:r>
                      <a:r>
                        <a:rPr lang="de-DE" sz="1000" dirty="0"/>
                        <a:t> </a:t>
                      </a:r>
                      <a:r>
                        <a:rPr lang="de-DE" sz="1000" dirty="0" err="1"/>
                        <a:t>round</a:t>
                      </a:r>
                      <a:r>
                        <a:rPr lang="de-DE" sz="1000" dirty="0"/>
                        <a:t> </a:t>
                      </a:r>
                      <a:r>
                        <a:rPr lang="de-DE" sz="1000" dirty="0" err="1"/>
                        <a:t>table</a:t>
                      </a:r>
                      <a:endParaRPr lang="de-DE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5254656"/>
                  </a:ext>
                </a:extLst>
              </a:tr>
              <a:tr h="217076">
                <a:tc>
                  <a:txBody>
                    <a:bodyPr/>
                    <a:lstStyle/>
                    <a:p>
                      <a:pPr algn="ctr"/>
                      <a:r>
                        <a:rPr lang="de-DE" sz="10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 err="1"/>
                        <a:t>loading</a:t>
                      </a:r>
                      <a:r>
                        <a:rPr lang="de-DE" sz="1000" dirty="0"/>
                        <a:t> </a:t>
                      </a:r>
                      <a:r>
                        <a:rPr lang="de-DE" sz="1000" dirty="0" err="1"/>
                        <a:t>plate</a:t>
                      </a:r>
                      <a:endParaRPr lang="de-DE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5740491"/>
                  </a:ext>
                </a:extLst>
              </a:tr>
              <a:tr h="217076">
                <a:tc>
                  <a:txBody>
                    <a:bodyPr/>
                    <a:lstStyle/>
                    <a:p>
                      <a:pPr algn="ctr"/>
                      <a:r>
                        <a:rPr lang="de-DE" sz="10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 err="1"/>
                        <a:t>plate</a:t>
                      </a:r>
                      <a:r>
                        <a:rPr lang="de-DE" sz="1000" dirty="0"/>
                        <a:t> </a:t>
                      </a:r>
                      <a:r>
                        <a:rPr lang="de-DE" sz="1000" dirty="0" err="1"/>
                        <a:t>brushing</a:t>
                      </a:r>
                      <a:endParaRPr lang="de-DE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5652857"/>
                  </a:ext>
                </a:extLst>
              </a:tr>
              <a:tr h="217076">
                <a:tc>
                  <a:txBody>
                    <a:bodyPr/>
                    <a:lstStyle/>
                    <a:p>
                      <a:pPr algn="ctr"/>
                      <a:r>
                        <a:rPr lang="de-DE" sz="100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hole </a:t>
                      </a:r>
                      <a:r>
                        <a:rPr lang="de-DE" sz="10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plate</a:t>
                      </a:r>
                      <a:r>
                        <a:rPr lang="de-DE" sz="10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de-DE" sz="10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measurement</a:t>
                      </a:r>
                      <a:r>
                        <a:rPr lang="de-DE" sz="10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de-DE" sz="10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3391173"/>
                  </a:ext>
                </a:extLst>
              </a:tr>
              <a:tr h="248648">
                <a:tc>
                  <a:txBody>
                    <a:bodyPr/>
                    <a:lstStyle/>
                    <a:p>
                      <a:pPr algn="ctr"/>
                      <a:r>
                        <a:rPr lang="de-DE" sz="1000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empty</a:t>
                      </a:r>
                      <a:r>
                        <a:rPr lang="de-DE" sz="10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de-DE" sz="10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measered</a:t>
                      </a:r>
                      <a:r>
                        <a:rPr lang="de-DE" sz="10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de-DE" sz="10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value</a:t>
                      </a:r>
                      <a:r>
                        <a:rPr lang="de-DE" sz="10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de-DE" sz="10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to</a:t>
                      </a:r>
                      <a:r>
                        <a:rPr lang="de-DE" sz="10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de-DE" sz="10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handling</a:t>
                      </a:r>
                      <a:r>
                        <a:rPr lang="de-DE" sz="10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de-DE" sz="10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pins</a:t>
                      </a:r>
                      <a:r>
                        <a:rPr lang="de-DE" sz="10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de-DE" sz="10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8037003"/>
                  </a:ext>
                </a:extLst>
              </a:tr>
              <a:tr h="184929">
                <a:tc>
                  <a:txBody>
                    <a:bodyPr/>
                    <a:lstStyle/>
                    <a:p>
                      <a:pPr algn="ctr"/>
                      <a:r>
                        <a:rPr lang="de-DE" sz="1000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000" dirty="0" err="1"/>
                        <a:t>loading</a:t>
                      </a:r>
                      <a:r>
                        <a:rPr lang="de-DE" sz="1000" dirty="0"/>
                        <a:t> </a:t>
                      </a:r>
                      <a:r>
                        <a:rPr lang="de-DE" sz="1000" dirty="0" err="1"/>
                        <a:t>pin</a:t>
                      </a:r>
                      <a:r>
                        <a:rPr lang="de-DE" sz="1000" dirty="0"/>
                        <a:t> in </a:t>
                      </a:r>
                      <a:r>
                        <a:rPr lang="de-DE" sz="1000" dirty="0" err="1"/>
                        <a:t>assembly</a:t>
                      </a:r>
                      <a:r>
                        <a:rPr lang="de-DE" sz="1000" dirty="0"/>
                        <a:t> </a:t>
                      </a:r>
                      <a:r>
                        <a:rPr lang="de-DE" sz="1000" dirty="0" err="1"/>
                        <a:t>tool</a:t>
                      </a:r>
                      <a:r>
                        <a:rPr lang="de-DE" sz="1000" dirty="0"/>
                        <a:t> &amp; press </a:t>
                      </a:r>
                      <a:r>
                        <a:rPr lang="de-DE" sz="1000" dirty="0" err="1"/>
                        <a:t>fitting</a:t>
                      </a:r>
                      <a:endParaRPr lang="de-DE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7096664"/>
                  </a:ext>
                </a:extLst>
              </a:tr>
              <a:tr h="184929">
                <a:tc>
                  <a:txBody>
                    <a:bodyPr/>
                    <a:lstStyle/>
                    <a:p>
                      <a:pPr algn="ctr"/>
                      <a:r>
                        <a:rPr lang="de-DE" sz="10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 err="1"/>
                        <a:t>runout</a:t>
                      </a:r>
                      <a:r>
                        <a:rPr lang="de-DE" sz="1000" dirty="0"/>
                        <a:t> </a:t>
                      </a:r>
                      <a:r>
                        <a:rPr lang="de-DE" sz="1000" dirty="0" err="1"/>
                        <a:t>checking</a:t>
                      </a:r>
                      <a:endParaRPr lang="de-DE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5846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de-DE" sz="1000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000" dirty="0" err="1"/>
                        <a:t>length</a:t>
                      </a:r>
                      <a:r>
                        <a:rPr lang="de-DE" sz="1000" dirty="0"/>
                        <a:t> </a:t>
                      </a:r>
                      <a:r>
                        <a:rPr lang="de-DE" sz="1000" dirty="0" err="1"/>
                        <a:t>checking</a:t>
                      </a:r>
                      <a:endParaRPr lang="de-DE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0164672"/>
                  </a:ext>
                </a:extLst>
              </a:tr>
              <a:tr h="143633">
                <a:tc>
                  <a:txBody>
                    <a:bodyPr/>
                    <a:lstStyle/>
                    <a:p>
                      <a:pPr algn="ctr"/>
                      <a:r>
                        <a:rPr lang="de-DE" sz="1000" dirty="0"/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/>
                        <a:t>back </a:t>
                      </a:r>
                      <a:r>
                        <a:rPr lang="de-DE" sz="1000" dirty="0" err="1"/>
                        <a:t>brushing</a:t>
                      </a:r>
                      <a:endParaRPr lang="de-DE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89903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de-DE" sz="1000" dirty="0"/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 err="1"/>
                        <a:t>empty</a:t>
                      </a:r>
                      <a:r>
                        <a:rPr lang="de-DE" sz="1000" dirty="0"/>
                        <a:t> (</a:t>
                      </a:r>
                      <a:r>
                        <a:rPr lang="de-DE" sz="1000" dirty="0" err="1"/>
                        <a:t>free</a:t>
                      </a:r>
                      <a:r>
                        <a:rPr lang="de-DE" sz="1000" dirty="0"/>
                        <a:t> place)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3475464"/>
                  </a:ext>
                </a:extLst>
              </a:tr>
              <a:tr h="131835">
                <a:tc>
                  <a:txBody>
                    <a:bodyPr/>
                    <a:lstStyle/>
                    <a:p>
                      <a:pPr algn="ctr"/>
                      <a:r>
                        <a:rPr lang="de-DE" sz="1000" dirty="0"/>
                        <a:t>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 err="1"/>
                        <a:t>unloading</a:t>
                      </a:r>
                      <a:r>
                        <a:rPr lang="de-DE" sz="1000" dirty="0"/>
                        <a:t> </a:t>
                      </a:r>
                      <a:r>
                        <a:rPr lang="de-DE" sz="1000" dirty="0" err="1"/>
                        <a:t>solenoid</a:t>
                      </a:r>
                      <a:r>
                        <a:rPr lang="de-DE" sz="1000" dirty="0"/>
                        <a:t> </a:t>
                      </a:r>
                      <a:r>
                        <a:rPr lang="de-DE" sz="1000" dirty="0" err="1"/>
                        <a:t>armature</a:t>
                      </a:r>
                      <a:r>
                        <a:rPr lang="de-DE" sz="1000" dirty="0"/>
                        <a:t> (iO &amp; NiO)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98948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68878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rafik 20">
            <a:extLst>
              <a:ext uri="{FF2B5EF4-FFF2-40B4-BE49-F238E27FC236}">
                <a16:creationId xmlns:a16="http://schemas.microsoft.com/office/drawing/2014/main" id="{96770C10-80D0-2682-51C2-01AA276437DF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EDEDD6"/>
              </a:clrFrom>
              <a:clrTo>
                <a:srgbClr val="EDEDD6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438977" y="369000"/>
            <a:ext cx="8753023" cy="6120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A080D3BD-8D2E-F065-D087-3C92F34EA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Layout</a:t>
            </a:r>
          </a:p>
        </p:txBody>
      </p:sp>
      <p:graphicFrame>
        <p:nvGraphicFramePr>
          <p:cNvPr id="22" name="Tabelle 21">
            <a:extLst>
              <a:ext uri="{FF2B5EF4-FFF2-40B4-BE49-F238E27FC236}">
                <a16:creationId xmlns:a16="http://schemas.microsoft.com/office/drawing/2014/main" id="{C5AE9EED-24C1-221E-8828-F32F568C85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8109905"/>
              </p:ext>
            </p:extLst>
          </p:nvPr>
        </p:nvGraphicFramePr>
        <p:xfrm>
          <a:off x="178354" y="555923"/>
          <a:ext cx="3165726" cy="59632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505">
                  <a:extLst>
                    <a:ext uri="{9D8B030D-6E8A-4147-A177-3AD203B41FA5}">
                      <a16:colId xmlns:a16="http://schemas.microsoft.com/office/drawing/2014/main" val="566185741"/>
                    </a:ext>
                  </a:extLst>
                </a:gridCol>
                <a:gridCol w="2808221">
                  <a:extLst>
                    <a:ext uri="{9D8B030D-6E8A-4147-A177-3AD203B41FA5}">
                      <a16:colId xmlns:a16="http://schemas.microsoft.com/office/drawing/2014/main" val="611645751"/>
                    </a:ext>
                  </a:extLst>
                </a:gridCol>
              </a:tblGrid>
              <a:tr h="289124">
                <a:tc>
                  <a:txBody>
                    <a:bodyPr/>
                    <a:lstStyle/>
                    <a:p>
                      <a:endParaRPr lang="de-DE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 err="1"/>
                        <a:t>Stations</a:t>
                      </a:r>
                      <a:endParaRPr lang="de-DE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5254656"/>
                  </a:ext>
                </a:extLst>
              </a:tr>
              <a:tr h="217076">
                <a:tc>
                  <a:txBody>
                    <a:bodyPr/>
                    <a:lstStyle/>
                    <a:p>
                      <a:pPr algn="ctr"/>
                      <a:r>
                        <a:rPr lang="de-DE" sz="1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 err="1"/>
                        <a:t>feeding</a:t>
                      </a:r>
                      <a:r>
                        <a:rPr lang="de-DE" sz="1000" dirty="0"/>
                        <a:t> </a:t>
                      </a:r>
                      <a:r>
                        <a:rPr lang="de-DE" sz="1000" dirty="0" err="1"/>
                        <a:t>trays</a:t>
                      </a:r>
                      <a:r>
                        <a:rPr lang="de-DE" sz="1000" dirty="0"/>
                        <a:t> </a:t>
                      </a:r>
                      <a:r>
                        <a:rPr lang="de-DE" sz="1000" dirty="0" err="1"/>
                        <a:t>plate</a:t>
                      </a:r>
                      <a:endParaRPr lang="de-DE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5740491"/>
                  </a:ext>
                </a:extLst>
              </a:tr>
              <a:tr h="217076">
                <a:tc>
                  <a:txBody>
                    <a:bodyPr/>
                    <a:lstStyle/>
                    <a:p>
                      <a:pPr algn="ctr"/>
                      <a:r>
                        <a:rPr lang="de-DE" sz="1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 err="1"/>
                        <a:t>loading</a:t>
                      </a:r>
                      <a:r>
                        <a:rPr lang="de-DE" sz="1000" dirty="0"/>
                        <a:t> </a:t>
                      </a:r>
                      <a:r>
                        <a:rPr lang="de-DE" sz="1000" dirty="0" err="1"/>
                        <a:t>plate</a:t>
                      </a:r>
                      <a:endParaRPr lang="de-DE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5652857"/>
                  </a:ext>
                </a:extLst>
              </a:tr>
              <a:tr h="217076">
                <a:tc>
                  <a:txBody>
                    <a:bodyPr/>
                    <a:lstStyle/>
                    <a:p>
                      <a:pPr algn="ctr"/>
                      <a:r>
                        <a:rPr lang="de-DE" sz="1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 err="1"/>
                        <a:t>plate</a:t>
                      </a:r>
                      <a:r>
                        <a:rPr lang="de-DE" sz="1000" dirty="0"/>
                        <a:t> </a:t>
                      </a:r>
                      <a:r>
                        <a:rPr lang="de-DE" sz="1000" dirty="0" err="1"/>
                        <a:t>brushing</a:t>
                      </a:r>
                      <a:endParaRPr lang="de-DE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3391173"/>
                  </a:ext>
                </a:extLst>
              </a:tr>
              <a:tr h="248648">
                <a:tc>
                  <a:txBody>
                    <a:bodyPr/>
                    <a:lstStyle/>
                    <a:p>
                      <a:pPr algn="ctr"/>
                      <a:r>
                        <a:rPr lang="de-DE" sz="10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hole </a:t>
                      </a:r>
                      <a:r>
                        <a:rPr lang="de-DE" sz="10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plate</a:t>
                      </a:r>
                      <a:r>
                        <a:rPr lang="de-DE" sz="10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de-DE" sz="10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measurement</a:t>
                      </a:r>
                      <a:r>
                        <a:rPr lang="de-DE" sz="10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de-DE" sz="10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8037003"/>
                  </a:ext>
                </a:extLst>
              </a:tr>
              <a:tr h="184929">
                <a:tc>
                  <a:txBody>
                    <a:bodyPr/>
                    <a:lstStyle/>
                    <a:p>
                      <a:pPr algn="ctr"/>
                      <a:r>
                        <a:rPr lang="de-DE" sz="10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000" dirty="0" err="1"/>
                        <a:t>feeding</a:t>
                      </a:r>
                      <a:r>
                        <a:rPr lang="de-DE" sz="1000" dirty="0"/>
                        <a:t> </a:t>
                      </a:r>
                      <a:r>
                        <a:rPr lang="de-DE" sz="1000" dirty="0" err="1"/>
                        <a:t>trays</a:t>
                      </a:r>
                      <a:r>
                        <a:rPr lang="de-DE" sz="1000" dirty="0"/>
                        <a:t> </a:t>
                      </a:r>
                      <a:r>
                        <a:rPr lang="de-DE" sz="1000" dirty="0" err="1"/>
                        <a:t>pins</a:t>
                      </a:r>
                      <a:endParaRPr lang="de-DE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7096664"/>
                  </a:ext>
                </a:extLst>
              </a:tr>
              <a:tr h="184929">
                <a:tc>
                  <a:txBody>
                    <a:bodyPr/>
                    <a:lstStyle/>
                    <a:p>
                      <a:pPr algn="ctr"/>
                      <a:r>
                        <a:rPr lang="de-DE" sz="10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000" dirty="0" err="1"/>
                        <a:t>selection</a:t>
                      </a:r>
                      <a:r>
                        <a:rPr lang="de-DE" sz="1000" dirty="0"/>
                        <a:t> </a:t>
                      </a:r>
                      <a:r>
                        <a:rPr lang="de-DE" sz="1000" dirty="0" err="1"/>
                        <a:t>needle</a:t>
                      </a:r>
                      <a:r>
                        <a:rPr lang="de-DE" sz="1000" dirty="0"/>
                        <a:t> &amp; </a:t>
                      </a:r>
                      <a:r>
                        <a:rPr lang="de-DE" sz="1000" dirty="0" err="1"/>
                        <a:t>loading</a:t>
                      </a:r>
                      <a:r>
                        <a:rPr lang="de-DE" sz="1000" dirty="0"/>
                        <a:t> in </a:t>
                      </a:r>
                      <a:r>
                        <a:rPr lang="de-DE" sz="1000" dirty="0" err="1"/>
                        <a:t>assembly</a:t>
                      </a:r>
                      <a:r>
                        <a:rPr lang="de-DE" sz="1000" dirty="0"/>
                        <a:t> </a:t>
                      </a:r>
                      <a:r>
                        <a:rPr lang="de-DE" sz="1000" dirty="0" err="1"/>
                        <a:t>tool</a:t>
                      </a:r>
                      <a:endParaRPr lang="de-DE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5846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de-DE" sz="1000" dirty="0"/>
                        <a:t>7/8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000" dirty="0" err="1"/>
                        <a:t>loading</a:t>
                      </a:r>
                      <a:r>
                        <a:rPr lang="de-DE" sz="1000" dirty="0"/>
                        <a:t> </a:t>
                      </a:r>
                      <a:r>
                        <a:rPr lang="de-DE" sz="1000" dirty="0" err="1"/>
                        <a:t>plate</a:t>
                      </a:r>
                      <a:r>
                        <a:rPr lang="de-DE" sz="1000" dirty="0"/>
                        <a:t> in </a:t>
                      </a:r>
                      <a:r>
                        <a:rPr lang="de-DE" sz="1000" dirty="0" err="1"/>
                        <a:t>assembly</a:t>
                      </a:r>
                      <a:r>
                        <a:rPr lang="de-DE" sz="1000" dirty="0"/>
                        <a:t> </a:t>
                      </a:r>
                      <a:r>
                        <a:rPr lang="de-DE" sz="1000" dirty="0" err="1"/>
                        <a:t>tool</a:t>
                      </a:r>
                      <a:r>
                        <a:rPr lang="de-DE" sz="1000" dirty="0"/>
                        <a:t> &amp; press </a:t>
                      </a:r>
                      <a:r>
                        <a:rPr lang="de-DE" sz="1000" dirty="0" err="1"/>
                        <a:t>fitting</a:t>
                      </a:r>
                      <a:endParaRPr lang="de-DE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0164672"/>
                  </a:ext>
                </a:extLst>
              </a:tr>
              <a:tr h="170180">
                <a:tc>
                  <a:txBody>
                    <a:bodyPr/>
                    <a:lstStyle/>
                    <a:p>
                      <a:pPr algn="ctr"/>
                      <a:r>
                        <a:rPr lang="de-DE" sz="10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 err="1"/>
                        <a:t>runout</a:t>
                      </a:r>
                      <a:r>
                        <a:rPr lang="de-DE" sz="1000" dirty="0"/>
                        <a:t> </a:t>
                      </a:r>
                      <a:r>
                        <a:rPr lang="de-DE" sz="1000" dirty="0" err="1"/>
                        <a:t>checking</a:t>
                      </a:r>
                      <a:endParaRPr lang="de-DE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75916"/>
                  </a:ext>
                </a:extLst>
              </a:tr>
              <a:tr h="155432">
                <a:tc>
                  <a:txBody>
                    <a:bodyPr/>
                    <a:lstStyle/>
                    <a:p>
                      <a:pPr algn="ctr"/>
                      <a:r>
                        <a:rPr lang="de-DE" sz="10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000" dirty="0" err="1"/>
                        <a:t>length</a:t>
                      </a:r>
                      <a:r>
                        <a:rPr lang="de-DE" sz="1000" dirty="0"/>
                        <a:t> </a:t>
                      </a:r>
                      <a:r>
                        <a:rPr lang="de-DE" sz="1000" dirty="0" err="1"/>
                        <a:t>checking</a:t>
                      </a:r>
                      <a:endParaRPr lang="de-DE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39811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de-DE" sz="1000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/>
                        <a:t>back </a:t>
                      </a:r>
                      <a:r>
                        <a:rPr lang="de-DE" sz="1000" dirty="0" err="1"/>
                        <a:t>brushing</a:t>
                      </a:r>
                      <a:endParaRPr lang="de-DE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3475464"/>
                  </a:ext>
                </a:extLst>
              </a:tr>
              <a:tr h="131835">
                <a:tc>
                  <a:txBody>
                    <a:bodyPr/>
                    <a:lstStyle/>
                    <a:p>
                      <a:pPr algn="ctr"/>
                      <a:r>
                        <a:rPr lang="de-DE" sz="10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0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Angle </a:t>
                      </a:r>
                      <a:r>
                        <a:rPr lang="de-DE" sz="1000" dirty="0" err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orientation</a:t>
                      </a:r>
                      <a:r>
                        <a:rPr lang="de-DE" sz="10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 </a:t>
                      </a:r>
                      <a:r>
                        <a:rPr lang="de-DE" sz="1000" dirty="0" err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solenoid</a:t>
                      </a:r>
                      <a:r>
                        <a:rPr lang="de-DE" sz="10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 </a:t>
                      </a:r>
                      <a:r>
                        <a:rPr lang="de-DE" sz="1000" dirty="0" err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armature</a:t>
                      </a:r>
                      <a:r>
                        <a:rPr lang="de-DE" sz="10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 </a:t>
                      </a:r>
                      <a:r>
                        <a:rPr lang="de-DE" sz="1000" dirty="0" err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before</a:t>
                      </a:r>
                      <a:r>
                        <a:rPr lang="de-DE" sz="10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 </a:t>
                      </a:r>
                      <a:r>
                        <a:rPr lang="de-DE" sz="1000" dirty="0" err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marking</a:t>
                      </a:r>
                      <a:r>
                        <a:rPr lang="de-DE" sz="10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 (</a:t>
                      </a:r>
                      <a:r>
                        <a:rPr lang="de-DE" sz="1000" dirty="0" err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option</a:t>
                      </a:r>
                      <a:r>
                        <a:rPr lang="de-DE" sz="10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9894887"/>
                  </a:ext>
                </a:extLst>
              </a:tr>
              <a:tr h="131835">
                <a:tc>
                  <a:txBody>
                    <a:bodyPr/>
                    <a:lstStyle/>
                    <a:p>
                      <a:pPr algn="ctr"/>
                      <a:r>
                        <a:rPr lang="de-DE" sz="10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0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DMC </a:t>
                      </a:r>
                      <a:r>
                        <a:rPr lang="de-DE" sz="1000" dirty="0" err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marking</a:t>
                      </a:r>
                      <a:r>
                        <a:rPr lang="de-DE" sz="10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 (</a:t>
                      </a:r>
                      <a:r>
                        <a:rPr lang="de-DE" sz="1000" dirty="0" err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option</a:t>
                      </a:r>
                      <a:r>
                        <a:rPr lang="de-DE" sz="10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4934690"/>
                  </a:ext>
                </a:extLst>
              </a:tr>
              <a:tr h="134784">
                <a:tc>
                  <a:txBody>
                    <a:bodyPr/>
                    <a:lstStyle/>
                    <a:p>
                      <a:pPr algn="ctr"/>
                      <a:r>
                        <a:rPr lang="de-DE" sz="1000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 err="1"/>
                        <a:t>free</a:t>
                      </a:r>
                      <a:r>
                        <a:rPr lang="de-DE" sz="1000" dirty="0"/>
                        <a:t> place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8858025"/>
                  </a:ext>
                </a:extLst>
              </a:tr>
              <a:tr h="134784">
                <a:tc>
                  <a:txBody>
                    <a:bodyPr/>
                    <a:lstStyle/>
                    <a:p>
                      <a:pPr algn="ctr"/>
                      <a:r>
                        <a:rPr lang="de-DE" sz="1000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000" dirty="0" err="1"/>
                        <a:t>unloading</a:t>
                      </a:r>
                      <a:r>
                        <a:rPr lang="de-DE" sz="1000" dirty="0"/>
                        <a:t> </a:t>
                      </a:r>
                      <a:r>
                        <a:rPr lang="de-DE" sz="1000" dirty="0" err="1"/>
                        <a:t>solenoid</a:t>
                      </a:r>
                      <a:r>
                        <a:rPr lang="de-DE" sz="1000" dirty="0"/>
                        <a:t> </a:t>
                      </a:r>
                      <a:r>
                        <a:rPr lang="de-DE" sz="1000" dirty="0" err="1"/>
                        <a:t>armature</a:t>
                      </a:r>
                      <a:r>
                        <a:rPr lang="de-DE" sz="1000" dirty="0"/>
                        <a:t> (iO &amp; NiO)</a:t>
                      </a:r>
                      <a:br>
                        <a:rPr lang="de-DE" sz="1000" dirty="0"/>
                      </a:br>
                      <a:r>
                        <a:rPr lang="de-DE" sz="10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DMC </a:t>
                      </a:r>
                      <a:r>
                        <a:rPr lang="de-DE" sz="1000" dirty="0" err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controlling</a:t>
                      </a:r>
                      <a:r>
                        <a:rPr lang="de-DE" sz="10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 (</a:t>
                      </a:r>
                      <a:r>
                        <a:rPr lang="de-DE" sz="1000" dirty="0" err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option</a:t>
                      </a:r>
                      <a:r>
                        <a:rPr lang="de-DE" sz="10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8143117"/>
                  </a:ext>
                </a:extLst>
              </a:tr>
              <a:tr h="134784">
                <a:tc>
                  <a:txBody>
                    <a:bodyPr/>
                    <a:lstStyle/>
                    <a:p>
                      <a:pPr algn="ctr"/>
                      <a:r>
                        <a:rPr lang="de-DE" sz="1000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 err="1"/>
                        <a:t>output</a:t>
                      </a:r>
                      <a:r>
                        <a:rPr lang="de-DE" sz="1000" dirty="0"/>
                        <a:t> </a:t>
                      </a:r>
                      <a:r>
                        <a:rPr lang="de-DE" sz="1000" dirty="0" err="1"/>
                        <a:t>trays</a:t>
                      </a:r>
                      <a:r>
                        <a:rPr lang="de-DE" sz="1000" dirty="0"/>
                        <a:t> </a:t>
                      </a:r>
                      <a:r>
                        <a:rPr lang="de-DE" sz="1000" dirty="0" err="1"/>
                        <a:t>solenoid</a:t>
                      </a:r>
                      <a:r>
                        <a:rPr lang="de-DE" sz="1000" dirty="0"/>
                        <a:t> </a:t>
                      </a:r>
                      <a:r>
                        <a:rPr lang="de-DE" sz="1000" dirty="0" err="1"/>
                        <a:t>armature</a:t>
                      </a:r>
                      <a:endParaRPr lang="de-DE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9252899"/>
                  </a:ext>
                </a:extLst>
              </a:tr>
              <a:tr h="134784">
                <a:tc>
                  <a:txBody>
                    <a:bodyPr/>
                    <a:lstStyle/>
                    <a:p>
                      <a:pPr algn="ctr"/>
                      <a:r>
                        <a:rPr lang="de-DE" sz="1000" dirty="0"/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 err="1"/>
                        <a:t>transport</a:t>
                      </a:r>
                      <a:r>
                        <a:rPr lang="de-DE" sz="1000" dirty="0"/>
                        <a:t> </a:t>
                      </a:r>
                      <a:r>
                        <a:rPr lang="de-DE" sz="1000" dirty="0" err="1"/>
                        <a:t>unit</a:t>
                      </a:r>
                      <a:endParaRPr lang="de-DE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3013338"/>
                  </a:ext>
                </a:extLst>
              </a:tr>
              <a:tr h="134784">
                <a:tc>
                  <a:txBody>
                    <a:bodyPr/>
                    <a:lstStyle/>
                    <a:p>
                      <a:pPr algn="ctr"/>
                      <a:r>
                        <a:rPr lang="de-DE" sz="1000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 err="1"/>
                        <a:t>boxes</a:t>
                      </a:r>
                      <a:r>
                        <a:rPr lang="de-DE" sz="1000" dirty="0"/>
                        <a:t> NiO-Parts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4127141"/>
                  </a:ext>
                </a:extLst>
              </a:tr>
              <a:tr h="134784">
                <a:tc>
                  <a:txBody>
                    <a:bodyPr/>
                    <a:lstStyle/>
                    <a:p>
                      <a:pPr algn="ctr"/>
                      <a:r>
                        <a:rPr lang="de-DE" sz="1000" dirty="0"/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 err="1"/>
                        <a:t>drawer</a:t>
                      </a:r>
                      <a:r>
                        <a:rPr lang="de-DE" sz="1000" dirty="0"/>
                        <a:t> SPC-Parts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2905022"/>
                  </a:ext>
                </a:extLst>
              </a:tr>
              <a:tr h="134784">
                <a:tc>
                  <a:txBody>
                    <a:bodyPr/>
                    <a:lstStyle/>
                    <a:p>
                      <a:pPr algn="ctr"/>
                      <a:r>
                        <a:rPr lang="de-DE" sz="1000" dirty="0"/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 err="1"/>
                        <a:t>stabi</a:t>
                      </a:r>
                      <a:r>
                        <a:rPr lang="de-DE" sz="1000" dirty="0"/>
                        <a:t>-parts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0074155"/>
                  </a:ext>
                </a:extLst>
              </a:tr>
              <a:tr h="134784">
                <a:tc>
                  <a:txBody>
                    <a:bodyPr/>
                    <a:lstStyle/>
                    <a:p>
                      <a:pPr algn="ctr"/>
                      <a:r>
                        <a:rPr lang="de-DE" sz="1000" dirty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 err="1"/>
                        <a:t>base</a:t>
                      </a:r>
                      <a:r>
                        <a:rPr lang="de-DE" sz="1000" dirty="0"/>
                        <a:t> frame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1751498"/>
                  </a:ext>
                </a:extLst>
              </a:tr>
              <a:tr h="134784">
                <a:tc>
                  <a:txBody>
                    <a:bodyPr/>
                    <a:lstStyle/>
                    <a:p>
                      <a:pPr algn="ctr"/>
                      <a:r>
                        <a:rPr lang="de-DE" sz="1000" dirty="0"/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 err="1"/>
                        <a:t>controls</a:t>
                      </a:r>
                      <a:r>
                        <a:rPr lang="de-DE" sz="1000" dirty="0"/>
                        <a:t> &amp; </a:t>
                      </a:r>
                      <a:r>
                        <a:rPr lang="de-DE" sz="1000" dirty="0" err="1"/>
                        <a:t>electrics</a:t>
                      </a:r>
                      <a:endParaRPr lang="de-DE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2463611"/>
                  </a:ext>
                </a:extLst>
              </a:tr>
              <a:tr h="134784">
                <a:tc>
                  <a:txBody>
                    <a:bodyPr/>
                    <a:lstStyle/>
                    <a:p>
                      <a:pPr algn="ctr"/>
                      <a:r>
                        <a:rPr lang="de-DE" sz="1000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 err="1"/>
                        <a:t>pneumatics</a:t>
                      </a:r>
                      <a:endParaRPr lang="de-DE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4726014"/>
                  </a:ext>
                </a:extLst>
              </a:tr>
            </a:tbl>
          </a:graphicData>
        </a:graphic>
      </p:graphicFrame>
      <p:cxnSp>
        <p:nvCxnSpPr>
          <p:cNvPr id="24" name="Gerade Verbindung mit Pfeil 23">
            <a:extLst>
              <a:ext uri="{FF2B5EF4-FFF2-40B4-BE49-F238E27FC236}">
                <a16:creationId xmlns:a16="http://schemas.microsoft.com/office/drawing/2014/main" id="{1770E38B-3C3C-3673-F9B2-FA256011550D}"/>
              </a:ext>
            </a:extLst>
          </p:cNvPr>
          <p:cNvCxnSpPr/>
          <p:nvPr/>
        </p:nvCxnSpPr>
        <p:spPr>
          <a:xfrm flipV="1">
            <a:off x="5669281" y="671198"/>
            <a:ext cx="0" cy="431662"/>
          </a:xfrm>
          <a:prstGeom prst="straightConnector1">
            <a:avLst/>
          </a:prstGeom>
          <a:ln w="38100">
            <a:headEnd type="none" w="med" len="med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5" name="Gerade Verbindung mit Pfeil 24">
            <a:extLst>
              <a:ext uri="{FF2B5EF4-FFF2-40B4-BE49-F238E27FC236}">
                <a16:creationId xmlns:a16="http://schemas.microsoft.com/office/drawing/2014/main" id="{EEC41E86-D00B-FC3F-4A87-B75CBD7039DE}"/>
              </a:ext>
            </a:extLst>
          </p:cNvPr>
          <p:cNvCxnSpPr/>
          <p:nvPr/>
        </p:nvCxnSpPr>
        <p:spPr>
          <a:xfrm flipV="1">
            <a:off x="6157945" y="5933741"/>
            <a:ext cx="0" cy="431662"/>
          </a:xfrm>
          <a:prstGeom prst="straightConnector1">
            <a:avLst/>
          </a:prstGeom>
          <a:ln w="38100">
            <a:headEnd type="none" w="med" len="med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6" name="Bogen 25">
            <a:extLst>
              <a:ext uri="{FF2B5EF4-FFF2-40B4-BE49-F238E27FC236}">
                <a16:creationId xmlns:a16="http://schemas.microsoft.com/office/drawing/2014/main" id="{E360D678-6BF1-470B-B631-67DFB0C84E8B}"/>
              </a:ext>
            </a:extLst>
          </p:cNvPr>
          <p:cNvSpPr/>
          <p:nvPr/>
        </p:nvSpPr>
        <p:spPr>
          <a:xfrm>
            <a:off x="7910117" y="2913039"/>
            <a:ext cx="1303036" cy="1266196"/>
          </a:xfrm>
          <a:prstGeom prst="arc">
            <a:avLst>
              <a:gd name="adj1" fmla="val 19980822"/>
              <a:gd name="adj2" fmla="val 1629454"/>
            </a:avLst>
          </a:prstGeom>
          <a:ln w="25400">
            <a:headEnd type="none" w="med" len="med"/>
            <a:tailEnd type="triangl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0" name="Rechteck: abgerundete Ecken 29">
            <a:extLst>
              <a:ext uri="{FF2B5EF4-FFF2-40B4-BE49-F238E27FC236}">
                <a16:creationId xmlns:a16="http://schemas.microsoft.com/office/drawing/2014/main" id="{FAC51C15-139A-61A3-ED2A-106E4756EE8A}"/>
              </a:ext>
            </a:extLst>
          </p:cNvPr>
          <p:cNvSpPr/>
          <p:nvPr/>
        </p:nvSpPr>
        <p:spPr>
          <a:xfrm>
            <a:off x="6252843" y="6088134"/>
            <a:ext cx="348062" cy="206477"/>
          </a:xfrm>
          <a:prstGeom prst="round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/>
              <a:t>1</a:t>
            </a:r>
          </a:p>
        </p:txBody>
      </p:sp>
      <p:sp>
        <p:nvSpPr>
          <p:cNvPr id="31" name="Rechteck: abgerundete Ecken 30">
            <a:extLst>
              <a:ext uri="{FF2B5EF4-FFF2-40B4-BE49-F238E27FC236}">
                <a16:creationId xmlns:a16="http://schemas.microsoft.com/office/drawing/2014/main" id="{427AF814-E6D6-D5C1-F2C7-146CF6A2628E}"/>
              </a:ext>
            </a:extLst>
          </p:cNvPr>
          <p:cNvSpPr/>
          <p:nvPr/>
        </p:nvSpPr>
        <p:spPr>
          <a:xfrm>
            <a:off x="8771358" y="2963708"/>
            <a:ext cx="348062" cy="206477"/>
          </a:xfrm>
          <a:prstGeom prst="round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/>
              <a:t>7/8</a:t>
            </a:r>
          </a:p>
        </p:txBody>
      </p:sp>
      <p:sp>
        <p:nvSpPr>
          <p:cNvPr id="32" name="Rechteck: abgerundete Ecken 31">
            <a:extLst>
              <a:ext uri="{FF2B5EF4-FFF2-40B4-BE49-F238E27FC236}">
                <a16:creationId xmlns:a16="http://schemas.microsoft.com/office/drawing/2014/main" id="{93DA2CF5-6970-3C8F-EC98-AF263AFF42C7}"/>
              </a:ext>
            </a:extLst>
          </p:cNvPr>
          <p:cNvSpPr/>
          <p:nvPr/>
        </p:nvSpPr>
        <p:spPr>
          <a:xfrm>
            <a:off x="9044682" y="2579599"/>
            <a:ext cx="348062" cy="206477"/>
          </a:xfrm>
          <a:prstGeom prst="round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/>
              <a:t>6</a:t>
            </a:r>
          </a:p>
        </p:txBody>
      </p:sp>
      <p:sp>
        <p:nvSpPr>
          <p:cNvPr id="33" name="Rechteck: abgerundete Ecken 32">
            <a:extLst>
              <a:ext uri="{FF2B5EF4-FFF2-40B4-BE49-F238E27FC236}">
                <a16:creationId xmlns:a16="http://schemas.microsoft.com/office/drawing/2014/main" id="{B90C6EE9-A898-F4A2-5DF2-522F927466BD}"/>
              </a:ext>
            </a:extLst>
          </p:cNvPr>
          <p:cNvSpPr/>
          <p:nvPr/>
        </p:nvSpPr>
        <p:spPr>
          <a:xfrm>
            <a:off x="6624029" y="3040905"/>
            <a:ext cx="411972" cy="206477"/>
          </a:xfrm>
          <a:prstGeom prst="round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/>
              <a:t>2/15</a:t>
            </a:r>
          </a:p>
        </p:txBody>
      </p:sp>
      <p:sp>
        <p:nvSpPr>
          <p:cNvPr id="34" name="Rechteck: abgerundete Ecken 33">
            <a:extLst>
              <a:ext uri="{FF2B5EF4-FFF2-40B4-BE49-F238E27FC236}">
                <a16:creationId xmlns:a16="http://schemas.microsoft.com/office/drawing/2014/main" id="{CC9015CA-917B-BFE4-805E-4C79E900A35D}"/>
              </a:ext>
            </a:extLst>
          </p:cNvPr>
          <p:cNvSpPr/>
          <p:nvPr/>
        </p:nvSpPr>
        <p:spPr>
          <a:xfrm>
            <a:off x="5208624" y="6088133"/>
            <a:ext cx="348062" cy="206477"/>
          </a:xfrm>
          <a:prstGeom prst="round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/>
              <a:t>16</a:t>
            </a:r>
          </a:p>
        </p:txBody>
      </p:sp>
      <p:sp>
        <p:nvSpPr>
          <p:cNvPr id="35" name="Rechteck: abgerundete Ecken 34">
            <a:extLst>
              <a:ext uri="{FF2B5EF4-FFF2-40B4-BE49-F238E27FC236}">
                <a16:creationId xmlns:a16="http://schemas.microsoft.com/office/drawing/2014/main" id="{31690E7A-1C64-95D9-EBDE-797757D8C3F0}"/>
              </a:ext>
            </a:extLst>
          </p:cNvPr>
          <p:cNvSpPr/>
          <p:nvPr/>
        </p:nvSpPr>
        <p:spPr>
          <a:xfrm>
            <a:off x="7464918" y="2768884"/>
            <a:ext cx="348062" cy="206477"/>
          </a:xfrm>
          <a:prstGeom prst="round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/>
              <a:t>3</a:t>
            </a:r>
          </a:p>
        </p:txBody>
      </p:sp>
      <p:sp>
        <p:nvSpPr>
          <p:cNvPr id="36" name="Rechteck: abgerundete Ecken 35">
            <a:extLst>
              <a:ext uri="{FF2B5EF4-FFF2-40B4-BE49-F238E27FC236}">
                <a16:creationId xmlns:a16="http://schemas.microsoft.com/office/drawing/2014/main" id="{7B2E4EB7-81DF-3BE1-9550-D5B0BACFBA8C}"/>
              </a:ext>
            </a:extLst>
          </p:cNvPr>
          <p:cNvSpPr/>
          <p:nvPr/>
        </p:nvSpPr>
        <p:spPr>
          <a:xfrm>
            <a:off x="8086559" y="2423526"/>
            <a:ext cx="348062" cy="206477"/>
          </a:xfrm>
          <a:prstGeom prst="round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/>
              <a:t>4</a:t>
            </a:r>
          </a:p>
        </p:txBody>
      </p:sp>
      <p:sp>
        <p:nvSpPr>
          <p:cNvPr id="37" name="Rechteck: abgerundete Ecken 36">
            <a:extLst>
              <a:ext uri="{FF2B5EF4-FFF2-40B4-BE49-F238E27FC236}">
                <a16:creationId xmlns:a16="http://schemas.microsoft.com/office/drawing/2014/main" id="{05DD3957-B7F2-32CF-8223-745EE0E8825E}"/>
              </a:ext>
            </a:extLst>
          </p:cNvPr>
          <p:cNvSpPr/>
          <p:nvPr/>
        </p:nvSpPr>
        <p:spPr>
          <a:xfrm>
            <a:off x="9512413" y="3442898"/>
            <a:ext cx="348062" cy="206477"/>
          </a:xfrm>
          <a:prstGeom prst="round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/>
              <a:t>9</a:t>
            </a:r>
          </a:p>
        </p:txBody>
      </p:sp>
      <p:sp>
        <p:nvSpPr>
          <p:cNvPr id="38" name="Rechteck: abgerundete Ecken 37">
            <a:extLst>
              <a:ext uri="{FF2B5EF4-FFF2-40B4-BE49-F238E27FC236}">
                <a16:creationId xmlns:a16="http://schemas.microsoft.com/office/drawing/2014/main" id="{95ACD325-6AD4-1CA4-C900-C159DFD20412}"/>
              </a:ext>
            </a:extLst>
          </p:cNvPr>
          <p:cNvSpPr/>
          <p:nvPr/>
        </p:nvSpPr>
        <p:spPr>
          <a:xfrm>
            <a:off x="9339288" y="4075996"/>
            <a:ext cx="348062" cy="206477"/>
          </a:xfrm>
          <a:prstGeom prst="round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/>
              <a:t>10</a:t>
            </a:r>
          </a:p>
        </p:txBody>
      </p:sp>
      <p:sp>
        <p:nvSpPr>
          <p:cNvPr id="39" name="Rechteck: abgerundete Ecken 38">
            <a:extLst>
              <a:ext uri="{FF2B5EF4-FFF2-40B4-BE49-F238E27FC236}">
                <a16:creationId xmlns:a16="http://schemas.microsoft.com/office/drawing/2014/main" id="{21ED2651-512A-CAAD-3DF4-7883CF800AAA}"/>
              </a:ext>
            </a:extLst>
          </p:cNvPr>
          <p:cNvSpPr/>
          <p:nvPr/>
        </p:nvSpPr>
        <p:spPr>
          <a:xfrm>
            <a:off x="8771358" y="4462318"/>
            <a:ext cx="348062" cy="206477"/>
          </a:xfrm>
          <a:prstGeom prst="round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/>
              <a:t>11</a:t>
            </a:r>
          </a:p>
        </p:txBody>
      </p:sp>
      <p:sp>
        <p:nvSpPr>
          <p:cNvPr id="40" name="Rechteck: abgerundete Ecken 39">
            <a:extLst>
              <a:ext uri="{FF2B5EF4-FFF2-40B4-BE49-F238E27FC236}">
                <a16:creationId xmlns:a16="http://schemas.microsoft.com/office/drawing/2014/main" id="{F0C1AF33-D830-FC8C-1782-EBEB96C25D89}"/>
              </a:ext>
            </a:extLst>
          </p:cNvPr>
          <p:cNvSpPr/>
          <p:nvPr/>
        </p:nvSpPr>
        <p:spPr>
          <a:xfrm>
            <a:off x="8086559" y="4462318"/>
            <a:ext cx="348062" cy="206477"/>
          </a:xfrm>
          <a:prstGeom prst="round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/>
              <a:t>14</a:t>
            </a:r>
          </a:p>
        </p:txBody>
      </p:sp>
      <p:sp>
        <p:nvSpPr>
          <p:cNvPr id="41" name="Rechteck: abgerundete Ecken 40">
            <a:extLst>
              <a:ext uri="{FF2B5EF4-FFF2-40B4-BE49-F238E27FC236}">
                <a16:creationId xmlns:a16="http://schemas.microsoft.com/office/drawing/2014/main" id="{06DDE138-1BFB-F87E-424B-35BFA454E60F}"/>
              </a:ext>
            </a:extLst>
          </p:cNvPr>
          <p:cNvSpPr/>
          <p:nvPr/>
        </p:nvSpPr>
        <p:spPr>
          <a:xfrm>
            <a:off x="6723809" y="4523822"/>
            <a:ext cx="348062" cy="206477"/>
          </a:xfrm>
          <a:prstGeom prst="round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/>
              <a:t>22</a:t>
            </a:r>
          </a:p>
        </p:txBody>
      </p:sp>
      <p:sp>
        <p:nvSpPr>
          <p:cNvPr id="42" name="Rechteck: abgerundete Ecken 41">
            <a:extLst>
              <a:ext uri="{FF2B5EF4-FFF2-40B4-BE49-F238E27FC236}">
                <a16:creationId xmlns:a16="http://schemas.microsoft.com/office/drawing/2014/main" id="{887D372D-88A3-557D-77CA-D014647DF32C}"/>
              </a:ext>
            </a:extLst>
          </p:cNvPr>
          <p:cNvSpPr/>
          <p:nvPr/>
        </p:nvSpPr>
        <p:spPr>
          <a:xfrm>
            <a:off x="6925248" y="2525900"/>
            <a:ext cx="348062" cy="206477"/>
          </a:xfrm>
          <a:prstGeom prst="round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/>
              <a:t>20</a:t>
            </a:r>
          </a:p>
        </p:txBody>
      </p:sp>
      <p:sp>
        <p:nvSpPr>
          <p:cNvPr id="43" name="Rechteck: abgerundete Ecken 42">
            <a:extLst>
              <a:ext uri="{FF2B5EF4-FFF2-40B4-BE49-F238E27FC236}">
                <a16:creationId xmlns:a16="http://schemas.microsoft.com/office/drawing/2014/main" id="{AB5E8E02-70A0-E17C-E628-A08BC365C88E}"/>
              </a:ext>
            </a:extLst>
          </p:cNvPr>
          <p:cNvSpPr/>
          <p:nvPr/>
        </p:nvSpPr>
        <p:spPr>
          <a:xfrm>
            <a:off x="6449998" y="4921696"/>
            <a:ext cx="348062" cy="206477"/>
          </a:xfrm>
          <a:prstGeom prst="round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/>
              <a:t>21</a:t>
            </a:r>
          </a:p>
        </p:txBody>
      </p:sp>
      <p:sp>
        <p:nvSpPr>
          <p:cNvPr id="44" name="Rechteck: abgerundete Ecken 43">
            <a:extLst>
              <a:ext uri="{FF2B5EF4-FFF2-40B4-BE49-F238E27FC236}">
                <a16:creationId xmlns:a16="http://schemas.microsoft.com/office/drawing/2014/main" id="{EE126268-2497-B9ED-4B3B-56DC6D316F4C}"/>
              </a:ext>
            </a:extLst>
          </p:cNvPr>
          <p:cNvSpPr/>
          <p:nvPr/>
        </p:nvSpPr>
        <p:spPr>
          <a:xfrm>
            <a:off x="4559300" y="4359079"/>
            <a:ext cx="348062" cy="206477"/>
          </a:xfrm>
          <a:prstGeom prst="round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/>
              <a:t>24</a:t>
            </a:r>
          </a:p>
        </p:txBody>
      </p:sp>
      <p:sp>
        <p:nvSpPr>
          <p:cNvPr id="45" name="Rechteck: abgerundete Ecken 44">
            <a:extLst>
              <a:ext uri="{FF2B5EF4-FFF2-40B4-BE49-F238E27FC236}">
                <a16:creationId xmlns:a16="http://schemas.microsoft.com/office/drawing/2014/main" id="{E52B0AF2-EA50-A478-D036-0A3A894DEE2E}"/>
              </a:ext>
            </a:extLst>
          </p:cNvPr>
          <p:cNvSpPr/>
          <p:nvPr/>
        </p:nvSpPr>
        <p:spPr>
          <a:xfrm>
            <a:off x="9337520" y="4829273"/>
            <a:ext cx="348062" cy="206477"/>
          </a:xfrm>
          <a:prstGeom prst="round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/>
              <a:t>23</a:t>
            </a:r>
          </a:p>
        </p:txBody>
      </p:sp>
      <p:sp>
        <p:nvSpPr>
          <p:cNvPr id="46" name="Rechteck: abgerundete Ecken 45">
            <a:extLst>
              <a:ext uri="{FF2B5EF4-FFF2-40B4-BE49-F238E27FC236}">
                <a16:creationId xmlns:a16="http://schemas.microsoft.com/office/drawing/2014/main" id="{A21FA78B-D631-E43B-46EC-33C8FE5501D8}"/>
              </a:ext>
            </a:extLst>
          </p:cNvPr>
          <p:cNvSpPr/>
          <p:nvPr/>
        </p:nvSpPr>
        <p:spPr>
          <a:xfrm>
            <a:off x="8387604" y="3649375"/>
            <a:ext cx="348062" cy="206477"/>
          </a:xfrm>
          <a:prstGeom prst="round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/>
              <a:t>19</a:t>
            </a:r>
          </a:p>
        </p:txBody>
      </p:sp>
      <p:cxnSp>
        <p:nvCxnSpPr>
          <p:cNvPr id="47" name="Gerade Verbindung mit Pfeil 46">
            <a:extLst>
              <a:ext uri="{FF2B5EF4-FFF2-40B4-BE49-F238E27FC236}">
                <a16:creationId xmlns:a16="http://schemas.microsoft.com/office/drawing/2014/main" id="{31C1AF1A-B060-9A29-97FE-FD4F0290B04B}"/>
              </a:ext>
            </a:extLst>
          </p:cNvPr>
          <p:cNvCxnSpPr>
            <a:cxnSpLocks/>
          </p:cNvCxnSpPr>
          <p:nvPr/>
        </p:nvCxnSpPr>
        <p:spPr>
          <a:xfrm>
            <a:off x="7326999" y="3546136"/>
            <a:ext cx="311950" cy="0"/>
          </a:xfrm>
          <a:prstGeom prst="straightConnector1">
            <a:avLst/>
          </a:prstGeom>
          <a:ln w="25400">
            <a:headEnd type="none" w="med" len="med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8" name="Gerade Verbindung mit Pfeil 47">
            <a:extLst>
              <a:ext uri="{FF2B5EF4-FFF2-40B4-BE49-F238E27FC236}">
                <a16:creationId xmlns:a16="http://schemas.microsoft.com/office/drawing/2014/main" id="{5B3EFEB4-E9D7-5DA2-93F7-107108D3515C}"/>
              </a:ext>
            </a:extLst>
          </p:cNvPr>
          <p:cNvCxnSpPr>
            <a:cxnSpLocks/>
          </p:cNvCxnSpPr>
          <p:nvPr/>
        </p:nvCxnSpPr>
        <p:spPr>
          <a:xfrm flipH="1">
            <a:off x="9313610" y="2759923"/>
            <a:ext cx="371972" cy="256354"/>
          </a:xfrm>
          <a:prstGeom prst="straightConnector1">
            <a:avLst/>
          </a:prstGeom>
          <a:ln w="25400">
            <a:solidFill>
              <a:schemeClr val="accent1">
                <a:lumMod val="40000"/>
                <a:lumOff val="60000"/>
              </a:schemeClr>
            </a:solidFill>
            <a:headEnd type="none" w="med" len="med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2" name="Gerade Verbindung mit Pfeil 51">
            <a:extLst>
              <a:ext uri="{FF2B5EF4-FFF2-40B4-BE49-F238E27FC236}">
                <a16:creationId xmlns:a16="http://schemas.microsoft.com/office/drawing/2014/main" id="{866DD340-55D6-7232-9F68-1B107DF4A0A6}"/>
              </a:ext>
            </a:extLst>
          </p:cNvPr>
          <p:cNvCxnSpPr>
            <a:cxnSpLocks/>
          </p:cNvCxnSpPr>
          <p:nvPr/>
        </p:nvCxnSpPr>
        <p:spPr>
          <a:xfrm flipH="1">
            <a:off x="7586570" y="4087435"/>
            <a:ext cx="238364" cy="183698"/>
          </a:xfrm>
          <a:prstGeom prst="straightConnector1">
            <a:avLst/>
          </a:prstGeom>
          <a:ln w="25400">
            <a:headEnd type="none" w="med" len="med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" name="Rechteck: abgerundete Ecken 2">
            <a:extLst>
              <a:ext uri="{FF2B5EF4-FFF2-40B4-BE49-F238E27FC236}">
                <a16:creationId xmlns:a16="http://schemas.microsoft.com/office/drawing/2014/main" id="{DBEF8A0F-8C1E-C6DA-88EE-8DDA1CD7EBA0}"/>
              </a:ext>
            </a:extLst>
          </p:cNvPr>
          <p:cNvSpPr/>
          <p:nvPr/>
        </p:nvSpPr>
        <p:spPr>
          <a:xfrm>
            <a:off x="10112810" y="2562407"/>
            <a:ext cx="348062" cy="206477"/>
          </a:xfrm>
          <a:prstGeom prst="round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7839022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01112D0-862B-4CE0-E796-DE169582A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Price </a:t>
            </a:r>
            <a:r>
              <a:rPr lang="de-DE" dirty="0" err="1"/>
              <a:t>indication</a:t>
            </a:r>
            <a:endParaRPr lang="de-DE" dirty="0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9787E160-747C-4BFB-2B72-45FBA7517827}"/>
              </a:ext>
            </a:extLst>
          </p:cNvPr>
          <p:cNvSpPr txBox="1"/>
          <p:nvPr/>
        </p:nvSpPr>
        <p:spPr>
          <a:xfrm>
            <a:off x="554064" y="1020588"/>
            <a:ext cx="10635713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Total </a:t>
            </a:r>
            <a:r>
              <a:rPr lang="de-DE" dirty="0" err="1"/>
              <a:t>price</a:t>
            </a:r>
            <a:r>
              <a:rPr lang="de-DE" dirty="0"/>
              <a:t>:</a:t>
            </a:r>
          </a:p>
          <a:p>
            <a:endParaRPr lang="de-DE" dirty="0"/>
          </a:p>
          <a:p>
            <a:r>
              <a:rPr lang="de-DE" dirty="0" err="1"/>
              <a:t>Complete</a:t>
            </a:r>
            <a:r>
              <a:rPr lang="de-DE" dirty="0"/>
              <a:t> </a:t>
            </a:r>
            <a:r>
              <a:rPr lang="de-DE" dirty="0" err="1"/>
              <a:t>machine</a:t>
            </a:r>
            <a:r>
              <a:rPr lang="de-DE" dirty="0"/>
              <a:t>:		 	1.150.000€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 err="1"/>
              <a:t>Without</a:t>
            </a:r>
            <a:r>
              <a:rPr lang="de-DE" sz="1400" dirty="0"/>
              <a:t> </a:t>
            </a:r>
            <a:r>
              <a:rPr lang="de-DE" sz="1400" dirty="0" err="1"/>
              <a:t>option</a:t>
            </a:r>
            <a:endParaRPr lang="de-DE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 err="1"/>
              <a:t>Including</a:t>
            </a:r>
            <a:r>
              <a:rPr lang="de-DE" sz="1400" dirty="0"/>
              <a:t> </a:t>
            </a:r>
            <a:r>
              <a:rPr lang="de-DE" sz="1400" dirty="0" err="1"/>
              <a:t>re-commissioning</a:t>
            </a:r>
            <a:r>
              <a:rPr lang="de-DE" sz="1400" dirty="0"/>
              <a:t> in </a:t>
            </a:r>
            <a:r>
              <a:rPr lang="de-DE" sz="1400" dirty="0" err="1"/>
              <a:t>Rodez</a:t>
            </a:r>
            <a:endParaRPr lang="de-DE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 err="1"/>
              <a:t>RzP-Provisions</a:t>
            </a:r>
            <a:r>
              <a:rPr lang="de-DE" sz="1400" dirty="0"/>
              <a:t> </a:t>
            </a:r>
            <a:r>
              <a:rPr lang="de-DE" sz="1400" dirty="0" err="1"/>
              <a:t>are</a:t>
            </a:r>
            <a:r>
              <a:rPr lang="de-DE" sz="1400" dirty="0"/>
              <a:t>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de-DE" sz="1400" i="1" dirty="0" err="1"/>
              <a:t>Complete</a:t>
            </a:r>
            <a:r>
              <a:rPr lang="de-DE" sz="1400" i="1" dirty="0"/>
              <a:t> </a:t>
            </a:r>
            <a:r>
              <a:rPr lang="de-DE" sz="1400" i="1" dirty="0" err="1"/>
              <a:t>measurement</a:t>
            </a:r>
            <a:r>
              <a:rPr lang="de-DE" sz="1400" i="1" dirty="0"/>
              <a:t> </a:t>
            </a:r>
            <a:r>
              <a:rPr lang="de-DE" sz="1400" i="1" dirty="0" err="1"/>
              <a:t>equipment</a:t>
            </a:r>
            <a:r>
              <a:rPr lang="de-DE" sz="1400" i="1" dirty="0"/>
              <a:t> Plate-</a:t>
            </a:r>
            <a:r>
              <a:rPr lang="de-DE" sz="1400" i="1" dirty="0" err="1"/>
              <a:t>InnerØ</a:t>
            </a:r>
            <a:r>
              <a:rPr lang="de-DE" sz="1400" i="1" dirty="0"/>
              <a:t> (Stotz, </a:t>
            </a:r>
            <a:r>
              <a:rPr lang="de-DE" sz="1400" i="1" dirty="0" err="1"/>
              <a:t>measurement</a:t>
            </a:r>
            <a:r>
              <a:rPr lang="de-DE" sz="1400" i="1" dirty="0"/>
              <a:t> </a:t>
            </a:r>
            <a:r>
              <a:rPr lang="de-DE" sz="1400" i="1" dirty="0" err="1"/>
              <a:t>devices</a:t>
            </a:r>
            <a:r>
              <a:rPr lang="de-DE" sz="1400" i="1" dirty="0"/>
              <a:t>, </a:t>
            </a:r>
            <a:r>
              <a:rPr lang="de-DE" sz="1400" i="1" dirty="0" err="1"/>
              <a:t>pneumatics</a:t>
            </a:r>
            <a:r>
              <a:rPr lang="de-DE" sz="1400" i="1" dirty="0"/>
              <a:t>,…) incl. BCI-</a:t>
            </a:r>
            <a:r>
              <a:rPr lang="de-DE" sz="1400" i="1" dirty="0" err="1"/>
              <a:t>OpConPlus</a:t>
            </a:r>
            <a:r>
              <a:rPr lang="de-DE" sz="1400" i="1" dirty="0"/>
              <a:t>-</a:t>
            </a:r>
            <a:r>
              <a:rPr lang="de-DE" sz="1400" i="1" dirty="0" err="1"/>
              <a:t>Object</a:t>
            </a:r>
            <a:endParaRPr lang="de-DE" sz="1400" i="1" dirty="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7C966903-CCBF-736C-3D6D-31F7F3FED35E}"/>
              </a:ext>
            </a:extLst>
          </p:cNvPr>
          <p:cNvSpPr txBox="1"/>
          <p:nvPr/>
        </p:nvSpPr>
        <p:spPr>
          <a:xfrm>
            <a:off x="570134" y="3171852"/>
            <a:ext cx="11410056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Option DMC-</a:t>
            </a:r>
            <a:r>
              <a:rPr lang="de-DE" dirty="0" err="1"/>
              <a:t>Marking</a:t>
            </a:r>
            <a:r>
              <a:rPr lang="de-DE" dirty="0"/>
              <a:t>:			   97.000€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i="1" dirty="0" err="1"/>
              <a:t>Including</a:t>
            </a:r>
            <a:r>
              <a:rPr lang="de-DE" sz="1400" i="1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1400" i="1" dirty="0"/>
              <a:t>12-fold-round </a:t>
            </a:r>
            <a:r>
              <a:rPr lang="de-DE" sz="1400" i="1" dirty="0" err="1"/>
              <a:t>table</a:t>
            </a:r>
            <a:r>
              <a:rPr lang="de-DE" sz="1400" i="1" dirty="0"/>
              <a:t> </a:t>
            </a:r>
            <a:r>
              <a:rPr lang="de-DE" sz="1400" i="1" dirty="0" err="1"/>
              <a:t>instead</a:t>
            </a:r>
            <a:r>
              <a:rPr lang="de-DE" sz="1400" i="1" dirty="0"/>
              <a:t> </a:t>
            </a:r>
            <a:r>
              <a:rPr lang="de-DE" sz="1400" i="1" dirty="0" err="1"/>
              <a:t>of</a:t>
            </a:r>
            <a:r>
              <a:rPr lang="de-DE" sz="1400" i="1" dirty="0"/>
              <a:t> 10-fold-round </a:t>
            </a:r>
            <a:r>
              <a:rPr lang="de-DE" sz="1400" i="1" dirty="0" err="1"/>
              <a:t>table</a:t>
            </a:r>
            <a:endParaRPr lang="de-DE" sz="1400" i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1400" i="1" dirty="0"/>
              <a:t>Angle Orientation </a:t>
            </a:r>
            <a:r>
              <a:rPr lang="de-DE" sz="1400" i="1" dirty="0" err="1"/>
              <a:t>before</a:t>
            </a:r>
            <a:r>
              <a:rPr lang="de-DE" sz="1400" i="1" dirty="0"/>
              <a:t> DMC-</a:t>
            </a:r>
            <a:r>
              <a:rPr lang="de-DE" sz="1400" i="1" dirty="0" err="1"/>
              <a:t>Marking</a:t>
            </a:r>
            <a:endParaRPr lang="de-DE" sz="1400" i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1400" i="1" dirty="0"/>
              <a:t>DMC-</a:t>
            </a:r>
            <a:r>
              <a:rPr lang="de-DE" sz="1400" i="1" dirty="0" err="1"/>
              <a:t>Marking</a:t>
            </a:r>
            <a:endParaRPr lang="de-DE" sz="1400" i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1400" i="1" dirty="0"/>
              <a:t>Control DMC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i="1" dirty="0" err="1"/>
              <a:t>RzP-Provisions</a:t>
            </a:r>
            <a:r>
              <a:rPr lang="de-DE" sz="1400" i="1" dirty="0"/>
              <a:t> </a:t>
            </a:r>
            <a:r>
              <a:rPr lang="de-DE" sz="1400" i="1" dirty="0" err="1"/>
              <a:t>are</a:t>
            </a:r>
            <a:r>
              <a:rPr lang="de-DE" sz="1400" i="1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1400" i="1" dirty="0" err="1"/>
              <a:t>Complete</a:t>
            </a:r>
            <a:r>
              <a:rPr lang="de-DE" sz="1400" i="1" dirty="0"/>
              <a:t> Trumpf </a:t>
            </a:r>
            <a:r>
              <a:rPr lang="de-DE" sz="1400" i="1" dirty="0" err="1"/>
              <a:t>laser</a:t>
            </a:r>
            <a:r>
              <a:rPr lang="de-DE" sz="1400" i="1" dirty="0"/>
              <a:t> </a:t>
            </a:r>
            <a:r>
              <a:rPr lang="de-DE" sz="1400" i="1" dirty="0" err="1"/>
              <a:t>for</a:t>
            </a:r>
            <a:r>
              <a:rPr lang="de-DE" sz="1400" i="1" dirty="0"/>
              <a:t> DMC-</a:t>
            </a:r>
            <a:r>
              <a:rPr lang="de-DE" sz="1400" i="1" dirty="0" err="1"/>
              <a:t>marking</a:t>
            </a:r>
            <a:r>
              <a:rPr lang="de-DE" sz="1400" i="1" dirty="0"/>
              <a:t> (</a:t>
            </a:r>
            <a:r>
              <a:rPr lang="de-DE" sz="1400" i="1" dirty="0" err="1"/>
              <a:t>used</a:t>
            </a:r>
            <a:r>
              <a:rPr lang="de-DE" sz="1400" i="1" dirty="0"/>
              <a:t> </a:t>
            </a:r>
            <a:r>
              <a:rPr lang="de-DE" sz="1400" i="1" dirty="0" err="1"/>
              <a:t>from</a:t>
            </a:r>
            <a:r>
              <a:rPr lang="de-DE" sz="1400" i="1" dirty="0"/>
              <a:t> </a:t>
            </a:r>
            <a:r>
              <a:rPr lang="de-DE" sz="1400" i="1" dirty="0" err="1"/>
              <a:t>old</a:t>
            </a:r>
            <a:r>
              <a:rPr lang="de-DE" sz="1400" i="1" dirty="0"/>
              <a:t> Gluth-MAE „</a:t>
            </a:r>
            <a:r>
              <a:rPr lang="de-DE" sz="1400" i="1" dirty="0" err="1"/>
              <a:t>lasermarking</a:t>
            </a:r>
            <a:r>
              <a:rPr lang="de-DE" sz="1400" i="1" dirty="0"/>
              <a:t> </a:t>
            </a:r>
            <a:r>
              <a:rPr lang="de-DE" sz="1400" i="1" dirty="0" err="1"/>
              <a:t>nozzle</a:t>
            </a:r>
            <a:r>
              <a:rPr lang="de-DE" sz="1400" i="1" dirty="0"/>
              <a:t>, Order 4774) incl. BCI-</a:t>
            </a:r>
            <a:r>
              <a:rPr lang="de-DE" sz="1400" i="1" dirty="0" err="1"/>
              <a:t>OpConPlus</a:t>
            </a:r>
            <a:r>
              <a:rPr lang="de-DE" sz="1400" i="1" dirty="0"/>
              <a:t>-</a:t>
            </a:r>
            <a:r>
              <a:rPr lang="de-DE" sz="1400" i="1" dirty="0" err="1"/>
              <a:t>Object</a:t>
            </a:r>
            <a:endParaRPr lang="de-DE" sz="1400" i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1400" i="1" dirty="0" err="1"/>
              <a:t>Complete</a:t>
            </a:r>
            <a:r>
              <a:rPr lang="de-DE" sz="1400" i="1" dirty="0"/>
              <a:t> </a:t>
            </a:r>
            <a:r>
              <a:rPr lang="de-DE" sz="1400" i="1" dirty="0" err="1"/>
              <a:t>Cognex</a:t>
            </a:r>
            <a:r>
              <a:rPr lang="de-DE" sz="1400" i="1" dirty="0"/>
              <a:t> </a:t>
            </a:r>
            <a:r>
              <a:rPr lang="de-DE" sz="1400" i="1" dirty="0" err="1"/>
              <a:t>camera</a:t>
            </a:r>
            <a:r>
              <a:rPr lang="de-DE" sz="1400" i="1" dirty="0"/>
              <a:t> </a:t>
            </a:r>
            <a:r>
              <a:rPr lang="de-DE" sz="1400" i="1" dirty="0" err="1"/>
              <a:t>equipment</a:t>
            </a:r>
            <a:r>
              <a:rPr lang="de-DE" sz="1400" i="1" dirty="0"/>
              <a:t> </a:t>
            </a:r>
            <a:r>
              <a:rPr lang="de-DE" sz="1400" i="1" dirty="0" err="1"/>
              <a:t>for</a:t>
            </a:r>
            <a:r>
              <a:rPr lang="de-DE" sz="1400" i="1" dirty="0"/>
              <a:t> Angle Orientation (</a:t>
            </a:r>
            <a:r>
              <a:rPr lang="de-DE" sz="1400" i="1" dirty="0" err="1"/>
              <a:t>used</a:t>
            </a:r>
            <a:r>
              <a:rPr lang="de-DE" sz="1400" i="1" dirty="0"/>
              <a:t> </a:t>
            </a:r>
            <a:r>
              <a:rPr lang="de-DE" sz="1400" i="1" dirty="0" err="1"/>
              <a:t>from</a:t>
            </a:r>
            <a:r>
              <a:rPr lang="de-DE" sz="1400" i="1" dirty="0"/>
              <a:t> </a:t>
            </a:r>
            <a:r>
              <a:rPr lang="de-DE" sz="1400" i="1" dirty="0" err="1"/>
              <a:t>old</a:t>
            </a:r>
            <a:r>
              <a:rPr lang="de-DE" sz="1400" i="1" dirty="0"/>
              <a:t> Gluth-MAE „</a:t>
            </a:r>
            <a:r>
              <a:rPr lang="de-DE" sz="1400" i="1" dirty="0" err="1"/>
              <a:t>lasermarking</a:t>
            </a:r>
            <a:r>
              <a:rPr lang="de-DE" sz="1400" i="1" dirty="0"/>
              <a:t> </a:t>
            </a:r>
            <a:r>
              <a:rPr lang="de-DE" sz="1400" i="1" dirty="0" err="1"/>
              <a:t>nozzle</a:t>
            </a:r>
            <a:r>
              <a:rPr lang="de-DE" sz="1400" i="1" dirty="0"/>
              <a:t>, Order 4774)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1400" i="1" dirty="0" err="1"/>
              <a:t>Complete</a:t>
            </a:r>
            <a:r>
              <a:rPr lang="de-DE" sz="1400" i="1" dirty="0"/>
              <a:t> </a:t>
            </a:r>
            <a:r>
              <a:rPr lang="de-DE" sz="1400" i="1" dirty="0" err="1"/>
              <a:t>Cognex</a:t>
            </a:r>
            <a:r>
              <a:rPr lang="de-DE" sz="1400" i="1" dirty="0"/>
              <a:t> </a:t>
            </a:r>
            <a:r>
              <a:rPr lang="de-DE" sz="1400" i="1" dirty="0" err="1"/>
              <a:t>camera</a:t>
            </a:r>
            <a:r>
              <a:rPr lang="de-DE" sz="1400" i="1" dirty="0"/>
              <a:t> </a:t>
            </a:r>
            <a:r>
              <a:rPr lang="de-DE" sz="1400" i="1" dirty="0" err="1"/>
              <a:t>equipment</a:t>
            </a:r>
            <a:r>
              <a:rPr lang="de-DE" sz="1400" i="1" dirty="0"/>
              <a:t> </a:t>
            </a:r>
            <a:r>
              <a:rPr lang="de-DE" sz="1400" i="1" dirty="0" err="1"/>
              <a:t>for</a:t>
            </a:r>
            <a:r>
              <a:rPr lang="de-DE" sz="1400" i="1" dirty="0"/>
              <a:t> Control (</a:t>
            </a:r>
            <a:r>
              <a:rPr lang="de-DE" sz="1400" i="1" dirty="0" err="1"/>
              <a:t>used</a:t>
            </a:r>
            <a:r>
              <a:rPr lang="de-DE" sz="1400" i="1" dirty="0"/>
              <a:t> </a:t>
            </a:r>
            <a:r>
              <a:rPr lang="de-DE" sz="1400" i="1" dirty="0" err="1"/>
              <a:t>from</a:t>
            </a:r>
            <a:r>
              <a:rPr lang="de-DE" sz="1400" i="1" dirty="0"/>
              <a:t> </a:t>
            </a:r>
            <a:r>
              <a:rPr lang="de-DE" sz="1400" i="1" dirty="0" err="1"/>
              <a:t>old</a:t>
            </a:r>
            <a:r>
              <a:rPr lang="de-DE" sz="1400" i="1" dirty="0"/>
              <a:t> Gluth-MAE „</a:t>
            </a:r>
            <a:r>
              <a:rPr lang="de-DE" sz="1400" i="1" dirty="0" err="1"/>
              <a:t>lasermarking</a:t>
            </a:r>
            <a:r>
              <a:rPr lang="de-DE" sz="1400" i="1" dirty="0"/>
              <a:t> </a:t>
            </a:r>
            <a:r>
              <a:rPr lang="de-DE" sz="1400" i="1" dirty="0" err="1"/>
              <a:t>nozzle</a:t>
            </a:r>
            <a:r>
              <a:rPr lang="de-DE" sz="1400" i="1" dirty="0"/>
              <a:t>, Order 4774)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de-DE" sz="1400" i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1400" i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de-DE" sz="1400" i="1" dirty="0"/>
          </a:p>
        </p:txBody>
      </p:sp>
    </p:spTree>
    <p:extLst>
      <p:ext uri="{BB962C8B-B14F-4D97-AF65-F5344CB8AC3E}">
        <p14:creationId xmlns:p14="http://schemas.microsoft.com/office/powerpoint/2010/main" val="8124596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ir sagen…">
            <a:extLst>
              <a:ext uri="{FF2B5EF4-FFF2-40B4-BE49-F238E27FC236}">
                <a16:creationId xmlns:a16="http://schemas.microsoft.com/office/drawing/2014/main" id="{5B1447A0-5512-6461-2ECB-DC74C3C52059}"/>
              </a:ext>
            </a:extLst>
          </p:cNvPr>
          <p:cNvSpPr txBox="1"/>
          <p:nvPr/>
        </p:nvSpPr>
        <p:spPr>
          <a:xfrm>
            <a:off x="1106187" y="2403584"/>
            <a:ext cx="4867470" cy="11900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 anchor="ctr">
            <a:spAutoFit/>
          </a:bodyPr>
          <a:lstStyle/>
          <a:p>
            <a:pPr algn="l">
              <a:defRPr sz="7000">
                <a:solidFill>
                  <a:srgbClr val="FFFFFF"/>
                </a:solidFill>
                <a:latin typeface="Gilroy ExtraBold"/>
                <a:ea typeface="Gilroy ExtraBold"/>
                <a:cs typeface="Gilroy ExtraBold"/>
                <a:sym typeface="Gilroy ExtraBold"/>
              </a:defRPr>
            </a:pPr>
            <a:r>
              <a:rPr lang="de-DE" sz="3691" dirty="0">
                <a:latin typeface="+mj-lt"/>
              </a:rPr>
              <a:t>Danke</a:t>
            </a:r>
            <a:endParaRPr sz="3691" dirty="0">
              <a:latin typeface="+mj-lt"/>
            </a:endParaRPr>
          </a:p>
          <a:p>
            <a:pPr algn="l">
              <a:defRPr sz="7000">
                <a:solidFill>
                  <a:srgbClr val="FFFFFF"/>
                </a:solidFill>
                <a:latin typeface="Gilroy ExtraBold"/>
                <a:ea typeface="Gilroy ExtraBold"/>
                <a:cs typeface="Gilroy ExtraBold"/>
                <a:sym typeface="Gilroy ExtraBold"/>
              </a:defRPr>
            </a:pPr>
            <a:r>
              <a:rPr lang="de-DE" sz="3691" dirty="0">
                <a:solidFill>
                  <a:srgbClr val="4DB8A0"/>
                </a:solidFill>
                <a:latin typeface="+mj-lt"/>
              </a:rPr>
              <a:t>für die Aufmerksamkeit</a:t>
            </a:r>
            <a:endParaRPr sz="3691" dirty="0">
              <a:solidFill>
                <a:srgbClr val="4DB8A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5974748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Design">
  <a:themeElements>
    <a:clrScheme name="Gluth_Standard">
      <a:dk1>
        <a:srgbClr val="2C3E48"/>
      </a:dk1>
      <a:lt1>
        <a:srgbClr val="FFFFFF"/>
      </a:lt1>
      <a:dk2>
        <a:srgbClr val="2C3E48"/>
      </a:dk2>
      <a:lt2>
        <a:srgbClr val="4DB8A0"/>
      </a:lt2>
      <a:accent1>
        <a:srgbClr val="4DB8A0"/>
      </a:accent1>
      <a:accent2>
        <a:srgbClr val="008F7B"/>
      </a:accent2>
      <a:accent3>
        <a:srgbClr val="FF540F"/>
      </a:accent3>
      <a:accent4>
        <a:srgbClr val="FFC000"/>
      </a:accent4>
      <a:accent5>
        <a:srgbClr val="5B9BD5"/>
      </a:accent5>
      <a:accent6>
        <a:srgbClr val="AD3400"/>
      </a:accent6>
      <a:hlink>
        <a:srgbClr val="0563C1"/>
      </a:hlink>
      <a:folHlink>
        <a:srgbClr val="5000AC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ubtile Körper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 sz="4000" dirty="0" err="1" smtClean="0"/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lt1"/>
        </a:fontRef>
      </a:style>
    </a:spDef>
    <a:lnDef>
      <a:spPr>
        <a:ln w="38100">
          <a:headEnd type="none" w="med" len="med"/>
          <a:tailEnd type="none" w="med" len="med"/>
        </a:ln>
      </a:spPr>
      <a:bodyPr/>
      <a:lstStyle/>
      <a:style>
        <a:lnRef idx="2">
          <a:schemeClr val="accent2"/>
        </a:lnRef>
        <a:fillRef idx="0">
          <a:schemeClr val="accent2"/>
        </a:fillRef>
        <a:effectRef idx="1">
          <a:schemeClr val="accent2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MS-F_Folienmaster_Rev5_2024.potx" id="{D8203BC2-C789-4D38-AEF8-110B84672945}" vid="{A2397648-1BD6-46F9-8747-1184E7BF7D41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MS-F_Folienmaster_Rev5_2024</Template>
  <TotalTime>0</TotalTime>
  <Words>919</Words>
  <Application>Microsoft Office PowerPoint</Application>
  <PresentationFormat>Breitbild</PresentationFormat>
  <Paragraphs>284</Paragraphs>
  <Slides>9</Slides>
  <Notes>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9</vt:i4>
      </vt:variant>
    </vt:vector>
  </HeadingPairs>
  <TitlesOfParts>
    <vt:vector size="15" baseType="lpstr">
      <vt:lpstr>Arial</vt:lpstr>
      <vt:lpstr>Arial Black</vt:lpstr>
      <vt:lpstr>Arial Nova Cond</vt:lpstr>
      <vt:lpstr>Calibri</vt:lpstr>
      <vt:lpstr>Gilroy Light</vt:lpstr>
      <vt:lpstr>Office-Design</vt:lpstr>
      <vt:lpstr>PowerPoint-Präsentation</vt:lpstr>
      <vt:lpstr>Products solenoid armature</vt:lpstr>
      <vt:lpstr>loading &amp; unloading trays</vt:lpstr>
      <vt:lpstr>Required Processes</vt:lpstr>
      <vt:lpstr>Required Processes (specifications V2)</vt:lpstr>
      <vt:lpstr>Transport unit (without options)</vt:lpstr>
      <vt:lpstr>Layout</vt:lpstr>
      <vt:lpstr>Price indication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Brault Fabien</dc:creator>
  <cp:lastModifiedBy>Brault Fabien</cp:lastModifiedBy>
  <cp:revision>99</cp:revision>
  <cp:lastPrinted>2024-06-07T07:54:18Z</cp:lastPrinted>
  <dcterms:created xsi:type="dcterms:W3CDTF">2024-03-26T09:54:41Z</dcterms:created>
  <dcterms:modified xsi:type="dcterms:W3CDTF">2024-06-13T14:56:13Z</dcterms:modified>
</cp:coreProperties>
</file>