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13"/>
  </p:notesMasterIdLst>
  <p:handoutMasterIdLst>
    <p:handoutMasterId r:id="rId14"/>
  </p:handoutMasterIdLst>
  <p:sldIdLst>
    <p:sldId id="256" r:id="rId2"/>
    <p:sldId id="1197" r:id="rId3"/>
    <p:sldId id="1296" r:id="rId4"/>
    <p:sldId id="1295" r:id="rId5"/>
    <p:sldId id="1302" r:id="rId6"/>
    <p:sldId id="1303" r:id="rId7"/>
    <p:sldId id="1301" r:id="rId8"/>
    <p:sldId id="1304" r:id="rId9"/>
    <p:sldId id="1305" r:id="rId10"/>
    <p:sldId id="1212" r:id="rId11"/>
    <p:sldId id="1183" r:id="rId12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540F"/>
    <a:srgbClr val="2A9E9E"/>
    <a:srgbClr val="F78C00"/>
    <a:srgbClr val="4DB8A0"/>
    <a:srgbClr val="8ED2C3"/>
    <a:srgbClr val="FF8100"/>
    <a:srgbClr val="FFA200"/>
    <a:srgbClr val="2C3F48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7436" autoAdjust="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31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97EB6F6-493D-DA97-B965-35A2488157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781125C-C473-FE55-FBF5-2E740DF5FE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0F1D3-59CB-4FC3-B85E-961C88BF436F}" type="datetimeFigureOut">
              <a:rPr lang="de-DE" smtClean="0"/>
              <a:t>19.09.2024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2802B8-DF76-CE14-CDF1-E4D4482486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91C7241-9A8C-8C18-A1A5-1392A91ACD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BDDE2-899A-4F21-8C99-5A28EBA680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B9D02-9FFC-4758-9EDA-EB9E451655DE}" type="datetimeFigureOut">
              <a:rPr lang="de-DE" smtClean="0"/>
              <a:t>19.09.2024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ED572-F9A9-4535-91E4-E5029B1F5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00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00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094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EEB2CB-37F8-584A-889E-895630C53A95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0033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15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fik 25" descr="Ein Bild, das Screenshot, Schwarz, Dunkelheit enthält.&#10;&#10;Automatisch generierte Beschreibung">
            <a:extLst>
              <a:ext uri="{FF2B5EF4-FFF2-40B4-BE49-F238E27FC236}">
                <a16:creationId xmlns:a16="http://schemas.microsoft.com/office/drawing/2014/main" id="{5C1344FB-4045-D1BB-48FD-350CE89577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6" r="12000" b="42887"/>
          <a:stretch/>
        </p:blipFill>
        <p:spPr>
          <a:xfrm rot="13138923">
            <a:off x="7813028" y="-709758"/>
            <a:ext cx="5600598" cy="3916818"/>
          </a:xfrm>
          <a:custGeom>
            <a:avLst/>
            <a:gdLst>
              <a:gd name="connsiteX0" fmla="*/ 5600598 w 5600598"/>
              <a:gd name="connsiteY0" fmla="*/ 1294670 h 3916818"/>
              <a:gd name="connsiteX1" fmla="*/ 2360440 w 5600598"/>
              <a:gd name="connsiteY1" fmla="*/ 3916818 h 3916818"/>
              <a:gd name="connsiteX2" fmla="*/ 0 w 5600598"/>
              <a:gd name="connsiteY2" fmla="*/ 1000049 h 3916818"/>
              <a:gd name="connsiteX3" fmla="*/ 1235749 w 5600598"/>
              <a:gd name="connsiteY3" fmla="*/ 0 h 3916818"/>
              <a:gd name="connsiteX4" fmla="*/ 5600598 w 5600598"/>
              <a:gd name="connsiteY4" fmla="*/ 0 h 3916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00598" h="3916818">
                <a:moveTo>
                  <a:pt x="5600598" y="1294670"/>
                </a:moveTo>
                <a:lnTo>
                  <a:pt x="2360440" y="3916818"/>
                </a:lnTo>
                <a:lnTo>
                  <a:pt x="0" y="1000049"/>
                </a:lnTo>
                <a:lnTo>
                  <a:pt x="1235749" y="0"/>
                </a:lnTo>
                <a:lnTo>
                  <a:pt x="5600598" y="0"/>
                </a:lnTo>
                <a:close/>
              </a:path>
            </a:pathLst>
          </a:cu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10154" y="-2557"/>
            <a:ext cx="273668" cy="34412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8000" tIns="18000" rIns="18000" bIns="18000" rtlCol="0" anchor="ctr" anchorCtr="0">
            <a:spAutoFit/>
          </a:bodyPr>
          <a:lstStyle/>
          <a:p>
            <a:pPr algn="ctr"/>
            <a:fld id="{A92209CA-EFDE-4AB8-9222-590C7472CDAB}" type="slidenum">
              <a:rPr lang="de-DE" sz="1000" smtClean="0">
                <a:solidFill>
                  <a:schemeClr val="bg1"/>
                </a:solidFill>
                <a:latin typeface="+mj-lt"/>
              </a:rPr>
              <a:pPr algn="ctr"/>
              <a:t>‹Nr.›</a:t>
            </a:fld>
            <a:endParaRPr lang="de-DE"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Projektbezeichnung | Titel">
            <a:extLst>
              <a:ext uri="{FF2B5EF4-FFF2-40B4-BE49-F238E27FC236}">
                <a16:creationId xmlns:a16="http://schemas.microsoft.com/office/drawing/2014/main" id="{7EB79AE8-0D8C-C49B-AFA0-2C9B5F4077EF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 err="1">
                <a:solidFill>
                  <a:srgbClr val="2C3F48"/>
                </a:solidFill>
                <a:latin typeface="+mj-lt"/>
              </a:rPr>
              <a:t>Gluing</a:t>
            </a:r>
            <a:r>
              <a:rPr lang="de-DE" sz="1000" dirty="0">
                <a:solidFill>
                  <a:srgbClr val="2C3F48"/>
                </a:solidFill>
                <a:latin typeface="+mj-lt"/>
              </a:rPr>
              <a:t> </a:t>
            </a:r>
            <a:r>
              <a:rPr lang="de-DE" sz="1000" dirty="0" err="1">
                <a:solidFill>
                  <a:srgbClr val="2C3F48"/>
                </a:solidFill>
                <a:latin typeface="+mj-lt"/>
              </a:rPr>
              <a:t>line</a:t>
            </a:r>
            <a:r>
              <a:rPr lang="de-DE" sz="1000" dirty="0">
                <a:solidFill>
                  <a:srgbClr val="2C3F48"/>
                </a:solidFill>
                <a:latin typeface="+mj-lt"/>
              </a:rPr>
              <a:t> BMW/PHUD-50 </a:t>
            </a:r>
            <a:r>
              <a:rPr lang="de-DE" sz="1000" dirty="0" err="1">
                <a:solidFill>
                  <a:srgbClr val="2C3F48"/>
                </a:solidFill>
                <a:latin typeface="+mj-lt"/>
              </a:rPr>
              <a:t>eco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</a:t>
            </a:r>
            <a:r>
              <a:rPr sz="1000" dirty="0">
                <a:solidFill>
                  <a:schemeClr val="bg1"/>
                </a:solidFill>
                <a:latin typeface="+mj-lt"/>
              </a:rPr>
              <a:t> </a:t>
            </a:r>
            <a:r>
              <a:rPr lang="de-DE" sz="1000" dirty="0">
                <a:solidFill>
                  <a:schemeClr val="bg1"/>
                </a:solidFill>
                <a:latin typeface="+mj-lt"/>
                <a:ea typeface="Gilroy ExtraBold"/>
                <a:cs typeface="Gilroy ExtraBold"/>
                <a:sym typeface="Gilroy ExtraBold"/>
              </a:rPr>
              <a:t>26.03.2024</a:t>
            </a:r>
            <a:endParaRPr sz="1000" dirty="0">
              <a:solidFill>
                <a:schemeClr val="bg1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33740E4-DBFF-ED4E-3B33-C3785B1F67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7889" y="6169583"/>
            <a:ext cx="1853671" cy="55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211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luth-dots_turkis-hell.png" descr="gluth-dots_turkis-hell.png">
            <a:extLst>
              <a:ext uri="{FF2B5EF4-FFF2-40B4-BE49-F238E27FC236}">
                <a16:creationId xmlns:a16="http://schemas.microsoft.com/office/drawing/2014/main" id="{BD59312F-90B1-9FC7-468F-6B81B8C0A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4367" r="16055"/>
          <a:stretch/>
        </p:blipFill>
        <p:spPr>
          <a:xfrm>
            <a:off x="9430344" y="-2557"/>
            <a:ext cx="2761656" cy="150126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6" name="gluth-logo_RZ_rgb.png" descr="gluth-logo_RZ_rgb.png">
            <a:extLst>
              <a:ext uri="{FF2B5EF4-FFF2-40B4-BE49-F238E27FC236}">
                <a16:creationId xmlns:a16="http://schemas.microsoft.com/office/drawing/2014/main" id="{09991ADD-9B75-7CDB-BE00-7F86E7AA4B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4208" y="6169583"/>
            <a:ext cx="1853667" cy="5550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Projektbezeichnung | Titel">
            <a:extLst>
              <a:ext uri="{FF2B5EF4-FFF2-40B4-BE49-F238E27FC236}">
                <a16:creationId xmlns:a16="http://schemas.microsoft.com/office/drawing/2014/main" id="{6FBCAB55-7A36-744A-313E-F701D83C3678}"/>
              </a:ext>
            </a:extLst>
          </p:cNvPr>
          <p:cNvSpPr txBox="1"/>
          <p:nvPr userDrawn="1"/>
        </p:nvSpPr>
        <p:spPr>
          <a:xfrm>
            <a:off x="183804" y="161538"/>
            <a:ext cx="3456377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+mj-lt"/>
              </a:rPr>
              <a:t>A07591000B Insourcing </a:t>
            </a:r>
            <a:r>
              <a:rPr lang="de-DE" sz="1000" dirty="0" err="1">
                <a:solidFill>
                  <a:srgbClr val="2C3F48"/>
                </a:solidFill>
                <a:latin typeface="+mj-lt"/>
              </a:rPr>
              <a:t>solenoid</a:t>
            </a:r>
            <a:r>
              <a:rPr lang="de-DE" sz="1000" dirty="0">
                <a:solidFill>
                  <a:srgbClr val="2C3F48"/>
                </a:solidFill>
                <a:latin typeface="+mj-lt"/>
              </a:rPr>
              <a:t> </a:t>
            </a:r>
            <a:r>
              <a:rPr lang="de-DE" sz="1000" dirty="0" err="1">
                <a:solidFill>
                  <a:srgbClr val="2C3F48"/>
                </a:solidFill>
                <a:latin typeface="+mj-lt"/>
              </a:rPr>
              <a:t>armature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 | </a:t>
            </a:r>
            <a:r>
              <a:rPr lang="de-DE" sz="1000" dirty="0">
                <a:solidFill>
                  <a:srgbClr val="4DB8A0"/>
                </a:solidFill>
                <a:latin typeface="+mj-lt"/>
                <a:sym typeface="Gilroy ExtraBold"/>
              </a:rPr>
              <a:t>19</a:t>
            </a:r>
            <a:r>
              <a:rPr lang="de-DE" sz="1000" dirty="0">
                <a:solidFill>
                  <a:srgbClr val="4DB8A0"/>
                </a:solidFill>
                <a:latin typeface="+mj-lt"/>
                <a:ea typeface="Gilroy ExtraBold"/>
                <a:cs typeface="Gilroy ExtraBold"/>
                <a:sym typeface="Gilroy ExtraBold"/>
              </a:rPr>
              <a:t>.09.2024</a:t>
            </a:r>
            <a:endParaRPr sz="1000" dirty="0">
              <a:solidFill>
                <a:srgbClr val="4DB8A0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7EDDE7-1837-9DEF-31C0-8531113810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3687" y="121782"/>
            <a:ext cx="6909683" cy="284849"/>
          </a:xfrm>
          <a:prstGeom prst="rect">
            <a:avLst/>
          </a:prstGeom>
        </p:spPr>
        <p:txBody>
          <a:bodyPr anchor="t"/>
          <a:lstStyle>
            <a:lvl1pPr algn="ctr">
              <a:defRPr lang="de-DE" sz="1600" kern="1200" dirty="0">
                <a:solidFill>
                  <a:srgbClr val="2C3F48"/>
                </a:solidFill>
                <a:latin typeface="+mj-lt"/>
                <a:ea typeface="Gilroy Light"/>
                <a:cs typeface="Gilroy Light"/>
              </a:defRPr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1647A44-1BE1-D8C4-64E2-48910E5FC2F7}"/>
              </a:ext>
            </a:extLst>
          </p:cNvPr>
          <p:cNvSpPr txBox="1"/>
          <p:nvPr userDrawn="1"/>
        </p:nvSpPr>
        <p:spPr>
          <a:xfrm>
            <a:off x="10710154" y="-2557"/>
            <a:ext cx="273668" cy="34412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8000" tIns="18000" rIns="18000" bIns="18000" rtlCol="0" anchor="ctr" anchorCtr="0">
            <a:spAutoFit/>
          </a:bodyPr>
          <a:lstStyle/>
          <a:p>
            <a:pPr algn="ctr"/>
            <a:fld id="{A92209CA-EFDE-4AB8-9222-590C7472CDAB}" type="slidenum">
              <a:rPr lang="de-DE" sz="1000" smtClean="0">
                <a:solidFill>
                  <a:schemeClr val="bg1"/>
                </a:solidFill>
                <a:latin typeface="+mj-lt"/>
              </a:rPr>
              <a:pPr algn="ctr"/>
              <a:t>‹Nr.›</a:t>
            </a:fld>
            <a:endParaRPr lang="de-DE" sz="10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1577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">
    <p:bg>
      <p:bgPr>
        <a:solidFill>
          <a:srgbClr val="2C3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CF6A121-117E-2360-103B-99EDB01E80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545" t="220" r="182" b="34710"/>
          <a:stretch/>
        </p:blipFill>
        <p:spPr>
          <a:xfrm>
            <a:off x="3886200" y="1"/>
            <a:ext cx="8305800" cy="4493986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9849BAAD-819F-FD17-80DF-57FBF1AC5F33}"/>
              </a:ext>
            </a:extLst>
          </p:cNvPr>
          <p:cNvSpPr/>
          <p:nvPr userDrawn="1"/>
        </p:nvSpPr>
        <p:spPr>
          <a:xfrm>
            <a:off x="0" y="4673600"/>
            <a:ext cx="12192000" cy="134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CDA7B6D-2535-0335-A88B-441A3A5D0B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6198" y="4859820"/>
            <a:ext cx="3274060" cy="980366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232ADFC2-4F38-D2D1-1E96-C07243355627}"/>
              </a:ext>
            </a:extLst>
          </p:cNvPr>
          <p:cNvSpPr/>
          <p:nvPr userDrawn="1"/>
        </p:nvSpPr>
        <p:spPr>
          <a:xfrm>
            <a:off x="7124702" y="4859820"/>
            <a:ext cx="3644900" cy="9803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50000"/>
              </a:lnSpc>
            </a:pPr>
            <a:r>
              <a:rPr lang="de-DE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Gluth Systemtechnik GmbH</a:t>
            </a:r>
          </a:p>
          <a:p>
            <a:pPr algn="r">
              <a:lnSpc>
                <a:spcPct val="150000"/>
              </a:lnSpc>
            </a:pPr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rPr>
              <a:t>Steinweg 66  |  94315 Straubing</a:t>
            </a:r>
          </a:p>
          <a:p>
            <a:pPr algn="r">
              <a:lnSpc>
                <a:spcPct val="150000"/>
              </a:lnSpc>
            </a:pPr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rPr>
              <a:t>+49 9421 544-0  </a:t>
            </a:r>
            <a:r>
              <a:rPr lang="de-DE" sz="7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+mn-cs"/>
              </a:rPr>
              <a:t>|  info@gluth.de  |  www</a:t>
            </a:r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rPr>
              <a:t>.gluth.de</a:t>
            </a:r>
          </a:p>
        </p:txBody>
      </p:sp>
    </p:spTree>
    <p:extLst>
      <p:ext uri="{BB962C8B-B14F-4D97-AF65-F5344CB8AC3E}">
        <p14:creationId xmlns:p14="http://schemas.microsoft.com/office/powerpoint/2010/main" val="197548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54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6" r:id="rId3"/>
    <p:sldLayoutId id="2147483658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12" Type="http://schemas.openxmlformats.org/officeDocument/2006/relationships/image" Target="../media/image3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11" Type="http://schemas.openxmlformats.org/officeDocument/2006/relationships/image" Target="../media/image35.png"/><Relationship Id="rId5" Type="http://schemas.openxmlformats.org/officeDocument/2006/relationships/image" Target="../media/image31.png"/><Relationship Id="rId10" Type="http://schemas.openxmlformats.org/officeDocument/2006/relationships/image" Target="../media/image34.png"/><Relationship Id="rId4" Type="http://schemas.microsoft.com/office/2007/relationships/hdphoto" Target="../media/hdphoto1.wdp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zlich Willkommen…">
            <a:extLst>
              <a:ext uri="{FF2B5EF4-FFF2-40B4-BE49-F238E27FC236}">
                <a16:creationId xmlns:a16="http://schemas.microsoft.com/office/drawing/2014/main" id="{31991B22-ADE8-1F96-4A16-CC0F3362E09B}"/>
              </a:ext>
            </a:extLst>
          </p:cNvPr>
          <p:cNvSpPr txBox="1"/>
          <p:nvPr/>
        </p:nvSpPr>
        <p:spPr>
          <a:xfrm>
            <a:off x="1240125" y="762453"/>
            <a:ext cx="8358125" cy="1190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latin typeface="+mj-lt"/>
              </a:rPr>
              <a:t>Request </a:t>
            </a:r>
            <a:r>
              <a:rPr lang="de-DE" sz="3691" dirty="0" err="1">
                <a:latin typeface="+mj-lt"/>
              </a:rPr>
              <a:t>for</a:t>
            </a:r>
            <a:r>
              <a:rPr lang="de-DE" sz="3691" dirty="0">
                <a:latin typeface="+mj-lt"/>
              </a:rPr>
              <a:t> Quotation 190184</a:t>
            </a:r>
            <a:endParaRPr sz="3691" dirty="0">
              <a:latin typeface="+mj-lt"/>
            </a:endParaRPr>
          </a:p>
          <a:p>
            <a:pPr algn="l">
              <a:defRPr sz="7000">
                <a:solidFill>
                  <a:srgbClr val="4DB8A0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latin typeface="+mj-lt"/>
              </a:rPr>
              <a:t>Insourcing Solenoid </a:t>
            </a:r>
            <a:r>
              <a:rPr lang="de-DE" sz="3691" dirty="0" err="1">
                <a:latin typeface="+mj-lt"/>
              </a:rPr>
              <a:t>Armature</a:t>
            </a:r>
            <a:endParaRPr sz="3691" dirty="0">
              <a:latin typeface="+mj-lt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F2B2FFB-2635-0AF7-C0CA-090C26FBA723}"/>
              </a:ext>
            </a:extLst>
          </p:cNvPr>
          <p:cNvSpPr txBox="1"/>
          <p:nvPr/>
        </p:nvSpPr>
        <p:spPr>
          <a:xfrm>
            <a:off x="1184707" y="1982852"/>
            <a:ext cx="5747769" cy="5027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400" b="1" dirty="0">
                <a:solidFill>
                  <a:srgbClr val="FFFFFF"/>
                </a:solidFill>
                <a:latin typeface="+mj-lt"/>
              </a:rPr>
              <a:t>19.09.2024</a:t>
            </a:r>
            <a:endParaRPr lang="de-DE" sz="1400" dirty="0">
              <a:solidFill>
                <a:srgbClr val="FFFFFF"/>
              </a:solidFill>
              <a:latin typeface="+mj-lt"/>
            </a:endParaRPr>
          </a:p>
          <a:p>
            <a:pPr algn="l">
              <a:lnSpc>
                <a:spcPts val="1582"/>
              </a:lnSpc>
            </a:pPr>
            <a:r>
              <a:rPr lang="de-DE" sz="1400" dirty="0">
                <a:solidFill>
                  <a:srgbClr val="FFFFFF"/>
                </a:solidFill>
                <a:latin typeface="+mj-lt"/>
              </a:rPr>
              <a:t>A07591000B / Bosch </a:t>
            </a:r>
            <a:r>
              <a:rPr lang="de-DE" sz="1400" dirty="0" err="1">
                <a:solidFill>
                  <a:srgbClr val="FFFFFF"/>
                </a:solidFill>
                <a:latin typeface="+mj-lt"/>
              </a:rPr>
              <a:t>RzP</a:t>
            </a:r>
            <a:endParaRPr lang="de-DE" sz="14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58F8751-910C-21F6-6568-917E0CBE7F0F}"/>
              </a:ext>
            </a:extLst>
          </p:cNvPr>
          <p:cNvSpPr txBox="1"/>
          <p:nvPr/>
        </p:nvSpPr>
        <p:spPr>
          <a:xfrm>
            <a:off x="1180774" y="2990934"/>
            <a:ext cx="3203859" cy="11026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055" b="1" dirty="0">
                <a:solidFill>
                  <a:srgbClr val="FFFFFF"/>
                </a:solidFill>
                <a:latin typeface="Gilroy Light" pitchFamily="2" charset="77"/>
              </a:rPr>
              <a:t>Bernhard Hacker	</a:t>
            </a: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	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Technical Sales	 	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E-Mail: hacker.bernhard@gluth.eu 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Tel      : +49 9421 / 544-19 	</a:t>
            </a:r>
          </a:p>
          <a:p>
            <a:pPr algn="l">
              <a:lnSpc>
                <a:spcPts val="1582"/>
              </a:lnSpc>
            </a:pP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Mobil : +49 151 / 1402 8680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6477538-249B-9FDC-F5A9-A4181C54FAFE}"/>
              </a:ext>
            </a:extLst>
          </p:cNvPr>
          <p:cNvSpPr txBox="1"/>
          <p:nvPr/>
        </p:nvSpPr>
        <p:spPr>
          <a:xfrm>
            <a:off x="3354001" y="2990934"/>
            <a:ext cx="3203859" cy="8974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055" b="1" dirty="0">
                <a:solidFill>
                  <a:srgbClr val="FFFFFF"/>
                </a:solidFill>
                <a:latin typeface="Gilroy Light" pitchFamily="2" charset="77"/>
              </a:rPr>
              <a:t>Fabien Brault</a:t>
            </a: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		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en-GB" sz="1055" dirty="0">
                <a:solidFill>
                  <a:srgbClr val="FFFFFF"/>
                </a:solidFill>
                <a:latin typeface="Gilroy Light" pitchFamily="2" charset="77"/>
              </a:rPr>
              <a:t>Mechanical</a:t>
            </a: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 Engineering	 	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E-Mail: brault.fabien@gluth.eu 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Tel      : +49 9421 / 544-78 	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63FCE5E-6235-0F03-3095-0BF33375AB32}"/>
              </a:ext>
            </a:extLst>
          </p:cNvPr>
          <p:cNvSpPr txBox="1"/>
          <p:nvPr/>
        </p:nvSpPr>
        <p:spPr>
          <a:xfrm>
            <a:off x="1180775" y="2627956"/>
            <a:ext cx="3203859" cy="2975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400" b="1" dirty="0">
                <a:solidFill>
                  <a:srgbClr val="FFFFFF"/>
                </a:solidFill>
                <a:latin typeface="Gilroy Light" pitchFamily="2" charset="77"/>
              </a:rPr>
              <a:t>Contact </a:t>
            </a:r>
            <a:r>
              <a:rPr lang="de-DE" sz="1400" b="1" dirty="0" err="1">
                <a:solidFill>
                  <a:srgbClr val="FFFFFF"/>
                </a:solidFill>
                <a:latin typeface="Gilroy Light" pitchFamily="2" charset="77"/>
              </a:rPr>
              <a:t>person</a:t>
            </a:r>
            <a:r>
              <a:rPr lang="de-DE" sz="1400" b="1" dirty="0">
                <a:solidFill>
                  <a:srgbClr val="FFFFFF"/>
                </a:solidFill>
                <a:latin typeface="Gilroy Light" pitchFamily="2" charset="77"/>
              </a:rPr>
              <a:t> Gluth:</a:t>
            </a:r>
            <a:endParaRPr lang="de-DE" sz="1400" dirty="0">
              <a:solidFill>
                <a:srgbClr val="FFFFFF"/>
              </a:solidFill>
              <a:latin typeface="Gilroy Light" pitchFamily="2" charset="77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92DBC2A-ACB5-215C-8E1C-2B0DA55439CB}"/>
              </a:ext>
            </a:extLst>
          </p:cNvPr>
          <p:cNvSpPr txBox="1"/>
          <p:nvPr/>
        </p:nvSpPr>
        <p:spPr>
          <a:xfrm>
            <a:off x="6001955" y="2627956"/>
            <a:ext cx="3203859" cy="2975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400" b="1" dirty="0">
                <a:solidFill>
                  <a:srgbClr val="FFFFFF"/>
                </a:solidFill>
                <a:latin typeface="Gilroy Light" pitchFamily="2" charset="77"/>
              </a:rPr>
              <a:t>Contact </a:t>
            </a:r>
            <a:r>
              <a:rPr lang="de-DE" sz="1400" b="1" dirty="0" err="1">
                <a:solidFill>
                  <a:srgbClr val="FFFFFF"/>
                </a:solidFill>
                <a:latin typeface="Gilroy Light" pitchFamily="2" charset="77"/>
              </a:rPr>
              <a:t>person</a:t>
            </a:r>
            <a:r>
              <a:rPr lang="de-DE" sz="1400" b="1" dirty="0">
                <a:solidFill>
                  <a:srgbClr val="FFFFFF"/>
                </a:solidFill>
                <a:latin typeface="Gilroy Light" pitchFamily="2" charset="77"/>
              </a:rPr>
              <a:t> Bosch </a:t>
            </a:r>
            <a:r>
              <a:rPr lang="de-DE" sz="1400" b="1" dirty="0" err="1">
                <a:solidFill>
                  <a:srgbClr val="FFFFFF"/>
                </a:solidFill>
                <a:latin typeface="Gilroy Light" pitchFamily="2" charset="77"/>
              </a:rPr>
              <a:t>RzP</a:t>
            </a:r>
            <a:r>
              <a:rPr lang="de-DE" sz="1400" b="1" dirty="0">
                <a:solidFill>
                  <a:srgbClr val="FFFFFF"/>
                </a:solidFill>
                <a:latin typeface="Gilroy Light" pitchFamily="2" charset="77"/>
              </a:rPr>
              <a:t>:</a:t>
            </a:r>
            <a:endParaRPr lang="de-DE" sz="1400" dirty="0">
              <a:solidFill>
                <a:srgbClr val="FFFFFF"/>
              </a:solidFill>
              <a:latin typeface="Gilroy Light" pitchFamily="2" charset="77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0760337-082B-0153-EDA7-45B55C65C002}"/>
              </a:ext>
            </a:extLst>
          </p:cNvPr>
          <p:cNvSpPr txBox="1"/>
          <p:nvPr/>
        </p:nvSpPr>
        <p:spPr>
          <a:xfrm>
            <a:off x="6008053" y="2980255"/>
            <a:ext cx="2652171" cy="13078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055" b="1" dirty="0">
                <a:solidFill>
                  <a:srgbClr val="FFFFFF"/>
                </a:solidFill>
                <a:latin typeface="Gilroy Light" pitchFamily="2" charset="77"/>
              </a:rPr>
              <a:t>William </a:t>
            </a:r>
            <a:r>
              <a:rPr lang="de-DE" sz="1055" b="1" dirty="0" err="1">
                <a:solidFill>
                  <a:srgbClr val="FFFFFF"/>
                </a:solidFill>
                <a:latin typeface="Gilroy Light" pitchFamily="2" charset="77"/>
              </a:rPr>
              <a:t>Bauguil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Planner</a:t>
            </a:r>
          </a:p>
          <a:p>
            <a:pPr algn="l">
              <a:lnSpc>
                <a:spcPts val="1582"/>
              </a:lnSpc>
            </a:pPr>
            <a:r>
              <a:rPr lang="de-DE" sz="1055" dirty="0" err="1">
                <a:solidFill>
                  <a:srgbClr val="FFFFFF"/>
                </a:solidFill>
                <a:latin typeface="Gilroy Light" pitchFamily="2" charset="77"/>
              </a:rPr>
              <a:t>RzP</a:t>
            </a: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/MFE1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E-Mail: william.bauguil@fr.bosch.com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Tel      : +33 5 6567-9485</a:t>
            </a:r>
          </a:p>
          <a:p>
            <a:pPr algn="l">
              <a:lnSpc>
                <a:spcPts val="1582"/>
              </a:lnSpc>
            </a:pP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Mobil : +33 6 34 26 44 81	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8672A2D-B021-612C-7112-EA667489C66F}"/>
              </a:ext>
            </a:extLst>
          </p:cNvPr>
          <p:cNvSpPr txBox="1"/>
          <p:nvPr/>
        </p:nvSpPr>
        <p:spPr>
          <a:xfrm>
            <a:off x="8406250" y="2990934"/>
            <a:ext cx="2652171" cy="11026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055" b="1" dirty="0">
                <a:solidFill>
                  <a:srgbClr val="FFFFFF"/>
                </a:solidFill>
                <a:latin typeface="Gilroy Light" pitchFamily="2" charset="77"/>
              </a:rPr>
              <a:t>Sara </a:t>
            </a:r>
            <a:r>
              <a:rPr lang="de-DE" sz="1055" b="1" dirty="0" err="1">
                <a:solidFill>
                  <a:srgbClr val="FFFFFF"/>
                </a:solidFill>
                <a:latin typeface="Gilroy Light" pitchFamily="2" charset="77"/>
              </a:rPr>
              <a:t>Gohier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 err="1">
                <a:solidFill>
                  <a:srgbClr val="FFFFFF"/>
                </a:solidFill>
                <a:latin typeface="Gilroy Light" pitchFamily="2" charset="77"/>
              </a:rPr>
              <a:t>Purchaser</a:t>
            </a:r>
            <a:endParaRPr lang="de-DE" sz="1055" dirty="0">
              <a:solidFill>
                <a:srgbClr val="FFFFFF"/>
              </a:solidFill>
              <a:latin typeface="Gilroy Light" pitchFamily="2" charset="77"/>
            </a:endParaRPr>
          </a:p>
          <a:p>
            <a:pPr algn="l">
              <a:lnSpc>
                <a:spcPts val="1582"/>
              </a:lnSpc>
            </a:pP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GS/PUI5-TME2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E-Mail: sara.gohier@ro.bosch.com</a:t>
            </a:r>
            <a:br>
              <a:rPr lang="de-DE" sz="1055" dirty="0">
                <a:solidFill>
                  <a:srgbClr val="FFFFFF"/>
                </a:solidFill>
                <a:latin typeface="Gilroy Light" pitchFamily="2" charset="77"/>
              </a:rPr>
            </a:br>
            <a:r>
              <a:rPr lang="de-DE" sz="1055" dirty="0">
                <a:solidFill>
                  <a:srgbClr val="FFFFFF"/>
                </a:solidFill>
                <a:latin typeface="Gilroy Light" pitchFamily="2" charset="77"/>
              </a:rPr>
              <a:t>Tel      : +40 722 358 050</a:t>
            </a:r>
          </a:p>
        </p:txBody>
      </p:sp>
      <p:pic>
        <p:nvPicPr>
          <p:cNvPr id="10" name="Grafik 9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C624BC15-E23E-0745-563F-6D568EAA1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609" y="5049337"/>
            <a:ext cx="1700782" cy="55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321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8D470773-E863-0B0A-F04B-4B8735782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83135"/>
              </p:ext>
            </p:extLst>
          </p:nvPr>
        </p:nvGraphicFramePr>
        <p:xfrm>
          <a:off x="241147" y="1048564"/>
          <a:ext cx="491872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768">
                  <a:extLst>
                    <a:ext uri="{9D8B030D-6E8A-4147-A177-3AD203B41FA5}">
                      <a16:colId xmlns:a16="http://schemas.microsoft.com/office/drawing/2014/main" val="566185741"/>
                    </a:ext>
                  </a:extLst>
                </a:gridCol>
                <a:gridCol w="1167130">
                  <a:extLst>
                    <a:ext uri="{9D8B030D-6E8A-4147-A177-3AD203B41FA5}">
                      <a16:colId xmlns:a16="http://schemas.microsoft.com/office/drawing/2014/main" val="1741154475"/>
                    </a:ext>
                  </a:extLst>
                </a:gridCol>
                <a:gridCol w="1370330">
                  <a:extLst>
                    <a:ext uri="{9D8B030D-6E8A-4147-A177-3AD203B41FA5}">
                      <a16:colId xmlns:a16="http://schemas.microsoft.com/office/drawing/2014/main" val="611645751"/>
                    </a:ext>
                  </a:extLst>
                </a:gridCol>
                <a:gridCol w="1447498">
                  <a:extLst>
                    <a:ext uri="{9D8B030D-6E8A-4147-A177-3AD203B41FA5}">
                      <a16:colId xmlns:a16="http://schemas.microsoft.com/office/drawing/2014/main" val="1617797840"/>
                    </a:ext>
                  </a:extLst>
                </a:gridCol>
              </a:tblGrid>
              <a:tr h="289124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Parts </a:t>
                      </a:r>
                      <a:r>
                        <a:rPr lang="de-DE" sz="1000" dirty="0" err="1"/>
                        <a:t>name</a:t>
                      </a:r>
                      <a:r>
                        <a:rPr lang="de-DE" sz="1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 err="1"/>
                        <a:t>Assembled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part</a:t>
                      </a:r>
                      <a:endParaRPr lang="de-DE" sz="1000" dirty="0"/>
                    </a:p>
                    <a:p>
                      <a:pPr algn="ctr"/>
                      <a:r>
                        <a:rPr lang="de-DE" sz="1000" dirty="0" err="1"/>
                        <a:t>reference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Plate </a:t>
                      </a:r>
                      <a:r>
                        <a:rPr lang="de-DE" sz="1000" dirty="0" err="1"/>
                        <a:t>reference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Pin </a:t>
                      </a:r>
                      <a:r>
                        <a:rPr lang="de-DE" sz="1000" dirty="0" err="1"/>
                        <a:t>reference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254656"/>
                  </a:ext>
                </a:extLst>
              </a:tr>
              <a:tr h="217076">
                <a:tc rowSpan="4"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Solenoid</a:t>
                      </a:r>
                    </a:p>
                    <a:p>
                      <a:pPr algn="ctr"/>
                      <a:r>
                        <a:rPr lang="de-DE" sz="1000" dirty="0" err="1"/>
                        <a:t>armature</a:t>
                      </a:r>
                      <a:endParaRPr lang="de-DE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F 00N 000 182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F 00V D43 207</a:t>
                      </a:r>
                    </a:p>
                    <a:p>
                      <a:r>
                        <a:rPr lang="de-DE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Ø27,95mm, h5,4mm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F 00N 000 183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Ø4mm, L56,295mm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3391173"/>
                  </a:ext>
                </a:extLst>
              </a:tr>
              <a:tr h="248648">
                <a:tc vMerge="1"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F 00N 000 375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F 00N 000 274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Ø31,2mm, h6mm</a:t>
                      </a:r>
                      <a:endParaRPr lang="de-DE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000" b="0" dirty="0">
                          <a:solidFill>
                            <a:schemeClr val="tx1"/>
                          </a:solidFill>
                        </a:rPr>
                        <a:t>F 00N 000 379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Ø5mm, L56,785mm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8037003"/>
                  </a:ext>
                </a:extLst>
              </a:tr>
              <a:tr h="184929">
                <a:tc vMerge="1"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F 00V D43 203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F 00V D43 200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Ø27,95mm, h5,4mm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 00V D44 200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Ø4mm, L55,8mm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5846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F 00V D43 208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F 00V D43 207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Ø27,95mm, h5,4mm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 00V D44 200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Ø4mm, L55,8mm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0164672"/>
                  </a:ext>
                </a:extLst>
              </a:tr>
            </a:tbl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4AF710B-440B-F719-7EF8-A18EC5D9D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Products </a:t>
            </a:r>
            <a:r>
              <a:rPr lang="de-DE" dirty="0" err="1"/>
              <a:t>solenoid</a:t>
            </a:r>
            <a:r>
              <a:rPr lang="de-DE" dirty="0"/>
              <a:t> </a:t>
            </a:r>
            <a:r>
              <a:rPr lang="de-DE" dirty="0" err="1"/>
              <a:t>armature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F59BDE7-B56B-2256-F2B3-309697375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03" y="3275255"/>
            <a:ext cx="4363162" cy="10159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61DC93F-84FE-51CC-AA86-7D23C691F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741069" y="3246670"/>
            <a:ext cx="1312687" cy="1800000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912CE81-B8AD-A2A1-49AD-C12AA3C5B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5538783" y="4582020"/>
            <a:ext cx="1294001" cy="180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F305696-07E1-2DE1-FDEF-948FDF7E1B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360" y="651924"/>
            <a:ext cx="1800000" cy="128807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C10A1735-248B-3E2F-E1F9-5783F3742F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529858" y="3169627"/>
            <a:ext cx="1311849" cy="18000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090E6526-3208-1016-8156-E9CD3DF781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60" y="3490327"/>
            <a:ext cx="1800000" cy="130592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5473B5A8-0B31-32B8-A637-44F813AB28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7412" y="2131173"/>
            <a:ext cx="1800000" cy="128708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803721CD-A929-A3ED-329E-36122E4399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5783" y="2061076"/>
            <a:ext cx="1800000" cy="1286163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4E3E4E8E-13F8-359A-EFE9-2EF9AF1B1D8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0360" y="2102501"/>
            <a:ext cx="1800000" cy="1294826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6EED19C8-5877-AF44-51ED-376A03D60C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85783" y="644789"/>
            <a:ext cx="1800000" cy="1281132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B56803EA-74FB-3736-13CC-B3F012AFF1E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97412" y="644789"/>
            <a:ext cx="1800000" cy="1295208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5282DF16-4B6A-1B0E-FB90-35EB828EB8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360" y="4879071"/>
            <a:ext cx="1800000" cy="128807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AAAFE9A0-EB11-35C7-1331-D230C7516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741068" y="4631430"/>
            <a:ext cx="1312687" cy="1800000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</p:spPr>
      </p:pic>
      <p:sp>
        <p:nvSpPr>
          <p:cNvPr id="29" name="Textfeld 28">
            <a:extLst>
              <a:ext uri="{FF2B5EF4-FFF2-40B4-BE49-F238E27FC236}">
                <a16:creationId xmlns:a16="http://schemas.microsoft.com/office/drawing/2014/main" id="{D8F4DB56-3DC7-C8D6-BA0B-BAEB18BBF126}"/>
              </a:ext>
            </a:extLst>
          </p:cNvPr>
          <p:cNvSpPr txBox="1"/>
          <p:nvPr/>
        </p:nvSpPr>
        <p:spPr>
          <a:xfrm>
            <a:off x="320735" y="4550026"/>
            <a:ext cx="483913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Cycle time: 8,2s</a:t>
            </a:r>
          </a:p>
          <a:p>
            <a:endParaRPr lang="de-DE" sz="1000" dirty="0"/>
          </a:p>
          <a:p>
            <a:endParaRPr lang="de-DE" sz="1000" dirty="0"/>
          </a:p>
          <a:p>
            <a:endParaRPr lang="de-DE" sz="1000" dirty="0"/>
          </a:p>
          <a:p>
            <a:r>
              <a:rPr lang="de-DE" sz="1000" dirty="0"/>
              <a:t>Basis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err="1"/>
              <a:t>our</a:t>
            </a:r>
            <a:r>
              <a:rPr lang="de-DE" sz="1000" dirty="0"/>
              <a:t> </a:t>
            </a:r>
            <a:r>
              <a:rPr lang="de-DE" sz="1000" dirty="0" err="1"/>
              <a:t>offer</a:t>
            </a:r>
            <a:r>
              <a:rPr lang="de-DE" sz="1000" dirty="0"/>
              <a:t>:</a:t>
            </a:r>
          </a:p>
          <a:p>
            <a:endParaRPr lang="de-DE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 err="1"/>
              <a:t>Your</a:t>
            </a:r>
            <a:r>
              <a:rPr lang="de-DE" sz="1000" dirty="0"/>
              <a:t> </a:t>
            </a:r>
            <a:r>
              <a:rPr lang="de-DE" sz="1000" dirty="0" err="1"/>
              <a:t>specification</a:t>
            </a:r>
            <a:r>
              <a:rPr lang="de-DE" sz="1000" dirty="0"/>
              <a:t> ‚CDC </a:t>
            </a:r>
            <a:r>
              <a:rPr lang="de-DE" sz="1000" dirty="0" err="1"/>
              <a:t>solenoid</a:t>
            </a:r>
            <a:r>
              <a:rPr lang="de-DE" sz="1000" dirty="0"/>
              <a:t> </a:t>
            </a:r>
            <a:r>
              <a:rPr lang="de-DE" sz="1000" dirty="0" err="1"/>
              <a:t>armature</a:t>
            </a:r>
            <a:r>
              <a:rPr lang="de-DE" sz="1000" dirty="0"/>
              <a:t> </a:t>
            </a:r>
            <a:r>
              <a:rPr lang="de-DE" sz="1000" dirty="0" err="1"/>
              <a:t>assembly</a:t>
            </a:r>
            <a:r>
              <a:rPr lang="de-DE" sz="1000" dirty="0"/>
              <a:t> V1‘ </a:t>
            </a:r>
            <a:r>
              <a:rPr lang="de-DE" sz="1000" dirty="0" err="1"/>
              <a:t>from</a:t>
            </a:r>
            <a:r>
              <a:rPr lang="de-DE" sz="1000" dirty="0"/>
              <a:t> 02.04.2024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 err="1"/>
              <a:t>Your</a:t>
            </a:r>
            <a:r>
              <a:rPr lang="de-DE" sz="1000" dirty="0"/>
              <a:t> </a:t>
            </a:r>
            <a:r>
              <a:rPr lang="de-DE" sz="1000" dirty="0" err="1"/>
              <a:t>specification</a:t>
            </a:r>
            <a:r>
              <a:rPr lang="de-DE" sz="1000" dirty="0"/>
              <a:t> ‚CDC </a:t>
            </a:r>
            <a:r>
              <a:rPr lang="de-DE" sz="1000" dirty="0" err="1"/>
              <a:t>solenoid</a:t>
            </a:r>
            <a:r>
              <a:rPr lang="de-DE" sz="1000" dirty="0"/>
              <a:t> </a:t>
            </a:r>
            <a:r>
              <a:rPr lang="de-DE" sz="1000" dirty="0" err="1"/>
              <a:t>armature</a:t>
            </a:r>
            <a:r>
              <a:rPr lang="de-DE" sz="1000" dirty="0"/>
              <a:t> </a:t>
            </a:r>
            <a:r>
              <a:rPr lang="de-DE" sz="1000" dirty="0" err="1"/>
              <a:t>assembly</a:t>
            </a:r>
            <a:r>
              <a:rPr lang="de-DE" sz="1000" dirty="0"/>
              <a:t> V2.1‘ </a:t>
            </a:r>
            <a:r>
              <a:rPr lang="de-DE" sz="1000" dirty="0" err="1"/>
              <a:t>from</a:t>
            </a:r>
            <a:r>
              <a:rPr lang="de-DE" sz="1000" dirty="0"/>
              <a:t> 25.06.2024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 err="1"/>
              <a:t>Your</a:t>
            </a:r>
            <a:r>
              <a:rPr lang="de-DE" sz="1000" dirty="0"/>
              <a:t> </a:t>
            </a:r>
            <a:r>
              <a:rPr lang="de-DE" sz="1000" dirty="0" err="1"/>
              <a:t>process</a:t>
            </a:r>
            <a:r>
              <a:rPr lang="de-DE" sz="1000" dirty="0"/>
              <a:t> </a:t>
            </a:r>
            <a:r>
              <a:rPr lang="de-DE" sz="1000" dirty="0" err="1"/>
              <a:t>parameters</a:t>
            </a:r>
            <a:r>
              <a:rPr lang="de-DE" sz="1000" dirty="0"/>
              <a:t> F 00V D39 030 &amp; F 00V D39 031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Phone </a:t>
            </a:r>
            <a:r>
              <a:rPr lang="de-DE" sz="1000" dirty="0" err="1"/>
              <a:t>call</a:t>
            </a:r>
            <a:r>
              <a:rPr lang="de-DE" sz="1000" dirty="0"/>
              <a:t> Brault/Bauguil on 07.06.2024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Former </a:t>
            </a:r>
            <a:r>
              <a:rPr lang="de-DE" sz="1000" dirty="0" err="1"/>
              <a:t>concept</a:t>
            </a:r>
            <a:r>
              <a:rPr lang="de-DE" sz="1000" dirty="0"/>
              <a:t>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err="1"/>
              <a:t>M.Waas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09110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DCBDE4-45F9-98BB-13A2-A1C279AC9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loading</a:t>
            </a:r>
            <a:r>
              <a:rPr lang="de-DE" dirty="0"/>
              <a:t> &amp; </a:t>
            </a:r>
            <a:r>
              <a:rPr lang="en-GB" dirty="0"/>
              <a:t>unloading</a:t>
            </a:r>
            <a:r>
              <a:rPr lang="de-DE" dirty="0"/>
              <a:t> </a:t>
            </a:r>
            <a:r>
              <a:rPr lang="de-DE" dirty="0" err="1"/>
              <a:t>trays</a:t>
            </a: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22E593C-67FE-CD6C-264B-73FA2F4F2DE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33422" y="873763"/>
            <a:ext cx="2979295" cy="219291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7641A09-6941-6F45-8AF0-2DEB4D103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91243" y="1749601"/>
            <a:ext cx="1459572" cy="56103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EBCE13E-9901-905B-D42F-41CCF878A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01" y="4890597"/>
            <a:ext cx="1300414" cy="49084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43A1299C-E551-1241-44F3-BA5949BEEAAF}"/>
              </a:ext>
            </a:extLst>
          </p:cNvPr>
          <p:cNvSpPr txBox="1"/>
          <p:nvPr/>
        </p:nvSpPr>
        <p:spPr>
          <a:xfrm>
            <a:off x="417477" y="638996"/>
            <a:ext cx="157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Tray </a:t>
            </a:r>
            <a:r>
              <a:rPr lang="de-DE" sz="1400" dirty="0" err="1"/>
              <a:t>pin</a:t>
            </a:r>
            <a:endParaRPr lang="de-DE" sz="1400" dirty="0"/>
          </a:p>
          <a:p>
            <a:r>
              <a:rPr lang="de-DE" sz="800" dirty="0">
                <a:solidFill>
                  <a:schemeClr val="bg1">
                    <a:lumMod val="50000"/>
                  </a:schemeClr>
                </a:solidFill>
              </a:rPr>
              <a:t>ET_0746W004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A4E0CB3-6570-E5E1-5214-9D5F932AAE06}"/>
              </a:ext>
            </a:extLst>
          </p:cNvPr>
          <p:cNvSpPr txBox="1"/>
          <p:nvPr/>
        </p:nvSpPr>
        <p:spPr>
          <a:xfrm>
            <a:off x="6252042" y="804410"/>
            <a:ext cx="29792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 err="1"/>
              <a:t>two</a:t>
            </a:r>
            <a:r>
              <a:rPr lang="de-DE" sz="1000" dirty="0"/>
              <a:t> </a:t>
            </a:r>
            <a:r>
              <a:rPr lang="de-DE" sz="1000" dirty="0" err="1"/>
              <a:t>trays</a:t>
            </a:r>
            <a:r>
              <a:rPr lang="de-DE" sz="1000" dirty="0"/>
              <a:t> per </a:t>
            </a:r>
            <a:r>
              <a:rPr lang="de-DE" sz="1000" dirty="0" err="1"/>
              <a:t>class</a:t>
            </a:r>
            <a:r>
              <a:rPr lang="de-DE" sz="1000" dirty="0"/>
              <a:t>, </a:t>
            </a:r>
            <a:r>
              <a:rPr lang="de-DE" sz="1000" dirty="0" err="1"/>
              <a:t>three</a:t>
            </a:r>
            <a:r>
              <a:rPr lang="de-DE" sz="1000" dirty="0"/>
              <a:t> </a:t>
            </a:r>
            <a:r>
              <a:rPr lang="de-DE" sz="1000" dirty="0" err="1"/>
              <a:t>classes</a:t>
            </a:r>
            <a:endParaRPr lang="de-DE" sz="1000" dirty="0"/>
          </a:p>
          <a:p>
            <a:r>
              <a:rPr lang="de-DE" sz="1000" dirty="0" err="1"/>
              <a:t>alarm</a:t>
            </a:r>
            <a:r>
              <a:rPr lang="de-DE" sz="1000" dirty="0"/>
              <a:t> &amp; light, </a:t>
            </a:r>
            <a:r>
              <a:rPr lang="de-DE" sz="1000" dirty="0" err="1"/>
              <a:t>if</a:t>
            </a:r>
            <a:r>
              <a:rPr lang="de-DE" sz="1000" dirty="0"/>
              <a:t> </a:t>
            </a:r>
            <a:r>
              <a:rPr lang="de-DE" sz="1000" dirty="0" err="1"/>
              <a:t>tray</a:t>
            </a:r>
            <a:r>
              <a:rPr lang="de-DE" sz="1000" dirty="0"/>
              <a:t> </a:t>
            </a:r>
            <a:r>
              <a:rPr lang="de-DE" sz="1000" dirty="0" err="1"/>
              <a:t>empty</a:t>
            </a:r>
            <a:endParaRPr lang="de-DE" sz="1000" dirty="0"/>
          </a:p>
          <a:p>
            <a:r>
              <a:rPr lang="de-DE" sz="1000" dirty="0" err="1"/>
              <a:t>changing</a:t>
            </a:r>
            <a:r>
              <a:rPr lang="de-DE" sz="1000" dirty="0"/>
              <a:t> </a:t>
            </a:r>
            <a:r>
              <a:rPr lang="de-DE" sz="1000" dirty="0" err="1"/>
              <a:t>empty</a:t>
            </a:r>
            <a:r>
              <a:rPr lang="de-DE" sz="1000" dirty="0"/>
              <a:t> </a:t>
            </a:r>
            <a:r>
              <a:rPr lang="de-DE" sz="1000" dirty="0" err="1"/>
              <a:t>tray</a:t>
            </a:r>
            <a:r>
              <a:rPr lang="de-DE" sz="1000" dirty="0"/>
              <a:t> </a:t>
            </a:r>
            <a:r>
              <a:rPr lang="de-DE" sz="1000" dirty="0" err="1"/>
              <a:t>doesn‘t</a:t>
            </a:r>
            <a:r>
              <a:rPr lang="de-DE" sz="1000" dirty="0"/>
              <a:t> </a:t>
            </a:r>
            <a:r>
              <a:rPr lang="de-DE" sz="1000" dirty="0" err="1"/>
              <a:t>stop</a:t>
            </a:r>
            <a:r>
              <a:rPr lang="de-DE" sz="1000" dirty="0"/>
              <a:t>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machine</a:t>
            </a:r>
            <a:endParaRPr lang="de-DE" sz="10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0498142-9572-39C3-A68A-70A2311937E8}"/>
              </a:ext>
            </a:extLst>
          </p:cNvPr>
          <p:cNvSpPr txBox="1"/>
          <p:nvPr/>
        </p:nvSpPr>
        <p:spPr>
          <a:xfrm>
            <a:off x="417477" y="3342688"/>
            <a:ext cx="13402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Tray </a:t>
            </a:r>
            <a:r>
              <a:rPr lang="de-DE" sz="1400" dirty="0" err="1"/>
              <a:t>plate</a:t>
            </a:r>
            <a:endParaRPr lang="de-DE" sz="1400" dirty="0"/>
          </a:p>
          <a:p>
            <a:r>
              <a:rPr lang="de-DE" sz="800" dirty="0" err="1">
                <a:solidFill>
                  <a:schemeClr val="bg1">
                    <a:lumMod val="50000"/>
                  </a:schemeClr>
                </a:solidFill>
              </a:rPr>
              <a:t>To</a:t>
            </a:r>
            <a:r>
              <a:rPr lang="de-DE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bg1">
                    <a:lumMod val="50000"/>
                  </a:schemeClr>
                </a:solidFill>
              </a:rPr>
              <a:t>be</a:t>
            </a:r>
            <a:r>
              <a:rPr lang="de-DE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bg1">
                    <a:lumMod val="50000"/>
                  </a:schemeClr>
                </a:solidFill>
              </a:rPr>
              <a:t>defined</a:t>
            </a:r>
            <a:endParaRPr lang="de-DE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60718360-E088-7762-ED79-AF305E5AAC62}"/>
              </a:ext>
            </a:extLst>
          </p:cNvPr>
          <p:cNvCxnSpPr>
            <a:cxnSpLocks/>
          </p:cNvCxnSpPr>
          <p:nvPr/>
        </p:nvCxnSpPr>
        <p:spPr>
          <a:xfrm>
            <a:off x="417477" y="3195526"/>
            <a:ext cx="1135704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Grafik 13">
            <a:extLst>
              <a:ext uri="{FF2B5EF4-FFF2-40B4-BE49-F238E27FC236}">
                <a16:creationId xmlns:a16="http://schemas.microsoft.com/office/drawing/2014/main" id="{6E3F92E4-0B6A-FE57-025F-D30BB2FC5B5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85363" y="1573952"/>
            <a:ext cx="1307050" cy="96205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35335C3-829C-6041-8853-D66F53775E5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65719" y="1666420"/>
            <a:ext cx="1307050" cy="962056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41E6EEA9-A6E5-DB0C-1FEC-F00B043BD24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24287" y="1666420"/>
            <a:ext cx="1307050" cy="962056"/>
          </a:xfrm>
          <a:prstGeom prst="rect">
            <a:avLst/>
          </a:prstGeom>
        </p:spPr>
      </p:pic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43615F5E-8F24-DE4B-0C17-85F233B182AF}"/>
              </a:ext>
            </a:extLst>
          </p:cNvPr>
          <p:cNvCxnSpPr>
            <a:cxnSpLocks/>
          </p:cNvCxnSpPr>
          <p:nvPr/>
        </p:nvCxnSpPr>
        <p:spPr>
          <a:xfrm>
            <a:off x="5562130" y="3342688"/>
            <a:ext cx="0" cy="327312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4217A2D7-4C43-57F8-36B5-25BF38AF2C9E}"/>
              </a:ext>
            </a:extLst>
          </p:cNvPr>
          <p:cNvSpPr txBox="1"/>
          <p:nvPr/>
        </p:nvSpPr>
        <p:spPr>
          <a:xfrm>
            <a:off x="5645490" y="3342688"/>
            <a:ext cx="33982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Tray </a:t>
            </a:r>
            <a:r>
              <a:rPr lang="de-DE" sz="1400" dirty="0" err="1"/>
              <a:t>solenoid</a:t>
            </a:r>
            <a:r>
              <a:rPr lang="de-DE" sz="1400" dirty="0"/>
              <a:t> </a:t>
            </a:r>
            <a:r>
              <a:rPr lang="de-DE" sz="1400" dirty="0" err="1"/>
              <a:t>armature</a:t>
            </a:r>
            <a:endParaRPr lang="de-DE" sz="1400" dirty="0"/>
          </a:p>
          <a:p>
            <a:r>
              <a:rPr lang="de-DE" sz="800" dirty="0">
                <a:solidFill>
                  <a:schemeClr val="bg1">
                    <a:lumMod val="50000"/>
                  </a:schemeClr>
                </a:solidFill>
              </a:rPr>
              <a:t>KLT 4280, Trays 6000.155.893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7E7D0C0-F824-3B3D-D235-2B7C1146E449}"/>
              </a:ext>
            </a:extLst>
          </p:cNvPr>
          <p:cNvSpPr txBox="1"/>
          <p:nvPr/>
        </p:nvSpPr>
        <p:spPr>
          <a:xfrm>
            <a:off x="1880882" y="3533938"/>
            <a:ext cx="35581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Tray aus </a:t>
            </a:r>
            <a:r>
              <a:rPr lang="de-DE" sz="1000" dirty="0" err="1"/>
              <a:t>plastic</a:t>
            </a:r>
            <a:endParaRPr lang="de-DE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44 </a:t>
            </a:r>
            <a:r>
              <a:rPr lang="de-DE" sz="1000" dirty="0" err="1"/>
              <a:t>parts</a:t>
            </a:r>
            <a:r>
              <a:rPr lang="de-DE" sz="1000" dirty="0"/>
              <a:t>, 329x238 mmm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Parts on </a:t>
            </a:r>
            <a:r>
              <a:rPr lang="de-DE" sz="1000" dirty="0" err="1"/>
              <a:t>the</a:t>
            </a:r>
            <a:r>
              <a:rPr lang="de-DE" sz="1000" dirty="0"/>
              <a:t> B-</a:t>
            </a:r>
            <a:r>
              <a:rPr lang="de-DE" sz="1000" dirty="0" err="1"/>
              <a:t>surface</a:t>
            </a:r>
            <a:r>
              <a:rPr lang="de-DE" sz="1000" dirty="0"/>
              <a:t> in </a:t>
            </a:r>
            <a:r>
              <a:rPr lang="de-DE" sz="1000" dirty="0" err="1"/>
              <a:t>tray</a:t>
            </a:r>
            <a:endParaRPr lang="de-DE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Ø3,9mm </a:t>
            </a:r>
            <a:r>
              <a:rPr lang="de-DE" sz="1000" dirty="0" err="1"/>
              <a:t>centering</a:t>
            </a:r>
            <a:r>
              <a:rPr lang="de-DE" sz="1000" dirty="0"/>
              <a:t> </a:t>
            </a:r>
            <a:r>
              <a:rPr lang="de-DE" sz="1000" dirty="0" err="1"/>
              <a:t>pin</a:t>
            </a:r>
            <a:r>
              <a:rPr lang="de-DE" sz="1000" dirty="0"/>
              <a:t> </a:t>
            </a:r>
            <a:r>
              <a:rPr lang="de-DE" sz="1000" dirty="0" err="1"/>
              <a:t>for</a:t>
            </a:r>
            <a:r>
              <a:rPr lang="de-DE" sz="1000" dirty="0"/>
              <a:t> all </a:t>
            </a:r>
            <a:r>
              <a:rPr lang="de-DE" sz="1000" dirty="0" err="1"/>
              <a:t>kind</a:t>
            </a:r>
            <a:r>
              <a:rPr lang="de-DE" sz="1000" dirty="0"/>
              <a:t>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err="1"/>
              <a:t>plates</a:t>
            </a:r>
            <a:endParaRPr lang="de-DE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/>
              <a:t>Poka Yoke on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right</a:t>
            </a:r>
            <a:r>
              <a:rPr lang="de-DE" sz="1000" dirty="0"/>
              <a:t> </a:t>
            </a:r>
            <a:r>
              <a:rPr lang="de-DE" sz="1000" dirty="0" err="1"/>
              <a:t>side</a:t>
            </a:r>
            <a:endParaRPr lang="de-DE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 err="1"/>
              <a:t>Compatible</a:t>
            </a:r>
            <a:r>
              <a:rPr lang="de-DE" sz="1000" dirty="0"/>
              <a:t> </a:t>
            </a:r>
            <a:r>
              <a:rPr lang="de-DE" sz="1000" dirty="0" err="1"/>
              <a:t>with</a:t>
            </a:r>
            <a:r>
              <a:rPr lang="de-DE" sz="1000" dirty="0"/>
              <a:t> </a:t>
            </a:r>
            <a:r>
              <a:rPr lang="de-DE" sz="1000" dirty="0" err="1"/>
              <a:t>conveyor</a:t>
            </a:r>
            <a:r>
              <a:rPr lang="de-DE" sz="1000" dirty="0"/>
              <a:t> </a:t>
            </a: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D585DB7C-F636-DAE9-7492-28320ECB6C08}"/>
              </a:ext>
            </a:extLst>
          </p:cNvPr>
          <p:cNvGrpSpPr/>
          <p:nvPr/>
        </p:nvGrpSpPr>
        <p:grpSpPr>
          <a:xfrm>
            <a:off x="2202856" y="4890597"/>
            <a:ext cx="1837346" cy="1344548"/>
            <a:chOff x="2202856" y="5103029"/>
            <a:chExt cx="1837346" cy="1344548"/>
          </a:xfrm>
        </p:grpSpPr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F8CC7823-1934-2B9C-187C-A8341425F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bg1">
                  <a:lumMod val="95000"/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2202856" y="5103029"/>
              <a:ext cx="1837346" cy="1344548"/>
            </a:xfrm>
            <a:prstGeom prst="rect">
              <a:avLst/>
            </a:prstGeom>
          </p:spPr>
        </p:pic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30CAF9AE-B405-6A83-3743-C169C8DD599F}"/>
                </a:ext>
              </a:extLst>
            </p:cNvPr>
            <p:cNvSpPr/>
            <p:nvPr/>
          </p:nvSpPr>
          <p:spPr>
            <a:xfrm>
              <a:off x="3911286" y="5114741"/>
              <a:ext cx="106175" cy="1315556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pic>
        <p:nvPicPr>
          <p:cNvPr id="22" name="Grafik 21">
            <a:extLst>
              <a:ext uri="{FF2B5EF4-FFF2-40B4-BE49-F238E27FC236}">
                <a16:creationId xmlns:a16="http://schemas.microsoft.com/office/drawing/2014/main" id="{A0B617B9-6DBD-CE25-71ED-DE3922F6B91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</a:blip>
          <a:srcRect r="4018" b="1035"/>
          <a:stretch/>
        </p:blipFill>
        <p:spPr>
          <a:xfrm>
            <a:off x="6516285" y="3789498"/>
            <a:ext cx="1352256" cy="974210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5B952383-ABDB-CD96-981A-9CB11801C47C}"/>
              </a:ext>
            </a:extLst>
          </p:cNvPr>
          <p:cNvSpPr txBox="1"/>
          <p:nvPr/>
        </p:nvSpPr>
        <p:spPr>
          <a:xfrm>
            <a:off x="5711564" y="4262307"/>
            <a:ext cx="1013391" cy="217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1" dirty="0">
                <a:solidFill>
                  <a:schemeClr val="bg1">
                    <a:lumMod val="50000"/>
                  </a:schemeClr>
                </a:solidFill>
              </a:rPr>
              <a:t>KLT 4280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39EB769-F846-8FCD-7639-50841C0FCC53}"/>
              </a:ext>
            </a:extLst>
          </p:cNvPr>
          <p:cNvSpPr txBox="1"/>
          <p:nvPr/>
        </p:nvSpPr>
        <p:spPr>
          <a:xfrm>
            <a:off x="5674738" y="5074476"/>
            <a:ext cx="37740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1" dirty="0">
                <a:solidFill>
                  <a:schemeClr val="bg1">
                    <a:lumMod val="50000"/>
                  </a:schemeClr>
                </a:solidFill>
              </a:rPr>
              <a:t>Trays 6000.155.893</a:t>
            </a:r>
          </a:p>
          <a:p>
            <a:pPr marL="171450" indent="-171450">
              <a:buFontTx/>
              <a:buChar char="-"/>
            </a:pPr>
            <a:r>
              <a:rPr lang="de-DE" sz="800" dirty="0" err="1">
                <a:solidFill>
                  <a:schemeClr val="bg1">
                    <a:lumMod val="50000"/>
                  </a:schemeClr>
                </a:solidFill>
              </a:rPr>
              <a:t>We</a:t>
            </a:r>
            <a:r>
              <a:rPr lang="de-DE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bg1">
                    <a:lumMod val="50000"/>
                  </a:schemeClr>
                </a:solidFill>
              </a:rPr>
              <a:t>don‘t</a:t>
            </a:r>
            <a:r>
              <a:rPr lang="de-DE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bg1">
                    <a:lumMod val="50000"/>
                  </a:schemeClr>
                </a:solidFill>
              </a:rPr>
              <a:t>have</a:t>
            </a:r>
            <a:r>
              <a:rPr lang="de-DE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bg1">
                    <a:lumMod val="50000"/>
                  </a:schemeClr>
                </a:solidFill>
              </a:rPr>
              <a:t>any</a:t>
            </a:r>
            <a:r>
              <a:rPr lang="de-DE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bg1">
                    <a:lumMod val="50000"/>
                  </a:schemeClr>
                </a:solidFill>
              </a:rPr>
              <a:t>information</a:t>
            </a:r>
            <a:r>
              <a:rPr lang="de-DE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bg1">
                    <a:lumMod val="50000"/>
                  </a:schemeClr>
                </a:solidFill>
              </a:rPr>
              <a:t>about</a:t>
            </a:r>
            <a:r>
              <a:rPr lang="de-DE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800" dirty="0" err="1">
                <a:solidFill>
                  <a:schemeClr val="bg1">
                    <a:lumMod val="50000"/>
                  </a:schemeClr>
                </a:solidFill>
              </a:rPr>
              <a:t>your</a:t>
            </a:r>
            <a:r>
              <a:rPr lang="de-DE" sz="800" dirty="0">
                <a:solidFill>
                  <a:schemeClr val="bg1">
                    <a:lumMod val="50000"/>
                  </a:schemeClr>
                </a:solidFill>
              </a:rPr>
              <a:t> Tray</a:t>
            </a:r>
          </a:p>
          <a:p>
            <a:pPr marL="171450" indent="-171450">
              <a:buFontTx/>
              <a:buChar char="-"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We assume that the tray can be automated and can be traded automatically in the KLT</a:t>
            </a:r>
          </a:p>
          <a:p>
            <a:pPr marL="171450" indent="-171450">
              <a:buFontTx/>
              <a:buChar char="-"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We have experience with similar technology for Bosch Rexroth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</a:rPr>
              <a:t>Elchingen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Picture shows the multifunctional gripper for Bosch Rexroth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</a:rPr>
              <a:t>Elchingen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  <a:p>
            <a:pPr marL="360000" lvl="1" indent="-171450">
              <a:buFontTx/>
              <a:buChar char="-"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Grip KLT</a:t>
            </a:r>
          </a:p>
          <a:p>
            <a:pPr marL="360000" lvl="1" indent="-171450">
              <a:buFontTx/>
              <a:buChar char="-"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Grip and handle “black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</a:rPr>
              <a:t>palett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” inside KLT</a:t>
            </a:r>
          </a:p>
          <a:p>
            <a:pPr marL="360000" lvl="1" indent="-171450">
              <a:buFontTx/>
              <a:buChar char="-"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Grip and place cover on KLT</a:t>
            </a:r>
          </a:p>
          <a:p>
            <a:pPr marL="360000" lvl="1" indent="-171450">
              <a:buFontTx/>
              <a:buChar char="-"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The gripper has a pneumatic spring system for</a:t>
            </a:r>
          </a:p>
          <a:p>
            <a:pPr marL="540000" lvl="2" indent="-171450">
              <a:buFontTx/>
              <a:buChar char="-"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Exact positioning on pallet-stack</a:t>
            </a:r>
          </a:p>
          <a:p>
            <a:pPr marL="540000" lvl="2" indent="-171450">
              <a:buFontTx/>
              <a:buChar char="-"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Emergency stop situation for potential collision</a:t>
            </a:r>
            <a:endParaRPr lang="de-DE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21240501-1CD2-4432-6B18-C03C2A60D3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8233" y="3506424"/>
            <a:ext cx="2176288" cy="271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825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fik 36">
            <a:extLst>
              <a:ext uri="{FF2B5EF4-FFF2-40B4-BE49-F238E27FC236}">
                <a16:creationId xmlns:a16="http://schemas.microsoft.com/office/drawing/2014/main" id="{22B093A9-9CBF-0A54-4C84-ECBFE3851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7709" y="4520965"/>
            <a:ext cx="1018734" cy="1440000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94E268D6-542F-6372-C5A9-59629570948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63955" y="1558019"/>
            <a:ext cx="1049501" cy="148948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AD6DBB0-CDAE-FB46-1542-A3D34F55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Required</a:t>
            </a:r>
            <a:r>
              <a:rPr lang="de-DE" dirty="0"/>
              <a:t> </a:t>
            </a:r>
            <a:r>
              <a:rPr lang="de-DE" dirty="0" err="1"/>
              <a:t>Processes</a:t>
            </a:r>
            <a:r>
              <a:rPr lang="de-DE" dirty="0"/>
              <a:t> V2.1</a:t>
            </a:r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B6D3EE5D-2301-CC3D-6B54-1F96EE4694B6}"/>
              </a:ext>
            </a:extLst>
          </p:cNvPr>
          <p:cNvCxnSpPr>
            <a:cxnSpLocks/>
          </p:cNvCxnSpPr>
          <p:nvPr/>
        </p:nvCxnSpPr>
        <p:spPr>
          <a:xfrm flipH="1">
            <a:off x="3432258" y="3213772"/>
            <a:ext cx="797119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1" name="Grafik 40">
            <a:extLst>
              <a:ext uri="{FF2B5EF4-FFF2-40B4-BE49-F238E27FC236}">
                <a16:creationId xmlns:a16="http://schemas.microsoft.com/office/drawing/2014/main" id="{256D3BF3-A161-F725-931A-168515FCFA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4544" y="3981290"/>
            <a:ext cx="735610" cy="700244"/>
          </a:xfrm>
          <a:prstGeom prst="rect">
            <a:avLst/>
          </a:prstGeom>
        </p:spPr>
      </p:pic>
      <p:sp>
        <p:nvSpPr>
          <p:cNvPr id="51" name="Ellipse 50">
            <a:extLst>
              <a:ext uri="{FF2B5EF4-FFF2-40B4-BE49-F238E27FC236}">
                <a16:creationId xmlns:a16="http://schemas.microsoft.com/office/drawing/2014/main" id="{BB1AE31A-F848-13DF-0482-76542FAD88B4}"/>
              </a:ext>
            </a:extLst>
          </p:cNvPr>
          <p:cNvSpPr/>
          <p:nvPr/>
        </p:nvSpPr>
        <p:spPr>
          <a:xfrm rot="16200000">
            <a:off x="3353725" y="911706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1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AD1EFFC9-C132-7162-BE94-1E7A0018811D}"/>
              </a:ext>
            </a:extLst>
          </p:cNvPr>
          <p:cNvSpPr/>
          <p:nvPr/>
        </p:nvSpPr>
        <p:spPr>
          <a:xfrm rot="16200000">
            <a:off x="4220332" y="912354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2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AC3CFBBB-42F7-688F-8831-C09B6781768A}"/>
              </a:ext>
            </a:extLst>
          </p:cNvPr>
          <p:cNvSpPr/>
          <p:nvPr/>
        </p:nvSpPr>
        <p:spPr>
          <a:xfrm rot="16200000">
            <a:off x="5092487" y="909837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3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FC326FD0-850A-BC06-1795-0F82F612EF4C}"/>
              </a:ext>
            </a:extLst>
          </p:cNvPr>
          <p:cNvSpPr/>
          <p:nvPr/>
        </p:nvSpPr>
        <p:spPr>
          <a:xfrm rot="16200000">
            <a:off x="5959094" y="904749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4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8B44CECF-6E51-CDB3-3604-0AD5F8AB1678}"/>
              </a:ext>
            </a:extLst>
          </p:cNvPr>
          <p:cNvSpPr/>
          <p:nvPr/>
        </p:nvSpPr>
        <p:spPr>
          <a:xfrm rot="16200000">
            <a:off x="6834777" y="916417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5</a:t>
            </a:r>
          </a:p>
        </p:txBody>
      </p:sp>
      <p:sp>
        <p:nvSpPr>
          <p:cNvPr id="65" name="Pfeil: nach unten 64">
            <a:extLst>
              <a:ext uri="{FF2B5EF4-FFF2-40B4-BE49-F238E27FC236}">
                <a16:creationId xmlns:a16="http://schemas.microsoft.com/office/drawing/2014/main" id="{5D5F214A-74BD-7371-2521-26C5980E71A7}"/>
              </a:ext>
            </a:extLst>
          </p:cNvPr>
          <p:cNvSpPr/>
          <p:nvPr/>
        </p:nvSpPr>
        <p:spPr>
          <a:xfrm>
            <a:off x="9459264" y="1404282"/>
            <a:ext cx="267498" cy="246741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1C57819-2077-36A3-3B43-88271F301CF0}"/>
              </a:ext>
            </a:extLst>
          </p:cNvPr>
          <p:cNvSpPr/>
          <p:nvPr/>
        </p:nvSpPr>
        <p:spPr>
          <a:xfrm rot="16200000">
            <a:off x="7703553" y="919332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6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307258DB-AC95-A68A-FA6C-C7B5816DA9DB}"/>
              </a:ext>
            </a:extLst>
          </p:cNvPr>
          <p:cNvSpPr/>
          <p:nvPr/>
        </p:nvSpPr>
        <p:spPr>
          <a:xfrm rot="16200000">
            <a:off x="8564545" y="916417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7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761DC2A3-FDC6-C8FC-5FAF-CA2AD9DD1E3C}"/>
              </a:ext>
            </a:extLst>
          </p:cNvPr>
          <p:cNvSpPr/>
          <p:nvPr/>
        </p:nvSpPr>
        <p:spPr>
          <a:xfrm rot="16200000">
            <a:off x="9449223" y="921921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8</a:t>
            </a: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3AFCF60D-F666-668A-353F-701C294BC66E}"/>
              </a:ext>
            </a:extLst>
          </p:cNvPr>
          <p:cNvGrpSpPr>
            <a:grpSpLocks noChangeAspect="1"/>
          </p:cNvGrpSpPr>
          <p:nvPr/>
        </p:nvGrpSpPr>
        <p:grpSpPr>
          <a:xfrm>
            <a:off x="6495029" y="1376676"/>
            <a:ext cx="975714" cy="1559001"/>
            <a:chOff x="6531969" y="1217873"/>
            <a:chExt cx="1147754" cy="1833888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68D57593-B8E2-F1BE-0591-B7720209C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531969" y="1217873"/>
              <a:ext cx="1072423" cy="789359"/>
            </a:xfrm>
            <a:prstGeom prst="rect">
              <a:avLst/>
            </a:prstGeom>
          </p:spPr>
        </p:pic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E8A10B4D-533A-D99B-8B86-8D32D814FA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600437" y="1764626"/>
              <a:ext cx="1033992" cy="761071"/>
            </a:xfrm>
            <a:prstGeom prst="rect">
              <a:avLst/>
            </a:prstGeom>
          </p:spPr>
        </p:pic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EF73BCC7-4935-F391-69A5-4847A3A3F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668228" y="2307249"/>
              <a:ext cx="1011495" cy="744512"/>
            </a:xfrm>
            <a:prstGeom prst="rect">
              <a:avLst/>
            </a:prstGeom>
          </p:spPr>
        </p:pic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65C6FA82-2912-FCF4-64AC-090C31497D5A}"/>
                </a:ext>
              </a:extLst>
            </p:cNvPr>
            <p:cNvSpPr/>
            <p:nvPr/>
          </p:nvSpPr>
          <p:spPr>
            <a:xfrm rot="16200000">
              <a:off x="7345570" y="2564038"/>
              <a:ext cx="284850" cy="29287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de-DE" sz="800" dirty="0"/>
                <a:t>III</a:t>
              </a:r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7CB64F6E-F101-B306-9EF9-ED46055E5A56}"/>
                </a:ext>
              </a:extLst>
            </p:cNvPr>
            <p:cNvSpPr/>
            <p:nvPr/>
          </p:nvSpPr>
          <p:spPr>
            <a:xfrm rot="16200000">
              <a:off x="7342891" y="2026707"/>
              <a:ext cx="284850" cy="29287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de-DE" sz="800" dirty="0"/>
                <a:t>II</a:t>
              </a:r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308BA653-0919-8213-D151-398CDA0751D1}"/>
                </a:ext>
              </a:extLst>
            </p:cNvPr>
            <p:cNvSpPr/>
            <p:nvPr/>
          </p:nvSpPr>
          <p:spPr>
            <a:xfrm rot="16200000">
              <a:off x="7342891" y="1526577"/>
              <a:ext cx="284850" cy="29287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de-DE" sz="800" dirty="0"/>
                <a:t>I</a:t>
              </a:r>
            </a:p>
          </p:txBody>
        </p:sp>
      </p:grpSp>
      <p:pic>
        <p:nvPicPr>
          <p:cNvPr id="15" name="Grafik 14">
            <a:extLst>
              <a:ext uri="{FF2B5EF4-FFF2-40B4-BE49-F238E27FC236}">
                <a16:creationId xmlns:a16="http://schemas.microsoft.com/office/drawing/2014/main" id="{34B9F38A-B03A-E5CA-869B-96B79238B48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14152" y="2169245"/>
            <a:ext cx="1050280" cy="447793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4F9FB9A2-1A05-5A96-C1FA-A188AEB427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7757701" y="1707307"/>
            <a:ext cx="159966" cy="1286728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94C04A88-6D4A-2FF6-053A-0DE5A2CDAC1F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65251" y="1366661"/>
            <a:ext cx="1050280" cy="447793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8B6D22D7-D235-1113-D1E0-FA69BCC95A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8623964" y="1709959"/>
            <a:ext cx="159966" cy="1286728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56DE9246-C56B-B5A8-46EE-D5D0596A31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7004" y="3981290"/>
            <a:ext cx="733573" cy="698305"/>
          </a:xfrm>
          <a:prstGeom prst="rect">
            <a:avLst/>
          </a:prstGeom>
        </p:spPr>
      </p:pic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DCD5BBAF-F298-A0E4-A2BC-AC106D1766C5}"/>
              </a:ext>
            </a:extLst>
          </p:cNvPr>
          <p:cNvCxnSpPr/>
          <p:nvPr/>
        </p:nvCxnSpPr>
        <p:spPr>
          <a:xfrm>
            <a:off x="7837684" y="1370157"/>
            <a:ext cx="0" cy="298343"/>
          </a:xfrm>
          <a:prstGeom prst="straightConnector1">
            <a:avLst/>
          </a:prstGeom>
          <a:ln w="9525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1F52509F-B87B-52E4-3F59-86FE90318E56}"/>
              </a:ext>
            </a:extLst>
          </p:cNvPr>
          <p:cNvCxnSpPr>
            <a:cxnSpLocks/>
          </p:cNvCxnSpPr>
          <p:nvPr/>
        </p:nvCxnSpPr>
        <p:spPr>
          <a:xfrm>
            <a:off x="8138760" y="1571122"/>
            <a:ext cx="370502" cy="0"/>
          </a:xfrm>
          <a:prstGeom prst="straightConnector1">
            <a:avLst/>
          </a:prstGeom>
          <a:ln w="9525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C513272C-43FE-1E37-7E95-66C215892273}"/>
              </a:ext>
            </a:extLst>
          </p:cNvPr>
          <p:cNvCxnSpPr>
            <a:cxnSpLocks/>
          </p:cNvCxnSpPr>
          <p:nvPr/>
        </p:nvCxnSpPr>
        <p:spPr>
          <a:xfrm flipV="1">
            <a:off x="4359030" y="1920409"/>
            <a:ext cx="0" cy="283278"/>
          </a:xfrm>
          <a:prstGeom prst="straightConnector1">
            <a:avLst/>
          </a:prstGeom>
          <a:ln w="9525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70" name="Grafik 69">
            <a:extLst>
              <a:ext uri="{FF2B5EF4-FFF2-40B4-BE49-F238E27FC236}">
                <a16:creationId xmlns:a16="http://schemas.microsoft.com/office/drawing/2014/main" id="{34B0FAE9-698B-3170-03AC-DF14C4B1816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93299" y="1677858"/>
            <a:ext cx="1050280" cy="447793"/>
          </a:xfrm>
          <a:prstGeom prst="rect">
            <a:avLst/>
          </a:prstGeom>
        </p:spPr>
      </p:pic>
      <p:sp>
        <p:nvSpPr>
          <p:cNvPr id="80" name="Pfeil: nach unten 79">
            <a:extLst>
              <a:ext uri="{FF2B5EF4-FFF2-40B4-BE49-F238E27FC236}">
                <a16:creationId xmlns:a16="http://schemas.microsoft.com/office/drawing/2014/main" id="{8A56C902-79AC-1B27-006F-FCB546C65357}"/>
              </a:ext>
            </a:extLst>
          </p:cNvPr>
          <p:cNvSpPr/>
          <p:nvPr/>
        </p:nvSpPr>
        <p:spPr>
          <a:xfrm rot="11397361">
            <a:off x="4989944" y="1958502"/>
            <a:ext cx="158604" cy="316993"/>
          </a:xfrm>
          <a:prstGeom prst="downArrow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pic>
        <p:nvPicPr>
          <p:cNvPr id="81" name="Grafik 80">
            <a:extLst>
              <a:ext uri="{FF2B5EF4-FFF2-40B4-BE49-F238E27FC236}">
                <a16:creationId xmlns:a16="http://schemas.microsoft.com/office/drawing/2014/main" id="{BB6C69C5-A63B-A4D2-A414-F7DCC974A06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5822" t="1" r="31537" b="24700"/>
          <a:stretch/>
        </p:blipFill>
        <p:spPr>
          <a:xfrm>
            <a:off x="5709619" y="1888154"/>
            <a:ext cx="758919" cy="746426"/>
          </a:xfrm>
          <a:prstGeom prst="rect">
            <a:avLst/>
          </a:prstGeom>
        </p:spPr>
      </p:pic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96E96038-2F2C-12E3-7E8A-BFCFB2E4FE6C}"/>
              </a:ext>
            </a:extLst>
          </p:cNvPr>
          <p:cNvCxnSpPr>
            <a:cxnSpLocks/>
          </p:cNvCxnSpPr>
          <p:nvPr/>
        </p:nvCxnSpPr>
        <p:spPr>
          <a:xfrm>
            <a:off x="5944650" y="2196608"/>
            <a:ext cx="264469" cy="0"/>
          </a:xfrm>
          <a:prstGeom prst="straightConnector1">
            <a:avLst/>
          </a:prstGeom>
          <a:ln w="3175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DF9CD545-5422-1DD1-7C14-11EA2DB1FCC5}"/>
              </a:ext>
            </a:extLst>
          </p:cNvPr>
          <p:cNvCxnSpPr>
            <a:cxnSpLocks/>
          </p:cNvCxnSpPr>
          <p:nvPr/>
        </p:nvCxnSpPr>
        <p:spPr>
          <a:xfrm>
            <a:off x="5944650" y="2317222"/>
            <a:ext cx="264469" cy="0"/>
          </a:xfrm>
          <a:prstGeom prst="straightConnector1">
            <a:avLst/>
          </a:prstGeom>
          <a:ln w="3175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19DE8AA6-3A16-7F3C-6E2A-80AE4F905971}"/>
              </a:ext>
            </a:extLst>
          </p:cNvPr>
          <p:cNvCxnSpPr>
            <a:cxnSpLocks/>
          </p:cNvCxnSpPr>
          <p:nvPr/>
        </p:nvCxnSpPr>
        <p:spPr>
          <a:xfrm>
            <a:off x="5944650" y="2457672"/>
            <a:ext cx="264469" cy="0"/>
          </a:xfrm>
          <a:prstGeom prst="straightConnector1">
            <a:avLst/>
          </a:prstGeom>
          <a:ln w="3175"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88" name="Grafik 87">
            <a:extLst>
              <a:ext uri="{FF2B5EF4-FFF2-40B4-BE49-F238E27FC236}">
                <a16:creationId xmlns:a16="http://schemas.microsoft.com/office/drawing/2014/main" id="{456F42C7-2FAD-A77B-B9CF-3B9BBA420B4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48230" y="1655247"/>
            <a:ext cx="1050280" cy="447793"/>
          </a:xfrm>
          <a:prstGeom prst="rect">
            <a:avLst/>
          </a:prstGeom>
        </p:spPr>
      </p:pic>
      <p:pic>
        <p:nvPicPr>
          <p:cNvPr id="89" name="Grafik 88">
            <a:extLst>
              <a:ext uri="{FF2B5EF4-FFF2-40B4-BE49-F238E27FC236}">
                <a16:creationId xmlns:a16="http://schemas.microsoft.com/office/drawing/2014/main" id="{C22A6D61-9DE0-38D7-CA05-3115802A80F5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9514692" y="1715701"/>
            <a:ext cx="159966" cy="1286728"/>
          </a:xfrm>
          <a:prstGeom prst="rect">
            <a:avLst/>
          </a:prstGeom>
        </p:spPr>
      </p:pic>
      <p:pic>
        <p:nvPicPr>
          <p:cNvPr id="90" name="Grafik 89">
            <a:extLst>
              <a:ext uri="{FF2B5EF4-FFF2-40B4-BE49-F238E27FC236}">
                <a16:creationId xmlns:a16="http://schemas.microsoft.com/office/drawing/2014/main" id="{06CEFB9A-16D6-4127-C864-5CBBD0CAA14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37029" y="4027870"/>
            <a:ext cx="1050280" cy="447793"/>
          </a:xfrm>
          <a:prstGeom prst="rect">
            <a:avLst/>
          </a:prstGeom>
        </p:spPr>
      </p:pic>
      <p:pic>
        <p:nvPicPr>
          <p:cNvPr id="91" name="Grafik 90">
            <a:extLst>
              <a:ext uri="{FF2B5EF4-FFF2-40B4-BE49-F238E27FC236}">
                <a16:creationId xmlns:a16="http://schemas.microsoft.com/office/drawing/2014/main" id="{F7A09332-5458-8322-1BFA-EA8057CEA31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3403491" y="4088324"/>
            <a:ext cx="159966" cy="1286728"/>
          </a:xfrm>
          <a:prstGeom prst="rect">
            <a:avLst/>
          </a:prstGeom>
        </p:spPr>
      </p:pic>
      <p:sp>
        <p:nvSpPr>
          <p:cNvPr id="92" name="Pfeil: nach unten 91">
            <a:extLst>
              <a:ext uri="{FF2B5EF4-FFF2-40B4-BE49-F238E27FC236}">
                <a16:creationId xmlns:a16="http://schemas.microsoft.com/office/drawing/2014/main" id="{5C124E1D-0D03-2107-5263-B7EF3CA90613}"/>
              </a:ext>
            </a:extLst>
          </p:cNvPr>
          <p:cNvSpPr/>
          <p:nvPr/>
        </p:nvSpPr>
        <p:spPr>
          <a:xfrm rot="19914626">
            <a:off x="3212702" y="3800118"/>
            <a:ext cx="158604" cy="316993"/>
          </a:xfrm>
          <a:prstGeom prst="downArrow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71AC19AA-66B8-87E2-1111-2C746839EB45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89317" y="4142837"/>
            <a:ext cx="1050280" cy="447793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13A0E790-900C-232E-9278-01012AE7B43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10355779" y="4203291"/>
            <a:ext cx="159966" cy="1286728"/>
          </a:xfrm>
          <a:prstGeom prst="rect">
            <a:avLst/>
          </a:prstGeom>
        </p:spPr>
      </p:pic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FF00084B-58BA-AEAB-C962-C1E1536A9597}"/>
              </a:ext>
            </a:extLst>
          </p:cNvPr>
          <p:cNvCxnSpPr>
            <a:cxnSpLocks/>
          </p:cNvCxnSpPr>
          <p:nvPr/>
        </p:nvCxnSpPr>
        <p:spPr>
          <a:xfrm flipV="1">
            <a:off x="10436874" y="3855579"/>
            <a:ext cx="0" cy="283278"/>
          </a:xfrm>
          <a:prstGeom prst="straightConnector1">
            <a:avLst/>
          </a:prstGeom>
          <a:ln w="9525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6" name="Textfeld 95">
            <a:extLst>
              <a:ext uri="{FF2B5EF4-FFF2-40B4-BE49-F238E27FC236}">
                <a16:creationId xmlns:a16="http://schemas.microsoft.com/office/drawing/2014/main" id="{885C2F63-A35B-6028-2E8D-5A7D4992FC56}"/>
              </a:ext>
            </a:extLst>
          </p:cNvPr>
          <p:cNvSpPr txBox="1"/>
          <p:nvPr/>
        </p:nvSpPr>
        <p:spPr>
          <a:xfrm rot="19311031">
            <a:off x="7277333" y="4126366"/>
            <a:ext cx="11328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 err="1"/>
              <a:t>empty</a:t>
            </a:r>
            <a:endParaRPr lang="de-DE" sz="1000" dirty="0"/>
          </a:p>
        </p:txBody>
      </p:sp>
      <p:sp>
        <p:nvSpPr>
          <p:cNvPr id="99" name="Gewitterblitz 98">
            <a:extLst>
              <a:ext uri="{FF2B5EF4-FFF2-40B4-BE49-F238E27FC236}">
                <a16:creationId xmlns:a16="http://schemas.microsoft.com/office/drawing/2014/main" id="{78FC59AC-EED3-C9FB-C2F4-1A94E2CE96CB}"/>
              </a:ext>
            </a:extLst>
          </p:cNvPr>
          <p:cNvSpPr/>
          <p:nvPr/>
        </p:nvSpPr>
        <p:spPr>
          <a:xfrm rot="2345450">
            <a:off x="4344582" y="3826066"/>
            <a:ext cx="160735" cy="390638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100" name="Rechteck 99">
            <a:extLst>
              <a:ext uri="{FF2B5EF4-FFF2-40B4-BE49-F238E27FC236}">
                <a16:creationId xmlns:a16="http://schemas.microsoft.com/office/drawing/2014/main" id="{6418AA1A-8CA9-E824-027E-D2CBBDF33AB9}"/>
              </a:ext>
            </a:extLst>
          </p:cNvPr>
          <p:cNvSpPr/>
          <p:nvPr/>
        </p:nvSpPr>
        <p:spPr>
          <a:xfrm>
            <a:off x="5069366" y="4067704"/>
            <a:ext cx="306611" cy="27299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461C68-E863-0BCB-F954-51FAE2DF1E56}"/>
              </a:ext>
            </a:extLst>
          </p:cNvPr>
          <p:cNvGrpSpPr>
            <a:grpSpLocks noChangeAspect="1"/>
          </p:cNvGrpSpPr>
          <p:nvPr/>
        </p:nvGrpSpPr>
        <p:grpSpPr>
          <a:xfrm>
            <a:off x="3057748" y="1580312"/>
            <a:ext cx="847555" cy="620230"/>
            <a:chOff x="2202856" y="5103029"/>
            <a:chExt cx="1837346" cy="1344548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96A9B532-8BB2-7708-A117-2E22B9322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bg1">
                  <a:lumMod val="95000"/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2202856" y="5103029"/>
              <a:ext cx="1837346" cy="1344548"/>
            </a:xfrm>
            <a:prstGeom prst="rect">
              <a:avLst/>
            </a:prstGeom>
          </p:spPr>
        </p:pic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25808C3B-67AE-9106-6D53-A5C71F859E3B}"/>
                </a:ext>
              </a:extLst>
            </p:cNvPr>
            <p:cNvSpPr/>
            <p:nvPr/>
          </p:nvSpPr>
          <p:spPr>
            <a:xfrm>
              <a:off x="3911286" y="5114741"/>
              <a:ext cx="106175" cy="1315556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0" dirty="0" err="1"/>
            </a:p>
          </p:txBody>
        </p:sp>
      </p:grp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743AFB4F-A253-6DBB-A51D-F82A271D4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732051"/>
              </p:ext>
            </p:extLst>
          </p:nvPr>
        </p:nvGraphicFramePr>
        <p:xfrm>
          <a:off x="110888" y="839085"/>
          <a:ext cx="2884819" cy="481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108">
                  <a:extLst>
                    <a:ext uri="{9D8B030D-6E8A-4147-A177-3AD203B41FA5}">
                      <a16:colId xmlns:a16="http://schemas.microsoft.com/office/drawing/2014/main" val="566185741"/>
                    </a:ext>
                  </a:extLst>
                </a:gridCol>
                <a:gridCol w="2486711">
                  <a:extLst>
                    <a:ext uri="{9D8B030D-6E8A-4147-A177-3AD203B41FA5}">
                      <a16:colId xmlns:a16="http://schemas.microsoft.com/office/drawing/2014/main" val="611645751"/>
                    </a:ext>
                  </a:extLst>
                </a:gridCol>
              </a:tblGrid>
              <a:tr h="289124">
                <a:tc>
                  <a:txBody>
                    <a:bodyPr/>
                    <a:lstStyle/>
                    <a:p>
                      <a:endParaRPr lang="de-D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Processes</a:t>
                      </a:r>
                      <a:endParaRPr lang="de-DE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5254656"/>
                  </a:ext>
                </a:extLst>
              </a:tr>
              <a:tr h="217076">
                <a:tc>
                  <a:txBody>
                    <a:bodyPr/>
                    <a:lstStyle/>
                    <a:p>
                      <a:pPr algn="ctr"/>
                      <a:r>
                        <a:rPr lang="de-DE" sz="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/>
                        <a:t>feeding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trays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plate</a:t>
                      </a:r>
                      <a:endParaRPr lang="de-DE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740491"/>
                  </a:ext>
                </a:extLst>
              </a:tr>
              <a:tr h="217076">
                <a:tc>
                  <a:txBody>
                    <a:bodyPr/>
                    <a:lstStyle/>
                    <a:p>
                      <a:pPr algn="ctr"/>
                      <a:r>
                        <a:rPr lang="de-DE" sz="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/>
                        <a:t>loading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plate</a:t>
                      </a:r>
                      <a:endParaRPr lang="de-DE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652857"/>
                  </a:ext>
                </a:extLst>
              </a:tr>
              <a:tr h="217076">
                <a:tc>
                  <a:txBody>
                    <a:bodyPr/>
                    <a:lstStyle/>
                    <a:p>
                      <a:pPr algn="ctr"/>
                      <a:r>
                        <a:rPr lang="de-DE" sz="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/>
                        <a:t>plate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brushing</a:t>
                      </a:r>
                      <a:endParaRPr lang="de-DE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391173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 algn="ctr"/>
                      <a:r>
                        <a:rPr lang="de-DE" sz="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hole </a:t>
                      </a:r>
                      <a:r>
                        <a:rPr lang="de-DE" sz="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plate</a:t>
                      </a:r>
                      <a:r>
                        <a:rPr lang="de-DE" sz="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measurement</a:t>
                      </a:r>
                      <a:r>
                        <a:rPr lang="de-DE" sz="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de-DE" sz="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037003"/>
                  </a:ext>
                </a:extLst>
              </a:tr>
              <a:tr h="184929">
                <a:tc>
                  <a:txBody>
                    <a:bodyPr/>
                    <a:lstStyle/>
                    <a:p>
                      <a:pPr algn="ctr"/>
                      <a:r>
                        <a:rPr lang="de-DE" sz="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 err="1"/>
                        <a:t>feeding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trays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pins</a:t>
                      </a:r>
                      <a:endParaRPr lang="de-DE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096664"/>
                  </a:ext>
                </a:extLst>
              </a:tr>
              <a:tr h="184929">
                <a:tc>
                  <a:txBody>
                    <a:bodyPr/>
                    <a:lstStyle/>
                    <a:p>
                      <a:pPr algn="ctr"/>
                      <a:r>
                        <a:rPr lang="de-DE" sz="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 err="1"/>
                        <a:t>selection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needle</a:t>
                      </a:r>
                      <a:r>
                        <a:rPr lang="de-DE" sz="800" dirty="0"/>
                        <a:t>, </a:t>
                      </a:r>
                      <a:r>
                        <a:rPr lang="de-DE" sz="800" dirty="0" err="1"/>
                        <a:t>oiling</a:t>
                      </a:r>
                      <a:r>
                        <a:rPr lang="de-DE" sz="800" dirty="0"/>
                        <a:t> &amp; </a:t>
                      </a:r>
                      <a:r>
                        <a:rPr lang="de-DE" sz="800" dirty="0" err="1"/>
                        <a:t>loading</a:t>
                      </a:r>
                      <a:r>
                        <a:rPr lang="de-DE" sz="800" dirty="0"/>
                        <a:t> in </a:t>
                      </a:r>
                      <a:r>
                        <a:rPr lang="de-DE" sz="800" dirty="0" err="1"/>
                        <a:t>assembly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tool</a:t>
                      </a:r>
                      <a:endParaRPr lang="de-DE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846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8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/>
                        <a:t>loading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plate</a:t>
                      </a:r>
                      <a:r>
                        <a:rPr lang="de-DE" sz="800" dirty="0"/>
                        <a:t> in </a:t>
                      </a:r>
                      <a:r>
                        <a:rPr lang="de-DE" sz="800" dirty="0" err="1"/>
                        <a:t>assembly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tool</a:t>
                      </a:r>
                      <a:endParaRPr lang="de-DE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164672"/>
                  </a:ext>
                </a:extLst>
              </a:tr>
              <a:tr h="143633">
                <a:tc>
                  <a:txBody>
                    <a:bodyPr/>
                    <a:lstStyle/>
                    <a:p>
                      <a:pPr algn="ctr"/>
                      <a:r>
                        <a:rPr lang="de-DE" sz="8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/>
                        <a:t>press </a:t>
                      </a:r>
                      <a:r>
                        <a:rPr lang="de-DE" sz="800" dirty="0" err="1"/>
                        <a:t>fitting</a:t>
                      </a:r>
                      <a:endParaRPr lang="de-DE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990362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algn="ctr"/>
                      <a:r>
                        <a:rPr lang="de-DE" sz="8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/>
                        <a:t>runout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checking</a:t>
                      </a:r>
                      <a:endParaRPr lang="de-DE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5916"/>
                  </a:ext>
                </a:extLst>
              </a:tr>
              <a:tr h="155432">
                <a:tc>
                  <a:txBody>
                    <a:bodyPr/>
                    <a:lstStyle/>
                    <a:p>
                      <a:pPr algn="ctr"/>
                      <a:r>
                        <a:rPr lang="de-DE" sz="8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 err="1"/>
                        <a:t>length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checking</a:t>
                      </a:r>
                      <a:endParaRPr lang="de-DE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981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8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/>
                        <a:t>back </a:t>
                      </a:r>
                      <a:r>
                        <a:rPr lang="de-DE" sz="800" dirty="0" err="1"/>
                        <a:t>brushing</a:t>
                      </a:r>
                      <a:endParaRPr lang="de-DE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475464"/>
                  </a:ext>
                </a:extLst>
              </a:tr>
              <a:tr h="131835">
                <a:tc>
                  <a:txBody>
                    <a:bodyPr/>
                    <a:lstStyle/>
                    <a:p>
                      <a:pPr algn="ctr"/>
                      <a:r>
                        <a:rPr lang="de-DE" sz="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/>
                        <a:t>DMC </a:t>
                      </a:r>
                      <a:r>
                        <a:rPr lang="de-DE" sz="800" dirty="0" err="1"/>
                        <a:t>marking</a:t>
                      </a:r>
                      <a:r>
                        <a:rPr lang="de-DE" sz="800" dirty="0"/>
                        <a:t> (</a:t>
                      </a:r>
                      <a:r>
                        <a:rPr lang="de-DE" sz="800" dirty="0" err="1"/>
                        <a:t>option</a:t>
                      </a:r>
                      <a:r>
                        <a:rPr lang="de-DE" sz="8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894887"/>
                  </a:ext>
                </a:extLst>
              </a:tr>
              <a:tr h="131835">
                <a:tc>
                  <a:txBody>
                    <a:bodyPr/>
                    <a:lstStyle/>
                    <a:p>
                      <a:pPr algn="ctr"/>
                      <a:r>
                        <a:rPr lang="de-DE" sz="8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/>
                        <a:t>DMC </a:t>
                      </a:r>
                      <a:r>
                        <a:rPr lang="de-DE" sz="800" dirty="0" err="1"/>
                        <a:t>controlling</a:t>
                      </a:r>
                      <a:r>
                        <a:rPr lang="de-DE" sz="800" dirty="0"/>
                        <a:t> (</a:t>
                      </a:r>
                      <a:r>
                        <a:rPr lang="de-DE" sz="800" dirty="0" err="1"/>
                        <a:t>option</a:t>
                      </a:r>
                      <a:r>
                        <a:rPr lang="de-DE" sz="800" dirty="0"/>
                        <a:t>) &amp; AOI back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934690"/>
                  </a:ext>
                </a:extLst>
              </a:tr>
              <a:tr h="131835">
                <a:tc>
                  <a:txBody>
                    <a:bodyPr/>
                    <a:lstStyle/>
                    <a:p>
                      <a:pPr algn="ctr"/>
                      <a:r>
                        <a:rPr lang="de-DE" sz="8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/>
                        <a:t>AOI front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648104"/>
                  </a:ext>
                </a:extLst>
              </a:tr>
              <a:tr h="131835">
                <a:tc>
                  <a:txBody>
                    <a:bodyPr/>
                    <a:lstStyle/>
                    <a:p>
                      <a:pPr algn="ctr"/>
                      <a:r>
                        <a:rPr lang="de-DE" sz="8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/>
                        <a:t>AOI </a:t>
                      </a:r>
                      <a:r>
                        <a:rPr lang="de-DE" sz="800" dirty="0" err="1"/>
                        <a:t>perimeter</a:t>
                      </a:r>
                      <a:r>
                        <a:rPr lang="de-DE" sz="800" dirty="0"/>
                        <a:t> &amp; </a:t>
                      </a:r>
                      <a:r>
                        <a:rPr lang="de-DE" sz="800" dirty="0" err="1"/>
                        <a:t>pin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tip</a:t>
                      </a:r>
                      <a:endParaRPr lang="de-DE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223270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/>
                        <a:t>free</a:t>
                      </a:r>
                      <a:r>
                        <a:rPr lang="de-DE" sz="800" dirty="0"/>
                        <a:t> place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858025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/>
                        <a:t>cleaning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solenoid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armature</a:t>
                      </a:r>
                      <a:r>
                        <a:rPr lang="de-DE" sz="800" dirty="0"/>
                        <a:t> (</a:t>
                      </a:r>
                      <a:r>
                        <a:rPr lang="de-DE" sz="800" dirty="0" err="1"/>
                        <a:t>oil</a:t>
                      </a:r>
                      <a:r>
                        <a:rPr lang="de-DE" sz="8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402112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/>
                        <a:t>cleaning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solenoid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armature</a:t>
                      </a:r>
                      <a:r>
                        <a:rPr lang="de-DE" sz="800" dirty="0"/>
                        <a:t> (</a:t>
                      </a:r>
                      <a:r>
                        <a:rPr lang="de-DE" sz="800" dirty="0" err="1"/>
                        <a:t>compressed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air</a:t>
                      </a:r>
                      <a:r>
                        <a:rPr lang="de-DE" sz="8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839625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/>
                        <a:t>unloading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solenoid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armature</a:t>
                      </a:r>
                      <a:r>
                        <a:rPr lang="de-DE" sz="800" dirty="0"/>
                        <a:t> (iO &amp; NiO)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358197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/>
                        <a:t>output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trays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solenoid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armature</a:t>
                      </a:r>
                      <a:endParaRPr lang="de-DE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252899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/>
                        <a:t>output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trays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solenoid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armature</a:t>
                      </a:r>
                      <a:r>
                        <a:rPr lang="de-DE" sz="800" dirty="0"/>
                        <a:t> in KLTs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788608"/>
                  </a:ext>
                </a:extLst>
              </a:tr>
            </a:tbl>
          </a:graphicData>
        </a:graphic>
      </p:graphicFrame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06B93032-C401-E14C-22D8-DDF25EF423D3}"/>
              </a:ext>
            </a:extLst>
          </p:cNvPr>
          <p:cNvCxnSpPr>
            <a:cxnSpLocks/>
          </p:cNvCxnSpPr>
          <p:nvPr/>
        </p:nvCxnSpPr>
        <p:spPr>
          <a:xfrm flipH="1">
            <a:off x="7895693" y="1864492"/>
            <a:ext cx="231035" cy="84597"/>
          </a:xfrm>
          <a:prstGeom prst="straightConnector1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EC16A8B0-8DB7-C3CE-B33C-70A88576C481}"/>
              </a:ext>
            </a:extLst>
          </p:cNvPr>
          <p:cNvCxnSpPr>
            <a:cxnSpLocks/>
          </p:cNvCxnSpPr>
          <p:nvPr/>
        </p:nvCxnSpPr>
        <p:spPr>
          <a:xfrm flipH="1" flipV="1">
            <a:off x="7890149" y="1781136"/>
            <a:ext cx="241353" cy="83356"/>
          </a:xfrm>
          <a:prstGeom prst="straightConnector1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" name="Ellipse 51">
            <a:extLst>
              <a:ext uri="{FF2B5EF4-FFF2-40B4-BE49-F238E27FC236}">
                <a16:creationId xmlns:a16="http://schemas.microsoft.com/office/drawing/2014/main" id="{939A5244-69CF-EA5B-D5FE-65318406F173}"/>
              </a:ext>
            </a:extLst>
          </p:cNvPr>
          <p:cNvSpPr/>
          <p:nvPr/>
        </p:nvSpPr>
        <p:spPr>
          <a:xfrm rot="16200000">
            <a:off x="10295789" y="919332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9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9EF6E57E-0C74-7348-D940-9FCAE9F8FD19}"/>
              </a:ext>
            </a:extLst>
          </p:cNvPr>
          <p:cNvSpPr/>
          <p:nvPr/>
        </p:nvSpPr>
        <p:spPr>
          <a:xfrm rot="16200000">
            <a:off x="11178990" y="912877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10</a:t>
            </a:r>
          </a:p>
        </p:txBody>
      </p:sp>
      <p:pic>
        <p:nvPicPr>
          <p:cNvPr id="62" name="Grafik 61">
            <a:extLst>
              <a:ext uri="{FF2B5EF4-FFF2-40B4-BE49-F238E27FC236}">
                <a16:creationId xmlns:a16="http://schemas.microsoft.com/office/drawing/2014/main" id="{23605F44-B20D-1052-BEFD-FAF651C650DF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</a:blip>
          <a:stretch>
            <a:fillRect/>
          </a:stretch>
        </p:blipFill>
        <p:spPr>
          <a:xfrm>
            <a:off x="10708006" y="1699283"/>
            <a:ext cx="1327660" cy="1337952"/>
          </a:xfrm>
          <a:prstGeom prst="rect">
            <a:avLst/>
          </a:prstGeom>
        </p:spPr>
      </p:pic>
      <p:sp>
        <p:nvSpPr>
          <p:cNvPr id="63" name="Ellipse 62">
            <a:extLst>
              <a:ext uri="{FF2B5EF4-FFF2-40B4-BE49-F238E27FC236}">
                <a16:creationId xmlns:a16="http://schemas.microsoft.com/office/drawing/2014/main" id="{EC72DCD3-007B-683B-997C-6668DAA93176}"/>
              </a:ext>
            </a:extLst>
          </p:cNvPr>
          <p:cNvSpPr/>
          <p:nvPr/>
        </p:nvSpPr>
        <p:spPr>
          <a:xfrm rot="16200000">
            <a:off x="3353725" y="3356690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11</a:t>
            </a: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76AC91B7-DB9B-320C-B3E3-DAC664D25251}"/>
              </a:ext>
            </a:extLst>
          </p:cNvPr>
          <p:cNvSpPr/>
          <p:nvPr/>
        </p:nvSpPr>
        <p:spPr>
          <a:xfrm rot="16200000">
            <a:off x="4220332" y="3357338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12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F6AAE097-0E5E-98D8-CD45-66BF0E83418A}"/>
              </a:ext>
            </a:extLst>
          </p:cNvPr>
          <p:cNvSpPr/>
          <p:nvPr/>
        </p:nvSpPr>
        <p:spPr>
          <a:xfrm rot="16200000">
            <a:off x="5092487" y="3354821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13</a:t>
            </a: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77733B94-788C-F4D3-C419-8A012CB3B5C4}"/>
              </a:ext>
            </a:extLst>
          </p:cNvPr>
          <p:cNvSpPr/>
          <p:nvPr/>
        </p:nvSpPr>
        <p:spPr>
          <a:xfrm rot="16200000">
            <a:off x="5959094" y="3349733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14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AF5C4069-DC99-BC75-FE97-BB01A74860AB}"/>
              </a:ext>
            </a:extLst>
          </p:cNvPr>
          <p:cNvSpPr/>
          <p:nvPr/>
        </p:nvSpPr>
        <p:spPr>
          <a:xfrm rot="16200000">
            <a:off x="6834777" y="3361401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15</a:t>
            </a: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DCDCF0AF-E81B-8711-8311-90CA63460614}"/>
              </a:ext>
            </a:extLst>
          </p:cNvPr>
          <p:cNvSpPr/>
          <p:nvPr/>
        </p:nvSpPr>
        <p:spPr>
          <a:xfrm rot="16200000">
            <a:off x="7703553" y="3364316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16</a:t>
            </a:r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756F3881-CF20-554E-E3DC-AC09849E10FA}"/>
              </a:ext>
            </a:extLst>
          </p:cNvPr>
          <p:cNvSpPr/>
          <p:nvPr/>
        </p:nvSpPr>
        <p:spPr>
          <a:xfrm rot="16200000">
            <a:off x="8564545" y="3361401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17</a:t>
            </a:r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C04A3B1A-FF96-0019-2BE9-7BDE28B8CB5A}"/>
              </a:ext>
            </a:extLst>
          </p:cNvPr>
          <p:cNvSpPr/>
          <p:nvPr/>
        </p:nvSpPr>
        <p:spPr>
          <a:xfrm rot="16200000">
            <a:off x="9449223" y="3366905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18</a:t>
            </a: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C520854C-77C4-3549-AD7A-7EF4573A6557}"/>
              </a:ext>
            </a:extLst>
          </p:cNvPr>
          <p:cNvSpPr/>
          <p:nvPr/>
        </p:nvSpPr>
        <p:spPr>
          <a:xfrm rot="16200000">
            <a:off x="10295789" y="3364316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19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2E6149AE-3584-DC40-E37D-B3861A6999E0}"/>
              </a:ext>
            </a:extLst>
          </p:cNvPr>
          <p:cNvSpPr/>
          <p:nvPr/>
        </p:nvSpPr>
        <p:spPr>
          <a:xfrm rot="16200000">
            <a:off x="11178990" y="3357861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20</a:t>
            </a: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1FE6981F-AE18-F4C4-DC7E-CEA75F4B47D6}"/>
              </a:ext>
            </a:extLst>
          </p:cNvPr>
          <p:cNvSpPr/>
          <p:nvPr/>
        </p:nvSpPr>
        <p:spPr>
          <a:xfrm rot="16200000">
            <a:off x="11331390" y="3510261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21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50671DEF-EEE2-CE5D-029E-CA522775B09B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57502" y="4141958"/>
            <a:ext cx="1050280" cy="447793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FA1129C8-3104-8C1F-AC16-75CE1462769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8623964" y="4202412"/>
            <a:ext cx="159966" cy="1286728"/>
          </a:xfrm>
          <a:prstGeom prst="rect">
            <a:avLst/>
          </a:prstGeom>
        </p:spPr>
      </p:pic>
      <p:sp>
        <p:nvSpPr>
          <p:cNvPr id="24" name="Pfeil: nach unten 23">
            <a:extLst>
              <a:ext uri="{FF2B5EF4-FFF2-40B4-BE49-F238E27FC236}">
                <a16:creationId xmlns:a16="http://schemas.microsoft.com/office/drawing/2014/main" id="{F9DC8EA5-1A84-E6DF-E830-7416C8A2D4F6}"/>
              </a:ext>
            </a:extLst>
          </p:cNvPr>
          <p:cNvSpPr/>
          <p:nvPr/>
        </p:nvSpPr>
        <p:spPr>
          <a:xfrm>
            <a:off x="8570198" y="3909448"/>
            <a:ext cx="267498" cy="246741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5" name="Pfeil: nach unten 24">
            <a:extLst>
              <a:ext uri="{FF2B5EF4-FFF2-40B4-BE49-F238E27FC236}">
                <a16:creationId xmlns:a16="http://schemas.microsoft.com/office/drawing/2014/main" id="{C7102179-5E49-2106-ABF2-7A9A4085DEB2}"/>
              </a:ext>
            </a:extLst>
          </p:cNvPr>
          <p:cNvSpPr/>
          <p:nvPr/>
        </p:nvSpPr>
        <p:spPr>
          <a:xfrm rot="13147318">
            <a:off x="8305781" y="4498224"/>
            <a:ext cx="267498" cy="246741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6" name="Pfeil: nach unten 25">
            <a:extLst>
              <a:ext uri="{FF2B5EF4-FFF2-40B4-BE49-F238E27FC236}">
                <a16:creationId xmlns:a16="http://schemas.microsoft.com/office/drawing/2014/main" id="{B35E249E-6689-1614-FE9B-B0DC104DBABF}"/>
              </a:ext>
            </a:extLst>
          </p:cNvPr>
          <p:cNvSpPr/>
          <p:nvPr/>
        </p:nvSpPr>
        <p:spPr>
          <a:xfrm rot="16200000">
            <a:off x="8305780" y="4888757"/>
            <a:ext cx="267498" cy="246741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7" name="Pfeil: nach unten 26">
            <a:extLst>
              <a:ext uri="{FF2B5EF4-FFF2-40B4-BE49-F238E27FC236}">
                <a16:creationId xmlns:a16="http://schemas.microsoft.com/office/drawing/2014/main" id="{248DB595-B6D5-764F-1764-09516B9BC43C}"/>
              </a:ext>
            </a:extLst>
          </p:cNvPr>
          <p:cNvSpPr/>
          <p:nvPr/>
        </p:nvSpPr>
        <p:spPr>
          <a:xfrm rot="8507624">
            <a:off x="8818621" y="4498225"/>
            <a:ext cx="267498" cy="246741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29" name="Pfeil: nach unten 28">
            <a:extLst>
              <a:ext uri="{FF2B5EF4-FFF2-40B4-BE49-F238E27FC236}">
                <a16:creationId xmlns:a16="http://schemas.microsoft.com/office/drawing/2014/main" id="{1F3CF9EC-821C-8509-A1FC-B82DFA536BB5}"/>
              </a:ext>
            </a:extLst>
          </p:cNvPr>
          <p:cNvSpPr/>
          <p:nvPr/>
        </p:nvSpPr>
        <p:spPr>
          <a:xfrm rot="5400000">
            <a:off x="8823880" y="4886407"/>
            <a:ext cx="267498" cy="246741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F25A5419-5E59-62A8-485F-906991B6593C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34342" y="4141958"/>
            <a:ext cx="1050280" cy="447793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E101D30-3611-F8E2-D490-B57F86A0C9B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9500804" y="4202412"/>
            <a:ext cx="159966" cy="1286728"/>
          </a:xfrm>
          <a:prstGeom prst="rect">
            <a:avLst/>
          </a:prstGeom>
        </p:spPr>
      </p:pic>
      <p:sp>
        <p:nvSpPr>
          <p:cNvPr id="43" name="Pfeil: nach unten 42">
            <a:extLst>
              <a:ext uri="{FF2B5EF4-FFF2-40B4-BE49-F238E27FC236}">
                <a16:creationId xmlns:a16="http://schemas.microsoft.com/office/drawing/2014/main" id="{A3675BD9-73B7-B9DF-E783-C1D82BD7E7C7}"/>
              </a:ext>
            </a:extLst>
          </p:cNvPr>
          <p:cNvSpPr/>
          <p:nvPr/>
        </p:nvSpPr>
        <p:spPr>
          <a:xfrm>
            <a:off x="9447038" y="3909448"/>
            <a:ext cx="267498" cy="246741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4" name="Pfeil: nach unten 43">
            <a:extLst>
              <a:ext uri="{FF2B5EF4-FFF2-40B4-BE49-F238E27FC236}">
                <a16:creationId xmlns:a16="http://schemas.microsoft.com/office/drawing/2014/main" id="{C8F4D192-2C9B-E421-A5F4-0EB0B547A572}"/>
              </a:ext>
            </a:extLst>
          </p:cNvPr>
          <p:cNvSpPr/>
          <p:nvPr/>
        </p:nvSpPr>
        <p:spPr>
          <a:xfrm rot="12718415">
            <a:off x="9182621" y="4498224"/>
            <a:ext cx="267498" cy="246741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5" name="Pfeil: nach unten 44">
            <a:extLst>
              <a:ext uri="{FF2B5EF4-FFF2-40B4-BE49-F238E27FC236}">
                <a16:creationId xmlns:a16="http://schemas.microsoft.com/office/drawing/2014/main" id="{ECB4C62D-0B5B-2EB3-8BBD-801BCDD74F15}"/>
              </a:ext>
            </a:extLst>
          </p:cNvPr>
          <p:cNvSpPr/>
          <p:nvPr/>
        </p:nvSpPr>
        <p:spPr>
          <a:xfrm rot="16200000">
            <a:off x="9182620" y="4888757"/>
            <a:ext cx="267498" cy="246741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6" name="Pfeil: nach unten 45">
            <a:extLst>
              <a:ext uri="{FF2B5EF4-FFF2-40B4-BE49-F238E27FC236}">
                <a16:creationId xmlns:a16="http://schemas.microsoft.com/office/drawing/2014/main" id="{005CCA64-5108-F9DC-6395-EAEB8D478318}"/>
              </a:ext>
            </a:extLst>
          </p:cNvPr>
          <p:cNvSpPr/>
          <p:nvPr/>
        </p:nvSpPr>
        <p:spPr>
          <a:xfrm rot="8321134">
            <a:off x="9695461" y="4498225"/>
            <a:ext cx="267498" cy="246741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47" name="Pfeil: nach unten 46">
            <a:extLst>
              <a:ext uri="{FF2B5EF4-FFF2-40B4-BE49-F238E27FC236}">
                <a16:creationId xmlns:a16="http://schemas.microsoft.com/office/drawing/2014/main" id="{A7EFA31C-1D47-FA0E-7276-B1AF89E0935B}"/>
              </a:ext>
            </a:extLst>
          </p:cNvPr>
          <p:cNvSpPr/>
          <p:nvPr/>
        </p:nvSpPr>
        <p:spPr>
          <a:xfrm rot="5400000">
            <a:off x="9700720" y="4886407"/>
            <a:ext cx="267498" cy="246741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pic>
        <p:nvPicPr>
          <p:cNvPr id="48" name="Grafik 47">
            <a:extLst>
              <a:ext uri="{FF2B5EF4-FFF2-40B4-BE49-F238E27FC236}">
                <a16:creationId xmlns:a16="http://schemas.microsoft.com/office/drawing/2014/main" id="{7E621499-84E9-36CA-6FED-04202C858EED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64482" y="4154612"/>
            <a:ext cx="1050280" cy="447793"/>
          </a:xfrm>
          <a:prstGeom prst="rect">
            <a:avLst/>
          </a:pr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AA7D27E9-33B8-6786-7175-BB38654CC9A0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6930944" y="4215066"/>
            <a:ext cx="159966" cy="1286728"/>
          </a:xfrm>
          <a:prstGeom prst="rect">
            <a:avLst/>
          </a:prstGeom>
        </p:spPr>
      </p:pic>
      <p:sp>
        <p:nvSpPr>
          <p:cNvPr id="61" name="Rechteck 60">
            <a:extLst>
              <a:ext uri="{FF2B5EF4-FFF2-40B4-BE49-F238E27FC236}">
                <a16:creationId xmlns:a16="http://schemas.microsoft.com/office/drawing/2014/main" id="{E510C739-FE8D-4085-37FB-4A2B3F4C0604}"/>
              </a:ext>
            </a:extLst>
          </p:cNvPr>
          <p:cNvSpPr/>
          <p:nvPr/>
        </p:nvSpPr>
        <p:spPr>
          <a:xfrm>
            <a:off x="6854931" y="5255148"/>
            <a:ext cx="306611" cy="27299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607F61E9-531E-B5D6-1BD1-2C252E5C431A}"/>
              </a:ext>
            </a:extLst>
          </p:cNvPr>
          <p:cNvSpPr/>
          <p:nvPr/>
        </p:nvSpPr>
        <p:spPr>
          <a:xfrm>
            <a:off x="6553234" y="4300631"/>
            <a:ext cx="907950" cy="16518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pic>
        <p:nvPicPr>
          <p:cNvPr id="79" name="Grafik 78">
            <a:extLst>
              <a:ext uri="{FF2B5EF4-FFF2-40B4-BE49-F238E27FC236}">
                <a16:creationId xmlns:a16="http://schemas.microsoft.com/office/drawing/2014/main" id="{FADDD8BB-581E-4B31-6319-8E3F8BE9CA67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4075" t="2543" r="4521" b="5118"/>
          <a:stretch/>
        </p:blipFill>
        <p:spPr>
          <a:xfrm>
            <a:off x="4891057" y="4782281"/>
            <a:ext cx="654764" cy="654922"/>
          </a:xfrm>
          <a:prstGeom prst="rect">
            <a:avLst/>
          </a:prstGeom>
        </p:spPr>
      </p:pic>
      <p:sp>
        <p:nvSpPr>
          <p:cNvPr id="82" name="Rechteck 81">
            <a:extLst>
              <a:ext uri="{FF2B5EF4-FFF2-40B4-BE49-F238E27FC236}">
                <a16:creationId xmlns:a16="http://schemas.microsoft.com/office/drawing/2014/main" id="{BD8222FC-E043-EA6A-143A-E9E1070F9FA5}"/>
              </a:ext>
            </a:extLst>
          </p:cNvPr>
          <p:cNvSpPr/>
          <p:nvPr/>
        </p:nvSpPr>
        <p:spPr>
          <a:xfrm>
            <a:off x="4864432" y="4755343"/>
            <a:ext cx="704559" cy="70745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pic>
        <p:nvPicPr>
          <p:cNvPr id="85" name="Grafik 84">
            <a:extLst>
              <a:ext uri="{FF2B5EF4-FFF2-40B4-BE49-F238E27FC236}">
                <a16:creationId xmlns:a16="http://schemas.microsoft.com/office/drawing/2014/main" id="{A6AD90B2-4BEE-1F57-5522-7183BF0605DB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4363" t="7334" r="11782" b="14507"/>
          <a:stretch/>
        </p:blipFill>
        <p:spPr>
          <a:xfrm>
            <a:off x="5789586" y="4327251"/>
            <a:ext cx="656220" cy="655200"/>
          </a:xfrm>
          <a:prstGeom prst="rect">
            <a:avLst/>
          </a:prstGeom>
        </p:spPr>
      </p:pic>
      <p:sp>
        <p:nvSpPr>
          <p:cNvPr id="101" name="Rechteck 100">
            <a:extLst>
              <a:ext uri="{FF2B5EF4-FFF2-40B4-BE49-F238E27FC236}">
                <a16:creationId xmlns:a16="http://schemas.microsoft.com/office/drawing/2014/main" id="{CF3B7AFC-DE85-952B-0E95-257BBC256DB9}"/>
              </a:ext>
            </a:extLst>
          </p:cNvPr>
          <p:cNvSpPr/>
          <p:nvPr/>
        </p:nvSpPr>
        <p:spPr>
          <a:xfrm>
            <a:off x="5766555" y="4300776"/>
            <a:ext cx="704559" cy="70745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000" dirty="0" err="1"/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20EEF8CA-D811-57AC-860C-F6BD7CFDAA3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1162603" y="3784238"/>
            <a:ext cx="605372" cy="776504"/>
            <a:chOff x="3697856" y="4795968"/>
            <a:chExt cx="1050280" cy="1347182"/>
          </a:xfrm>
        </p:grpSpPr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CE0CED32-3BFD-A674-8F46-240D43D16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697856" y="4795968"/>
              <a:ext cx="1050280" cy="447793"/>
            </a:xfrm>
            <a:prstGeom prst="rect">
              <a:avLst/>
            </a:prstGeom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9EA44D7E-39F2-F698-4787-6ABB38C04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4164318" y="4856422"/>
              <a:ext cx="159966" cy="1286728"/>
            </a:xfrm>
            <a:prstGeom prst="rect">
              <a:avLst/>
            </a:prstGeom>
          </p:spPr>
        </p:pic>
      </p:grp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38AEF7D1-C504-7E84-809D-C3376AE17789}"/>
              </a:ext>
            </a:extLst>
          </p:cNvPr>
          <p:cNvCxnSpPr>
            <a:cxnSpLocks/>
          </p:cNvCxnSpPr>
          <p:nvPr/>
        </p:nvCxnSpPr>
        <p:spPr>
          <a:xfrm>
            <a:off x="11497076" y="4253521"/>
            <a:ext cx="0" cy="283729"/>
          </a:xfrm>
          <a:prstGeom prst="straightConnector1">
            <a:avLst/>
          </a:prstGeom>
          <a:ln w="9525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8B15CEB2-2361-37EC-25A5-C79CF1D1D6E1}"/>
              </a:ext>
            </a:extLst>
          </p:cNvPr>
          <p:cNvCxnSpPr>
            <a:cxnSpLocks/>
          </p:cNvCxnSpPr>
          <p:nvPr/>
        </p:nvCxnSpPr>
        <p:spPr>
          <a:xfrm>
            <a:off x="11497076" y="5153474"/>
            <a:ext cx="0" cy="283729"/>
          </a:xfrm>
          <a:prstGeom prst="straightConnector1">
            <a:avLst/>
          </a:prstGeom>
          <a:ln w="9525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885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>
            <a:extLst>
              <a:ext uri="{FF2B5EF4-FFF2-40B4-BE49-F238E27FC236}">
                <a16:creationId xmlns:a16="http://schemas.microsoft.com/office/drawing/2014/main" id="{B7834395-A6D7-4A7B-D2AC-D00E6CF8B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53145">
            <a:off x="5138004" y="1322116"/>
            <a:ext cx="4523512" cy="4320000"/>
          </a:xfrm>
          <a:prstGeom prst="rect">
            <a:avLst/>
          </a:prstGeom>
        </p:spPr>
      </p:pic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DCD4F7A2-4F34-54FD-F010-1686DA6C6B56}"/>
              </a:ext>
            </a:extLst>
          </p:cNvPr>
          <p:cNvCxnSpPr>
            <a:cxnSpLocks/>
          </p:cNvCxnSpPr>
          <p:nvPr/>
        </p:nvCxnSpPr>
        <p:spPr>
          <a:xfrm flipV="1">
            <a:off x="5179594" y="4012959"/>
            <a:ext cx="195241" cy="49866"/>
          </a:xfrm>
          <a:prstGeom prst="straightConnector1">
            <a:avLst/>
          </a:prstGeom>
          <a:ln w="254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C913E94B-03C5-6A1C-C034-EF0D0718AA72}"/>
              </a:ext>
            </a:extLst>
          </p:cNvPr>
          <p:cNvCxnSpPr>
            <a:cxnSpLocks/>
          </p:cNvCxnSpPr>
          <p:nvPr/>
        </p:nvCxnSpPr>
        <p:spPr>
          <a:xfrm flipH="1">
            <a:off x="5753987" y="4944693"/>
            <a:ext cx="162554" cy="178171"/>
          </a:xfrm>
          <a:prstGeom prst="straightConnector1">
            <a:avLst/>
          </a:prstGeom>
          <a:ln w="254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A0A9756F-6A8C-ED88-8571-B9F10C09B2A8}"/>
              </a:ext>
            </a:extLst>
          </p:cNvPr>
          <p:cNvGrpSpPr/>
          <p:nvPr/>
        </p:nvGrpSpPr>
        <p:grpSpPr>
          <a:xfrm>
            <a:off x="7093989" y="3160313"/>
            <a:ext cx="680383" cy="624045"/>
            <a:chOff x="3599095" y="1633786"/>
            <a:chExt cx="680383" cy="624045"/>
          </a:xfrm>
        </p:grpSpPr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50A89DC5-0D75-1BE6-1CE5-0B0441F665D3}"/>
                </a:ext>
              </a:extLst>
            </p:cNvPr>
            <p:cNvCxnSpPr/>
            <p:nvPr/>
          </p:nvCxnSpPr>
          <p:spPr>
            <a:xfrm>
              <a:off x="3939287" y="1633786"/>
              <a:ext cx="0" cy="624045"/>
            </a:xfrm>
            <a:prstGeom prst="line">
              <a:avLst/>
            </a:prstGeom>
            <a:ln w="6350">
              <a:solidFill>
                <a:schemeClr val="tx1"/>
              </a:solidFill>
              <a:prstDash val="dashDot"/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63CC97A4-410E-BE5E-B8C9-3923BE1C0E35}"/>
                </a:ext>
              </a:extLst>
            </p:cNvPr>
            <p:cNvCxnSpPr>
              <a:cxnSpLocks/>
            </p:cNvCxnSpPr>
            <p:nvPr/>
          </p:nvCxnSpPr>
          <p:spPr>
            <a:xfrm>
              <a:off x="3599095" y="1945808"/>
              <a:ext cx="680383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Dot"/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39403587-E74A-D5DF-69D6-4090942650D9}"/>
              </a:ext>
            </a:extLst>
          </p:cNvPr>
          <p:cNvCxnSpPr>
            <a:cxnSpLocks/>
          </p:cNvCxnSpPr>
          <p:nvPr/>
        </p:nvCxnSpPr>
        <p:spPr>
          <a:xfrm flipH="1">
            <a:off x="7992759" y="1248091"/>
            <a:ext cx="68938" cy="250018"/>
          </a:xfrm>
          <a:prstGeom prst="straightConnector1">
            <a:avLst/>
          </a:prstGeom>
          <a:ln w="25400"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Ellipse 11">
            <a:extLst>
              <a:ext uri="{FF2B5EF4-FFF2-40B4-BE49-F238E27FC236}">
                <a16:creationId xmlns:a16="http://schemas.microsoft.com/office/drawing/2014/main" id="{EE0C85FA-D27B-83A1-04BB-BE337FD5BCD0}"/>
              </a:ext>
            </a:extLst>
          </p:cNvPr>
          <p:cNvSpPr/>
          <p:nvPr/>
        </p:nvSpPr>
        <p:spPr>
          <a:xfrm rot="16200000">
            <a:off x="4895066" y="3959726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a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58A8275-7B66-C80F-ED48-852FD3B1021D}"/>
              </a:ext>
            </a:extLst>
          </p:cNvPr>
          <p:cNvSpPr/>
          <p:nvPr/>
        </p:nvSpPr>
        <p:spPr>
          <a:xfrm rot="16200000">
            <a:off x="9056058" y="1565393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f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68CA8F67-6095-B34E-3BDB-81FB4BE3C5EE}"/>
              </a:ext>
            </a:extLst>
          </p:cNvPr>
          <p:cNvSpPr/>
          <p:nvPr/>
        </p:nvSpPr>
        <p:spPr>
          <a:xfrm rot="16200000">
            <a:off x="4899668" y="2661430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b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8E66DF57-F357-593A-F191-16F5EC945BDF}"/>
              </a:ext>
            </a:extLst>
          </p:cNvPr>
          <p:cNvSpPr/>
          <p:nvPr/>
        </p:nvSpPr>
        <p:spPr>
          <a:xfrm rot="16200000">
            <a:off x="5528315" y="1565393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c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DD3951D2-F709-0D5E-32D0-2010C17806FF}"/>
              </a:ext>
            </a:extLst>
          </p:cNvPr>
          <p:cNvSpPr/>
          <p:nvPr/>
        </p:nvSpPr>
        <p:spPr>
          <a:xfrm rot="16200000">
            <a:off x="6694584" y="906800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d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C1C95E78-42CE-327A-4274-46C31F0AA253}"/>
              </a:ext>
            </a:extLst>
          </p:cNvPr>
          <p:cNvSpPr/>
          <p:nvPr/>
        </p:nvSpPr>
        <p:spPr>
          <a:xfrm rot="16200000">
            <a:off x="7972259" y="906800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e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918A40A-F93D-748B-C46F-81C780A4CC1E}"/>
              </a:ext>
            </a:extLst>
          </p:cNvPr>
          <p:cNvSpPr/>
          <p:nvPr/>
        </p:nvSpPr>
        <p:spPr>
          <a:xfrm rot="16200000">
            <a:off x="9557827" y="2786182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g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E23E473-0057-AFBA-4BD2-65D6E1E850C2}"/>
              </a:ext>
            </a:extLst>
          </p:cNvPr>
          <p:cNvSpPr/>
          <p:nvPr/>
        </p:nvSpPr>
        <p:spPr>
          <a:xfrm rot="16200000">
            <a:off x="9557827" y="3959726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h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EEFFB612-0B91-4BA6-353F-52732212BD91}"/>
              </a:ext>
            </a:extLst>
          </p:cNvPr>
          <p:cNvSpPr/>
          <p:nvPr/>
        </p:nvSpPr>
        <p:spPr>
          <a:xfrm rot="16200000">
            <a:off x="9018329" y="4996773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i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97EDB513-5645-5D08-61D4-C9CC2EC2FE08}"/>
              </a:ext>
            </a:extLst>
          </p:cNvPr>
          <p:cNvSpPr/>
          <p:nvPr/>
        </p:nvSpPr>
        <p:spPr>
          <a:xfrm rot="16200000">
            <a:off x="5480400" y="5086408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l</a:t>
            </a:r>
          </a:p>
        </p:txBody>
      </p:sp>
      <p:sp>
        <p:nvSpPr>
          <p:cNvPr id="28" name="Bogen 27">
            <a:extLst>
              <a:ext uri="{FF2B5EF4-FFF2-40B4-BE49-F238E27FC236}">
                <a16:creationId xmlns:a16="http://schemas.microsoft.com/office/drawing/2014/main" id="{F94344BA-8D7F-1902-4742-9C734F01EA9C}"/>
              </a:ext>
            </a:extLst>
          </p:cNvPr>
          <p:cNvSpPr/>
          <p:nvPr/>
        </p:nvSpPr>
        <p:spPr>
          <a:xfrm>
            <a:off x="6452469" y="2260019"/>
            <a:ext cx="2393855" cy="2424631"/>
          </a:xfrm>
          <a:prstGeom prst="arc">
            <a:avLst>
              <a:gd name="adj1" fmla="val 19980822"/>
              <a:gd name="adj2" fmla="val 1629454"/>
            </a:avLst>
          </a:prstGeom>
          <a:ln w="25400"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889251-C9CF-7F7B-DBC3-9F0DB301B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Transport </a:t>
            </a:r>
            <a:r>
              <a:rPr lang="de-DE" dirty="0" err="1"/>
              <a:t>unit</a:t>
            </a:r>
            <a:r>
              <a:rPr lang="de-DE" dirty="0"/>
              <a:t> (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options</a:t>
            </a:r>
            <a:r>
              <a:rPr lang="de-DE" dirty="0"/>
              <a:t>)</a:t>
            </a:r>
          </a:p>
        </p:txBody>
      </p:sp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8E5B2269-C9C4-2DF1-1B19-2DF31DE259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886210"/>
              </p:ext>
            </p:extLst>
          </p:nvPr>
        </p:nvGraphicFramePr>
        <p:xfrm>
          <a:off x="489808" y="1442509"/>
          <a:ext cx="3165726" cy="336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05">
                  <a:extLst>
                    <a:ext uri="{9D8B030D-6E8A-4147-A177-3AD203B41FA5}">
                      <a16:colId xmlns:a16="http://schemas.microsoft.com/office/drawing/2014/main" val="566185741"/>
                    </a:ext>
                  </a:extLst>
                </a:gridCol>
                <a:gridCol w="2808221">
                  <a:extLst>
                    <a:ext uri="{9D8B030D-6E8A-4147-A177-3AD203B41FA5}">
                      <a16:colId xmlns:a16="http://schemas.microsoft.com/office/drawing/2014/main" val="611645751"/>
                    </a:ext>
                  </a:extLst>
                </a:gridCol>
              </a:tblGrid>
              <a:tr h="289124"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Positions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round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table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254656"/>
                  </a:ext>
                </a:extLst>
              </a:tr>
              <a:tr h="21707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loading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plate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740491"/>
                  </a:ext>
                </a:extLst>
              </a:tr>
              <a:tr h="21707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plate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brushing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652857"/>
                  </a:ext>
                </a:extLst>
              </a:tr>
              <a:tr h="21707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hole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plate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measurement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de-DE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391173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oiling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inner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hole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plate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measered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handling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pins</a:t>
                      </a:r>
                      <a:endParaRPr lang="de-DE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037003"/>
                  </a:ext>
                </a:extLst>
              </a:tr>
              <a:tr h="184929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loading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pin</a:t>
                      </a:r>
                      <a:r>
                        <a:rPr lang="de-DE" sz="1000" dirty="0"/>
                        <a:t> in </a:t>
                      </a:r>
                      <a:r>
                        <a:rPr lang="de-DE" sz="1000" dirty="0" err="1"/>
                        <a:t>assembly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tool</a:t>
                      </a:r>
                      <a:r>
                        <a:rPr lang="de-DE" sz="1000" dirty="0"/>
                        <a:t> &amp; press </a:t>
                      </a:r>
                      <a:r>
                        <a:rPr lang="de-DE" sz="1000" dirty="0" err="1"/>
                        <a:t>fitting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096664"/>
                  </a:ext>
                </a:extLst>
              </a:tr>
              <a:tr h="184929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runout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checking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846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length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checking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164672"/>
                  </a:ext>
                </a:extLst>
              </a:tr>
              <a:tr h="143633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back </a:t>
                      </a:r>
                      <a:r>
                        <a:rPr lang="de-DE" sz="1000" dirty="0" err="1"/>
                        <a:t>brushing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990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AOI back &amp; front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475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AOI </a:t>
                      </a:r>
                      <a:r>
                        <a:rPr lang="de-DE" sz="1000" dirty="0" err="1"/>
                        <a:t>perimeter</a:t>
                      </a:r>
                      <a:r>
                        <a:rPr lang="de-DE" sz="1000" dirty="0"/>
                        <a:t> &amp; </a:t>
                      </a:r>
                      <a:r>
                        <a:rPr lang="de-DE" sz="1000" dirty="0" err="1"/>
                        <a:t>pin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tip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479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free</a:t>
                      </a:r>
                      <a:r>
                        <a:rPr lang="de-DE" sz="1000" dirty="0"/>
                        <a:t> place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994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unloading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solenoid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armature</a:t>
                      </a:r>
                      <a:r>
                        <a:rPr lang="de-DE" sz="1000" dirty="0"/>
                        <a:t> (iO &amp; NiO)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951661"/>
                  </a:ext>
                </a:extLst>
              </a:tr>
            </a:tbl>
          </a:graphicData>
        </a:graphic>
      </p:graphicFrame>
      <p:sp>
        <p:nvSpPr>
          <p:cNvPr id="32" name="Ellipse 31">
            <a:extLst>
              <a:ext uri="{FF2B5EF4-FFF2-40B4-BE49-F238E27FC236}">
                <a16:creationId xmlns:a16="http://schemas.microsoft.com/office/drawing/2014/main" id="{24DC4D72-6A2C-3F4C-A845-B0E16DD4D334}"/>
              </a:ext>
            </a:extLst>
          </p:cNvPr>
          <p:cNvSpPr/>
          <p:nvPr/>
        </p:nvSpPr>
        <p:spPr>
          <a:xfrm rot="16200000">
            <a:off x="7884803" y="5636384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j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1A6A86B7-F452-06EC-7A2B-5D038516EB00}"/>
              </a:ext>
            </a:extLst>
          </p:cNvPr>
          <p:cNvSpPr/>
          <p:nvPr/>
        </p:nvSpPr>
        <p:spPr>
          <a:xfrm rot="16200000">
            <a:off x="6677324" y="5636383"/>
            <a:ext cx="284850" cy="2928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1146415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F4E81860-5E13-F4F9-2DE1-89AB7C4169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85" t="4472" r="2078" b="3054"/>
          <a:stretch/>
        </p:blipFill>
        <p:spPr>
          <a:xfrm>
            <a:off x="5083304" y="1146335"/>
            <a:ext cx="4693060" cy="4680000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28942399-6400-A18A-2051-1B8706743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3687" y="121782"/>
            <a:ext cx="6909683" cy="284849"/>
          </a:xfrm>
        </p:spPr>
        <p:txBody>
          <a:bodyPr/>
          <a:lstStyle/>
          <a:p>
            <a:r>
              <a:rPr lang="de-DE" dirty="0"/>
              <a:t>Transport </a:t>
            </a:r>
            <a:r>
              <a:rPr lang="de-DE" dirty="0" err="1"/>
              <a:t>unit</a:t>
            </a:r>
            <a:r>
              <a:rPr lang="de-DE" dirty="0"/>
              <a:t> (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options</a:t>
            </a:r>
            <a:r>
              <a:rPr lang="de-DE" dirty="0"/>
              <a:t>)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8592AF94-6997-D96A-65AC-3D78FB2F3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788949"/>
              </p:ext>
            </p:extLst>
          </p:nvPr>
        </p:nvGraphicFramePr>
        <p:xfrm>
          <a:off x="489808" y="1442509"/>
          <a:ext cx="3165726" cy="4342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05">
                  <a:extLst>
                    <a:ext uri="{9D8B030D-6E8A-4147-A177-3AD203B41FA5}">
                      <a16:colId xmlns:a16="http://schemas.microsoft.com/office/drawing/2014/main" val="566185741"/>
                    </a:ext>
                  </a:extLst>
                </a:gridCol>
                <a:gridCol w="2808221">
                  <a:extLst>
                    <a:ext uri="{9D8B030D-6E8A-4147-A177-3AD203B41FA5}">
                      <a16:colId xmlns:a16="http://schemas.microsoft.com/office/drawing/2014/main" val="611645751"/>
                    </a:ext>
                  </a:extLst>
                </a:gridCol>
              </a:tblGrid>
              <a:tr h="289124"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Positions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round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table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254656"/>
                  </a:ext>
                </a:extLst>
              </a:tr>
              <a:tr h="21707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loading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plate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740491"/>
                  </a:ext>
                </a:extLst>
              </a:tr>
              <a:tr h="21707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plate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brushing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652857"/>
                  </a:ext>
                </a:extLst>
              </a:tr>
              <a:tr h="217076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hole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plate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measurement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de-DE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391173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oiling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inner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hole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plate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measered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handling</a:t>
                      </a:r>
                      <a:r>
                        <a:rPr lang="de-DE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pins</a:t>
                      </a:r>
                      <a:endParaRPr lang="de-DE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037003"/>
                  </a:ext>
                </a:extLst>
              </a:tr>
              <a:tr h="184929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loading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pin</a:t>
                      </a:r>
                      <a:r>
                        <a:rPr lang="de-DE" sz="1000" dirty="0"/>
                        <a:t> in </a:t>
                      </a:r>
                      <a:r>
                        <a:rPr lang="de-DE" sz="1000" dirty="0" err="1"/>
                        <a:t>assembly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tool</a:t>
                      </a:r>
                      <a:r>
                        <a:rPr lang="de-DE" sz="1000" dirty="0"/>
                        <a:t> &amp; press </a:t>
                      </a:r>
                      <a:r>
                        <a:rPr lang="de-DE" sz="1000" dirty="0" err="1"/>
                        <a:t>fitting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096664"/>
                  </a:ext>
                </a:extLst>
              </a:tr>
              <a:tr h="184929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free</a:t>
                      </a:r>
                      <a:r>
                        <a:rPr lang="de-DE" sz="1000" dirty="0"/>
                        <a:t> place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846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runout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checking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164672"/>
                  </a:ext>
                </a:extLst>
              </a:tr>
              <a:tr h="143633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length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checking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990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back </a:t>
                      </a:r>
                      <a:r>
                        <a:rPr lang="de-DE" sz="1000" dirty="0" err="1"/>
                        <a:t>brushing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475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angle </a:t>
                      </a:r>
                      <a:r>
                        <a:rPr lang="de-DE" sz="1000" dirty="0" err="1"/>
                        <a:t>orientation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solenoid</a:t>
                      </a: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1000" dirty="0" err="1">
                          <a:solidFill>
                            <a:schemeClr val="tx1"/>
                          </a:solidFill>
                        </a:rPr>
                        <a:t>armature</a:t>
                      </a:r>
                      <a:r>
                        <a:rPr lang="de-DE" sz="1000" dirty="0"/>
                        <a:t> (</a:t>
                      </a:r>
                      <a:r>
                        <a:rPr lang="de-DE" sz="1000" dirty="0" err="1"/>
                        <a:t>option</a:t>
                      </a:r>
                      <a:r>
                        <a:rPr lang="de-DE" sz="10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479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DMC </a:t>
                      </a:r>
                      <a:r>
                        <a:rPr lang="de-DE" sz="1000" dirty="0" err="1"/>
                        <a:t>marking</a:t>
                      </a:r>
                      <a:r>
                        <a:rPr lang="de-DE" sz="1000" dirty="0"/>
                        <a:t> (</a:t>
                      </a:r>
                      <a:r>
                        <a:rPr lang="de-DE" sz="1000" dirty="0" err="1"/>
                        <a:t>option</a:t>
                      </a:r>
                      <a:r>
                        <a:rPr lang="de-DE" sz="10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994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DMC </a:t>
                      </a:r>
                      <a:r>
                        <a:rPr lang="de-DE" sz="1000" dirty="0" err="1"/>
                        <a:t>controlling</a:t>
                      </a:r>
                      <a:r>
                        <a:rPr lang="de-DE" sz="1000" dirty="0"/>
                        <a:t> (</a:t>
                      </a:r>
                      <a:r>
                        <a:rPr lang="de-DE" sz="1000" dirty="0" err="1"/>
                        <a:t>option</a:t>
                      </a:r>
                      <a:r>
                        <a:rPr lang="de-DE" sz="10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951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AOI back &amp; front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746006"/>
                  </a:ext>
                </a:extLst>
              </a:tr>
              <a:tr h="131835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AOI </a:t>
                      </a:r>
                      <a:r>
                        <a:rPr lang="de-DE" sz="1000" dirty="0" err="1"/>
                        <a:t>perimeter</a:t>
                      </a:r>
                      <a:r>
                        <a:rPr lang="de-DE" sz="1000" dirty="0"/>
                        <a:t> &amp; </a:t>
                      </a:r>
                      <a:r>
                        <a:rPr lang="de-DE" sz="1000" dirty="0" err="1"/>
                        <a:t>pin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tip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894887"/>
                  </a:ext>
                </a:extLst>
              </a:tr>
              <a:tr h="131835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free</a:t>
                      </a:r>
                      <a:r>
                        <a:rPr lang="de-DE" sz="1000" dirty="0"/>
                        <a:t> place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332207"/>
                  </a:ext>
                </a:extLst>
              </a:tr>
              <a:tr h="131835">
                <a:tc>
                  <a:txBody>
                    <a:bodyPr/>
                    <a:lstStyle/>
                    <a:p>
                      <a:pPr algn="ctr"/>
                      <a:r>
                        <a:rPr lang="de-DE" sz="10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unloading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solenoid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armature</a:t>
                      </a:r>
                      <a:r>
                        <a:rPr lang="de-DE" sz="10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953250"/>
                  </a:ext>
                </a:extLst>
              </a:tr>
            </a:tbl>
          </a:graphicData>
        </a:graphic>
      </p:graphicFrame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6CF2E130-67FA-61C1-6FAE-AA4D90B238E7}"/>
              </a:ext>
            </a:extLst>
          </p:cNvPr>
          <p:cNvGrpSpPr/>
          <p:nvPr/>
        </p:nvGrpSpPr>
        <p:grpSpPr>
          <a:xfrm>
            <a:off x="7093989" y="3160313"/>
            <a:ext cx="680383" cy="624045"/>
            <a:chOff x="3599095" y="1633786"/>
            <a:chExt cx="680383" cy="624045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7D504378-718A-8CE8-5F0D-80CD1879DD47}"/>
                </a:ext>
              </a:extLst>
            </p:cNvPr>
            <p:cNvCxnSpPr/>
            <p:nvPr/>
          </p:nvCxnSpPr>
          <p:spPr>
            <a:xfrm>
              <a:off x="3939287" y="1633786"/>
              <a:ext cx="0" cy="624045"/>
            </a:xfrm>
            <a:prstGeom prst="line">
              <a:avLst/>
            </a:prstGeom>
            <a:ln w="6350">
              <a:solidFill>
                <a:schemeClr val="tx1"/>
              </a:solidFill>
              <a:prstDash val="dashDot"/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4A495C15-AE00-98F9-6E1D-3A710CF5C60F}"/>
                </a:ext>
              </a:extLst>
            </p:cNvPr>
            <p:cNvCxnSpPr>
              <a:cxnSpLocks/>
            </p:cNvCxnSpPr>
            <p:nvPr/>
          </p:nvCxnSpPr>
          <p:spPr>
            <a:xfrm>
              <a:off x="3599095" y="1945808"/>
              <a:ext cx="680383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Dot"/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2" name="Bogen 11">
            <a:extLst>
              <a:ext uri="{FF2B5EF4-FFF2-40B4-BE49-F238E27FC236}">
                <a16:creationId xmlns:a16="http://schemas.microsoft.com/office/drawing/2014/main" id="{C8315373-F656-7BEB-24E1-F18F9530EDEF}"/>
              </a:ext>
            </a:extLst>
          </p:cNvPr>
          <p:cNvSpPr/>
          <p:nvPr/>
        </p:nvSpPr>
        <p:spPr>
          <a:xfrm>
            <a:off x="5835113" y="1842732"/>
            <a:ext cx="3189442" cy="3287207"/>
          </a:xfrm>
          <a:prstGeom prst="arc">
            <a:avLst>
              <a:gd name="adj1" fmla="val 19980822"/>
              <a:gd name="adj2" fmla="val 1629454"/>
            </a:avLst>
          </a:prstGeom>
          <a:ln w="25400"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0C5F5645-DBE9-4D96-FF72-BA02DD453C7D}"/>
              </a:ext>
            </a:extLst>
          </p:cNvPr>
          <p:cNvCxnSpPr>
            <a:cxnSpLocks/>
          </p:cNvCxnSpPr>
          <p:nvPr/>
        </p:nvCxnSpPr>
        <p:spPr>
          <a:xfrm>
            <a:off x="4826464" y="3472334"/>
            <a:ext cx="213863" cy="0"/>
          </a:xfrm>
          <a:prstGeom prst="straightConnector1">
            <a:avLst/>
          </a:prstGeom>
          <a:ln w="254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Ellipse 13">
            <a:extLst>
              <a:ext uri="{FF2B5EF4-FFF2-40B4-BE49-F238E27FC236}">
                <a16:creationId xmlns:a16="http://schemas.microsoft.com/office/drawing/2014/main" id="{E422FF19-6509-625F-7B79-BAFB59C0CA86}"/>
              </a:ext>
            </a:extLst>
          </p:cNvPr>
          <p:cNvSpPr/>
          <p:nvPr/>
        </p:nvSpPr>
        <p:spPr>
          <a:xfrm rot="16200000">
            <a:off x="4537603" y="3325898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a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A5FC523-C78B-4C5D-CE1A-A5F6C0A4F89D}"/>
              </a:ext>
            </a:extLst>
          </p:cNvPr>
          <p:cNvSpPr/>
          <p:nvPr/>
        </p:nvSpPr>
        <p:spPr>
          <a:xfrm rot="16200000">
            <a:off x="5295691" y="5296533"/>
            <a:ext cx="284850" cy="2928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EDFED7E-C21B-F080-6AD4-D127E192B1CF}"/>
              </a:ext>
            </a:extLst>
          </p:cNvPr>
          <p:cNvSpPr/>
          <p:nvPr/>
        </p:nvSpPr>
        <p:spPr>
          <a:xfrm rot="16200000">
            <a:off x="4751466" y="4322184"/>
            <a:ext cx="284850" cy="292872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F7AF208B-807B-3360-88B5-3B5AC8E25382}"/>
              </a:ext>
            </a:extLst>
          </p:cNvPr>
          <p:cNvSpPr/>
          <p:nvPr/>
        </p:nvSpPr>
        <p:spPr>
          <a:xfrm rot="16200000">
            <a:off x="4751466" y="2329613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b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19743628-58BF-A2F2-1F97-E38F1C0A6A66}"/>
              </a:ext>
            </a:extLst>
          </p:cNvPr>
          <p:cNvSpPr/>
          <p:nvPr/>
        </p:nvSpPr>
        <p:spPr>
          <a:xfrm rot="16200000">
            <a:off x="5295691" y="1342264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c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65EE59A-A2AB-C600-B117-3A4AB08CF790}"/>
              </a:ext>
            </a:extLst>
          </p:cNvPr>
          <p:cNvSpPr/>
          <p:nvPr/>
        </p:nvSpPr>
        <p:spPr>
          <a:xfrm rot="16200000">
            <a:off x="6310044" y="778134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F3F14018-9A11-9E0A-8A95-AFC15B4CFF9E}"/>
              </a:ext>
            </a:extLst>
          </p:cNvPr>
          <p:cNvSpPr/>
          <p:nvPr/>
        </p:nvSpPr>
        <p:spPr>
          <a:xfrm rot="16200000">
            <a:off x="7291754" y="593803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e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0C5A9ABC-A500-1EF4-3637-1EA1ECEA9BD7}"/>
              </a:ext>
            </a:extLst>
          </p:cNvPr>
          <p:cNvSpPr/>
          <p:nvPr/>
        </p:nvSpPr>
        <p:spPr>
          <a:xfrm rot="16200000">
            <a:off x="6310044" y="5808323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A5D2676E-0CFC-52C3-027D-ED3FE2919B6B}"/>
              </a:ext>
            </a:extLst>
          </p:cNvPr>
          <p:cNvSpPr/>
          <p:nvPr/>
        </p:nvSpPr>
        <p:spPr>
          <a:xfrm rot="16200000">
            <a:off x="7291754" y="6037496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m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90881757-521D-BDE3-BE13-68C88D3D11B2}"/>
              </a:ext>
            </a:extLst>
          </p:cNvPr>
          <p:cNvSpPr/>
          <p:nvPr/>
        </p:nvSpPr>
        <p:spPr>
          <a:xfrm rot="16200000">
            <a:off x="8298500" y="5808323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l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FA4C7C36-0B82-437E-FD5E-72D358DC2C20}"/>
              </a:ext>
            </a:extLst>
          </p:cNvPr>
          <p:cNvSpPr/>
          <p:nvPr/>
        </p:nvSpPr>
        <p:spPr>
          <a:xfrm rot="16200000">
            <a:off x="8298500" y="778134"/>
            <a:ext cx="284850" cy="2928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7FAE4961-908F-8DEC-38C5-2426EA9616E3}"/>
              </a:ext>
            </a:extLst>
          </p:cNvPr>
          <p:cNvSpPr/>
          <p:nvPr/>
        </p:nvSpPr>
        <p:spPr>
          <a:xfrm rot="16200000">
            <a:off x="9240590" y="1342264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g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4E268A9D-90B9-5AE1-845B-401EA17D6FC2}"/>
              </a:ext>
            </a:extLst>
          </p:cNvPr>
          <p:cNvSpPr/>
          <p:nvPr/>
        </p:nvSpPr>
        <p:spPr>
          <a:xfrm rot="16200000">
            <a:off x="9832043" y="2329612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h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99114940-E14B-93A5-E4FF-59D5EDDB3107}"/>
              </a:ext>
            </a:extLst>
          </p:cNvPr>
          <p:cNvSpPr/>
          <p:nvPr/>
        </p:nvSpPr>
        <p:spPr>
          <a:xfrm rot="16200000">
            <a:off x="10126838" y="3325898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i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DF5ED4A6-3833-2DDD-8790-6BE07859A21E}"/>
              </a:ext>
            </a:extLst>
          </p:cNvPr>
          <p:cNvSpPr/>
          <p:nvPr/>
        </p:nvSpPr>
        <p:spPr>
          <a:xfrm rot="16200000">
            <a:off x="9832043" y="4322183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j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27D812AC-DA73-C59F-A6BE-D926DB7F702D}"/>
              </a:ext>
            </a:extLst>
          </p:cNvPr>
          <p:cNvSpPr/>
          <p:nvPr/>
        </p:nvSpPr>
        <p:spPr>
          <a:xfrm rot="16200000">
            <a:off x="9240590" y="5284028"/>
            <a:ext cx="284850" cy="29287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800" dirty="0"/>
              <a:t>k</a:t>
            </a: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5D4A34F-C0B5-2563-0707-B896B070E7D6}"/>
              </a:ext>
            </a:extLst>
          </p:cNvPr>
          <p:cNvCxnSpPr>
            <a:cxnSpLocks/>
          </p:cNvCxnSpPr>
          <p:nvPr/>
        </p:nvCxnSpPr>
        <p:spPr>
          <a:xfrm>
            <a:off x="7434179" y="921667"/>
            <a:ext cx="0" cy="187758"/>
          </a:xfrm>
          <a:prstGeom prst="straightConnector1">
            <a:avLst/>
          </a:prstGeom>
          <a:ln w="25400"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C6EBC461-A11D-5D17-0DD1-6D38B9BE0A63}"/>
              </a:ext>
            </a:extLst>
          </p:cNvPr>
          <p:cNvCxnSpPr>
            <a:cxnSpLocks/>
          </p:cNvCxnSpPr>
          <p:nvPr/>
        </p:nvCxnSpPr>
        <p:spPr>
          <a:xfrm flipH="1">
            <a:off x="5066329" y="4363985"/>
            <a:ext cx="199055" cy="74299"/>
          </a:xfrm>
          <a:prstGeom prst="straightConnector1">
            <a:avLst/>
          </a:prstGeom>
          <a:ln w="25400">
            <a:solidFill>
              <a:schemeClr val="accent2"/>
            </a:solidFill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334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5FA06FE6-09EA-3D9F-A3D7-A565888D5DC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DEDD6"/>
              </a:clrFrom>
              <a:clrTo>
                <a:srgbClr val="EDEDD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74949" y="932529"/>
            <a:ext cx="8928000" cy="499294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080D3BD-8D2E-F065-D087-3C92F34EA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Layout</a:t>
            </a:r>
          </a:p>
        </p:txBody>
      </p:sp>
      <p:graphicFrame>
        <p:nvGraphicFramePr>
          <p:cNvPr id="22" name="Tabelle 21">
            <a:extLst>
              <a:ext uri="{FF2B5EF4-FFF2-40B4-BE49-F238E27FC236}">
                <a16:creationId xmlns:a16="http://schemas.microsoft.com/office/drawing/2014/main" id="{C5AE9EED-24C1-221E-8828-F32F568C8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805003"/>
              </p:ext>
            </p:extLst>
          </p:nvPr>
        </p:nvGraphicFramePr>
        <p:xfrm>
          <a:off x="52494" y="378155"/>
          <a:ext cx="3165726" cy="643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05">
                  <a:extLst>
                    <a:ext uri="{9D8B030D-6E8A-4147-A177-3AD203B41FA5}">
                      <a16:colId xmlns:a16="http://schemas.microsoft.com/office/drawing/2014/main" val="566185741"/>
                    </a:ext>
                  </a:extLst>
                </a:gridCol>
                <a:gridCol w="2808221">
                  <a:extLst>
                    <a:ext uri="{9D8B030D-6E8A-4147-A177-3AD203B41FA5}">
                      <a16:colId xmlns:a16="http://schemas.microsoft.com/office/drawing/2014/main" val="611645751"/>
                    </a:ext>
                  </a:extLst>
                </a:gridCol>
              </a:tblGrid>
              <a:tr h="222360"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err="1"/>
                        <a:t>Stations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254656"/>
                  </a:ext>
                </a:extLst>
              </a:tr>
              <a:tr h="190897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feeding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trays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plate</a:t>
                      </a:r>
                      <a:endParaRPr lang="de-DE" sz="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740491"/>
                  </a:ext>
                </a:extLst>
              </a:tr>
              <a:tr h="178115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loading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plate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unloading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solenoid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armature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Robot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652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plate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brushing</a:t>
                      </a:r>
                      <a:endParaRPr lang="de-DE" sz="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391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hole </a:t>
                      </a:r>
                      <a:r>
                        <a:rPr lang="de-DE" sz="8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plate</a:t>
                      </a:r>
                      <a:r>
                        <a:rPr lang="de-DE" sz="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measurement</a:t>
                      </a:r>
                      <a:r>
                        <a:rPr lang="de-DE" sz="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de-DE" sz="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037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feeding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trays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pins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6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drawers</a:t>
                      </a:r>
                      <a:endParaRPr lang="de-DE" sz="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096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oiling</a:t>
                      </a:r>
                      <a:r>
                        <a:rPr lang="de-DE" sz="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inner</a:t>
                      </a:r>
                      <a:r>
                        <a:rPr lang="de-DE" sz="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hole </a:t>
                      </a:r>
                      <a:r>
                        <a:rPr lang="de-DE" sz="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plate</a:t>
                      </a:r>
                      <a:r>
                        <a:rPr lang="de-DE" sz="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de-DE" sz="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measured</a:t>
                      </a:r>
                      <a:r>
                        <a:rPr lang="de-DE" sz="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r>
                        <a:rPr lang="de-DE" sz="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r>
                        <a:rPr lang="de-DE" sz="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handling</a:t>
                      </a:r>
                      <a:r>
                        <a:rPr lang="de-DE" sz="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pins</a:t>
                      </a:r>
                      <a:endParaRPr lang="de-DE" sz="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875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selection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needle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&amp;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loading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in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assembly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tool</a:t>
                      </a:r>
                      <a:endParaRPr lang="de-DE" sz="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846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7/8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loading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plate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in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assembly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tool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&amp; press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fitting</a:t>
                      </a:r>
                      <a:endParaRPr lang="de-DE" sz="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164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runout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checking</a:t>
                      </a:r>
                      <a:endParaRPr lang="de-DE" sz="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5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length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checking</a:t>
                      </a:r>
                      <a:endParaRPr lang="de-DE" sz="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981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back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brushing</a:t>
                      </a:r>
                      <a:endParaRPr lang="de-DE" sz="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475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angle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orientation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part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for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DMC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marking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option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894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DMC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marking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option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934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DMC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controlling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option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858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/>
                        <a:t>Possible </a:t>
                      </a:r>
                      <a:r>
                        <a:rPr lang="de-DE" sz="800" dirty="0" err="1"/>
                        <a:t>position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for</a:t>
                      </a:r>
                      <a:r>
                        <a:rPr lang="de-DE" sz="800" dirty="0"/>
                        <a:t> „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AOI back &amp; front“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57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/>
                        <a:t>Possible </a:t>
                      </a:r>
                      <a:r>
                        <a:rPr lang="de-DE" sz="800" dirty="0" err="1"/>
                        <a:t>position</a:t>
                      </a:r>
                      <a:r>
                        <a:rPr lang="de-DE" sz="800" dirty="0"/>
                        <a:t> </a:t>
                      </a:r>
                      <a:r>
                        <a:rPr lang="de-DE" sz="800" dirty="0" err="1"/>
                        <a:t>for</a:t>
                      </a:r>
                      <a:r>
                        <a:rPr lang="de-DE" sz="800" dirty="0"/>
                        <a:t> „AOI </a:t>
                      </a:r>
                      <a:r>
                        <a:rPr lang="de-DE" sz="800" dirty="0" err="1"/>
                        <a:t>perimeter</a:t>
                      </a:r>
                      <a:r>
                        <a:rPr lang="de-DE" sz="800" dirty="0"/>
                        <a:t> &amp; </a:t>
                      </a:r>
                      <a:r>
                        <a:rPr lang="de-DE" sz="800" dirty="0" err="1"/>
                        <a:t>pin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tip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039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 err="1"/>
                        <a:t>free</a:t>
                      </a:r>
                      <a:r>
                        <a:rPr lang="de-DE" sz="800" dirty="0"/>
                        <a:t> place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890176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handling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solenoid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armature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oiling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cleaning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station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456597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buffer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pile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empty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trays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solenoid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armature</a:t>
                      </a:r>
                      <a:endParaRPr lang="de-DE" sz="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143117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loading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solenoid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armatures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in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tray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, 2x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065336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handling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trays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solenoid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armature</a:t>
                      </a:r>
                      <a:endParaRPr lang="de-DE" sz="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625497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output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KLTs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trays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solenoid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armature</a:t>
                      </a:r>
                      <a:endParaRPr lang="de-DE" sz="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252899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transport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unit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/ Round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table</a:t>
                      </a:r>
                      <a:endParaRPr lang="de-DE" sz="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013338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output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NiO-Parts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127141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drawer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SPC-Parts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905022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stabi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-parts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074155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base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frame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751498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controls</a:t>
                      </a:r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 &amp; </a:t>
                      </a:r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electrics</a:t>
                      </a:r>
                      <a:endParaRPr lang="de-DE" sz="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463611"/>
                  </a:ext>
                </a:extLst>
              </a:tr>
              <a:tr h="134784"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chemeClr val="tx1"/>
                          </a:solidFill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800" dirty="0" err="1">
                          <a:solidFill>
                            <a:schemeClr val="tx1"/>
                          </a:solidFill>
                        </a:rPr>
                        <a:t>pneumatics</a:t>
                      </a:r>
                      <a:endParaRPr lang="de-DE" sz="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726014"/>
                  </a:ext>
                </a:extLst>
              </a:tr>
            </a:tbl>
          </a:graphicData>
        </a:graphic>
      </p:graphicFrame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1770E38B-3C3C-3673-F9B2-FA256011550D}"/>
              </a:ext>
            </a:extLst>
          </p:cNvPr>
          <p:cNvCxnSpPr/>
          <p:nvPr/>
        </p:nvCxnSpPr>
        <p:spPr>
          <a:xfrm flipV="1">
            <a:off x="4967257" y="1361423"/>
            <a:ext cx="0" cy="431662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EEC41E86-D00B-FC3F-4A87-B75CBD7039DE}"/>
              </a:ext>
            </a:extLst>
          </p:cNvPr>
          <p:cNvCxnSpPr/>
          <p:nvPr/>
        </p:nvCxnSpPr>
        <p:spPr>
          <a:xfrm flipV="1">
            <a:off x="7638949" y="5697767"/>
            <a:ext cx="0" cy="431662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Bogen 25">
            <a:extLst>
              <a:ext uri="{FF2B5EF4-FFF2-40B4-BE49-F238E27FC236}">
                <a16:creationId xmlns:a16="http://schemas.microsoft.com/office/drawing/2014/main" id="{E360D678-6BF1-470B-B631-67DFB0C84E8B}"/>
              </a:ext>
            </a:extLst>
          </p:cNvPr>
          <p:cNvSpPr/>
          <p:nvPr/>
        </p:nvSpPr>
        <p:spPr>
          <a:xfrm rot="12996900">
            <a:off x="8609873" y="3096138"/>
            <a:ext cx="1022603" cy="1121499"/>
          </a:xfrm>
          <a:prstGeom prst="arc">
            <a:avLst>
              <a:gd name="adj1" fmla="val 19980822"/>
              <a:gd name="adj2" fmla="val 1629454"/>
            </a:avLst>
          </a:prstGeom>
          <a:ln w="25400"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FAC51C15-139A-61A3-ED2A-106E4756EE8A}"/>
              </a:ext>
            </a:extLst>
          </p:cNvPr>
          <p:cNvSpPr/>
          <p:nvPr/>
        </p:nvSpPr>
        <p:spPr>
          <a:xfrm>
            <a:off x="7736086" y="5796309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1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427AF814-E6D6-D5C1-F2C7-146CF6A2628E}"/>
              </a:ext>
            </a:extLst>
          </p:cNvPr>
          <p:cNvSpPr/>
          <p:nvPr/>
        </p:nvSpPr>
        <p:spPr>
          <a:xfrm>
            <a:off x="8927760" y="3056889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7/8</a:t>
            </a: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93DA2CF5-6970-3C8F-EC98-AF263AFF42C7}"/>
              </a:ext>
            </a:extLst>
          </p:cNvPr>
          <p:cNvSpPr/>
          <p:nvPr/>
        </p:nvSpPr>
        <p:spPr>
          <a:xfrm>
            <a:off x="9318307" y="2529171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6.2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B90C6EE9-A898-F4A2-5DF2-522F927466BD}"/>
              </a:ext>
            </a:extLst>
          </p:cNvPr>
          <p:cNvSpPr/>
          <p:nvPr/>
        </p:nvSpPr>
        <p:spPr>
          <a:xfrm>
            <a:off x="6890938" y="3627093"/>
            <a:ext cx="348063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2</a:t>
            </a: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CC9015CA-917B-BFE4-805E-4C79E900A35D}"/>
              </a:ext>
            </a:extLst>
          </p:cNvPr>
          <p:cNvSpPr/>
          <p:nvPr/>
        </p:nvSpPr>
        <p:spPr>
          <a:xfrm>
            <a:off x="5426597" y="3667920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19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31690E7A-1C64-95D9-EBDE-797757D8C3F0}"/>
              </a:ext>
            </a:extLst>
          </p:cNvPr>
          <p:cNvSpPr/>
          <p:nvPr/>
        </p:nvSpPr>
        <p:spPr>
          <a:xfrm>
            <a:off x="8028259" y="3161900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3</a:t>
            </a: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7B2E4EB7-81DF-3BE1-9550-D5B0BACFBA8C}"/>
              </a:ext>
            </a:extLst>
          </p:cNvPr>
          <p:cNvSpPr/>
          <p:nvPr/>
        </p:nvSpPr>
        <p:spPr>
          <a:xfrm>
            <a:off x="8202290" y="2744565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4</a:t>
            </a: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05DD3957-B7F2-32CF-8223-745EE0E8825E}"/>
              </a:ext>
            </a:extLst>
          </p:cNvPr>
          <p:cNvSpPr/>
          <p:nvPr/>
        </p:nvSpPr>
        <p:spPr>
          <a:xfrm>
            <a:off x="9896109" y="2777797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9</a:t>
            </a:r>
          </a:p>
        </p:txBody>
      </p: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95ACD325-6AD4-1CA4-C900-C159DFD20412}"/>
              </a:ext>
            </a:extLst>
          </p:cNvPr>
          <p:cNvSpPr/>
          <p:nvPr/>
        </p:nvSpPr>
        <p:spPr>
          <a:xfrm>
            <a:off x="10049509" y="3247093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10</a:t>
            </a:r>
          </a:p>
        </p:txBody>
      </p:sp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21ED2651-512A-CAAD-3DF4-7883CF800AAA}"/>
              </a:ext>
            </a:extLst>
          </p:cNvPr>
          <p:cNvSpPr/>
          <p:nvPr/>
        </p:nvSpPr>
        <p:spPr>
          <a:xfrm>
            <a:off x="10049509" y="3593795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11</a:t>
            </a:r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F0C1AF33-D830-FC8C-1782-EBEB96C25D89}"/>
              </a:ext>
            </a:extLst>
          </p:cNvPr>
          <p:cNvSpPr/>
          <p:nvPr/>
        </p:nvSpPr>
        <p:spPr>
          <a:xfrm>
            <a:off x="9498337" y="4783060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14</a:t>
            </a: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06DDE138-1BFB-F87E-424B-35BFA454E60F}"/>
              </a:ext>
            </a:extLst>
          </p:cNvPr>
          <p:cNvSpPr/>
          <p:nvPr/>
        </p:nvSpPr>
        <p:spPr>
          <a:xfrm>
            <a:off x="7022533" y="4158188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26</a:t>
            </a:r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887D372D-88A3-557D-77CA-D014647DF32C}"/>
              </a:ext>
            </a:extLst>
          </p:cNvPr>
          <p:cNvSpPr/>
          <p:nvPr/>
        </p:nvSpPr>
        <p:spPr>
          <a:xfrm>
            <a:off x="6674471" y="2346668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24</a:t>
            </a:r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AB5E8E02-70A0-E17C-E628-A08BC365C88E}"/>
              </a:ext>
            </a:extLst>
          </p:cNvPr>
          <p:cNvSpPr/>
          <p:nvPr/>
        </p:nvSpPr>
        <p:spPr>
          <a:xfrm>
            <a:off x="6500440" y="4915796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25</a:t>
            </a:r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EE126268-2497-B9ED-4B3B-56DC6D316F4C}"/>
              </a:ext>
            </a:extLst>
          </p:cNvPr>
          <p:cNvSpPr/>
          <p:nvPr/>
        </p:nvSpPr>
        <p:spPr>
          <a:xfrm>
            <a:off x="4431296" y="1975740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22</a:t>
            </a:r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E52B0AF2-EA50-A478-D036-0A3A894DEE2E}"/>
              </a:ext>
            </a:extLst>
          </p:cNvPr>
          <p:cNvSpPr/>
          <p:nvPr/>
        </p:nvSpPr>
        <p:spPr>
          <a:xfrm>
            <a:off x="10049509" y="3960335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12</a:t>
            </a:r>
          </a:p>
        </p:txBody>
      </p: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A21FA78B-D631-E43B-46EC-33C8FE5501D8}"/>
              </a:ext>
            </a:extLst>
          </p:cNvPr>
          <p:cNvSpPr/>
          <p:nvPr/>
        </p:nvSpPr>
        <p:spPr>
          <a:xfrm>
            <a:off x="8927760" y="3570272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23</a:t>
            </a: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31C1AF1A-B060-9A29-97FE-FD4F0290B04B}"/>
              </a:ext>
            </a:extLst>
          </p:cNvPr>
          <p:cNvCxnSpPr>
            <a:cxnSpLocks/>
          </p:cNvCxnSpPr>
          <p:nvPr/>
        </p:nvCxnSpPr>
        <p:spPr>
          <a:xfrm>
            <a:off x="7980371" y="3731338"/>
            <a:ext cx="311950" cy="0"/>
          </a:xfrm>
          <a:prstGeom prst="straightConnector1">
            <a:avLst/>
          </a:prstGeom>
          <a:ln w="254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5B3EFEB4-E9D7-5DA2-93F7-107108D3515C}"/>
              </a:ext>
            </a:extLst>
          </p:cNvPr>
          <p:cNvCxnSpPr>
            <a:cxnSpLocks/>
          </p:cNvCxnSpPr>
          <p:nvPr/>
        </p:nvCxnSpPr>
        <p:spPr>
          <a:xfrm>
            <a:off x="9145154" y="2543032"/>
            <a:ext cx="0" cy="253740"/>
          </a:xfrm>
          <a:prstGeom prst="straightConnector1">
            <a:avLst/>
          </a:prstGeom>
          <a:ln w="25400"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866DD340-55D6-7232-9F68-1B107DF4A0A6}"/>
              </a:ext>
            </a:extLst>
          </p:cNvPr>
          <p:cNvCxnSpPr>
            <a:cxnSpLocks/>
          </p:cNvCxnSpPr>
          <p:nvPr/>
        </p:nvCxnSpPr>
        <p:spPr>
          <a:xfrm flipH="1">
            <a:off x="7920333" y="4181883"/>
            <a:ext cx="74131" cy="166157"/>
          </a:xfrm>
          <a:prstGeom prst="straightConnector1">
            <a:avLst/>
          </a:prstGeom>
          <a:ln w="25400"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DBEF8A0F-8C1E-C6DA-88EE-8DDA1CD7EBA0}"/>
              </a:ext>
            </a:extLst>
          </p:cNvPr>
          <p:cNvSpPr/>
          <p:nvPr/>
        </p:nvSpPr>
        <p:spPr>
          <a:xfrm>
            <a:off x="9722078" y="1850981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5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B01BC069-BFB4-DD3E-D568-13797CDEC2E3}"/>
              </a:ext>
            </a:extLst>
          </p:cNvPr>
          <p:cNvSpPr/>
          <p:nvPr/>
        </p:nvSpPr>
        <p:spPr>
          <a:xfrm>
            <a:off x="9866028" y="4395760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13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84549A43-C860-51A5-6F4D-35F4FBA6E259}"/>
              </a:ext>
            </a:extLst>
          </p:cNvPr>
          <p:cNvSpPr/>
          <p:nvPr/>
        </p:nvSpPr>
        <p:spPr>
          <a:xfrm>
            <a:off x="8986576" y="4783060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15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D49ECB4C-E3AB-F079-9A81-B7490B9E6263}"/>
              </a:ext>
            </a:extLst>
          </p:cNvPr>
          <p:cNvSpPr/>
          <p:nvPr/>
        </p:nvSpPr>
        <p:spPr>
          <a:xfrm>
            <a:off x="8474815" y="4784383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16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B1C95422-A241-4112-8D59-25901B41EE06}"/>
              </a:ext>
            </a:extLst>
          </p:cNvPr>
          <p:cNvSpPr/>
          <p:nvPr/>
        </p:nvSpPr>
        <p:spPr>
          <a:xfrm>
            <a:off x="8226636" y="4332969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17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44282BF-BA13-0541-4358-2163B44FD6CD}"/>
              </a:ext>
            </a:extLst>
          </p:cNvPr>
          <p:cNvSpPr/>
          <p:nvPr/>
        </p:nvSpPr>
        <p:spPr>
          <a:xfrm>
            <a:off x="8110550" y="4150619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18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B7EE8B23-32A4-D245-6941-B4CC39F77BC3}"/>
              </a:ext>
            </a:extLst>
          </p:cNvPr>
          <p:cNvSpPr/>
          <p:nvPr/>
        </p:nvSpPr>
        <p:spPr>
          <a:xfrm>
            <a:off x="6071082" y="3667920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20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8FDEF9C4-5DE6-1FD1-881B-33AD110FE47E}"/>
              </a:ext>
            </a:extLst>
          </p:cNvPr>
          <p:cNvSpPr/>
          <p:nvPr/>
        </p:nvSpPr>
        <p:spPr>
          <a:xfrm>
            <a:off x="5200335" y="3040616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21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239DB790-FAC3-BB3D-A237-E9B5319F2C97}"/>
              </a:ext>
            </a:extLst>
          </p:cNvPr>
          <p:cNvSpPr/>
          <p:nvPr/>
        </p:nvSpPr>
        <p:spPr>
          <a:xfrm>
            <a:off x="3641649" y="2798598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28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8164B666-4F98-A88E-A9D8-42592602A204}"/>
              </a:ext>
            </a:extLst>
          </p:cNvPr>
          <p:cNvSpPr/>
          <p:nvPr/>
        </p:nvSpPr>
        <p:spPr>
          <a:xfrm>
            <a:off x="8472097" y="2243430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27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E71CD2A3-89EC-1189-7702-BC1C89932460}"/>
              </a:ext>
            </a:extLst>
          </p:cNvPr>
          <p:cNvSpPr/>
          <p:nvPr/>
        </p:nvSpPr>
        <p:spPr>
          <a:xfrm>
            <a:off x="8574698" y="2684223"/>
            <a:ext cx="348062" cy="206477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6.1</a:t>
            </a:r>
          </a:p>
        </p:txBody>
      </p:sp>
    </p:spTree>
    <p:extLst>
      <p:ext uri="{BB962C8B-B14F-4D97-AF65-F5344CB8AC3E}">
        <p14:creationId xmlns:p14="http://schemas.microsoft.com/office/powerpoint/2010/main" val="783902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000CC7-7E56-F4D3-9D1B-FA075D6AF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527" y="83088"/>
            <a:ext cx="6909683" cy="284849"/>
          </a:xfrm>
        </p:spPr>
        <p:txBody>
          <a:bodyPr/>
          <a:lstStyle/>
          <a:p>
            <a:r>
              <a:rPr lang="de-DE" dirty="0" err="1"/>
              <a:t>Differences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offer</a:t>
            </a:r>
            <a:r>
              <a:rPr lang="de-DE" dirty="0"/>
              <a:t> A0759100A due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RzP-requirements</a:t>
            </a:r>
            <a:endParaRPr lang="de-DE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A164959-F22D-75A7-0566-81E49C3F6BFB}"/>
              </a:ext>
            </a:extLst>
          </p:cNvPr>
          <p:cNvGrpSpPr>
            <a:grpSpLocks noChangeAspect="1"/>
          </p:cNvGrpSpPr>
          <p:nvPr/>
        </p:nvGrpSpPr>
        <p:grpSpPr>
          <a:xfrm>
            <a:off x="1579457" y="579879"/>
            <a:ext cx="6602561" cy="5950992"/>
            <a:chOff x="2862972" y="588268"/>
            <a:chExt cx="6602561" cy="5950992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CE72D1CC-1CDF-C4DF-5CBC-CE3186E1128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862972" y="588268"/>
              <a:ext cx="6602561" cy="5950992"/>
              <a:chOff x="2862972" y="588268"/>
              <a:chExt cx="6602561" cy="5950992"/>
            </a:xfrm>
          </p:grpSpPr>
          <p:pic>
            <p:nvPicPr>
              <p:cNvPr id="12" name="Grafik 11">
                <a:extLst>
                  <a:ext uri="{FF2B5EF4-FFF2-40B4-BE49-F238E27FC236}">
                    <a16:creationId xmlns:a16="http://schemas.microsoft.com/office/drawing/2014/main" id="{9D93279B-6F43-A30D-2A51-4B8CB513DF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62972" y="588268"/>
                <a:ext cx="6602561" cy="5950992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</p:pic>
          <p:pic>
            <p:nvPicPr>
              <p:cNvPr id="14" name="Grafik 13">
                <a:extLst>
                  <a:ext uri="{FF2B5EF4-FFF2-40B4-BE49-F238E27FC236}">
                    <a16:creationId xmlns:a16="http://schemas.microsoft.com/office/drawing/2014/main" id="{675A778E-45D4-99A8-5A50-48F67CD1AB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92849" y="3898900"/>
                <a:ext cx="2714695" cy="265773"/>
              </a:xfrm>
              <a:prstGeom prst="rect">
                <a:avLst/>
              </a:prstGeom>
            </p:spPr>
          </p:pic>
        </p:grpSp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987C58EE-99AD-295F-4BA1-758C2BEAA1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92034" y="5287959"/>
              <a:ext cx="2349550" cy="150816"/>
            </a:xfrm>
            <a:prstGeom prst="rect">
              <a:avLst/>
            </a:prstGeom>
          </p:spPr>
        </p:pic>
      </p:grpSp>
      <p:sp>
        <p:nvSpPr>
          <p:cNvPr id="21" name="Textfeld 20">
            <a:extLst>
              <a:ext uri="{FF2B5EF4-FFF2-40B4-BE49-F238E27FC236}">
                <a16:creationId xmlns:a16="http://schemas.microsoft.com/office/drawing/2014/main" id="{9BF72C01-3B3D-A125-9085-2110B1C8B463}"/>
              </a:ext>
            </a:extLst>
          </p:cNvPr>
          <p:cNvSpPr txBox="1"/>
          <p:nvPr/>
        </p:nvSpPr>
        <p:spPr>
          <a:xfrm>
            <a:off x="5153579" y="2921759"/>
            <a:ext cx="3536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FF0000"/>
                </a:solidFill>
              </a:rPr>
              <a:t>12,13,14: Option DMC-</a:t>
            </a:r>
            <a:r>
              <a:rPr lang="de-DE" sz="1200" dirty="0" err="1">
                <a:solidFill>
                  <a:srgbClr val="FF0000"/>
                </a:solidFill>
              </a:rPr>
              <a:t>Marking</a:t>
            </a:r>
            <a:endParaRPr lang="de-DE" sz="1200" dirty="0">
              <a:solidFill>
                <a:srgbClr val="FF0000"/>
              </a:solidFill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8C2C2A6-63F8-DFBA-4848-20D65BB7A4FD}"/>
              </a:ext>
            </a:extLst>
          </p:cNvPr>
          <p:cNvSpPr txBox="1"/>
          <p:nvPr/>
        </p:nvSpPr>
        <p:spPr>
          <a:xfrm>
            <a:off x="8182018" y="5231867"/>
            <a:ext cx="353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rgbClr val="FF0000"/>
                </a:solidFill>
              </a:rPr>
              <a:t>DMC-</a:t>
            </a:r>
            <a:r>
              <a:rPr lang="de-DE" sz="1000" dirty="0" err="1">
                <a:solidFill>
                  <a:srgbClr val="FF0000"/>
                </a:solidFill>
              </a:rPr>
              <a:t>Marking</a:t>
            </a:r>
            <a:r>
              <a:rPr lang="de-DE" sz="1000" dirty="0">
                <a:solidFill>
                  <a:srgbClr val="FF0000"/>
                </a:solidFill>
              </a:rPr>
              <a:t>: 16-part </a:t>
            </a:r>
            <a:r>
              <a:rPr lang="de-DE" sz="1000" dirty="0" err="1">
                <a:solidFill>
                  <a:srgbClr val="FF0000"/>
                </a:solidFill>
              </a:rPr>
              <a:t>round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table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required</a:t>
            </a:r>
            <a:endParaRPr lang="de-DE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044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000CC7-7E56-F4D3-9D1B-FA075D6AF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Comments / Notes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69D70DC-1D6E-188B-EC6D-87BC8C9778B0}"/>
              </a:ext>
            </a:extLst>
          </p:cNvPr>
          <p:cNvSpPr txBox="1"/>
          <p:nvPr/>
        </p:nvSpPr>
        <p:spPr>
          <a:xfrm>
            <a:off x="375499" y="406631"/>
            <a:ext cx="1128472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Station 13: </a:t>
            </a:r>
            <a:r>
              <a:rPr lang="de-DE" sz="1400" dirty="0" err="1"/>
              <a:t>Marking</a:t>
            </a:r>
            <a:r>
              <a:rPr lang="de-DE" sz="1400" dirty="0"/>
              <a:t> </a:t>
            </a:r>
            <a:r>
              <a:rPr lang="de-DE" sz="1400" dirty="0" err="1"/>
              <a:t>laser</a:t>
            </a:r>
            <a:endParaRPr lang="de-DE" sz="1400" dirty="0"/>
          </a:p>
          <a:p>
            <a:pPr marL="285750" indent="-285750">
              <a:buFontTx/>
              <a:buChar char="-"/>
            </a:pPr>
            <a:r>
              <a:rPr lang="de-DE" sz="1200" dirty="0" err="1"/>
              <a:t>Warranty</a:t>
            </a:r>
            <a:r>
              <a:rPr lang="de-DE" sz="1200" dirty="0"/>
              <a:t> on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laser</a:t>
            </a:r>
            <a:r>
              <a:rPr lang="de-DE" sz="1200" dirty="0"/>
              <a:t> vmc3-class4 </a:t>
            </a:r>
            <a:r>
              <a:rPr lang="de-DE" sz="1200" dirty="0" err="1"/>
              <a:t>with</a:t>
            </a:r>
            <a:r>
              <a:rPr lang="de-DE" sz="1200" dirty="0"/>
              <a:t> </a:t>
            </a:r>
            <a:r>
              <a:rPr lang="de-DE" sz="1200" dirty="0" err="1"/>
              <a:t>special</a:t>
            </a:r>
            <a:r>
              <a:rPr lang="de-DE" sz="1200" dirty="0"/>
              <a:t> </a:t>
            </a:r>
            <a:r>
              <a:rPr lang="de-DE" sz="1200" dirty="0" err="1"/>
              <a:t>conditions</a:t>
            </a:r>
            <a:r>
              <a:rPr lang="de-DE" sz="1200" dirty="0"/>
              <a:t> </a:t>
            </a:r>
            <a:r>
              <a:rPr lang="de-DE" sz="1200" dirty="0" err="1"/>
              <a:t>between</a:t>
            </a:r>
            <a:r>
              <a:rPr lang="de-DE" sz="1200" dirty="0"/>
              <a:t> Bosch &amp; Trumpf will </a:t>
            </a:r>
            <a:r>
              <a:rPr lang="de-DE" sz="1200" dirty="0" err="1"/>
              <a:t>stop</a:t>
            </a:r>
            <a:r>
              <a:rPr lang="de-DE" sz="1200" dirty="0"/>
              <a:t> at </a:t>
            </a:r>
            <a:r>
              <a:rPr lang="de-DE" sz="1200" dirty="0" err="1"/>
              <a:t>the</a:t>
            </a:r>
            <a:r>
              <a:rPr lang="de-DE" sz="1200" dirty="0"/>
              <a:t> end </a:t>
            </a:r>
            <a:r>
              <a:rPr lang="de-DE" sz="1200" dirty="0" err="1"/>
              <a:t>of</a:t>
            </a:r>
            <a:r>
              <a:rPr lang="de-DE" sz="1200" dirty="0"/>
              <a:t> 2025. </a:t>
            </a:r>
          </a:p>
          <a:p>
            <a:pPr marL="285750" indent="-285750">
              <a:buFontTx/>
              <a:buChar char="-"/>
            </a:pPr>
            <a:r>
              <a:rPr lang="de-DE" sz="1200" dirty="0" err="1"/>
              <a:t>No</a:t>
            </a:r>
            <a:r>
              <a:rPr lang="de-DE" sz="1200" dirty="0"/>
              <a:t> </a:t>
            </a:r>
            <a:r>
              <a:rPr lang="de-DE" sz="1200" dirty="0" err="1"/>
              <a:t>more</a:t>
            </a:r>
            <a:r>
              <a:rPr lang="de-DE" sz="1200" dirty="0"/>
              <a:t> Trumpf support </a:t>
            </a:r>
            <a:r>
              <a:rPr lang="de-DE" sz="1200" dirty="0" err="1"/>
              <a:t>or</a:t>
            </a:r>
            <a:r>
              <a:rPr lang="de-DE" sz="1200" dirty="0"/>
              <a:t> spare </a:t>
            </a:r>
            <a:r>
              <a:rPr lang="de-DE" sz="1200" dirty="0" err="1"/>
              <a:t>parts</a:t>
            </a:r>
            <a:r>
              <a:rPr lang="de-DE" sz="1200" dirty="0"/>
              <a:t> </a:t>
            </a:r>
            <a:r>
              <a:rPr lang="de-DE" sz="1200" dirty="0" err="1"/>
              <a:t>available</a:t>
            </a:r>
            <a:r>
              <a:rPr lang="de-DE" sz="1200" dirty="0"/>
              <a:t> after </a:t>
            </a:r>
            <a:r>
              <a:rPr lang="de-DE" sz="1200" dirty="0" err="1"/>
              <a:t>this</a:t>
            </a:r>
            <a:r>
              <a:rPr lang="de-DE" sz="1200" dirty="0"/>
              <a:t> date!</a:t>
            </a:r>
          </a:p>
          <a:p>
            <a:pPr marL="285750" indent="-285750">
              <a:buFontTx/>
              <a:buChar char="-"/>
            </a:pPr>
            <a:endParaRPr lang="de-DE" sz="1400" dirty="0"/>
          </a:p>
          <a:p>
            <a:r>
              <a:rPr lang="de-DE" sz="1400" dirty="0"/>
              <a:t>Station 4: Hole </a:t>
            </a:r>
            <a:r>
              <a:rPr lang="de-DE" sz="1400" dirty="0" err="1"/>
              <a:t>plate</a:t>
            </a:r>
            <a:r>
              <a:rPr lang="de-DE" sz="1400" dirty="0"/>
              <a:t> </a:t>
            </a:r>
            <a:r>
              <a:rPr lang="de-DE" sz="1400" dirty="0" err="1"/>
              <a:t>measurement</a:t>
            </a:r>
            <a:endParaRPr lang="de-DE" sz="1400" dirty="0"/>
          </a:p>
          <a:p>
            <a:pPr marL="285750" indent="-285750">
              <a:buFontTx/>
              <a:buChar char="-"/>
            </a:pPr>
            <a:r>
              <a:rPr lang="de-DE" sz="1200" dirty="0" err="1"/>
              <a:t>Complete</a:t>
            </a:r>
            <a:r>
              <a:rPr lang="de-DE" sz="1200" dirty="0"/>
              <a:t> </a:t>
            </a:r>
            <a:r>
              <a:rPr lang="de-DE" sz="1200" dirty="0" err="1"/>
              <a:t>measurement</a:t>
            </a:r>
            <a:r>
              <a:rPr lang="de-DE" sz="1200" dirty="0"/>
              <a:t> </a:t>
            </a:r>
            <a:r>
              <a:rPr lang="de-DE" sz="1200" dirty="0" err="1"/>
              <a:t>equipment</a:t>
            </a:r>
            <a:r>
              <a:rPr lang="de-DE" sz="1200" dirty="0"/>
              <a:t> Plate-Inner-Ø (Stotz, </a:t>
            </a:r>
            <a:r>
              <a:rPr lang="de-DE" sz="1200" dirty="0" err="1"/>
              <a:t>measurement</a:t>
            </a:r>
            <a:r>
              <a:rPr lang="de-DE" sz="1200" dirty="0"/>
              <a:t> </a:t>
            </a:r>
            <a:r>
              <a:rPr lang="de-DE" sz="1200" dirty="0" err="1"/>
              <a:t>devices</a:t>
            </a:r>
            <a:r>
              <a:rPr lang="de-DE" sz="1200" dirty="0"/>
              <a:t>, </a:t>
            </a:r>
            <a:r>
              <a:rPr lang="de-DE" sz="1200" dirty="0" err="1"/>
              <a:t>pneumatics</a:t>
            </a:r>
            <a:r>
              <a:rPr lang="de-DE" sz="1200" dirty="0"/>
              <a:t>,…) incl. BCI-</a:t>
            </a:r>
            <a:r>
              <a:rPr lang="de-DE" sz="1200" dirty="0" err="1"/>
              <a:t>OpConPlus</a:t>
            </a:r>
            <a:r>
              <a:rPr lang="de-DE" sz="1200" dirty="0"/>
              <a:t>-</a:t>
            </a:r>
            <a:r>
              <a:rPr lang="de-DE" sz="1200" dirty="0" err="1"/>
              <a:t>Object</a:t>
            </a:r>
            <a:r>
              <a:rPr lang="de-DE" sz="1200" dirty="0"/>
              <a:t> </a:t>
            </a:r>
            <a:r>
              <a:rPr lang="de-DE" sz="1200" dirty="0" err="1"/>
              <a:t>is</a:t>
            </a:r>
            <a:r>
              <a:rPr lang="de-DE" sz="1200" dirty="0"/>
              <a:t> Bosch </a:t>
            </a:r>
            <a:r>
              <a:rPr lang="de-DE" sz="1200" dirty="0" err="1"/>
              <a:t>provision</a:t>
            </a:r>
            <a:endParaRPr lang="de-DE" sz="1200" dirty="0"/>
          </a:p>
          <a:p>
            <a:pPr marL="285750" indent="-285750">
              <a:buFontTx/>
              <a:buChar char="-"/>
            </a:pPr>
            <a:endParaRPr lang="de-DE" sz="1400" dirty="0"/>
          </a:p>
          <a:p>
            <a:r>
              <a:rPr lang="de-DE" sz="1400" dirty="0"/>
              <a:t>Station 6: </a:t>
            </a:r>
            <a:r>
              <a:rPr lang="de-DE" sz="1400" dirty="0" err="1"/>
              <a:t>Oiling</a:t>
            </a:r>
            <a:r>
              <a:rPr lang="de-DE" sz="1400" dirty="0"/>
              <a:t> </a:t>
            </a:r>
            <a:r>
              <a:rPr lang="de-DE" sz="1400" dirty="0" err="1"/>
              <a:t>inner</a:t>
            </a:r>
            <a:r>
              <a:rPr lang="de-DE" sz="1400" dirty="0"/>
              <a:t> hole </a:t>
            </a:r>
            <a:r>
              <a:rPr lang="de-DE" sz="1400" dirty="0" err="1"/>
              <a:t>plate</a:t>
            </a:r>
            <a:endParaRPr lang="de-DE" sz="1400" dirty="0"/>
          </a:p>
          <a:p>
            <a:pPr marL="285750" indent="-285750">
              <a:buFontTx/>
              <a:buChar char="-"/>
            </a:pPr>
            <a:r>
              <a:rPr lang="en-US" sz="1200" dirty="0"/>
              <a:t>We recommend the oiling of the inner hole plate instead of oiling the pin</a:t>
            </a:r>
          </a:p>
          <a:p>
            <a:pPr marL="285750" indent="-285750">
              <a:buFontTx/>
              <a:buChar char="-"/>
            </a:pPr>
            <a:endParaRPr lang="de-DE" sz="1400" dirty="0"/>
          </a:p>
          <a:p>
            <a:r>
              <a:rPr lang="de-DE" sz="1400" dirty="0"/>
              <a:t>Station 15: AOI back &amp; front            </a:t>
            </a:r>
            <a:br>
              <a:rPr lang="de-DE" sz="1400" dirty="0"/>
            </a:br>
            <a:r>
              <a:rPr lang="de-DE" sz="1400" dirty="0"/>
              <a:t>Station 16: AOI </a:t>
            </a:r>
            <a:r>
              <a:rPr lang="de-DE" sz="1400" dirty="0" err="1"/>
              <a:t>perimeter</a:t>
            </a:r>
            <a:r>
              <a:rPr lang="de-DE" sz="1400" dirty="0"/>
              <a:t> &amp; </a:t>
            </a:r>
            <a:r>
              <a:rPr lang="de-DE" sz="1400" dirty="0" err="1"/>
              <a:t>pin</a:t>
            </a:r>
            <a:endParaRPr lang="de-DE" sz="1400" dirty="0"/>
          </a:p>
          <a:p>
            <a:pPr marL="285750" indent="-285750">
              <a:buFontTx/>
              <a:buChar char="-"/>
            </a:pPr>
            <a:r>
              <a:rPr lang="de-DE" sz="1200" dirty="0" err="1"/>
              <a:t>Based</a:t>
            </a:r>
            <a:r>
              <a:rPr lang="de-DE" sz="1200" dirty="0"/>
              <a:t> on </a:t>
            </a:r>
            <a:r>
              <a:rPr lang="de-DE" sz="1200" dirty="0" err="1"/>
              <a:t>your</a:t>
            </a:r>
            <a:r>
              <a:rPr lang="de-DE" sz="1200" dirty="0"/>
              <a:t> </a:t>
            </a:r>
            <a:r>
              <a:rPr lang="de-DE" sz="1200" dirty="0" err="1"/>
              <a:t>shown</a:t>
            </a:r>
            <a:r>
              <a:rPr lang="de-DE" sz="1200" dirty="0"/>
              <a:t> „</a:t>
            </a:r>
            <a:r>
              <a:rPr lang="de-DE" sz="1200" dirty="0" err="1"/>
              <a:t>error</a:t>
            </a:r>
            <a:r>
              <a:rPr lang="de-DE" sz="1200" dirty="0"/>
              <a:t> </a:t>
            </a:r>
            <a:r>
              <a:rPr lang="de-DE" sz="1200" dirty="0" err="1"/>
              <a:t>patterns</a:t>
            </a:r>
            <a:r>
              <a:rPr lang="de-DE" sz="1200" dirty="0"/>
              <a:t>“ (</a:t>
            </a:r>
            <a:r>
              <a:rPr lang="de-DE" sz="1200" dirty="0" err="1"/>
              <a:t>your</a:t>
            </a:r>
            <a:r>
              <a:rPr lang="de-DE" sz="1200" dirty="0"/>
              <a:t> </a:t>
            </a:r>
            <a:r>
              <a:rPr lang="de-DE" sz="1200" dirty="0" err="1"/>
              <a:t>document</a:t>
            </a:r>
            <a:r>
              <a:rPr lang="de-DE" sz="1200" dirty="0"/>
              <a:t> „Visual </a:t>
            </a:r>
            <a:r>
              <a:rPr lang="de-DE" sz="1200" dirty="0" err="1"/>
              <a:t>inspection</a:t>
            </a:r>
            <a:r>
              <a:rPr lang="de-DE" sz="1200" dirty="0"/>
              <a:t> defect.pdf“) </a:t>
            </a:r>
            <a:r>
              <a:rPr lang="de-DE" sz="1200" dirty="0" err="1"/>
              <a:t>it</a:t>
            </a:r>
            <a:r>
              <a:rPr lang="de-DE" sz="1200" dirty="0"/>
              <a:t> </a:t>
            </a:r>
            <a:r>
              <a:rPr lang="de-DE" sz="1200" dirty="0" err="1"/>
              <a:t>is</a:t>
            </a:r>
            <a:r>
              <a:rPr lang="de-DE" sz="1200" dirty="0"/>
              <a:t> not possible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define</a:t>
            </a:r>
            <a:r>
              <a:rPr lang="de-DE" sz="1200" dirty="0"/>
              <a:t>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requiered</a:t>
            </a:r>
            <a:r>
              <a:rPr lang="de-DE" sz="1200" dirty="0"/>
              <a:t> </a:t>
            </a:r>
            <a:r>
              <a:rPr lang="de-DE" sz="1200" dirty="0" err="1"/>
              <a:t>camera</a:t>
            </a:r>
            <a:r>
              <a:rPr lang="de-DE" sz="1200" dirty="0"/>
              <a:t>-equipment</a:t>
            </a:r>
          </a:p>
          <a:p>
            <a:pPr marL="285750" indent="-285750">
              <a:buFontTx/>
              <a:buChar char="-"/>
            </a:pPr>
            <a:r>
              <a:rPr lang="de-DE" sz="1200" dirty="0"/>
              <a:t>Bosch </a:t>
            </a:r>
            <a:r>
              <a:rPr lang="de-DE" sz="1200" dirty="0" err="1"/>
              <a:t>feasibility</a:t>
            </a:r>
            <a:r>
              <a:rPr lang="de-DE" sz="1200" dirty="0"/>
              <a:t> </a:t>
            </a:r>
            <a:r>
              <a:rPr lang="de-DE" sz="1200" dirty="0" err="1"/>
              <a:t>study</a:t>
            </a:r>
            <a:r>
              <a:rPr lang="de-DE" sz="1200" dirty="0"/>
              <a:t> </a:t>
            </a:r>
            <a:r>
              <a:rPr lang="de-DE" sz="1200" dirty="0" err="1"/>
              <a:t>is</a:t>
            </a:r>
            <a:r>
              <a:rPr lang="de-DE" sz="1200" dirty="0"/>
              <a:t> </a:t>
            </a:r>
            <a:r>
              <a:rPr lang="de-DE" sz="1200" dirty="0" err="1"/>
              <a:t>requiered</a:t>
            </a:r>
            <a:r>
              <a:rPr lang="de-DE" sz="1200" dirty="0"/>
              <a:t> </a:t>
            </a:r>
            <a:r>
              <a:rPr lang="de-DE" sz="1200" dirty="0" err="1"/>
              <a:t>for</a:t>
            </a:r>
            <a:r>
              <a:rPr lang="de-DE" sz="1200" dirty="0"/>
              <a:t> </a:t>
            </a:r>
            <a:r>
              <a:rPr lang="de-DE" sz="1200" dirty="0" err="1"/>
              <a:t>definition</a:t>
            </a:r>
            <a:r>
              <a:rPr lang="de-DE" sz="1200" dirty="0"/>
              <a:t>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complete</a:t>
            </a:r>
            <a:r>
              <a:rPr lang="de-DE" sz="1200" dirty="0"/>
              <a:t> </a:t>
            </a:r>
            <a:r>
              <a:rPr lang="de-DE" sz="1200" dirty="0" err="1"/>
              <a:t>camera</a:t>
            </a:r>
            <a:r>
              <a:rPr lang="de-DE" sz="1200" dirty="0"/>
              <a:t>/</a:t>
            </a:r>
            <a:r>
              <a:rPr lang="de-DE" sz="1200" dirty="0" err="1"/>
              <a:t>lighting</a:t>
            </a:r>
            <a:r>
              <a:rPr lang="de-DE" sz="1200" dirty="0"/>
              <a:t> </a:t>
            </a:r>
            <a:r>
              <a:rPr lang="de-DE" sz="1200" dirty="0" err="1"/>
              <a:t>technology</a:t>
            </a:r>
            <a:endParaRPr lang="de-DE" sz="1200" dirty="0"/>
          </a:p>
          <a:p>
            <a:pPr marL="285750" indent="-285750">
              <a:buFontTx/>
              <a:buChar char="-"/>
            </a:pPr>
            <a:r>
              <a:rPr lang="de-DE" sz="1200" dirty="0" err="1"/>
              <a:t>Without</a:t>
            </a:r>
            <a:r>
              <a:rPr lang="de-DE" sz="1200" dirty="0"/>
              <a:t> </a:t>
            </a:r>
            <a:r>
              <a:rPr lang="de-DE" sz="1200" dirty="0" err="1"/>
              <a:t>this</a:t>
            </a:r>
            <a:r>
              <a:rPr lang="de-DE" sz="1200" dirty="0"/>
              <a:t> </a:t>
            </a:r>
            <a:r>
              <a:rPr lang="de-DE" sz="1200" dirty="0" err="1"/>
              <a:t>information</a:t>
            </a:r>
            <a:r>
              <a:rPr lang="de-DE" sz="1200" dirty="0"/>
              <a:t> </a:t>
            </a:r>
            <a:r>
              <a:rPr lang="de-DE" sz="1200" dirty="0" err="1"/>
              <a:t>we</a:t>
            </a:r>
            <a:r>
              <a:rPr lang="de-DE" sz="1200" dirty="0"/>
              <a:t> </a:t>
            </a:r>
            <a:r>
              <a:rPr lang="de-DE" sz="1200" dirty="0" err="1"/>
              <a:t>cannot</a:t>
            </a:r>
            <a:r>
              <a:rPr lang="de-DE" sz="1200" dirty="0"/>
              <a:t> design / </a:t>
            </a:r>
            <a:r>
              <a:rPr lang="de-DE" sz="1200" dirty="0" err="1"/>
              <a:t>calculate</a:t>
            </a:r>
            <a:r>
              <a:rPr lang="de-DE" sz="1200" dirty="0"/>
              <a:t> </a:t>
            </a:r>
            <a:r>
              <a:rPr lang="de-DE" sz="1200" dirty="0" err="1"/>
              <a:t>this</a:t>
            </a:r>
            <a:r>
              <a:rPr lang="de-DE" sz="1200" dirty="0"/>
              <a:t> </a:t>
            </a:r>
            <a:r>
              <a:rPr lang="de-DE" sz="1200" dirty="0" err="1"/>
              <a:t>both</a:t>
            </a:r>
            <a:r>
              <a:rPr lang="de-DE" sz="1200" dirty="0"/>
              <a:t> </a:t>
            </a:r>
            <a:r>
              <a:rPr lang="de-DE" sz="1200" dirty="0" err="1"/>
              <a:t>stations</a:t>
            </a:r>
            <a:endParaRPr lang="de-DE" sz="1200" dirty="0"/>
          </a:p>
          <a:p>
            <a:pPr marL="285750" indent="-285750">
              <a:buFontTx/>
              <a:buChar char="-"/>
            </a:pPr>
            <a:r>
              <a:rPr lang="de-DE" sz="1200" dirty="0" err="1"/>
              <a:t>That‘s</a:t>
            </a:r>
            <a:r>
              <a:rPr lang="de-DE" sz="1200" dirty="0"/>
              <a:t> </a:t>
            </a:r>
            <a:r>
              <a:rPr lang="de-DE" sz="1200" dirty="0" err="1"/>
              <a:t>why</a:t>
            </a:r>
            <a:r>
              <a:rPr lang="de-DE" sz="1200" dirty="0"/>
              <a:t> </a:t>
            </a:r>
            <a:r>
              <a:rPr lang="de-DE" sz="1200" dirty="0" err="1"/>
              <a:t>we</a:t>
            </a:r>
            <a:r>
              <a:rPr lang="de-DE" sz="1200" dirty="0"/>
              <a:t> </a:t>
            </a:r>
            <a:r>
              <a:rPr lang="de-DE" sz="1200" dirty="0" err="1"/>
              <a:t>only</a:t>
            </a:r>
            <a:r>
              <a:rPr lang="de-DE" sz="1200" dirty="0"/>
              <a:t> </a:t>
            </a:r>
            <a:r>
              <a:rPr lang="de-DE" sz="1200" dirty="0" err="1"/>
              <a:t>have</a:t>
            </a:r>
            <a:r>
              <a:rPr lang="de-DE" sz="1200" dirty="0"/>
              <a:t> on 2 </a:t>
            </a:r>
            <a:r>
              <a:rPr lang="de-DE" sz="1200" dirty="0" err="1"/>
              <a:t>empty</a:t>
            </a:r>
            <a:r>
              <a:rPr lang="de-DE" sz="1200" dirty="0"/>
              <a:t> </a:t>
            </a:r>
            <a:r>
              <a:rPr lang="de-DE" sz="1200" dirty="0" err="1"/>
              <a:t>stations</a:t>
            </a:r>
            <a:r>
              <a:rPr lang="de-DE" sz="1200" dirty="0"/>
              <a:t> </a:t>
            </a:r>
            <a:r>
              <a:rPr lang="de-DE" sz="1200" dirty="0" err="1"/>
              <a:t>available</a:t>
            </a:r>
            <a:endParaRPr lang="de-DE" sz="1200" dirty="0"/>
          </a:p>
          <a:p>
            <a:pPr marL="285750" indent="-285750">
              <a:buFontTx/>
              <a:buChar char="-"/>
            </a:pPr>
            <a:r>
              <a:rPr lang="de-DE" sz="1200" dirty="0"/>
              <a:t>The </a:t>
            </a:r>
            <a:r>
              <a:rPr lang="de-DE" sz="1200" dirty="0" err="1"/>
              <a:t>complete</a:t>
            </a:r>
            <a:r>
              <a:rPr lang="de-DE" sz="1200" dirty="0"/>
              <a:t> 2 </a:t>
            </a:r>
            <a:r>
              <a:rPr lang="de-DE" sz="1200" dirty="0" err="1"/>
              <a:t>Stations</a:t>
            </a:r>
            <a:r>
              <a:rPr lang="de-DE" sz="1200" dirty="0"/>
              <a:t> (</a:t>
            </a:r>
            <a:r>
              <a:rPr lang="de-DE" sz="1200" dirty="0" err="1"/>
              <a:t>Camera</a:t>
            </a:r>
            <a:r>
              <a:rPr lang="de-DE" sz="1200" dirty="0"/>
              <a:t>- and Station- Hardware, </a:t>
            </a:r>
            <a:r>
              <a:rPr lang="de-DE" sz="1200" dirty="0" err="1"/>
              <a:t>complete</a:t>
            </a:r>
            <a:r>
              <a:rPr lang="de-DE" sz="1200" dirty="0"/>
              <a:t> </a:t>
            </a:r>
            <a:r>
              <a:rPr lang="de-DE" sz="1200" dirty="0" err="1"/>
              <a:t>engineering</a:t>
            </a:r>
            <a:r>
              <a:rPr lang="de-DE" sz="1200" dirty="0"/>
              <a:t> and so on) </a:t>
            </a:r>
            <a:r>
              <a:rPr lang="de-DE" sz="1200" dirty="0" err="1"/>
              <a:t>are</a:t>
            </a:r>
            <a:r>
              <a:rPr lang="de-DE" sz="1200" dirty="0"/>
              <a:t> not </a:t>
            </a:r>
            <a:r>
              <a:rPr lang="de-DE" sz="1200" dirty="0" err="1"/>
              <a:t>calculated</a:t>
            </a:r>
            <a:br>
              <a:rPr lang="de-DE" sz="1200" dirty="0"/>
            </a:br>
            <a:endParaRPr lang="de-DE" sz="1400" dirty="0"/>
          </a:p>
          <a:p>
            <a:r>
              <a:rPr lang="de-DE" sz="1400" dirty="0"/>
              <a:t>Station 16: AOI </a:t>
            </a:r>
            <a:r>
              <a:rPr lang="de-DE" sz="1400" dirty="0" err="1"/>
              <a:t>perimeter</a:t>
            </a:r>
            <a:r>
              <a:rPr lang="de-DE" sz="1400" dirty="0"/>
              <a:t> &amp; </a:t>
            </a:r>
            <a:r>
              <a:rPr lang="de-DE" sz="1400" dirty="0" err="1"/>
              <a:t>pin</a:t>
            </a:r>
            <a:endParaRPr lang="de-DE" sz="1400" dirty="0"/>
          </a:p>
          <a:p>
            <a:pPr marL="285750" indent="-285750">
              <a:buFontTx/>
              <a:buChar char="-"/>
            </a:pPr>
            <a:r>
              <a:rPr lang="de-DE" sz="1200" dirty="0" err="1"/>
              <a:t>Identical</a:t>
            </a:r>
            <a:r>
              <a:rPr lang="de-DE" sz="1200" dirty="0"/>
              <a:t> </a:t>
            </a:r>
            <a:r>
              <a:rPr lang="de-DE" sz="1200" dirty="0" err="1"/>
              <a:t>to</a:t>
            </a:r>
            <a:r>
              <a:rPr lang="de-DE" sz="1200" dirty="0"/>
              <a:t> Station 15</a:t>
            </a:r>
          </a:p>
          <a:p>
            <a:pPr marL="540000" lvl="1" indent="-285750">
              <a:buFontTx/>
              <a:buChar char="-"/>
            </a:pPr>
            <a:endParaRPr lang="de-DE" sz="1200" dirty="0"/>
          </a:p>
          <a:p>
            <a:r>
              <a:rPr lang="de-DE" sz="1400" dirty="0"/>
              <a:t>Station 18: H</a:t>
            </a:r>
            <a:r>
              <a:rPr lang="de-DE" sz="1400" dirty="0">
                <a:solidFill>
                  <a:schemeClr val="tx1"/>
                </a:solidFill>
              </a:rPr>
              <a:t>andling </a:t>
            </a:r>
            <a:r>
              <a:rPr lang="de-DE" sz="1400" dirty="0" err="1">
                <a:solidFill>
                  <a:schemeClr val="tx1"/>
                </a:solidFill>
              </a:rPr>
              <a:t>solenoid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armature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with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o</a:t>
            </a:r>
            <a:r>
              <a:rPr lang="de-DE" sz="1400" dirty="0" err="1"/>
              <a:t>iling</a:t>
            </a:r>
            <a:r>
              <a:rPr lang="de-DE" sz="1400" dirty="0"/>
              <a:t> / </a:t>
            </a:r>
            <a:r>
              <a:rPr lang="de-DE" sz="1400" dirty="0" err="1"/>
              <a:t>cleaning</a:t>
            </a:r>
            <a:r>
              <a:rPr lang="de-DE" sz="1400" dirty="0"/>
              <a:t> </a:t>
            </a:r>
            <a:r>
              <a:rPr lang="de-DE" sz="1400" dirty="0" err="1"/>
              <a:t>station</a:t>
            </a:r>
            <a:endParaRPr lang="de-DE" sz="1400" dirty="0"/>
          </a:p>
          <a:p>
            <a:pPr marL="285750" indent="-285750">
              <a:buFontTx/>
              <a:buChar char="-"/>
            </a:pPr>
            <a:r>
              <a:rPr lang="de-DE" sz="1200" dirty="0"/>
              <a:t>A „Pilgrim </a:t>
            </a:r>
            <a:r>
              <a:rPr lang="de-DE" sz="1200" dirty="0" err="1"/>
              <a:t>step</a:t>
            </a:r>
            <a:r>
              <a:rPr lang="de-DE" sz="1200" dirty="0"/>
              <a:t> </a:t>
            </a:r>
            <a:r>
              <a:rPr lang="de-DE" sz="1200" dirty="0" err="1"/>
              <a:t>handling</a:t>
            </a:r>
            <a:r>
              <a:rPr lang="de-DE" sz="1200" dirty="0"/>
              <a:t>“ </a:t>
            </a:r>
            <a:r>
              <a:rPr lang="de-DE" sz="1200" dirty="0" err="1"/>
              <a:t>position</a:t>
            </a:r>
            <a:r>
              <a:rPr lang="de-DE" sz="1200" dirty="0"/>
              <a:t>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parts</a:t>
            </a:r>
            <a:endParaRPr lang="de-DE" sz="1200" dirty="0"/>
          </a:p>
          <a:p>
            <a:pPr marL="540000" lvl="1" indent="-285750">
              <a:buFontTx/>
              <a:buChar char="-"/>
            </a:pPr>
            <a:r>
              <a:rPr lang="de-DE" sz="1200" dirty="0" err="1"/>
              <a:t>from</a:t>
            </a:r>
            <a:r>
              <a:rPr lang="de-DE" sz="1200" dirty="0"/>
              <a:t> Round </a:t>
            </a:r>
            <a:r>
              <a:rPr lang="de-DE" sz="1200" dirty="0" err="1"/>
              <a:t>table</a:t>
            </a:r>
            <a:r>
              <a:rPr lang="de-DE" sz="1200" dirty="0"/>
              <a:t> 	</a:t>
            </a:r>
            <a:r>
              <a:rPr lang="de-DE" sz="1200" dirty="0" err="1"/>
              <a:t>to</a:t>
            </a:r>
            <a:r>
              <a:rPr lang="de-DE" sz="1200" dirty="0"/>
              <a:t> Pos-1 „</a:t>
            </a:r>
            <a:r>
              <a:rPr lang="de-DE" sz="1200" dirty="0" err="1"/>
              <a:t>Oiling</a:t>
            </a:r>
            <a:r>
              <a:rPr lang="de-DE" sz="1200" dirty="0"/>
              <a:t> / </a:t>
            </a:r>
            <a:r>
              <a:rPr lang="de-DE" sz="1200" dirty="0" err="1"/>
              <a:t>cleaning</a:t>
            </a:r>
            <a:r>
              <a:rPr lang="de-DE" sz="1200" dirty="0"/>
              <a:t> </a:t>
            </a:r>
            <a:r>
              <a:rPr lang="de-DE" sz="1200" dirty="0" err="1"/>
              <a:t>station</a:t>
            </a:r>
            <a:r>
              <a:rPr lang="de-DE" sz="1200" dirty="0"/>
              <a:t>“</a:t>
            </a:r>
          </a:p>
          <a:p>
            <a:pPr marL="540000" lvl="1" indent="-285750">
              <a:buFontTx/>
              <a:buChar char="-"/>
            </a:pPr>
            <a:r>
              <a:rPr lang="de-DE" sz="1200" dirty="0" err="1"/>
              <a:t>from</a:t>
            </a:r>
            <a:r>
              <a:rPr lang="de-DE" sz="1200" dirty="0"/>
              <a:t> Pos-1	</a:t>
            </a:r>
            <a:r>
              <a:rPr lang="de-DE" sz="1200" dirty="0" err="1"/>
              <a:t>to</a:t>
            </a:r>
            <a:r>
              <a:rPr lang="de-DE" sz="1200" dirty="0"/>
              <a:t> Pos-2 „Blow off </a:t>
            </a:r>
            <a:r>
              <a:rPr lang="de-DE" sz="1200" dirty="0" err="1"/>
              <a:t>station</a:t>
            </a:r>
            <a:r>
              <a:rPr lang="de-DE" sz="1200" dirty="0"/>
              <a:t>“</a:t>
            </a:r>
          </a:p>
          <a:p>
            <a:pPr marL="540000" lvl="1" indent="-285750">
              <a:buFontTx/>
              <a:buChar char="-"/>
            </a:pPr>
            <a:r>
              <a:rPr lang="de-DE" sz="1200" dirty="0" err="1"/>
              <a:t>from</a:t>
            </a:r>
            <a:r>
              <a:rPr lang="de-DE" sz="1200" dirty="0"/>
              <a:t> Pos-2 	</a:t>
            </a:r>
            <a:r>
              <a:rPr lang="de-DE" sz="1200" dirty="0" err="1"/>
              <a:t>to</a:t>
            </a:r>
            <a:r>
              <a:rPr lang="de-DE" sz="1200" dirty="0"/>
              <a:t> Pos-3 „Pick </a:t>
            </a:r>
            <a:r>
              <a:rPr lang="de-DE" sz="1200" dirty="0" err="1"/>
              <a:t>up</a:t>
            </a:r>
            <a:r>
              <a:rPr lang="de-DE" sz="1200" dirty="0"/>
              <a:t> </a:t>
            </a:r>
            <a:r>
              <a:rPr lang="de-DE" sz="1200" dirty="0" err="1"/>
              <a:t>part</a:t>
            </a:r>
            <a:r>
              <a:rPr lang="de-DE" sz="1200" dirty="0"/>
              <a:t> </a:t>
            </a:r>
            <a:r>
              <a:rPr lang="de-DE" sz="1200" dirty="0" err="1"/>
              <a:t>by</a:t>
            </a:r>
            <a:r>
              <a:rPr lang="de-DE" sz="1200" dirty="0"/>
              <a:t> Robot“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We cannot guarantee that the cleanliness of the parts (required in the specifications) is guaranteed by the simple oiling process</a:t>
            </a:r>
            <a:endParaRPr lang="de-DE" sz="1200" i="1" dirty="0"/>
          </a:p>
          <a:p>
            <a:pPr marL="540000" lvl="1" indent="-285750">
              <a:buFontTx/>
              <a:buChar char="-"/>
            </a:pPr>
            <a:endParaRPr lang="de-DE" sz="1200" dirty="0"/>
          </a:p>
          <a:p>
            <a:r>
              <a:rPr lang="de-DE" sz="1400" dirty="0" err="1"/>
              <a:t>OpConPlus</a:t>
            </a:r>
            <a:r>
              <a:rPr lang="de-DE" sz="1400" dirty="0"/>
              <a:t> Objects </a:t>
            </a:r>
            <a:endParaRPr lang="de-DE" sz="1200" i="1" dirty="0"/>
          </a:p>
          <a:p>
            <a:pPr marL="285750" indent="-285750">
              <a:buFontTx/>
              <a:buChar char="-"/>
            </a:pPr>
            <a:r>
              <a:rPr lang="en-US" sz="1200" dirty="0"/>
              <a:t>We assume that all required </a:t>
            </a:r>
            <a:r>
              <a:rPr lang="en-US" sz="1200" dirty="0" err="1"/>
              <a:t>OpConPlus</a:t>
            </a:r>
            <a:r>
              <a:rPr lang="en-US" sz="1200" dirty="0"/>
              <a:t> objects exist. If this is not the case, the commissioning of a new </a:t>
            </a:r>
            <a:r>
              <a:rPr lang="en-US" sz="1200" dirty="0" err="1"/>
              <a:t>OpConPlus</a:t>
            </a:r>
            <a:r>
              <a:rPr lang="en-US" sz="1200" dirty="0"/>
              <a:t> object is not within the scope of our offer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3235746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1112D0-862B-4CE0-E796-DE169582A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Price </a:t>
            </a:r>
            <a:r>
              <a:rPr lang="de-DE" dirty="0" err="1"/>
              <a:t>indication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787E160-747C-4BFB-2B72-45FBA7517827}"/>
              </a:ext>
            </a:extLst>
          </p:cNvPr>
          <p:cNvSpPr txBox="1"/>
          <p:nvPr/>
        </p:nvSpPr>
        <p:spPr>
          <a:xfrm>
            <a:off x="554064" y="1020588"/>
            <a:ext cx="10635713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Total </a:t>
            </a:r>
            <a:r>
              <a:rPr lang="de-DE" dirty="0" err="1"/>
              <a:t>price</a:t>
            </a:r>
            <a:r>
              <a:rPr lang="de-DE" dirty="0"/>
              <a:t>:</a:t>
            </a:r>
          </a:p>
          <a:p>
            <a:endParaRPr lang="de-DE" dirty="0"/>
          </a:p>
          <a:p>
            <a:r>
              <a:rPr lang="de-DE" dirty="0" err="1"/>
              <a:t>Complete</a:t>
            </a:r>
            <a:r>
              <a:rPr lang="de-DE" dirty="0"/>
              <a:t> </a:t>
            </a:r>
            <a:r>
              <a:rPr lang="de-DE" dirty="0" err="1"/>
              <a:t>machine</a:t>
            </a:r>
            <a:r>
              <a:rPr lang="de-DE" dirty="0"/>
              <a:t>:		 	1.490.000€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i="1" dirty="0" err="1"/>
              <a:t>Without</a:t>
            </a:r>
            <a:r>
              <a:rPr lang="de-DE" sz="1400" i="1" dirty="0"/>
              <a:t> </a:t>
            </a:r>
            <a:r>
              <a:rPr lang="de-DE" sz="1400" i="1" dirty="0" err="1"/>
              <a:t>option</a:t>
            </a:r>
            <a:endParaRPr lang="de-DE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i="1" dirty="0" err="1"/>
              <a:t>Including</a:t>
            </a:r>
            <a:r>
              <a:rPr lang="de-DE" sz="1400" i="1" dirty="0"/>
              <a:t> </a:t>
            </a:r>
            <a:r>
              <a:rPr lang="de-DE" sz="1400" i="1" dirty="0" err="1"/>
              <a:t>re-commissioning</a:t>
            </a:r>
            <a:r>
              <a:rPr lang="de-DE" sz="1400" i="1" dirty="0"/>
              <a:t> in </a:t>
            </a:r>
            <a:r>
              <a:rPr lang="de-DE" sz="1400" i="1" dirty="0" err="1"/>
              <a:t>Rodez</a:t>
            </a:r>
            <a:endParaRPr lang="de-DE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i="1" dirty="0"/>
          </a:p>
          <a:p>
            <a:r>
              <a:rPr lang="de-DE" dirty="0"/>
              <a:t>Option DMC-</a:t>
            </a:r>
            <a:r>
              <a:rPr lang="de-DE" dirty="0" err="1"/>
              <a:t>Marking</a:t>
            </a:r>
            <a:r>
              <a:rPr lang="de-DE" dirty="0"/>
              <a:t>:			   108.000€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i="1" dirty="0" err="1"/>
              <a:t>Including</a:t>
            </a:r>
            <a:r>
              <a:rPr lang="de-DE" sz="1400" i="1" dirty="0"/>
              <a:t> </a:t>
            </a:r>
          </a:p>
          <a:p>
            <a:pPr marL="576000" lvl="1" indent="-285750">
              <a:buFont typeface="Arial" panose="020B0604020202020204" pitchFamily="34" charset="0"/>
              <a:buChar char="•"/>
            </a:pPr>
            <a:r>
              <a:rPr lang="de-DE" sz="1400" i="1" dirty="0">
                <a:solidFill>
                  <a:srgbClr val="0000FF"/>
                </a:solidFill>
              </a:rPr>
              <a:t>16-fold </a:t>
            </a:r>
            <a:r>
              <a:rPr lang="de-DE" sz="1400" i="1" dirty="0" err="1">
                <a:solidFill>
                  <a:srgbClr val="0000FF"/>
                </a:solidFill>
              </a:rPr>
              <a:t>round</a:t>
            </a:r>
            <a:r>
              <a:rPr lang="de-DE" sz="1400" i="1" dirty="0">
                <a:solidFill>
                  <a:srgbClr val="0000FF"/>
                </a:solidFill>
              </a:rPr>
              <a:t> </a:t>
            </a:r>
            <a:r>
              <a:rPr lang="de-DE" sz="1400" i="1" dirty="0" err="1">
                <a:solidFill>
                  <a:srgbClr val="0000FF"/>
                </a:solidFill>
              </a:rPr>
              <a:t>table</a:t>
            </a:r>
            <a:r>
              <a:rPr lang="de-DE" sz="1400" i="1" dirty="0">
                <a:solidFill>
                  <a:srgbClr val="0000FF"/>
                </a:solidFill>
              </a:rPr>
              <a:t> </a:t>
            </a:r>
            <a:r>
              <a:rPr lang="de-DE" sz="1400" i="1" dirty="0" err="1">
                <a:solidFill>
                  <a:srgbClr val="0000FF"/>
                </a:solidFill>
              </a:rPr>
              <a:t>instead</a:t>
            </a:r>
            <a:r>
              <a:rPr lang="de-DE" sz="1400" i="1" dirty="0">
                <a:solidFill>
                  <a:srgbClr val="0000FF"/>
                </a:solidFill>
              </a:rPr>
              <a:t> </a:t>
            </a:r>
            <a:r>
              <a:rPr lang="de-DE" sz="1400" i="1" dirty="0" err="1">
                <a:solidFill>
                  <a:srgbClr val="0000FF"/>
                </a:solidFill>
              </a:rPr>
              <a:t>of</a:t>
            </a:r>
            <a:r>
              <a:rPr lang="de-DE" sz="1400" i="1" dirty="0">
                <a:solidFill>
                  <a:srgbClr val="0000FF"/>
                </a:solidFill>
              </a:rPr>
              <a:t> 12 </a:t>
            </a:r>
            <a:r>
              <a:rPr lang="de-DE" sz="1400" i="1" dirty="0" err="1">
                <a:solidFill>
                  <a:srgbClr val="0000FF"/>
                </a:solidFill>
              </a:rPr>
              <a:t>fold-round</a:t>
            </a:r>
            <a:r>
              <a:rPr lang="de-DE" sz="1400" i="1" dirty="0">
                <a:solidFill>
                  <a:srgbClr val="0000FF"/>
                </a:solidFill>
              </a:rPr>
              <a:t> </a:t>
            </a:r>
            <a:r>
              <a:rPr lang="de-DE" sz="1400" i="1" dirty="0" err="1">
                <a:solidFill>
                  <a:srgbClr val="0000FF"/>
                </a:solidFill>
              </a:rPr>
              <a:t>table</a:t>
            </a:r>
            <a:r>
              <a:rPr lang="de-DE" sz="1400" i="1" dirty="0">
                <a:solidFill>
                  <a:srgbClr val="0000FF"/>
                </a:solidFill>
              </a:rPr>
              <a:t>, incl. 4 additional </a:t>
            </a:r>
            <a:r>
              <a:rPr lang="de-DE" sz="1400" i="1" dirty="0" err="1">
                <a:solidFill>
                  <a:srgbClr val="0000FF"/>
                </a:solidFill>
              </a:rPr>
              <a:t>clamping</a:t>
            </a:r>
            <a:r>
              <a:rPr lang="de-DE" sz="1400" i="1" dirty="0">
                <a:solidFill>
                  <a:srgbClr val="0000FF"/>
                </a:solidFill>
              </a:rPr>
              <a:t> </a:t>
            </a:r>
            <a:r>
              <a:rPr lang="de-DE" sz="1400" i="1" dirty="0" err="1">
                <a:solidFill>
                  <a:srgbClr val="0000FF"/>
                </a:solidFill>
              </a:rPr>
              <a:t>units</a:t>
            </a:r>
            <a:r>
              <a:rPr lang="de-DE" sz="1400" i="1" dirty="0">
                <a:solidFill>
                  <a:srgbClr val="0000FF"/>
                </a:solidFill>
              </a:rPr>
              <a:t> and 1 additional </a:t>
            </a:r>
            <a:r>
              <a:rPr lang="de-DE" sz="1400" i="1" dirty="0" err="1">
                <a:solidFill>
                  <a:srgbClr val="0000FF"/>
                </a:solidFill>
              </a:rPr>
              <a:t>opening</a:t>
            </a:r>
            <a:r>
              <a:rPr lang="de-DE" sz="1400" i="1" dirty="0">
                <a:solidFill>
                  <a:srgbClr val="0000FF"/>
                </a:solidFill>
              </a:rPr>
              <a:t> </a:t>
            </a:r>
            <a:r>
              <a:rPr lang="de-DE" sz="1400" i="1" dirty="0" err="1">
                <a:solidFill>
                  <a:srgbClr val="0000FF"/>
                </a:solidFill>
              </a:rPr>
              <a:t>unit</a:t>
            </a:r>
            <a:br>
              <a:rPr lang="de-DE" sz="1400" i="1" dirty="0">
                <a:solidFill>
                  <a:srgbClr val="0000FF"/>
                </a:solidFill>
              </a:rPr>
            </a:br>
            <a:r>
              <a:rPr lang="de-DE" sz="1400" i="1" dirty="0">
                <a:solidFill>
                  <a:srgbClr val="0000FF"/>
                </a:solidFill>
              </a:rPr>
              <a:t>(additional </a:t>
            </a:r>
            <a:r>
              <a:rPr lang="de-DE" sz="1400" i="1" dirty="0" err="1">
                <a:solidFill>
                  <a:srgbClr val="0000FF"/>
                </a:solidFill>
              </a:rPr>
              <a:t>expenditure</a:t>
            </a:r>
            <a:r>
              <a:rPr lang="de-DE" sz="1400" i="1" dirty="0">
                <a:solidFill>
                  <a:srgbClr val="0000FF"/>
                </a:solidFill>
              </a:rPr>
              <a:t> </a:t>
            </a:r>
            <a:r>
              <a:rPr lang="de-DE" sz="1400" i="1" dirty="0" err="1">
                <a:solidFill>
                  <a:srgbClr val="0000FF"/>
                </a:solidFill>
              </a:rPr>
              <a:t>compared</a:t>
            </a:r>
            <a:r>
              <a:rPr lang="de-DE" sz="1400" i="1" dirty="0">
                <a:solidFill>
                  <a:srgbClr val="0000FF"/>
                </a:solidFill>
              </a:rPr>
              <a:t> </a:t>
            </a:r>
            <a:r>
              <a:rPr lang="de-DE" sz="1400" i="1" dirty="0" err="1">
                <a:solidFill>
                  <a:srgbClr val="0000FF"/>
                </a:solidFill>
              </a:rPr>
              <a:t>to</a:t>
            </a:r>
            <a:r>
              <a:rPr lang="de-DE" sz="1400" i="1" dirty="0">
                <a:solidFill>
                  <a:srgbClr val="0000FF"/>
                </a:solidFill>
              </a:rPr>
              <a:t> </a:t>
            </a:r>
            <a:r>
              <a:rPr lang="de-DE" sz="1400" i="1" dirty="0" err="1">
                <a:solidFill>
                  <a:srgbClr val="0000FF"/>
                </a:solidFill>
              </a:rPr>
              <a:t>first</a:t>
            </a:r>
            <a:r>
              <a:rPr lang="de-DE" sz="1400" i="1" dirty="0">
                <a:solidFill>
                  <a:srgbClr val="0000FF"/>
                </a:solidFill>
              </a:rPr>
              <a:t> </a:t>
            </a:r>
            <a:r>
              <a:rPr lang="de-DE" sz="1400" i="1" dirty="0" err="1">
                <a:solidFill>
                  <a:srgbClr val="0000FF"/>
                </a:solidFill>
              </a:rPr>
              <a:t>offer</a:t>
            </a:r>
            <a:r>
              <a:rPr lang="de-DE" sz="1400" i="1" dirty="0">
                <a:solidFill>
                  <a:srgbClr val="0000FF"/>
                </a:solidFill>
              </a:rPr>
              <a:t>-version)</a:t>
            </a:r>
          </a:p>
          <a:p>
            <a:pPr marL="576000" lvl="1" indent="-285750">
              <a:buFont typeface="Arial" panose="020B0604020202020204" pitchFamily="34" charset="0"/>
              <a:buChar char="•"/>
            </a:pPr>
            <a:r>
              <a:rPr lang="de-DE" sz="1400" i="1" dirty="0"/>
              <a:t>Angle Orientation </a:t>
            </a:r>
            <a:r>
              <a:rPr lang="de-DE" sz="1400" i="1" dirty="0" err="1"/>
              <a:t>before</a:t>
            </a:r>
            <a:r>
              <a:rPr lang="de-DE" sz="1400" i="1" dirty="0"/>
              <a:t> DMC-</a:t>
            </a:r>
            <a:r>
              <a:rPr lang="de-DE" sz="1400" i="1" dirty="0" err="1"/>
              <a:t>Marking</a:t>
            </a:r>
            <a:endParaRPr lang="de-DE" sz="1400" i="1" dirty="0"/>
          </a:p>
          <a:p>
            <a:pPr marL="576000" lvl="1" indent="-285750">
              <a:buFont typeface="Arial" panose="020B0604020202020204" pitchFamily="34" charset="0"/>
              <a:buChar char="•"/>
            </a:pPr>
            <a:r>
              <a:rPr lang="de-DE" sz="1400" i="1" dirty="0"/>
              <a:t>DMC-</a:t>
            </a:r>
            <a:r>
              <a:rPr lang="de-DE" sz="1400" i="1" dirty="0" err="1"/>
              <a:t>Marking</a:t>
            </a:r>
            <a:endParaRPr lang="de-DE" sz="1400" i="1" dirty="0"/>
          </a:p>
          <a:p>
            <a:pPr marL="576000" lvl="1" indent="-285750">
              <a:buFont typeface="Arial" panose="020B0604020202020204" pitchFamily="34" charset="0"/>
              <a:buChar char="•"/>
            </a:pPr>
            <a:r>
              <a:rPr lang="de-DE" sz="1400" i="1" dirty="0"/>
              <a:t>Control DMC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i="1" dirty="0"/>
              <a:t>Bosch </a:t>
            </a:r>
            <a:r>
              <a:rPr lang="de-DE" sz="1400" i="1" dirty="0" err="1"/>
              <a:t>provisions</a:t>
            </a:r>
            <a:r>
              <a:rPr lang="de-DE" sz="1400" i="1" dirty="0"/>
              <a:t> </a:t>
            </a:r>
            <a:r>
              <a:rPr lang="de-DE" sz="1400" i="1" dirty="0" err="1"/>
              <a:t>are</a:t>
            </a:r>
            <a:r>
              <a:rPr lang="de-DE" sz="1400" i="1" dirty="0"/>
              <a:t>:</a:t>
            </a:r>
          </a:p>
          <a:p>
            <a:pPr marL="576000" lvl="1" indent="-285750">
              <a:buFont typeface="Arial" panose="020B0604020202020204" pitchFamily="34" charset="0"/>
              <a:buChar char="•"/>
            </a:pPr>
            <a:r>
              <a:rPr lang="de-DE" sz="1400" i="1" dirty="0" err="1"/>
              <a:t>Complete</a:t>
            </a:r>
            <a:r>
              <a:rPr lang="de-DE" sz="1400" i="1" dirty="0"/>
              <a:t> Trumpf </a:t>
            </a:r>
            <a:r>
              <a:rPr lang="de-DE" sz="1400" i="1" dirty="0" err="1"/>
              <a:t>laser</a:t>
            </a:r>
            <a:r>
              <a:rPr lang="de-DE" sz="1400" i="1" dirty="0"/>
              <a:t> </a:t>
            </a:r>
            <a:r>
              <a:rPr lang="de-DE" sz="1400" i="1" dirty="0" err="1"/>
              <a:t>for</a:t>
            </a:r>
            <a:r>
              <a:rPr lang="de-DE" sz="1400" i="1" dirty="0"/>
              <a:t> DMC-</a:t>
            </a:r>
            <a:r>
              <a:rPr lang="de-DE" sz="1400" i="1" dirty="0" err="1"/>
              <a:t>marking</a:t>
            </a:r>
            <a:r>
              <a:rPr lang="de-DE" sz="1400" i="1" dirty="0"/>
              <a:t> incl. </a:t>
            </a:r>
            <a:r>
              <a:rPr lang="de-DE" sz="1400" i="1" dirty="0" err="1"/>
              <a:t>OpConPlus-Object</a:t>
            </a:r>
            <a:endParaRPr lang="de-DE" sz="1400" i="1" dirty="0"/>
          </a:p>
          <a:p>
            <a:pPr marL="576000" lvl="1" indent="-285750">
              <a:buFont typeface="Arial" panose="020B0604020202020204" pitchFamily="34" charset="0"/>
              <a:buChar char="•"/>
            </a:pPr>
            <a:r>
              <a:rPr lang="de-DE" sz="1400" i="1" dirty="0" err="1"/>
              <a:t>Complete</a:t>
            </a:r>
            <a:r>
              <a:rPr lang="de-DE" sz="1400" i="1" dirty="0"/>
              <a:t> </a:t>
            </a:r>
            <a:r>
              <a:rPr lang="de-DE" sz="1400" i="1" dirty="0" err="1"/>
              <a:t>Cognex</a:t>
            </a:r>
            <a:r>
              <a:rPr lang="de-DE" sz="1400" i="1" dirty="0"/>
              <a:t> </a:t>
            </a:r>
            <a:r>
              <a:rPr lang="de-DE" sz="1400" i="1" dirty="0" err="1"/>
              <a:t>camera</a:t>
            </a:r>
            <a:r>
              <a:rPr lang="de-DE" sz="1400" i="1" dirty="0"/>
              <a:t> </a:t>
            </a:r>
            <a:r>
              <a:rPr lang="de-DE" sz="1400" i="1" dirty="0" err="1"/>
              <a:t>equipment</a:t>
            </a:r>
            <a:r>
              <a:rPr lang="de-DE" sz="1400" i="1" dirty="0"/>
              <a:t> </a:t>
            </a:r>
            <a:r>
              <a:rPr lang="de-DE" sz="1400" i="1" dirty="0" err="1"/>
              <a:t>for</a:t>
            </a:r>
            <a:r>
              <a:rPr lang="de-DE" sz="1400" i="1" dirty="0"/>
              <a:t> Angle Orientation</a:t>
            </a:r>
          </a:p>
          <a:p>
            <a:pPr marL="576000" lvl="1" indent="-285750">
              <a:buFont typeface="Arial" panose="020B0604020202020204" pitchFamily="34" charset="0"/>
              <a:buChar char="•"/>
            </a:pPr>
            <a:r>
              <a:rPr lang="de-DE" sz="1400" i="1" dirty="0" err="1"/>
              <a:t>Complete</a:t>
            </a:r>
            <a:r>
              <a:rPr lang="de-DE" sz="1400" i="1" dirty="0"/>
              <a:t> </a:t>
            </a:r>
            <a:r>
              <a:rPr lang="de-DE" sz="1400" i="1" dirty="0" err="1"/>
              <a:t>Cognex</a:t>
            </a:r>
            <a:r>
              <a:rPr lang="de-DE" sz="1400" i="1" dirty="0"/>
              <a:t> </a:t>
            </a:r>
            <a:r>
              <a:rPr lang="de-DE" sz="1400" i="1" dirty="0" err="1"/>
              <a:t>camera</a:t>
            </a:r>
            <a:r>
              <a:rPr lang="de-DE" sz="1400" i="1" dirty="0"/>
              <a:t> </a:t>
            </a:r>
            <a:r>
              <a:rPr lang="de-DE" sz="1400" i="1" dirty="0" err="1"/>
              <a:t>equipment</a:t>
            </a:r>
            <a:r>
              <a:rPr lang="de-DE" sz="1400" i="1" dirty="0"/>
              <a:t> </a:t>
            </a:r>
            <a:r>
              <a:rPr lang="de-DE" sz="1400" i="1" dirty="0" err="1"/>
              <a:t>for</a:t>
            </a:r>
            <a:r>
              <a:rPr lang="de-DE" sz="1400" i="1" dirty="0"/>
              <a:t> Control</a:t>
            </a:r>
          </a:p>
          <a:p>
            <a:endParaRPr lang="de-DE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i="1" dirty="0"/>
          </a:p>
        </p:txBody>
      </p:sp>
    </p:spTree>
    <p:extLst>
      <p:ext uri="{BB962C8B-B14F-4D97-AF65-F5344CB8AC3E}">
        <p14:creationId xmlns:p14="http://schemas.microsoft.com/office/powerpoint/2010/main" val="812459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ir sagen…">
            <a:extLst>
              <a:ext uri="{FF2B5EF4-FFF2-40B4-BE49-F238E27FC236}">
                <a16:creationId xmlns:a16="http://schemas.microsoft.com/office/drawing/2014/main" id="{5B1447A0-5512-6461-2ECB-DC74C3C52059}"/>
              </a:ext>
            </a:extLst>
          </p:cNvPr>
          <p:cNvSpPr txBox="1"/>
          <p:nvPr/>
        </p:nvSpPr>
        <p:spPr>
          <a:xfrm>
            <a:off x="1106187" y="2403584"/>
            <a:ext cx="4867470" cy="1190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latin typeface="+mj-lt"/>
              </a:rPr>
              <a:t>Danke</a:t>
            </a:r>
            <a:endParaRPr sz="3691" dirty="0">
              <a:latin typeface="+mj-lt"/>
            </a:endParaRPr>
          </a:p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solidFill>
                  <a:srgbClr val="4DB8A0"/>
                </a:solidFill>
                <a:latin typeface="+mj-lt"/>
              </a:rPr>
              <a:t>für die Aufmerksamkeit</a:t>
            </a:r>
            <a:endParaRPr sz="3691" dirty="0">
              <a:solidFill>
                <a:srgbClr val="4DB8A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9747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Gluth_Standard">
      <a:dk1>
        <a:srgbClr val="2C3E48"/>
      </a:dk1>
      <a:lt1>
        <a:srgbClr val="FFFFFF"/>
      </a:lt1>
      <a:dk2>
        <a:srgbClr val="2C3E48"/>
      </a:dk2>
      <a:lt2>
        <a:srgbClr val="4DB8A0"/>
      </a:lt2>
      <a:accent1>
        <a:srgbClr val="4DB8A0"/>
      </a:accent1>
      <a:accent2>
        <a:srgbClr val="008F7B"/>
      </a:accent2>
      <a:accent3>
        <a:srgbClr val="FF540F"/>
      </a:accent3>
      <a:accent4>
        <a:srgbClr val="FFC000"/>
      </a:accent4>
      <a:accent5>
        <a:srgbClr val="5B9BD5"/>
      </a:accent5>
      <a:accent6>
        <a:srgbClr val="AD3400"/>
      </a:accent6>
      <a:hlink>
        <a:srgbClr val="0563C1"/>
      </a:hlink>
      <a:folHlink>
        <a:srgbClr val="5000A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4000" dirty="0" err="1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lnDef>
      <a:spPr>
        <a:ln w="38100">
          <a:headEnd type="none" w="med" len="med"/>
          <a:tailEnd type="none" w="med" len="med"/>
        </a:ln>
      </a:spPr>
      <a:bodyPr/>
      <a:lstStyle/>
      <a:style>
        <a:lnRef idx="2">
          <a:schemeClr val="accent2"/>
        </a:lnRef>
        <a:fillRef idx="0">
          <a:schemeClr val="accent2"/>
        </a:fillRef>
        <a:effectRef idx="1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S-F_Folienmaster_Rev5_2024.potx" id="{D8203BC2-C789-4D38-AEF8-110B84672945}" vid="{A2397648-1BD6-46F9-8747-1184E7BF7D4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MS-F_Folienmaster_Rev5_2024</Template>
  <TotalTime>0</TotalTime>
  <Words>1396</Words>
  <Application>Microsoft Office PowerPoint</Application>
  <PresentationFormat>Breitbild</PresentationFormat>
  <Paragraphs>380</Paragraphs>
  <Slides>11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Arial Nova Cond</vt:lpstr>
      <vt:lpstr>Calibri</vt:lpstr>
      <vt:lpstr>Gilroy Light</vt:lpstr>
      <vt:lpstr>Office-Design</vt:lpstr>
      <vt:lpstr>PowerPoint-Präsentation</vt:lpstr>
      <vt:lpstr>Products solenoid armature</vt:lpstr>
      <vt:lpstr>loading &amp; unloading trays</vt:lpstr>
      <vt:lpstr>Required Processes V2.1</vt:lpstr>
      <vt:lpstr>Transport unit (without options)</vt:lpstr>
      <vt:lpstr>Transport unit (with options)</vt:lpstr>
      <vt:lpstr>Layout</vt:lpstr>
      <vt:lpstr>Differences to first offer A0759100A due to new RzP-requirements</vt:lpstr>
      <vt:lpstr>Comments / Notes</vt:lpstr>
      <vt:lpstr>Price indication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Brault Fabien</dc:creator>
  <cp:lastModifiedBy>Hacker Bernhard</cp:lastModifiedBy>
  <cp:revision>146</cp:revision>
  <cp:lastPrinted>2024-09-12T06:18:10Z</cp:lastPrinted>
  <dcterms:created xsi:type="dcterms:W3CDTF">2024-03-26T09:54:41Z</dcterms:created>
  <dcterms:modified xsi:type="dcterms:W3CDTF">2024-09-19T14:00:53Z</dcterms:modified>
</cp:coreProperties>
</file>