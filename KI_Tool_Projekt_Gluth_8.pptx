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84"/>
  </p:normalViewPr>
  <p:slideViewPr>
    <p:cSldViewPr snapToGrid="0">
      <p:cViewPr varScale="1">
        <p:scale>
          <a:sx n="114" d="100"/>
          <a:sy n="114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60595-CF80-4073-A56C-A15C7391AE63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7F1D6-FC58-4F97-B05A-28C63B4736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42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051A3-A807-E542-826C-7FC52E61E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DE9EE2-DD4D-4092-6C01-2FF54D1FE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359408-013E-DDDB-5B64-96579747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FBFC62-4BFA-FF1D-C6D2-E04BAEA0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994702-B874-285F-773A-60697662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02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DD47D-9042-B2CA-1954-2C3769E6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06CB23-983F-6FE1-F836-F878DD85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04E5EB-1955-C598-246E-B84BD74D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AB5EBB-F89D-253A-CD96-7B1753C5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3F5353-AEE3-C916-2B65-83EBF12C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285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981B87-3208-E6F4-6939-AE2FD170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53B54F-5828-A469-FE70-65528DDCA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67AC2-4F6F-C9DC-C12B-0E388ADC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C8B28F-26B7-D63D-BAC2-61169836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5EDB96-762D-9C3F-21CD-A22FA620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90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11D09-7C17-1A77-299C-035B105F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2E434E-96DF-FC10-A9F0-060F0634C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CA4771-363F-C84D-B465-D7D07BA9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66A3A9-A75A-1B16-876F-BE846225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352AF2-B831-C36B-F446-F4CA5AEC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46C6F4-63A6-586E-384B-6503F8FB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02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846F7-73EF-9B78-4B61-0E51575DE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32B34E-0B4B-03E6-5450-E908F0660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87384B-5FE2-D41A-527A-3E2405295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56EB85-A3B5-F8B2-0A44-8B8C3E2A5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E0E393-D96B-9962-AAB2-26E00565F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233B6C-8EB9-4450-9C66-DB07D3AC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C44DCA-45EF-74BA-27A1-FD82F098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F996D4-629D-E76B-0D61-2707BF4D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307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A722D-6DAC-24D7-049D-AE559E2B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34106B-C1C1-D5E6-553E-39985C15D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FA0DC7-1267-6CC0-95ED-AE19DE14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E597D2-D38F-470B-A555-638A6B37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72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1351E62-86EA-5A47-8860-A2CA44C5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2E515B-B224-A5F4-A1BB-A5F1C6D9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13DD9-4418-968D-D26B-A82A9FA3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98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B5AAA-569E-4BF8-1DA8-C30ABE92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2F79E0-7453-F6E7-DC34-9B1696B59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9A1FE6-BA08-CB67-56DA-2A9C8E8F9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74E9EE-5721-7768-A7C5-52D8D5CA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2F3A69-028F-09A6-8BE1-4DAD4058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6CD8F6-BE9E-8F6F-1CA7-B87B9E79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781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7FB88-4549-390B-3FE6-5D6F19AE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B6CB29-33C2-6FEC-750E-47EF2A2E6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553E76-00C8-B4CB-A421-F02B208C0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065047-D8AE-8508-436D-926FDC10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A0E0FF-F5E2-722D-DC9D-084DC809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852DBC-D3BB-DA77-C5C2-B84CFE39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80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9A221-774D-8FA6-9814-E9ADDEB9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412297-46AE-D5C6-FC25-792FF4703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465E50-225B-4795-A733-09EB3F8DB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F9649C-A325-D8A9-356A-D1D09052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7FAB1-4A9B-9D57-9A38-4D9CAD2E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55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3DD3BED-0D2F-8D8E-BE39-57FF1323B9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4AD0BA-882D-4414-DDD8-3A7130233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1C5267-E5B3-DBA0-4083-BF0EC72B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DD2031-6DA2-9A4D-5779-B9480988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646B20-8FF2-D9BC-9F32-CD96A6A8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4408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937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Aufbruch 2026 +X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08.09.26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47406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92209CA-EFDE-4AB8-9222-590C7472CDAB}" type="slidenum">
              <a:rPr lang="de-DE" sz="1000" b="1" smtClean="0">
                <a:solidFill>
                  <a:srgbClr val="2C3F48"/>
                </a:solidFill>
                <a:latin typeface="+mj-lt"/>
              </a:rPr>
              <a:t>‹Nr.›</a:t>
            </a:fld>
            <a:endParaRPr lang="de-DE" sz="1000" b="1" dirty="0">
              <a:solidFill>
                <a:srgbClr val="2C3F48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  <p:pic>
        <p:nvPicPr>
          <p:cNvPr id="4" name="Grafik 3" descr="Ein Bild, das Dunkelheit, Screenshot, Muster, Schwarz enthält.&#10;&#10;Automatisch generierte Beschreibung">
            <a:extLst>
              <a:ext uri="{FF2B5EF4-FFF2-40B4-BE49-F238E27FC236}">
                <a16:creationId xmlns:a16="http://schemas.microsoft.com/office/drawing/2014/main" id="{F7D7AE5E-5A0C-DB66-824E-3C5B17CB86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000" y="0"/>
            <a:ext cx="2520000" cy="2280617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D6144C0-0872-049D-2989-A14B89128B0C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40000" dist="12700" dir="540000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67BC5588-ECE9-8D95-CA31-3D38CA062E55}"/>
              </a:ext>
            </a:extLst>
          </p:cNvPr>
          <p:cNvSpPr txBox="1"/>
          <p:nvPr userDrawn="1"/>
        </p:nvSpPr>
        <p:spPr>
          <a:xfrm>
            <a:off x="498764" y="6525491"/>
            <a:ext cx="15311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i="1" dirty="0"/>
              <a:t>TL - Thomas Hohenwarter</a:t>
            </a:r>
            <a:endParaRPr lang="en-GB" sz="900" i="1" dirty="0"/>
          </a:p>
        </p:txBody>
      </p:sp>
    </p:spTree>
    <p:extLst>
      <p:ext uri="{BB962C8B-B14F-4D97-AF65-F5344CB8AC3E}">
        <p14:creationId xmlns:p14="http://schemas.microsoft.com/office/powerpoint/2010/main" val="3379204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n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9E30ABF-7ED5-3B2D-22C1-3EB9EAFEA898}"/>
              </a:ext>
            </a:extLst>
          </p:cNvPr>
          <p:cNvSpPr/>
          <p:nvPr userDrawn="1"/>
        </p:nvSpPr>
        <p:spPr>
          <a:xfrm>
            <a:off x="8003263" y="4744016"/>
            <a:ext cx="3413157" cy="11431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9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60813A-7893-CAA0-7CE6-5F67B9AC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795741-7C8F-05A5-9CAA-BBE6A28A9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786009-B0E9-215C-94BC-06A5F19F7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5098F-A174-48FD-8560-CD964A3A4619}" type="datetimeFigureOut">
              <a:rPr lang="de-DE" smtClean="0"/>
              <a:t>08.09.26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237B5A-A029-927A-F3A4-1391DA9D7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DCAF24-83B1-A584-4877-5C3852865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38BC8-EC3C-4BD0-A2B3-4E213B332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27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3584" y="932688"/>
            <a:ext cx="9326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KI im Wertstrom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2066543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4DB8A0"/>
                </a:solidFill>
              </a:rPr>
              <a:t>Use Case 0 — Technischer Vertrieb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3584" y="2706624"/>
            <a:ext cx="201168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43584" y="30175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8D4DA"/>
                </a:solidFill>
              </a:rPr>
              <a:t>Was heute steht, was es bringt, und wie es weitergeht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387705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DB8A0"/>
                </a:solidFill>
              </a:rPr>
              <a:t>„Faster. Smarter. Leaner.“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427939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8D4DA"/>
                </a:solidFill>
              </a:rPr>
              <a:t>Thomas Hohenwarter · Kenshin · Shobhit · Animesh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Wofür wir das bauen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Der Vertrieb gewinnt Zeit für das, was er gut kann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129844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7727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Übersehenes wird sichtbar, vergleichbare Projekte sind in Sekunden gefunden.</a:t>
            </a:r>
            <a:br>
              <a:rPr lang="de-DE" b="1" dirty="0">
                <a:solidFill>
                  <a:schemeClr val="bg1"/>
                </a:solidFill>
              </a:rPr>
            </a:br>
            <a:r>
              <a:rPr lang="de-DE" b="1" dirty="0">
                <a:solidFill>
                  <a:schemeClr val="bg1"/>
                </a:solidFill>
              </a:rPr>
              <a:t>Das Werkzeug ersetzt nicht das Lesen — es übernimmt das Abgleichen.</a:t>
            </a:r>
            <a:endParaRPr b="1" i="0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761488"/>
            <a:ext cx="3453384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9536" y="3072384"/>
            <a:ext cx="82296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291840"/>
            <a:ext cx="2831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E2841"/>
                </a:solidFill>
              </a:rPr>
              <a:t>Schneller antworten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840480"/>
            <a:ext cx="283159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Wer zuerst ein durchdachtes Angebot vorlegt, ist im Rennen. Der Weg von der Anfrage zur Anforderungsliste wird kürzer.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2761488"/>
            <a:ext cx="3453384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8680" y="3072384"/>
            <a:ext cx="82296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8680" y="3291840"/>
            <a:ext cx="2831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E2841"/>
                </a:solidFill>
              </a:rPr>
              <a:t>Aus dem Archiv schöpfen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680" y="3840480"/>
            <a:ext cx="283159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Zwanzig Jahre Projekte als Ideengeber: vergleichbare Anlagen, bewährte Lösungen, ein Kalkulationsanker.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6928" y="2761488"/>
            <a:ext cx="3453384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97824" y="3072384"/>
            <a:ext cx="82296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7824" y="3291840"/>
            <a:ext cx="2831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50" b="1" i="0">
                <a:solidFill>
                  <a:srgbClr val="0E2841"/>
                </a:solidFill>
              </a:rPr>
              <a:t>Weniger Nachträge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7824" y="3840480"/>
            <a:ext cx="283159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Übersehene Anforderungen und veraltete Normstände kosten später Geld — sie werden vorher sichtbar.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7"/>
            <a:ext cx="11091672" cy="768096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504688"/>
            <a:ext cx="10268712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Das Werkzeug ersetzt keinen Prozess und bewertet niemanden. Es liest, ordnet und vergleicht — die Lösung entwickelt weiterhin der Ingenieur.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Was heute steht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Gezählt, nicht geschätzt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498598" cy="278892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26464"/>
            <a:ext cx="198653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4DB8A0"/>
                </a:solidFill>
              </a:rPr>
              <a:t>8.745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04288"/>
            <a:ext cx="204139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durchsuchbare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Textstellen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45536"/>
            <a:ext cx="198653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aus vier Projektordnern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998" y="1188720"/>
            <a:ext cx="2498598" cy="278892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9030" y="1426464"/>
            <a:ext cx="198653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4DB8A0"/>
                </a:solidFill>
              </a:rPr>
              <a:t>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9030" y="2304288"/>
            <a:ext cx="204139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von 236 Dokumenten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gelesen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9030" y="3145536"/>
            <a:ext cx="198653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PDF, Word, Excel,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Outlook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7356" y="1188720"/>
            <a:ext cx="2498598" cy="278892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3388" y="1426464"/>
            <a:ext cx="198653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4DB8A0"/>
                </a:solidFill>
              </a:rP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3388" y="2304288"/>
            <a:ext cx="204139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gefundene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Versionsprobleme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3388" y="3145536"/>
            <a:ext cx="198653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vorher nicht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bezifferbar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1714" y="1188720"/>
            <a:ext cx="2498598" cy="278892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97746" y="1426464"/>
            <a:ext cx="198653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4DB8A0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7746" y="2304288"/>
            <a:ext cx="204139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Dokumente verlassen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den Rechner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7746" y="3145536"/>
            <a:ext cx="198653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kein Konto,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570"/>
                </a:solidFill>
              </a:rPr>
              <a:t>keine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42816"/>
            <a:ext cx="11091672" cy="138988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43984"/>
            <a:ext cx="10177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4DB8A0"/>
                </a:solidFill>
              </a:rPr>
              <a:t>WAS DAMIT HEUTE MÖGLICH 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91456"/>
            <a:ext cx="101772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Suchen · zu jeder Aussage die Quelle zeigen · Versionen vergleichen · Normen auflisten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Alles auf dem Notebook, auch ohne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Was das Werkzeug schon gefunden 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Drei Dinge, die vorher niemand beziffern konnte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533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463040"/>
            <a:ext cx="2831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B47A1E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40864"/>
            <a:ext cx="28315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zitierte Normen liegen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nicht im Haus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090672"/>
            <a:ext cx="283159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Ein Lastenheft fordert eine Norm — die Fassung dazu ist nirgends abgelegt. Ändert sie sich, merkt es niemand.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7784" y="1188720"/>
            <a:ext cx="34533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78680" y="1463040"/>
            <a:ext cx="2831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B47A1E"/>
                </a:solidFill>
              </a:rPr>
              <a:t>25 %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680" y="2340864"/>
            <a:ext cx="28315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der Anfrage-Dokumente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sind eingescannt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680" y="3090672"/>
            <a:ext cx="283159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Bilder ohne Text. Auch mit Strg+F findet sie niemand — weder Mensch noch Programm.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6928" y="1188720"/>
            <a:ext cx="3453384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97824" y="1463040"/>
            <a:ext cx="2831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B47A1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7824" y="2340864"/>
            <a:ext cx="28315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lesbare Datei in allen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2841"/>
                </a:solidFill>
              </a:rPr>
              <a:t>Korrespondenzordnern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7824" y="3090672"/>
            <a:ext cx="283159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Was in Besprechungen entschieden wird, ist nirgends gesammelt nachlesbar.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35424"/>
            <a:ext cx="11091672" cy="82296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4736592"/>
            <a:ext cx="1026871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Diese drei Punkte hat das Werkzeug bei der ersten Auswertung von vier Projektordnern gefunden. Jeder davon kostet heute irgendwann Geld — nur merkt man es erst hinterher.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Live am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Vier Momente, vier Minuten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896112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" y="1453896"/>
            <a:ext cx="365760" cy="36576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389888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E2841"/>
                </a:solidFill>
              </a:rPr>
              <a:t>Suchen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26464"/>
            <a:ext cx="74340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570"/>
                </a:solidFill>
              </a:rPr>
              <a:t>„Haben wir so etwas schon einmal gebaut?“ — in normaler Sprache gefragt.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31136"/>
            <a:ext cx="11091672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950976" y="2496312"/>
            <a:ext cx="365760" cy="36576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432304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E2841"/>
                </a:solidFill>
              </a:rPr>
              <a:t>Belegen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74340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570"/>
                </a:solidFill>
              </a:rPr>
              <a:t>Ein Klick öffnet die Originalseite. Nichts ist erfunden.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73552"/>
            <a:ext cx="11091672" cy="896112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976" y="3538728"/>
            <a:ext cx="365760" cy="36576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474720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E2841"/>
                </a:solidFill>
              </a:rPr>
              <a:t>Prüfen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11296"/>
            <a:ext cx="74340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570"/>
                </a:solidFill>
              </a:rPr>
              <a:t>59 Versionsprobleme, die heute niemand systematisch findet.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15968"/>
            <a:ext cx="11091672" cy="8961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0976" y="4581144"/>
            <a:ext cx="365760" cy="36576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517136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E2841"/>
                </a:solidFill>
              </a:rPr>
              <a:t>Trennen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553712"/>
            <a:ext cx="74340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5A6570"/>
                </a:solidFill>
              </a:rPr>
              <a:t>Netzwerk aus — die Suche läuft weiter.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1324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A6570"/>
                </a:solidFill>
              </a:rPr>
              <a:t>Alles läuft auf dem Notebook. Keine Cloud, kein Konto, keine Anmeldung.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Was das im Angebotsprozess wert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Drei Zahlen, die Sie kennen — und wir nicht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270504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463040"/>
            <a:ext cx="26852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Wie viele Anfragen bearbeitet der technische Vertrieb im Jahr?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7" y="2670048"/>
            <a:ext cx="2685288" cy="27432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65448" y="190195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5A6570"/>
                </a:solidFill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9223" y="1188720"/>
            <a:ext cx="3270504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832" y="1463040"/>
            <a:ext cx="26852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Wie viele Stunden kostet eine Anfrage heute, bis die Liste steht?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1832" y="2670048"/>
            <a:ext cx="2685288" cy="27432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6032" y="1901952"/>
            <a:ext cx="3840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5A6570"/>
                </a:solidFill>
              </a:rP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9807" y="1188720"/>
            <a:ext cx="3270504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2416" y="1463040"/>
            <a:ext cx="268528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Was kostet bei Ihnen eine Ingenieurstunde?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62416" y="2670048"/>
            <a:ext cx="2685288" cy="27432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456432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75888"/>
            <a:ext cx="10177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4DB8A0"/>
                </a:solidFill>
              </a:rPr>
              <a:t>DAS IST DER TOPF, UM DEN ES GEHT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1772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Wie viel davon wir heben, messen wir in Woche 1 und 2 — mit Ihrem Vertrieb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und einer Stoppuhr. Danach reden wir über Zahlen statt über Annahmen.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5047488"/>
            <a:ext cx="109819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A6570"/>
                </a:solidFill>
              </a:rPr>
              <a:t>Und die zweite Frage: Was kostet ein Nachtrag, der entsteht, weil eine Normänderung übersehen wurde? 57 zitierte Normen liegen heute nicht im Haus.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Was der Vertrieb bekommt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Aus achtzig Seiten PDF wird eine sortierte Tabelle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07008"/>
            <a:ext cx="5362956" cy="749808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1444752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298448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Anforderungsliste als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09344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jede Zeile mit Datei und Seite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2231136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084832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Rückfragenliste für den Kunden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95728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was im Lastenheft offen geblieben 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79776"/>
            <a:ext cx="5362956" cy="749808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017520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2871216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Vollständigkeitsprüfung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182112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was fehlt gegenüber dem eigenen Standard</a:t>
            </a:r>
          </a:p>
        </p:txBody>
      </p:sp>
      <p:sp>
        <p:nvSpPr>
          <p:cNvPr id="15" name="Oval 14"/>
          <p:cNvSpPr/>
          <p:nvPr/>
        </p:nvSpPr>
        <p:spPr>
          <a:xfrm>
            <a:off x="822959" y="3803904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57600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Normen-Übersicht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968496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alle genannten Normen mit Stand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7356" y="1207008"/>
            <a:ext cx="5362956" cy="749808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51676" y="1444752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44284" y="1298448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Vergleich zweier Fassungen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4284" y="1609344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was hat sich von Rev. B zu Rev. C geändert</a:t>
            </a:r>
          </a:p>
        </p:txBody>
      </p:sp>
      <p:sp>
        <p:nvSpPr>
          <p:cNvPr id="22" name="Oval 21"/>
          <p:cNvSpPr/>
          <p:nvPr/>
        </p:nvSpPr>
        <p:spPr>
          <a:xfrm>
            <a:off x="6551676" y="2231136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44284" y="2084832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Ähnliche Altprojekte finden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4284" y="2395728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haben wir so etwas schon gebaut?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7356" y="2779776"/>
            <a:ext cx="5362956" cy="749808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51676" y="3017520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44284" y="2871216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Kostenanker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4284" y="3182112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wie lag ein vergleichbares Projekt?</a:t>
            </a:r>
          </a:p>
        </p:txBody>
      </p:sp>
      <p:sp>
        <p:nvSpPr>
          <p:cNvPr id="29" name="Oval 28"/>
          <p:cNvSpPr/>
          <p:nvPr/>
        </p:nvSpPr>
        <p:spPr>
          <a:xfrm>
            <a:off x="6551676" y="3803904"/>
            <a:ext cx="118872" cy="118872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44284" y="3657600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E2841"/>
                </a:solidFill>
              </a:rPr>
              <a:t>Risikoliste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4284" y="3968496"/>
            <a:ext cx="44942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fehlende Angaben, Abweichungen vom Standard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11091672" cy="82296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" y="4773168"/>
            <a:ext cx="1026871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Es rechnet nicht, es rät nicht, es erfindet nichts. Es liest, ordnet und vergleicht. Die Lösung entwickelt weiterhin der Ingenieur.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Keine Wette auf eine Technologie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Warum sich der Weg auch ohne KI rechnet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141732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99616"/>
            <a:ext cx="101772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</a:rPr>
              <a:t>Fünf von sechs Arbeitsschritten brauchen überhaupt kein KI-Modell.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</a:rPr>
              <a:t>Fiele morgen jede KI weg, bliebe der Nutzen bestehen.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9504"/>
            <a:ext cx="3453384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9536" y="3182112"/>
            <a:ext cx="82296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3401568"/>
            <a:ext cx="2831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E2841"/>
                </a:solidFill>
              </a:rPr>
              <a:t>Keine Lizenzkosten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05072"/>
            <a:ext cx="28315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Suche, Belege und Versionsprüfung laufen ohne Abonnement.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7784" y="2889504"/>
            <a:ext cx="3453384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8680" y="3182112"/>
            <a:ext cx="82296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8680" y="3401568"/>
            <a:ext cx="2831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E2841"/>
                </a:solidFill>
              </a:rPr>
              <a:t>Keine Abhängigkeit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680" y="4005072"/>
            <a:ext cx="28315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Alles läuft auf einem Rechner im Haus, mit freier Software.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6928" y="2889504"/>
            <a:ext cx="3453384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97824" y="3182112"/>
            <a:ext cx="82296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7824" y="3401568"/>
            <a:ext cx="2831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E2841"/>
                </a:solidFill>
              </a:rPr>
              <a:t>Nichts verlässt das Haus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7824" y="4005072"/>
            <a:ext cx="28315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A6570"/>
                </a:solidFill>
              </a:rPr>
              <a:t>Kein Konto, keine Cloud, keine Übertragung an Dritte.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92624"/>
            <a:ext cx="11091672" cy="82296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5193792"/>
            <a:ext cx="1026871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Ob die Freigabe für Azure kommt oder nicht, ändert daran nichts. Sie entscheidet nur darüber, wie bequem der letzte Schritt wird.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Bestätigung aus dem eigenen Haus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Die Konstruktion hat unabhängig dasselbe vorgeschlagen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91672" cy="1170432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772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Herr Genau, Teamleiter Mechanische Konstruktion, hat ohne unser Zutun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</a:rPr>
              <a:t>dieselbe Lösung vorgeschlagen. Sechs seiner Punkte bauen wir bereits.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87752"/>
            <a:ext cx="11091672" cy="347472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2715768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642615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Kundenunterlagen automatisch auslesen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42615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läuft</a:t>
            </a:r>
          </a:p>
        </p:txBody>
      </p:sp>
      <p:sp>
        <p:nvSpPr>
          <p:cNvPr id="10" name="Oval 9"/>
          <p:cNvSpPr/>
          <p:nvPr/>
        </p:nvSpPr>
        <p:spPr>
          <a:xfrm>
            <a:off x="841247" y="3081527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3008375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Nachvollziehbarkeit jeder Anforderung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008375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läuft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19272"/>
            <a:ext cx="11091672" cy="347472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3447287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3374135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Erkennen, welche Fassung aktuell gilt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74135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läuft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3813048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73989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Änderungen zwischen Fassungen sichtbar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3989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läuft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50792"/>
            <a:ext cx="11091672" cy="347472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7" y="4178808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410565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Eine gemeinsame Informationsbasis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0565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läuft</a:t>
            </a:r>
          </a:p>
        </p:txBody>
      </p:sp>
      <p:sp>
        <p:nvSpPr>
          <p:cNvPr id="24" name="Oval 23"/>
          <p:cNvSpPr/>
          <p:nvPr/>
        </p:nvSpPr>
        <p:spPr>
          <a:xfrm>
            <a:off x="841247" y="4544568"/>
            <a:ext cx="114300" cy="114300"/>
          </a:xfrm>
          <a:prstGeom prst="ellipse">
            <a:avLst/>
          </a:prstGeom>
          <a:solidFill>
            <a:srgbClr val="008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33856" y="447141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Anforderungen strukturiert erfassen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47141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im Bau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82312"/>
            <a:ext cx="11091672" cy="347472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7" y="4910328"/>
            <a:ext cx="114300" cy="114300"/>
          </a:xfrm>
          <a:prstGeom prst="ellipse">
            <a:avLst/>
          </a:prstGeom>
          <a:solidFill>
            <a:srgbClr val="B4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33856" y="483717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Entwicklungsakte im Gluth-Format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8371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47A1E"/>
                </a:solidFill>
              </a:rPr>
              <a:t>offen</a:t>
            </a:r>
          </a:p>
        </p:txBody>
      </p:sp>
      <p:sp>
        <p:nvSpPr>
          <p:cNvPr id="31" name="Oval 30"/>
          <p:cNvSpPr/>
          <p:nvPr/>
        </p:nvSpPr>
        <p:spPr>
          <a:xfrm>
            <a:off x="841247" y="5276088"/>
            <a:ext cx="114300" cy="114300"/>
          </a:xfrm>
          <a:prstGeom prst="ellipse">
            <a:avLst/>
          </a:prstGeom>
          <a:solidFill>
            <a:srgbClr val="B4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33856" y="520293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A1F24"/>
                </a:solidFill>
              </a:rPr>
              <a:t>Protokolle laufend einspeisen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20293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47A1E"/>
                </a:solidFill>
              </a:rPr>
              <a:t>offen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3" y="5669280"/>
            <a:ext cx="109819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A6570"/>
                </a:solidFill>
              </a:rPr>
              <a:t>Was noch offen ist, hängt nicht an Technik: wir brauchen fünf bis zehn bestehende Entwicklungsakten und zwei Stunden mit Herrn Genau.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1600" b="1">
                <a:solidFill>
                  <a:srgbClr val="0E2841"/>
                </a:solidFill>
              </a:rPr>
              <a:t>Die nächsten sechs Wochen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50" b="1" i="0">
                <a:solidFill>
                  <a:srgbClr val="0E2841"/>
                </a:solidFill>
              </a:rPr>
              <a:t>Drei Abschnitte, jeder mit einem vorzeigbaren Ergebnis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53384" cy="35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53384" cy="493776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16736"/>
            <a:ext cx="2868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4DB8A0"/>
                </a:solidFill>
              </a:rPr>
              <a:t>WOCHE 1 –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0240"/>
            <a:ext cx="28681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E2841"/>
                </a:solidFill>
              </a:rPr>
              <a:t>Messen</a:t>
            </a:r>
          </a:p>
        </p:txBody>
      </p:sp>
      <p:sp>
        <p:nvSpPr>
          <p:cNvPr id="8" name="Oval 7"/>
          <p:cNvSpPr/>
          <p:nvPr/>
        </p:nvSpPr>
        <p:spPr>
          <a:xfrm>
            <a:off x="859536" y="2569464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" y="2505456"/>
            <a:ext cx="2557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A1F24"/>
                </a:solidFill>
              </a:rPr>
              <a:t>Eine Anfrage wie heute bearbeiten — mit Stoppuhr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3300984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3236976"/>
            <a:ext cx="2557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A1F24"/>
                </a:solidFill>
              </a:rPr>
              <a:t>Diese Zahl ist der Vergleichswert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3858768"/>
            <a:ext cx="2868168" cy="19050"/>
          </a:xfrm>
          <a:prstGeom prst="rect">
            <a:avLst/>
          </a:prstGeom>
          <a:solidFill>
            <a:srgbClr val="D8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986784"/>
            <a:ext cx="2868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</a:rPr>
              <a:t>ERGEBNIS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24528"/>
            <a:ext cx="2868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die Vorher-Zahl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7784" y="1188720"/>
            <a:ext cx="3453384" cy="35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67784" y="1188720"/>
            <a:ext cx="3453384" cy="493776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0392" y="1316736"/>
            <a:ext cx="2868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4DB8A0"/>
                </a:solidFill>
              </a:rPr>
              <a:t>WOCHE 2 –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0392" y="1920240"/>
            <a:ext cx="28681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E2841"/>
                </a:solidFill>
              </a:rPr>
              <a:t>Bauen</a:t>
            </a:r>
          </a:p>
        </p:txBody>
      </p:sp>
      <p:sp>
        <p:nvSpPr>
          <p:cNvPr id="19" name="Oval 18"/>
          <p:cNvSpPr/>
          <p:nvPr/>
        </p:nvSpPr>
        <p:spPr>
          <a:xfrm>
            <a:off x="4678680" y="2569464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999" y="2505456"/>
            <a:ext cx="2557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A1F24"/>
                </a:solidFill>
              </a:rPr>
              <a:t>Anforderungen automatisch erkennen</a:t>
            </a:r>
          </a:p>
        </p:txBody>
      </p:sp>
      <p:sp>
        <p:nvSpPr>
          <p:cNvPr id="21" name="Oval 20"/>
          <p:cNvSpPr/>
          <p:nvPr/>
        </p:nvSpPr>
        <p:spPr>
          <a:xfrm>
            <a:off x="4678680" y="3300984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2999" y="3236976"/>
            <a:ext cx="2557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A1F24"/>
                </a:solidFill>
              </a:rPr>
              <a:t>Erste Excel-Liste aus echten Lastenheften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0392" y="3858768"/>
            <a:ext cx="2868168" cy="19050"/>
          </a:xfrm>
          <a:prstGeom prst="rect">
            <a:avLst/>
          </a:prstGeom>
          <a:solidFill>
            <a:srgbClr val="D8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0392" y="3986784"/>
            <a:ext cx="2868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</a:rPr>
              <a:t>ERGEBNIS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0392" y="4224528"/>
            <a:ext cx="2868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die Anforderungsliste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6928" y="1188720"/>
            <a:ext cx="3453384" cy="35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86928" y="1188720"/>
            <a:ext cx="3453384" cy="493776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79536" y="1316736"/>
            <a:ext cx="2868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4DB8A0"/>
                </a:solidFill>
              </a:rPr>
              <a:t>WOCHE 5 –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9536" y="1920240"/>
            <a:ext cx="28681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E2841"/>
                </a:solidFill>
              </a:rPr>
              <a:t>Prüfen</a:t>
            </a:r>
          </a:p>
        </p:txBody>
      </p:sp>
      <p:sp>
        <p:nvSpPr>
          <p:cNvPr id="30" name="Oval 29"/>
          <p:cNvSpPr/>
          <p:nvPr/>
        </p:nvSpPr>
        <p:spPr>
          <a:xfrm>
            <a:off x="8497824" y="2569464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2144" y="2505456"/>
            <a:ext cx="2557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A1F24"/>
                </a:solidFill>
              </a:rPr>
              <a:t>Dieselbe Anfrage mit dem Werkzeug</a:t>
            </a:r>
          </a:p>
        </p:txBody>
      </p:sp>
      <p:sp>
        <p:nvSpPr>
          <p:cNvPr id="32" name="Oval 31"/>
          <p:cNvSpPr/>
          <p:nvPr/>
        </p:nvSpPr>
        <p:spPr>
          <a:xfrm>
            <a:off x="8497824" y="3300984"/>
            <a:ext cx="114300" cy="114300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2144" y="3236976"/>
            <a:ext cx="2557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A1F24"/>
                </a:solidFill>
              </a:rPr>
              <a:t>Dieselbe Messung wie in Woche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79536" y="3858768"/>
            <a:ext cx="2868168" cy="19050"/>
          </a:xfrm>
          <a:prstGeom prst="rect">
            <a:avLst/>
          </a:prstGeom>
          <a:solidFill>
            <a:srgbClr val="D8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79536" y="3986784"/>
            <a:ext cx="2868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5A6570"/>
                </a:solidFill>
              </a:rPr>
              <a:t>ERGEBNIS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9536" y="4224528"/>
            <a:ext cx="2868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08F7B"/>
                </a:solidFill>
              </a:rPr>
              <a:t>die Ersparnis in Zahlen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19472"/>
            <a:ext cx="11091672" cy="822960"/>
          </a:xfrm>
          <a:prstGeom prst="roundRect">
            <a:avLst>
              <a:gd name="adj" fmla="val 4000"/>
            </a:avLst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" y="5120640"/>
            <a:ext cx="1026871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0E2841"/>
                </a:solidFill>
              </a:rPr>
              <a:t>Die Messung in Woche 1 ist nicht nachholbar. Sobald jemand das Werkzeug kennt und benutzt, gibt es keinen unverfälschten Vorher-Wert mehr.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0704" y="841248"/>
            <a:ext cx="10058400" cy="3913632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16736" y="1060704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</a:rPr>
              <a:t>Zwei Zusagen für heute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6736" y="1847088"/>
            <a:ext cx="2011680" cy="19050"/>
          </a:xfrm>
          <a:prstGeom prst="rect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1353312" y="2157984"/>
            <a:ext cx="402336" cy="402336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5104" y="2121408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Zwei Stunden Vertriebszeit in Woche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5104" y="2523744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8D4DA"/>
                </a:solidFill>
              </a:rPr>
              <a:t>für die Ausgangsmessung — ohne sie lässt sich am Ende nichts belegen</a:t>
            </a:r>
          </a:p>
        </p:txBody>
      </p:sp>
      <p:sp>
        <p:nvSpPr>
          <p:cNvPr id="8" name="Oval 7"/>
          <p:cNvSpPr/>
          <p:nvPr/>
        </p:nvSpPr>
        <p:spPr>
          <a:xfrm>
            <a:off x="1353312" y="3090672"/>
            <a:ext cx="402336" cy="402336"/>
          </a:xfrm>
          <a:prstGeom prst="ellipse">
            <a:avLst/>
          </a:prstGeom>
          <a:solidFill>
            <a:srgbClr val="4D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4" y="3054096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Erlaubnis für die lokale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3456432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8D4DA"/>
                </a:solidFill>
              </a:rPr>
              <a:t>ein freies Programm auf einem Projektrechner, ohne Netzzugriff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Macintosh PowerPoint</Application>
  <PresentationFormat>Breitbild</PresentationFormat>
  <Paragraphs>159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PowerPoint-Präsentation</vt:lpstr>
      <vt:lpstr>Wofür wir das bauen</vt:lpstr>
      <vt:lpstr>Was heute steht</vt:lpstr>
      <vt:lpstr>Was das Werkzeug schon gefunden hat</vt:lpstr>
      <vt:lpstr>Live am System</vt:lpstr>
      <vt:lpstr>Was das im Angebotsprozess wert ist</vt:lpstr>
      <vt:lpstr>Was der Vertrieb bekommt</vt:lpstr>
      <vt:lpstr>Keine Wette auf eine Technologie</vt:lpstr>
      <vt:lpstr>Bestätigung aus dem eigenen Haus</vt:lpstr>
      <vt:lpstr>Die nächsten sechs Wochen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Hohenwarter Thomas</dc:creator>
  <cp:lastModifiedBy>Kenshin Park</cp:lastModifiedBy>
  <cp:revision>31</cp:revision>
  <dcterms:created xsi:type="dcterms:W3CDTF">2026-06-10T05:50:46Z</dcterms:created>
  <dcterms:modified xsi:type="dcterms:W3CDTF">2026-09-08T07:11:38Z</dcterms:modified>
</cp:coreProperties>
</file>