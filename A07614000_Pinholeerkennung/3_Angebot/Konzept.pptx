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5"/>
  </p:notesMasterIdLst>
  <p:sldIdLst>
    <p:sldId id="256" r:id="rId2"/>
    <p:sldId id="1192" r:id="rId3"/>
    <p:sldId id="1183" r:id="rId4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4CF95"/>
    <a:srgbClr val="8ED2C3"/>
    <a:srgbClr val="009900"/>
    <a:srgbClr val="16B75F"/>
    <a:srgbClr val="FF7C80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85" autoAdjust="0"/>
    <p:restoredTop sz="92597" autoAdjust="0"/>
  </p:normalViewPr>
  <p:slideViewPr>
    <p:cSldViewPr snapToGrid="0">
      <p:cViewPr varScale="1">
        <p:scale>
          <a:sx n="121" d="100"/>
          <a:sy n="121" d="100"/>
        </p:scale>
        <p:origin x="96" y="10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27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1004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EB2CB-37F8-584A-889E-895630C53A95}" type="slidenum">
              <a:rPr lang="de-DE" smtClean="0"/>
              <a:pPr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0033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C58B094-7CBF-54A5-9666-8866CAB58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" y="0"/>
            <a:ext cx="12161520" cy="685800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bg1"/>
                </a:solidFill>
                <a:latin typeface="+mj-lt"/>
              </a:rPr>
              <a:t>‹Nr.›</a:t>
            </a:fld>
            <a:endParaRPr lang="de-DE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Projektbezeichnung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</a:t>
            </a:r>
            <a:r>
              <a:rPr sz="1000" dirty="0">
                <a:solidFill>
                  <a:schemeClr val="bg1"/>
                </a:solidFill>
                <a:latin typeface="+mj-lt"/>
              </a:rPr>
              <a:t> </a:t>
            </a:r>
            <a:fld id="{CAC0FAC3-4F51-4337-9266-2CDA171E87B2}" type="datetime1">
              <a:rPr lang="de-DE" sz="1000" smtClean="0">
                <a:solidFill>
                  <a:schemeClr val="bg1"/>
                </a:solidFill>
                <a:latin typeface="+mj-lt"/>
                <a:ea typeface="Gilroy ExtraBold"/>
                <a:cs typeface="Gilroy ExtraBold"/>
                <a:sym typeface="Gilroy ExtraBold"/>
              </a:rPr>
              <a:t>26.09.2024</a:t>
            </a:fld>
            <a:endParaRPr sz="1000" dirty="0">
              <a:solidFill>
                <a:schemeClr val="bg1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7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Kickoff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 | </a:t>
            </a:r>
            <a:fld id="{3C0A5C85-D6AC-4518-BE8C-D4372821F754}" type="datetime1">
              <a:rPr lang="de-DE" sz="1000" smtClean="0">
                <a:solidFill>
                  <a:srgbClr val="4DB8A0"/>
                </a:solidFill>
                <a:latin typeface="+mj-lt"/>
                <a:ea typeface="Gilroy ExtraBold"/>
                <a:cs typeface="Gilroy ExtraBold"/>
                <a:sym typeface="Gilroy ExtraBold"/>
              </a:rPr>
              <a:t>26.09.2024</a:t>
            </a:fld>
            <a:endParaRPr sz="1000" dirty="0">
              <a:solidFill>
                <a:srgbClr val="4DB8A0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tx1"/>
                </a:solidFill>
                <a:latin typeface="+mj-lt"/>
              </a:rPr>
              <a:t>‹Nr.›</a:t>
            </a:fld>
            <a:endParaRPr lang="de-DE" sz="10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B7EDDE7-1837-9DEF-31C0-8531113810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3687" y="121782"/>
            <a:ext cx="6909683" cy="284849"/>
          </a:xfrm>
          <a:prstGeom prst="rect">
            <a:avLst/>
          </a:prstGeom>
        </p:spPr>
        <p:txBody>
          <a:bodyPr anchor="t"/>
          <a:lstStyle>
            <a:lvl1pPr algn="ctr">
              <a:defRPr lang="de-DE" sz="1600" kern="1200" dirty="0">
                <a:solidFill>
                  <a:srgbClr val="2C3F48"/>
                </a:solidFill>
                <a:latin typeface="+mj-lt"/>
                <a:ea typeface="Gilroy Light"/>
                <a:cs typeface="Gilroy Light"/>
              </a:defRPr>
            </a:lvl1pPr>
          </a:lstStyle>
          <a:p>
            <a:r>
              <a:rPr lang="de-DE" dirty="0"/>
              <a:t>207534 Dispensen / 207535 Montage Kontaktträger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F68C73EE-0DE5-1D3D-5984-7A8195E75657}"/>
              </a:ext>
            </a:extLst>
          </p:cNvPr>
          <p:cNvCxnSpPr>
            <a:cxnSpLocks/>
          </p:cNvCxnSpPr>
          <p:nvPr userDrawn="1"/>
        </p:nvCxnSpPr>
        <p:spPr>
          <a:xfrm>
            <a:off x="549566" y="446389"/>
            <a:ext cx="9278015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1577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6" r:id="rId3"/>
    <p:sldLayoutId id="2147483658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31991B22-ADE8-1F96-4A16-CC0F3362E09B}"/>
              </a:ext>
            </a:extLst>
          </p:cNvPr>
          <p:cNvSpPr txBox="1"/>
          <p:nvPr/>
        </p:nvSpPr>
        <p:spPr>
          <a:xfrm>
            <a:off x="1240125" y="762453"/>
            <a:ext cx="4475183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sz="3691" dirty="0" err="1">
                <a:latin typeface="+mj-lt"/>
              </a:rPr>
              <a:t>Herzlich</a:t>
            </a:r>
            <a:r>
              <a:rPr sz="3691" dirty="0">
                <a:latin typeface="+mj-lt"/>
              </a:rPr>
              <a:t> </a:t>
            </a:r>
            <a:r>
              <a:rPr sz="3691" dirty="0" err="1">
                <a:latin typeface="+mj-lt"/>
              </a:rPr>
              <a:t>Willkommen</a:t>
            </a:r>
            <a:endParaRPr lang="de-DE" sz="3691" dirty="0">
              <a:latin typeface="+mj-lt"/>
            </a:endParaRP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+mj-lt"/>
              </a:rPr>
              <a:t>Kickoff</a:t>
            </a:r>
            <a:endParaRPr sz="3691" dirty="0">
              <a:latin typeface="+mj-lt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F2B2FFB-2635-0AF7-C0CA-090C26FBA723}"/>
              </a:ext>
            </a:extLst>
          </p:cNvPr>
          <p:cNvSpPr txBox="1"/>
          <p:nvPr/>
        </p:nvSpPr>
        <p:spPr>
          <a:xfrm>
            <a:off x="1240125" y="2012349"/>
            <a:ext cx="5747769" cy="18415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ts val="1582"/>
              </a:lnSpc>
            </a:pPr>
            <a:fld id="{04875A0E-5F95-4CAE-9A9C-0300FFFAC92F}" type="datetime4">
              <a:rPr lang="de-DE" sz="1055" b="1" smtClean="0">
                <a:solidFill>
                  <a:srgbClr val="FFFFFF"/>
                </a:solidFill>
                <a:latin typeface="+mj-lt"/>
              </a:rPr>
              <a:pPr>
                <a:lnSpc>
                  <a:spcPts val="1582"/>
                </a:lnSpc>
              </a:pPr>
              <a:t>26. September 2024</a:t>
            </a:fld>
            <a:endParaRPr lang="de-DE" sz="1055" b="1" dirty="0">
              <a:solidFill>
                <a:srgbClr val="FFFFFF"/>
              </a:solidFill>
              <a:latin typeface="+mj-lt"/>
            </a:endParaRPr>
          </a:p>
          <a:p>
            <a:pPr>
              <a:lnSpc>
                <a:spcPts val="1582"/>
              </a:lnSpc>
            </a:pPr>
            <a:endParaRPr lang="de-DE" sz="1055" dirty="0">
              <a:solidFill>
                <a:srgbClr val="FFFFFF"/>
              </a:solidFill>
              <a:latin typeface="+mj-lt"/>
            </a:endParaRPr>
          </a:p>
          <a:p>
            <a:r>
              <a:rPr lang="en-US" sz="11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207534000</a:t>
            </a: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Bosch RtP</a:t>
            </a: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PMoC VWEco ST7020 Dispensen</a:t>
            </a:r>
          </a:p>
          <a:p>
            <a:endParaRPr lang="en-US" sz="1100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en-US" sz="11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207535000</a:t>
            </a: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Bosch RtP</a:t>
            </a:r>
          </a:p>
          <a:p>
            <a:r>
              <a:rPr lang="en-US" sz="11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PMoC VWEco ST7030 Montage Kontaktträger</a:t>
            </a:r>
            <a:endParaRPr lang="en-US" sz="1100" b="1" i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de-DE" sz="1000" dirty="0">
                <a:solidFill>
                  <a:srgbClr val="0070C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03321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1D4E5A3E-9C81-372B-7213-272DBF701402}"/>
              </a:ext>
            </a:extLst>
          </p:cNvPr>
          <p:cNvGrpSpPr/>
          <p:nvPr/>
        </p:nvGrpSpPr>
        <p:grpSpPr>
          <a:xfrm>
            <a:off x="1241407" y="3917992"/>
            <a:ext cx="1514164" cy="769067"/>
            <a:chOff x="1144517" y="3027815"/>
            <a:chExt cx="1514164" cy="769067"/>
          </a:xfrm>
        </p:grpSpPr>
        <p:sp>
          <p:nvSpPr>
            <p:cNvPr id="2" name="Rechteck 1">
              <a:extLst>
                <a:ext uri="{FF2B5EF4-FFF2-40B4-BE49-F238E27FC236}">
                  <a16:creationId xmlns:a16="http://schemas.microsoft.com/office/drawing/2014/main" id="{88C10D4A-307F-80AC-DFD6-20A6A894AC84}"/>
                </a:ext>
              </a:extLst>
            </p:cNvPr>
            <p:cNvSpPr/>
            <p:nvPr/>
          </p:nvSpPr>
          <p:spPr>
            <a:xfrm>
              <a:off x="1144517" y="3027815"/>
              <a:ext cx="1514164" cy="684286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944E7593-8ED9-33AD-F2A4-8E5C1B27ECF8}"/>
                </a:ext>
              </a:extLst>
            </p:cNvPr>
            <p:cNvSpPr/>
            <p:nvPr/>
          </p:nvSpPr>
          <p:spPr>
            <a:xfrm>
              <a:off x="1206082" y="3712102"/>
              <a:ext cx="453161" cy="84780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1C7696FC-F11D-5FF5-DA1C-2CDCE53F5171}"/>
                </a:ext>
              </a:extLst>
            </p:cNvPr>
            <p:cNvSpPr/>
            <p:nvPr/>
          </p:nvSpPr>
          <p:spPr>
            <a:xfrm>
              <a:off x="2132848" y="3712101"/>
              <a:ext cx="453161" cy="84780"/>
            </a:xfrm>
            <a:prstGeom prst="rect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pic>
        <p:nvPicPr>
          <p:cNvPr id="7" name="Grafik 6">
            <a:extLst>
              <a:ext uri="{FF2B5EF4-FFF2-40B4-BE49-F238E27FC236}">
                <a16:creationId xmlns:a16="http://schemas.microsoft.com/office/drawing/2014/main" id="{FCC3DD9A-1720-6D07-E612-5FFE5456F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12" y="1691795"/>
            <a:ext cx="1889354" cy="171222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90041005-D7AE-D292-4A02-45C9910E28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 flipV="1">
            <a:off x="1447593" y="1727063"/>
            <a:ext cx="974988" cy="357907"/>
          </a:xfrm>
          <a:prstGeom prst="rect">
            <a:avLst/>
          </a:prstGeom>
        </p:spPr>
      </p:pic>
      <p:sp>
        <p:nvSpPr>
          <p:cNvPr id="53" name="Textfeld 52">
            <a:extLst>
              <a:ext uri="{FF2B5EF4-FFF2-40B4-BE49-F238E27FC236}">
                <a16:creationId xmlns:a16="http://schemas.microsoft.com/office/drawing/2014/main" id="{40F36119-D2F9-F9DE-4F3C-B03C686AFA23}"/>
              </a:ext>
            </a:extLst>
          </p:cNvPr>
          <p:cNvSpPr txBox="1"/>
          <p:nvPr/>
        </p:nvSpPr>
        <p:spPr>
          <a:xfrm>
            <a:off x="2145341" y="3326639"/>
            <a:ext cx="17892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Zeilenscan max. 75mm breit</a:t>
            </a:r>
          </a:p>
          <a:p>
            <a:r>
              <a:rPr lang="de-DE" sz="1000" dirty="0"/>
              <a:t>Optische Auflösung </a:t>
            </a:r>
          </a:p>
          <a:p>
            <a:r>
              <a:rPr lang="de-DE" sz="1000" dirty="0"/>
              <a:t>0,0024mm/ Pixel</a:t>
            </a:r>
          </a:p>
        </p:txBody>
      </p: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0A209E11-FE53-7D05-085D-FFC0F2355EFD}"/>
              </a:ext>
            </a:extLst>
          </p:cNvPr>
          <p:cNvCxnSpPr>
            <a:cxnSpLocks/>
          </p:cNvCxnSpPr>
          <p:nvPr/>
        </p:nvCxnSpPr>
        <p:spPr>
          <a:xfrm>
            <a:off x="1235483" y="3328008"/>
            <a:ext cx="0" cy="5232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feld 57">
            <a:extLst>
              <a:ext uri="{FF2B5EF4-FFF2-40B4-BE49-F238E27FC236}">
                <a16:creationId xmlns:a16="http://schemas.microsoft.com/office/drawing/2014/main" id="{4572B16A-8582-5449-F35F-DD2479005D27}"/>
              </a:ext>
            </a:extLst>
          </p:cNvPr>
          <p:cNvSpPr txBox="1"/>
          <p:nvPr/>
        </p:nvSpPr>
        <p:spPr>
          <a:xfrm rot="16200000">
            <a:off x="350643" y="3477240"/>
            <a:ext cx="10567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dirty="0"/>
              <a:t>ca. 10mm</a:t>
            </a:r>
          </a:p>
          <a:p>
            <a:pPr algn="ctr"/>
            <a:r>
              <a:rPr lang="de-DE" sz="1000" dirty="0"/>
              <a:t> zur Oberfläche</a:t>
            </a: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872A90FE-5B87-E01E-CB4D-F59285929004}"/>
              </a:ext>
            </a:extLst>
          </p:cNvPr>
          <p:cNvCxnSpPr>
            <a:cxnSpLocks/>
          </p:cNvCxnSpPr>
          <p:nvPr/>
        </p:nvCxnSpPr>
        <p:spPr>
          <a:xfrm>
            <a:off x="1235483" y="1962024"/>
            <a:ext cx="0" cy="6963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feld 61">
            <a:extLst>
              <a:ext uri="{FF2B5EF4-FFF2-40B4-BE49-F238E27FC236}">
                <a16:creationId xmlns:a16="http://schemas.microsoft.com/office/drawing/2014/main" id="{32B9598B-A6FD-F035-22D7-0079064FF334}"/>
              </a:ext>
            </a:extLst>
          </p:cNvPr>
          <p:cNvSpPr txBox="1"/>
          <p:nvPr/>
        </p:nvSpPr>
        <p:spPr>
          <a:xfrm rot="16200000">
            <a:off x="-20452" y="2023997"/>
            <a:ext cx="164500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000" dirty="0"/>
              <a:t>Mechanische Verstellung </a:t>
            </a:r>
          </a:p>
          <a:p>
            <a:pPr algn="ctr"/>
            <a:r>
              <a:rPr lang="de-DE" sz="1000" dirty="0"/>
              <a:t>mit Rastung auf die </a:t>
            </a:r>
          </a:p>
          <a:p>
            <a:pPr algn="ctr"/>
            <a:r>
              <a:rPr lang="de-DE" sz="1000" dirty="0"/>
              <a:t>verschieden Zellhöhen</a:t>
            </a:r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1FB69050-35AC-9A68-2C5A-701952B637A5}"/>
              </a:ext>
            </a:extLst>
          </p:cNvPr>
          <p:cNvSpPr/>
          <p:nvPr/>
        </p:nvSpPr>
        <p:spPr>
          <a:xfrm>
            <a:off x="616523" y="4719615"/>
            <a:ext cx="3211274" cy="687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65" name="Gerade Verbindung mit Pfeil 64">
            <a:extLst>
              <a:ext uri="{FF2B5EF4-FFF2-40B4-BE49-F238E27FC236}">
                <a16:creationId xmlns:a16="http://schemas.microsoft.com/office/drawing/2014/main" id="{D5D0E039-77E0-68AC-FC5F-FBB40B844BB4}"/>
              </a:ext>
            </a:extLst>
          </p:cNvPr>
          <p:cNvCxnSpPr>
            <a:cxnSpLocks/>
          </p:cNvCxnSpPr>
          <p:nvPr/>
        </p:nvCxnSpPr>
        <p:spPr>
          <a:xfrm flipH="1" flipV="1">
            <a:off x="1971999" y="4868070"/>
            <a:ext cx="783444" cy="2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9" name="Textfeld 68">
            <a:extLst>
              <a:ext uri="{FF2B5EF4-FFF2-40B4-BE49-F238E27FC236}">
                <a16:creationId xmlns:a16="http://schemas.microsoft.com/office/drawing/2014/main" id="{A39A9DCF-2609-B5EC-2647-F1EF85FC6266}"/>
              </a:ext>
            </a:extLst>
          </p:cNvPr>
          <p:cNvSpPr txBox="1"/>
          <p:nvPr/>
        </p:nvSpPr>
        <p:spPr>
          <a:xfrm>
            <a:off x="934753" y="4916193"/>
            <a:ext cx="36070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dirty="0"/>
              <a:t>Transport auf vorhandenen Flexband ( max. 250mm/s), </a:t>
            </a:r>
          </a:p>
          <a:p>
            <a:r>
              <a:rPr lang="de-DE" sz="1000" dirty="0"/>
              <a:t>Zur Prüfung wird der Drehgeber am Flexband herangezogen</a:t>
            </a:r>
          </a:p>
          <a:p>
            <a:r>
              <a:rPr lang="de-DE" sz="1000" dirty="0"/>
              <a:t>Möglicher Schlupf zwischen Band und Zelle verursacht eine </a:t>
            </a:r>
          </a:p>
          <a:p>
            <a:r>
              <a:rPr lang="de-DE" sz="1000" dirty="0"/>
              <a:t>Verzehrung der Bildauswertung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3EBCB233-7886-F479-C775-3DD19661C914}"/>
              </a:ext>
            </a:extLst>
          </p:cNvPr>
          <p:cNvSpPr txBox="1"/>
          <p:nvPr/>
        </p:nvSpPr>
        <p:spPr>
          <a:xfrm>
            <a:off x="2456318" y="1906016"/>
            <a:ext cx="299953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dirty="0"/>
              <a:t>Kamera</a:t>
            </a:r>
            <a:r>
              <a:rPr lang="de-DE" sz="1000" dirty="0"/>
              <a:t>: 4k Zeilenkamera</a:t>
            </a:r>
          </a:p>
          <a:p>
            <a:endParaRPr lang="de-DE" sz="1000" dirty="0"/>
          </a:p>
          <a:p>
            <a:r>
              <a:rPr lang="de-DE" sz="1000" b="1" dirty="0"/>
              <a:t>Beleuchtung: </a:t>
            </a:r>
            <a:r>
              <a:rPr lang="de-DE" sz="1000" dirty="0"/>
              <a:t>Cognex Trevista CI Dome Medium</a:t>
            </a:r>
          </a:p>
        </p:txBody>
      </p: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11069E78-1A24-3A84-ABC2-E4542E9C4DFA}"/>
              </a:ext>
            </a:extLst>
          </p:cNvPr>
          <p:cNvCxnSpPr>
            <a:cxnSpLocks/>
          </p:cNvCxnSpPr>
          <p:nvPr/>
        </p:nvCxnSpPr>
        <p:spPr>
          <a:xfrm flipH="1">
            <a:off x="1998489" y="3346527"/>
            <a:ext cx="1619" cy="5891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8888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126BDD4-5DB3-4687-8192-942F6B154928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464AB80-4145-4D82-826E-0B9A549CC717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Wir sagen…">
            <a:extLst>
              <a:ext uri="{FF2B5EF4-FFF2-40B4-BE49-F238E27FC236}">
                <a16:creationId xmlns:a16="http://schemas.microsoft.com/office/drawing/2014/main" id="{5B1447A0-5512-6461-2ECB-DC74C3C52059}"/>
              </a:ext>
            </a:extLst>
          </p:cNvPr>
          <p:cNvSpPr txBox="1"/>
          <p:nvPr/>
        </p:nvSpPr>
        <p:spPr>
          <a:xfrm>
            <a:off x="1123604" y="1968156"/>
            <a:ext cx="4867470" cy="1190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latin typeface="+mj-lt"/>
              </a:rPr>
              <a:t>Danke</a:t>
            </a:r>
            <a:endParaRPr sz="3691" dirty="0">
              <a:latin typeface="+mj-lt"/>
            </a:endParaRPr>
          </a:p>
          <a:p>
            <a:pPr algn="l">
              <a:defRPr sz="7000">
                <a:solidFill>
                  <a:srgbClr val="FFFFFF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r>
              <a:rPr lang="de-DE" sz="3691" dirty="0">
                <a:solidFill>
                  <a:srgbClr val="4DB8A0"/>
                </a:solidFill>
                <a:latin typeface="+mj-lt"/>
              </a:rPr>
              <a:t>für die Aufmerksamkeit</a:t>
            </a:r>
            <a:endParaRPr sz="3691" dirty="0">
              <a:solidFill>
                <a:srgbClr val="4DB8A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97474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Gluth">
      <a:dk1>
        <a:srgbClr val="000000"/>
      </a:dk1>
      <a:lt1>
        <a:srgbClr val="FFFFFF"/>
      </a:lt1>
      <a:dk2>
        <a:srgbClr val="2C3E48"/>
      </a:dk2>
      <a:lt2>
        <a:srgbClr val="54B19E"/>
      </a:lt2>
      <a:accent1>
        <a:srgbClr val="008976"/>
      </a:accent1>
      <a:accent2>
        <a:srgbClr val="C0504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92</Words>
  <Application>Microsoft Office PowerPoint</Application>
  <PresentationFormat>Breitbild</PresentationFormat>
  <Paragraphs>32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Office-Design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Hohenwarter Thomas</dc:creator>
  <cp:lastModifiedBy>Waas Harald</cp:lastModifiedBy>
  <cp:revision>312</cp:revision>
  <cp:lastPrinted>2023-03-03T08:30:24Z</cp:lastPrinted>
  <dcterms:created xsi:type="dcterms:W3CDTF">2021-03-17T11:57:24Z</dcterms:created>
  <dcterms:modified xsi:type="dcterms:W3CDTF">2024-09-26T08:18:40Z</dcterms:modified>
</cp:coreProperties>
</file>